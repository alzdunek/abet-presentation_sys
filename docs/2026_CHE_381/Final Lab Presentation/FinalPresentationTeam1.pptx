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56" r:id="rId5"/>
    <p:sldId id="311" r:id="rId6"/>
    <p:sldId id="313" r:id="rId7"/>
    <p:sldId id="304" r:id="rId8"/>
    <p:sldId id="299" r:id="rId9"/>
    <p:sldId id="301" r:id="rId10"/>
    <p:sldId id="305" r:id="rId11"/>
    <p:sldId id="312" r:id="rId12"/>
    <p:sldId id="310" r:id="rId13"/>
    <p:sldId id="309" r:id="rId14"/>
    <p:sldId id="306" r:id="rId15"/>
  </p:sldIdLst>
  <p:sldSz cx="9144000" cy="6858000" type="screen4x3"/>
  <p:notesSz cx="6858000" cy="907732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03A080-B7B9-4E56-1056-98247C78158B}" name="Zaruk, Omar" initials="OZ" userId="S::ozaru2@uic.edu::e3e78486-64b8-4776-9e77-1e5f2b5bc397" providerId="AD"/>
  <p188:author id="{71793BA8-C1E5-3ED7-C793-E0E474994A88}" name="Suleiman, Qussay" initials="SQ" userId="S::qsule2@uic.edu::2acf93a9-a997-4581-abf7-e9288d2ec4f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234C"/>
    <a:srgbClr val="800000"/>
    <a:srgbClr val="0066CC"/>
    <a:srgbClr val="3366FF"/>
    <a:srgbClr val="CC9900"/>
    <a:srgbClr val="996600"/>
    <a:srgbClr val="99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5C20F0-B3F3-45AB-B592-9A33001FC37D}" v="472" dt="2025-11-25T14:56:54.537"/>
    <p1510:client id="{A0FCC44E-4A60-23F3-D2EB-74D9D55215EB}" v="242" dt="2025-11-25T04:09:16.276"/>
    <p1510:client id="{A6763A4C-DD3C-4CF9-8DFA-B1E5A5691DBC}" v="557" dt="2025-11-25T05:14:29.877"/>
    <p1510:client id="{B0CE4317-48EB-43CA-B8AE-A400683FD6EC}" v="1097" dt="2025-11-25T14:59:31.776"/>
    <p1510:client id="{CCCADD20-8F74-431F-B0F0-564E336D149B}" v="850" dt="2025-11-25T02:24:11.307"/>
    <p1510:client id="{DEA05919-C8E3-0E9A-F369-AD52E7C00EB8}" v="20" dt="2025-11-25T14:57:13.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96" d="100"/>
          <a:sy n="96" d="100"/>
        </p:scale>
        <p:origin x="104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F5AF44DE-D769-1138-EE22-EB8F9E77163C}"/>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20835" name="Rectangle 3">
            <a:extLst>
              <a:ext uri="{FF2B5EF4-FFF2-40B4-BE49-F238E27FC236}">
                <a16:creationId xmlns:a16="http://schemas.microsoft.com/office/drawing/2014/main" id="{6B6882B3-3D8E-DDAA-C125-80E2F9219940}"/>
              </a:ext>
            </a:extLst>
          </p:cNvPr>
          <p:cNvSpPr>
            <a:spLocks noGrp="1" noChangeArrowheads="1"/>
          </p:cNvSpPr>
          <p:nvPr>
            <p:ph type="dt" sz="quarter"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20836" name="Rectangle 4">
            <a:extLst>
              <a:ext uri="{FF2B5EF4-FFF2-40B4-BE49-F238E27FC236}">
                <a16:creationId xmlns:a16="http://schemas.microsoft.com/office/drawing/2014/main" id="{9F3B8B01-C3BA-5532-D34F-7E6182AD931E}"/>
              </a:ext>
            </a:extLst>
          </p:cNvPr>
          <p:cNvSpPr>
            <a:spLocks noGrp="1" noChangeArrowheads="1"/>
          </p:cNvSpPr>
          <p:nvPr>
            <p:ph type="ftr" sz="quarter" idx="2"/>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20837" name="Rectangle 5">
            <a:extLst>
              <a:ext uri="{FF2B5EF4-FFF2-40B4-BE49-F238E27FC236}">
                <a16:creationId xmlns:a16="http://schemas.microsoft.com/office/drawing/2014/main" id="{90552D13-918C-2A40-468A-245148A360DA}"/>
              </a:ext>
            </a:extLst>
          </p:cNvPr>
          <p:cNvSpPr>
            <a:spLocks noGrp="1" noChangeArrowheads="1"/>
          </p:cNvSpPr>
          <p:nvPr>
            <p:ph type="sldNum" sz="quarter" idx="3"/>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4B61743-39E6-4B7A-B4F2-6E1DF84148E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75AF4237-C2DE-DC0D-AD1B-C62EC89418A1}"/>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6387" name="Rectangle 1027">
            <a:extLst>
              <a:ext uri="{FF2B5EF4-FFF2-40B4-BE49-F238E27FC236}">
                <a16:creationId xmlns:a16="http://schemas.microsoft.com/office/drawing/2014/main" id="{3DDC258F-5F49-0416-1145-E7BAD283F641}"/>
              </a:ext>
            </a:extLst>
          </p:cNvPr>
          <p:cNvSpPr>
            <a:spLocks noGrp="1" noChangeArrowheads="1"/>
          </p:cNvSpPr>
          <p:nvPr>
            <p:ph type="dt"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6388" name="Rectangle 1028">
            <a:extLst>
              <a:ext uri="{FF2B5EF4-FFF2-40B4-BE49-F238E27FC236}">
                <a16:creationId xmlns:a16="http://schemas.microsoft.com/office/drawing/2014/main" id="{A9122348-3F55-17C1-B77D-0ACE32165B3A}"/>
              </a:ext>
            </a:extLst>
          </p:cNvPr>
          <p:cNvSpPr>
            <a:spLocks noGrp="1" noRot="1" noChangeAspect="1" noChangeArrowheads="1" noTextEdit="1"/>
          </p:cNvSpPr>
          <p:nvPr>
            <p:ph type="sldImg" idx="2"/>
          </p:nvPr>
        </p:nvSpPr>
        <p:spPr bwMode="auto">
          <a:xfrm>
            <a:off x="1160463" y="681038"/>
            <a:ext cx="4538662" cy="34036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1029">
            <a:extLst>
              <a:ext uri="{FF2B5EF4-FFF2-40B4-BE49-F238E27FC236}">
                <a16:creationId xmlns:a16="http://schemas.microsoft.com/office/drawing/2014/main" id="{2E30AE0F-05B8-ACAF-8DF9-04CCB6528176}"/>
              </a:ext>
            </a:extLst>
          </p:cNvPr>
          <p:cNvSpPr>
            <a:spLocks noGrp="1" noChangeArrowheads="1"/>
          </p:cNvSpPr>
          <p:nvPr>
            <p:ph type="body" sz="quarter" idx="3"/>
          </p:nvPr>
        </p:nvSpPr>
        <p:spPr bwMode="auto">
          <a:xfrm>
            <a:off x="685800" y="4311650"/>
            <a:ext cx="54864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390" name="Rectangle 1030">
            <a:extLst>
              <a:ext uri="{FF2B5EF4-FFF2-40B4-BE49-F238E27FC236}">
                <a16:creationId xmlns:a16="http://schemas.microsoft.com/office/drawing/2014/main" id="{E103602D-8D6A-F334-7621-9CFEA8370F10}"/>
              </a:ext>
            </a:extLst>
          </p:cNvPr>
          <p:cNvSpPr>
            <a:spLocks noGrp="1" noChangeArrowheads="1"/>
          </p:cNvSpPr>
          <p:nvPr>
            <p:ph type="ftr" sz="quarter" idx="4"/>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6391" name="Rectangle 1031">
            <a:extLst>
              <a:ext uri="{FF2B5EF4-FFF2-40B4-BE49-F238E27FC236}">
                <a16:creationId xmlns:a16="http://schemas.microsoft.com/office/drawing/2014/main" id="{76FC812C-07F5-C291-8613-B75657D1C1D3}"/>
              </a:ext>
            </a:extLst>
          </p:cNvPr>
          <p:cNvSpPr>
            <a:spLocks noGrp="1" noChangeArrowheads="1"/>
          </p:cNvSpPr>
          <p:nvPr>
            <p:ph type="sldNum" sz="quarter" idx="5"/>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D0D2558-5D1F-4C93-B3EB-529F41E2768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a:extLst>
              <a:ext uri="{FF2B5EF4-FFF2-40B4-BE49-F238E27FC236}">
                <a16:creationId xmlns:a16="http://schemas.microsoft.com/office/drawing/2014/main" id="{77A5A71D-A4FC-29A8-BDB0-E39F8F28565E}"/>
              </a:ext>
            </a:extLst>
          </p:cNvPr>
          <p:cNvSpPr>
            <a:spLocks noGrp="1" noChangeArrowheads="1"/>
          </p:cNvSpPr>
          <p:nvPr>
            <p:ph type="sldNum" sz="quarter" idx="5"/>
          </p:nvPr>
        </p:nvSpPr>
        <p:spPr>
          <a:ln/>
        </p:spPr>
        <p:txBody>
          <a:bodyPr/>
          <a:lstStyle/>
          <a:p>
            <a:fld id="{1EB3F2B3-6D0A-4BC8-908E-B21AA54E56F6}" type="slidenum">
              <a:rPr lang="en-US" altLang="en-US"/>
              <a:pPr/>
              <a:t>1</a:t>
            </a:fld>
            <a:endParaRPr lang="en-US" altLang="en-US"/>
          </a:p>
        </p:txBody>
      </p:sp>
      <p:sp>
        <p:nvSpPr>
          <p:cNvPr id="17410" name="Rectangle 1026">
            <a:extLst>
              <a:ext uri="{FF2B5EF4-FFF2-40B4-BE49-F238E27FC236}">
                <a16:creationId xmlns:a16="http://schemas.microsoft.com/office/drawing/2014/main" id="{73304438-68BE-6DF8-767A-20A3A73ABF45}"/>
              </a:ext>
            </a:extLst>
          </p:cNvPr>
          <p:cNvSpPr>
            <a:spLocks noGrp="1" noRot="1" noChangeAspect="1" noChangeArrowheads="1" noTextEdit="1"/>
          </p:cNvSpPr>
          <p:nvPr>
            <p:ph type="sldImg"/>
          </p:nvPr>
        </p:nvSpPr>
        <p:spPr>
          <a:ln/>
        </p:spPr>
      </p:sp>
      <p:sp>
        <p:nvSpPr>
          <p:cNvPr id="17411" name="Rectangle 1027">
            <a:extLst>
              <a:ext uri="{FF2B5EF4-FFF2-40B4-BE49-F238E27FC236}">
                <a16:creationId xmlns:a16="http://schemas.microsoft.com/office/drawing/2014/main" id="{D9A9FDA4-CA61-7FAA-8FA3-30B2A649781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766E-D92C-F4E3-FE96-9E87C1EB173B}"/>
            </a:ext>
          </a:extLst>
        </p:cNvPr>
        <p:cNvGrpSpPr/>
        <p:nvPr/>
      </p:nvGrpSpPr>
      <p:grpSpPr>
        <a:xfrm>
          <a:off x="0" y="0"/>
          <a:ext cx="0" cy="0"/>
          <a:chOff x="0" y="0"/>
          <a:chExt cx="0" cy="0"/>
        </a:xfrm>
      </p:grpSpPr>
      <p:sp>
        <p:nvSpPr>
          <p:cNvPr id="5" name="Rectangle 1031">
            <a:extLst>
              <a:ext uri="{FF2B5EF4-FFF2-40B4-BE49-F238E27FC236}">
                <a16:creationId xmlns:a16="http://schemas.microsoft.com/office/drawing/2014/main" id="{190FCE90-1BBE-8BA9-5FCE-CC696F881FE9}"/>
              </a:ext>
            </a:extLst>
          </p:cNvPr>
          <p:cNvSpPr>
            <a:spLocks noGrp="1" noChangeArrowheads="1"/>
          </p:cNvSpPr>
          <p:nvPr>
            <p:ph type="sldNum" sz="quarter" idx="5"/>
          </p:nvPr>
        </p:nvSpPr>
        <p:spPr>
          <a:ln/>
        </p:spPr>
        <p:txBody>
          <a:bodyPr/>
          <a:lstStyle/>
          <a:p>
            <a:fld id="{E8BAEDFC-B970-4173-88C1-98CA4D3707D8}" type="slidenum">
              <a:rPr lang="en-US" altLang="en-US"/>
              <a:pPr/>
              <a:t>2</a:t>
            </a:fld>
            <a:endParaRPr lang="en-US" altLang="en-US"/>
          </a:p>
        </p:txBody>
      </p:sp>
      <p:sp>
        <p:nvSpPr>
          <p:cNvPr id="93186" name="Rectangle 2">
            <a:extLst>
              <a:ext uri="{FF2B5EF4-FFF2-40B4-BE49-F238E27FC236}">
                <a16:creationId xmlns:a16="http://schemas.microsoft.com/office/drawing/2014/main" id="{803387AC-4E13-2409-E74A-DABADEC633A3}"/>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A8E0FA31-B1EB-D72A-0201-6056A647567C}"/>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77253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6</a:t>
            </a:fld>
            <a:endParaRPr lang="en-US" altLang="en-US"/>
          </a:p>
        </p:txBody>
      </p:sp>
    </p:spTree>
    <p:extLst>
      <p:ext uri="{BB962C8B-B14F-4D97-AF65-F5344CB8AC3E}">
        <p14:creationId xmlns:p14="http://schemas.microsoft.com/office/powerpoint/2010/main" val="372146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02060"/>
                </a:solidFill>
              </a:rPr>
              <a:t>O</a:t>
            </a:r>
            <a:r>
              <a:rPr lang="en-US" baseline="-25000">
                <a:solidFill>
                  <a:srgbClr val="002060"/>
                </a:solidFill>
              </a:rPr>
              <a:t>2 </a:t>
            </a:r>
            <a:r>
              <a:rPr lang="en-US">
                <a:solidFill>
                  <a:srgbClr val="002060"/>
                </a:solidFill>
              </a:rPr>
              <a:t>Transport coefficients are much higher than N</a:t>
            </a:r>
            <a:r>
              <a:rPr lang="en-US" baseline="-25000">
                <a:solidFill>
                  <a:srgbClr val="002060"/>
                </a:solidFill>
              </a:rPr>
              <a:t>2 </a:t>
            </a:r>
            <a:r>
              <a:rPr lang="en-US">
                <a:solidFill>
                  <a:srgbClr val="002060"/>
                </a:solidFill>
              </a:rPr>
              <a:t>Transport coefficients (by an order of magnitude) because the membrane has much lower permeability to nitrogen. Thus, N2 barely permeates and thus has much less transport and isn’t dependent on pressure and flow as much.</a:t>
            </a:r>
          </a:p>
          <a:p>
            <a:r>
              <a:rPr lang="en-US">
                <a:solidFill>
                  <a:srgbClr val="002060"/>
                </a:solidFill>
              </a:rPr>
              <a:t>Transport coefficients are functions of the permeation rate and the partial pressure of the species.</a:t>
            </a:r>
            <a:endParaRPr lang="en-US"/>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7</a:t>
            </a:fld>
            <a:endParaRPr lang="en-US" altLang="en-US"/>
          </a:p>
        </p:txBody>
      </p:sp>
    </p:spTree>
    <p:extLst>
      <p:ext uri="{BB962C8B-B14F-4D97-AF65-F5344CB8AC3E}">
        <p14:creationId xmlns:p14="http://schemas.microsoft.com/office/powerpoint/2010/main" val="288305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2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200" b="1" i="0" u="none" strike="noStrike" kern="1200" cap="none" spc="0" normalizeH="0" baseline="-25000" noProof="0">
                <a:ln>
                  <a:noFill/>
                </a:ln>
                <a:solidFill>
                  <a:srgbClr val="002060"/>
                </a:solidFill>
                <a:effectLst/>
                <a:uLnTx/>
                <a:uFillTx/>
                <a:latin typeface="Arial" panose="020B0604020202020204" pitchFamily="34" charset="0"/>
                <a:ea typeface="+mn-ea"/>
                <a:cs typeface="+mn-cs"/>
              </a:rPr>
              <a:t>: </a:t>
            </a:r>
            <a:r>
              <a:rPr lang="en-US" sz="1200">
                <a:solidFill>
                  <a:srgbClr val="002060"/>
                </a:solidFill>
              </a:rPr>
              <a:t>Compares how enriched the permeate is in O₂ relative to the feed. Series is higher because the full feed passes through two modules instead of splitting, where each module only sees half the feed..</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sz="12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2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200" b="1" i="0" u="none" strike="noStrike" kern="1200" cap="none" spc="0" normalizeH="0" baseline="0" noProof="0">
                <a:ln>
                  <a:noFill/>
                </a:ln>
                <a:solidFill>
                  <a:srgbClr val="002060"/>
                </a:solidFill>
                <a:effectLst/>
                <a:uLnTx/>
                <a:uFillTx/>
                <a:latin typeface="Arial" panose="020B0604020202020204" pitchFamily="34" charset="0"/>
                <a:ea typeface="+mn-ea"/>
                <a:cs typeface="+mn-cs"/>
              </a:rPr>
              <a:t>’ :</a:t>
            </a:r>
            <a:r>
              <a:rPr lang="en-US" sz="1200">
                <a:solidFill>
                  <a:srgbClr val="002060"/>
                </a:solidFill>
              </a:rPr>
              <a:t>Measures how depleted the retentate is in O₂ relative to the feed. Series is higher because sequential modules strip more O₂, leaving a more N₂-rich retentate.</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sz="12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2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200" b="1" i="0" u="none" strike="noStrike" kern="1200" cap="none" spc="0" normalizeH="0" baseline="0" noProof="0">
                <a:ln>
                  <a:noFill/>
                </a:ln>
                <a:solidFill>
                  <a:srgbClr val="002060"/>
                </a:solidFill>
                <a:effectLst/>
                <a:uLnTx/>
                <a:uFillTx/>
                <a:latin typeface="Arial" panose="020B0604020202020204" pitchFamily="34" charset="0"/>
                <a:ea typeface="+mn-ea"/>
                <a:cs typeface="+mn-cs"/>
              </a:rPr>
              <a:t>’’ : </a:t>
            </a:r>
            <a:r>
              <a:rPr lang="en-US"/>
              <a:t>Measures membrane selectivity considering the entire inlet stream. </a:t>
            </a:r>
            <a:r>
              <a:rPr lang="en-US" sz="1200">
                <a:solidFill>
                  <a:srgbClr val="002060"/>
                </a:solidFill>
              </a:rPr>
              <a:t>Series is higher because the feed experiences a stronger overall separation before exiting.</a:t>
            </a:r>
          </a:p>
          <a:p>
            <a:endParaRPr lang="en-US"/>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8</a:t>
            </a:fld>
            <a:endParaRPr lang="en-US" altLang="en-US"/>
          </a:p>
        </p:txBody>
      </p:sp>
    </p:spTree>
    <p:extLst>
      <p:ext uri="{BB962C8B-B14F-4D97-AF65-F5344CB8AC3E}">
        <p14:creationId xmlns:p14="http://schemas.microsoft.com/office/powerpoint/2010/main" val="2622914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B8962-8CC2-4048-6B79-F6731C299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29265-B728-AD23-D7CE-1D8618353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DD9D9-0E71-96F3-EFB1-A03DE58F5B4C}"/>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D0D91357-5417-D3FB-A7A9-8B4152BCFB8B}"/>
              </a:ext>
            </a:extLst>
          </p:cNvPr>
          <p:cNvSpPr>
            <a:spLocks noGrp="1"/>
          </p:cNvSpPr>
          <p:nvPr>
            <p:ph type="sldNum" sz="quarter" idx="5"/>
          </p:nvPr>
        </p:nvSpPr>
        <p:spPr/>
        <p:txBody>
          <a:bodyPr/>
          <a:lstStyle/>
          <a:p>
            <a:fld id="{AD0D2558-5D1F-4C93-B3EB-529F41E27680}" type="slidenum">
              <a:rPr lang="en-US" altLang="en-US" smtClean="0"/>
              <a:pPr/>
              <a:t>9</a:t>
            </a:fld>
            <a:endParaRPr lang="en-US" altLang="en-US"/>
          </a:p>
        </p:txBody>
      </p:sp>
    </p:spTree>
    <p:extLst>
      <p:ext uri="{BB962C8B-B14F-4D97-AF65-F5344CB8AC3E}">
        <p14:creationId xmlns:p14="http://schemas.microsoft.com/office/powerpoint/2010/main" val="38767405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5A8977C-B3AA-5B87-0680-BCCF9AE75615}"/>
              </a:ext>
            </a:extLst>
          </p:cNvPr>
          <p:cNvSpPr>
            <a:spLocks noGrp="1" noChangeArrowheads="1"/>
          </p:cNvSpPr>
          <p:nvPr>
            <p:ph type="ctrTitle"/>
          </p:nvPr>
        </p:nvSpPr>
        <p:spPr>
          <a:xfrm>
            <a:off x="0" y="0"/>
            <a:ext cx="9144000" cy="3600450"/>
          </a:xfrm>
        </p:spPr>
        <p:txBody>
          <a:bodyPr/>
          <a:lstStyle>
            <a:lvl1pPr>
              <a:defRPr/>
            </a:lvl1pPr>
          </a:lstStyle>
          <a:p>
            <a:pPr lvl="0"/>
            <a:br>
              <a:rPr lang="en-US" altLang="en-US" noProof="0"/>
            </a:br>
            <a:r>
              <a:rPr lang="en-US" altLang="en-US" noProof="0"/>
              <a:t>Click to edit Master title style</a:t>
            </a:r>
          </a:p>
        </p:txBody>
      </p:sp>
      <p:sp>
        <p:nvSpPr>
          <p:cNvPr id="5123" name="Rectangle 3">
            <a:extLst>
              <a:ext uri="{FF2B5EF4-FFF2-40B4-BE49-F238E27FC236}">
                <a16:creationId xmlns:a16="http://schemas.microsoft.com/office/drawing/2014/main" id="{3EC58C4D-2EDE-3C8F-C5BD-E782986956B9}"/>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en-US" noProof="0"/>
              <a:t>Click to edit Master subtitle style</a:t>
            </a:r>
          </a:p>
        </p:txBody>
      </p:sp>
      <p:sp>
        <p:nvSpPr>
          <p:cNvPr id="5124" name="Rectangle 4">
            <a:extLst>
              <a:ext uri="{FF2B5EF4-FFF2-40B4-BE49-F238E27FC236}">
                <a16:creationId xmlns:a16="http://schemas.microsoft.com/office/drawing/2014/main" id="{56ECA910-1B3E-A577-C38A-4CEC8062380E}"/>
              </a:ext>
            </a:extLst>
          </p:cNvPr>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pic>
        <p:nvPicPr>
          <p:cNvPr id="5127" name="Picture 7">
            <a:extLst>
              <a:ext uri="{FF2B5EF4-FFF2-40B4-BE49-F238E27FC236}">
                <a16:creationId xmlns:a16="http://schemas.microsoft.com/office/drawing/2014/main" id="{93B0F608-8424-7118-BC21-CF2CE30760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53200" y="6400800"/>
            <a:ext cx="2378075" cy="328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7C06-A45D-064A-84BA-6DDF62119F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5B9F19-D8AA-CE49-E2DA-03892C1781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11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61B4A-BDE0-303D-0C72-38AB7700062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FCFF16-349E-9A6D-DEE2-F70DDF3AF36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96599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C26D-011B-08D2-06B4-4A2E73E9B9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0D600-116A-DD9E-41D8-3CFF33C87E77}"/>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CED01F-DF8D-4B33-1768-7A5ACD549395}"/>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786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1CBF9-94E7-881C-8E2A-C5EAD776ACB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11428A-2015-E93A-4CCE-25367E6CEDF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AE8F6-A37F-ECAB-E90D-9BF55FBACC9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A9AE7A-C9FF-E39E-A052-E6D544D523B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10EDD6-CCF6-BD2D-346D-D9AAE73EEB1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4004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4FE9-D70D-3828-89FC-AD379FE0D38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4611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589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BC7F1-3DF9-E25C-AB20-A1301553668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22AD7C-A1FA-7E1F-B3B8-4AB7BF1C7D6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796948-E616-4B4F-EBA2-A10CA5DFE17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47930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BF4A-7817-8687-7514-83FA8D7EAC1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EDA7DF-8A9A-E131-2CB8-C2298213073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21FDE8-215F-1599-0031-DC24B47AB96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8292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97BB-4F3B-8245-A5E2-C5D4C6C921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F642C8-1C0B-2888-2393-3A5B4E9DC8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9435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45C84-11B8-9C6B-14F5-F381C1FA4697}"/>
              </a:ext>
            </a:extLst>
          </p:cNvPr>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EEBFCA-73C2-6016-145D-CB079643F132}"/>
              </a:ext>
            </a:extLst>
          </p:cNvPr>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853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7AB4678-31E1-864A-791B-91A670D002ED}"/>
              </a:ext>
            </a:extLst>
          </p:cNvPr>
          <p:cNvSpPr>
            <a:spLocks noGrp="1" noChangeArrowheads="1"/>
          </p:cNvSpPr>
          <p:nvPr>
            <p:ph type="title"/>
          </p:nvPr>
        </p:nvSpPr>
        <p:spPr bwMode="auto">
          <a:xfrm>
            <a:off x="0" y="0"/>
            <a:ext cx="9144000" cy="1417638"/>
          </a:xfrm>
          <a:prstGeom prst="rect">
            <a:avLst/>
          </a:prstGeom>
          <a:solidFill>
            <a:srgbClr val="00234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2635C53-5342-4C7C-F927-87C0585B47B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Line 9">
            <a:extLst>
              <a:ext uri="{FF2B5EF4-FFF2-40B4-BE49-F238E27FC236}">
                <a16:creationId xmlns:a16="http://schemas.microsoft.com/office/drawing/2014/main" id="{319B77AC-3A5E-3DAE-F4F3-22B0442B891D}"/>
              </a:ext>
            </a:extLst>
          </p:cNvPr>
          <p:cNvSpPr>
            <a:spLocks noChangeShapeType="1"/>
          </p:cNvSpPr>
          <p:nvPr userDrawn="1"/>
        </p:nvSpPr>
        <p:spPr bwMode="auto">
          <a:xfrm>
            <a:off x="0" y="14478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4" name="Picture 10">
            <a:extLst>
              <a:ext uri="{FF2B5EF4-FFF2-40B4-BE49-F238E27FC236}">
                <a16:creationId xmlns:a16="http://schemas.microsoft.com/office/drawing/2014/main" id="{E21867C5-7B35-5757-6A7C-87C89CE10C3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400800"/>
            <a:ext cx="2362200" cy="32543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bg1"/>
          </a:solidFill>
          <a:latin typeface="+mj-lt"/>
          <a:ea typeface="+mj-ea"/>
          <a:cs typeface="+mj-cs"/>
        </a:defRPr>
      </a:lvl1pPr>
      <a:lvl2pPr algn="ctr" rtl="0" fontAlgn="base">
        <a:spcBef>
          <a:spcPct val="0"/>
        </a:spcBef>
        <a:spcAft>
          <a:spcPct val="0"/>
        </a:spcAft>
        <a:defRPr sz="4400">
          <a:solidFill>
            <a:schemeClr val="bg1"/>
          </a:solidFill>
          <a:latin typeface="Arial" panose="020B0604020202020204" pitchFamily="34" charset="0"/>
        </a:defRPr>
      </a:lvl2pPr>
      <a:lvl3pPr algn="ctr" rtl="0" fontAlgn="base">
        <a:spcBef>
          <a:spcPct val="0"/>
        </a:spcBef>
        <a:spcAft>
          <a:spcPct val="0"/>
        </a:spcAft>
        <a:defRPr sz="4400">
          <a:solidFill>
            <a:schemeClr val="bg1"/>
          </a:solidFill>
          <a:latin typeface="Arial" panose="020B0604020202020204" pitchFamily="34" charset="0"/>
        </a:defRPr>
      </a:lvl3pPr>
      <a:lvl4pPr algn="ctr" rtl="0" fontAlgn="base">
        <a:spcBef>
          <a:spcPct val="0"/>
        </a:spcBef>
        <a:spcAft>
          <a:spcPct val="0"/>
        </a:spcAft>
        <a:defRPr sz="4400">
          <a:solidFill>
            <a:schemeClr val="bg1"/>
          </a:solidFill>
          <a:latin typeface="Arial" panose="020B0604020202020204" pitchFamily="34" charset="0"/>
        </a:defRPr>
      </a:lvl4pPr>
      <a:lvl5pPr algn="ctr" rtl="0" fontAlgn="base">
        <a:spcBef>
          <a:spcPct val="0"/>
        </a:spcBef>
        <a:spcAft>
          <a:spcPct val="0"/>
        </a:spcAft>
        <a:defRPr sz="4400">
          <a:solidFill>
            <a:schemeClr val="bg1"/>
          </a:solidFill>
          <a:latin typeface="Arial" panose="020B0604020202020204" pitchFamily="34" charset="0"/>
        </a:defRPr>
      </a:lvl5pPr>
      <a:lvl6pPr marL="457200" algn="ctr" rtl="0" fontAlgn="base">
        <a:spcBef>
          <a:spcPct val="0"/>
        </a:spcBef>
        <a:spcAft>
          <a:spcPct val="0"/>
        </a:spcAft>
        <a:defRPr sz="4400">
          <a:solidFill>
            <a:schemeClr val="bg1"/>
          </a:solidFill>
          <a:latin typeface="Arial" panose="020B0604020202020204" pitchFamily="34" charset="0"/>
        </a:defRPr>
      </a:lvl6pPr>
      <a:lvl7pPr marL="914400" algn="ctr" rtl="0" fontAlgn="base">
        <a:spcBef>
          <a:spcPct val="0"/>
        </a:spcBef>
        <a:spcAft>
          <a:spcPct val="0"/>
        </a:spcAft>
        <a:defRPr sz="4400">
          <a:solidFill>
            <a:schemeClr val="bg1"/>
          </a:solidFill>
          <a:latin typeface="Arial" panose="020B0604020202020204" pitchFamily="34" charset="0"/>
        </a:defRPr>
      </a:lvl7pPr>
      <a:lvl8pPr marL="1371600" algn="ctr" rtl="0" fontAlgn="base">
        <a:spcBef>
          <a:spcPct val="0"/>
        </a:spcBef>
        <a:spcAft>
          <a:spcPct val="0"/>
        </a:spcAft>
        <a:defRPr sz="4400">
          <a:solidFill>
            <a:schemeClr val="bg1"/>
          </a:solidFill>
          <a:latin typeface="Arial" panose="020B0604020202020204" pitchFamily="34" charset="0"/>
        </a:defRPr>
      </a:lvl8pPr>
      <a:lvl9pPr marL="1828800" algn="ctr" rtl="0" fontAlgn="base">
        <a:spcBef>
          <a:spcPct val="0"/>
        </a:spcBef>
        <a:spcAft>
          <a:spcPct val="0"/>
        </a:spcAft>
        <a:defRPr sz="4400">
          <a:solidFill>
            <a:schemeClr val="bg1"/>
          </a:solidFill>
          <a:latin typeface="Arial" panose="020B0604020202020204" pitchFamily="34" charset="0"/>
        </a:defRPr>
      </a:lvl9pPr>
    </p:titleStyle>
    <p:bodyStyle>
      <a:lvl1pPr marL="342900" indent="-342900" algn="l" rtl="0" fontAlgn="base">
        <a:spcBef>
          <a:spcPct val="20000"/>
        </a:spcBef>
        <a:spcAft>
          <a:spcPct val="0"/>
        </a:spcAft>
        <a:buClr>
          <a:srgbClr val="800000"/>
        </a:buClr>
        <a:buChar char="•"/>
        <a:defRPr sz="3200" kern="1200">
          <a:solidFill>
            <a:srgbClr val="00234C"/>
          </a:solidFill>
          <a:latin typeface="+mn-lt"/>
          <a:ea typeface="+mn-ea"/>
          <a:cs typeface="+mn-cs"/>
        </a:defRPr>
      </a:lvl1pPr>
      <a:lvl2pPr marL="742950" indent="-285750" algn="l" rtl="0" fontAlgn="base">
        <a:spcBef>
          <a:spcPct val="20000"/>
        </a:spcBef>
        <a:spcAft>
          <a:spcPct val="0"/>
        </a:spcAft>
        <a:buClr>
          <a:srgbClr val="800000"/>
        </a:buClr>
        <a:buChar char="•"/>
        <a:defRPr sz="2800" kern="1200">
          <a:solidFill>
            <a:srgbClr val="00234C"/>
          </a:solidFill>
          <a:latin typeface="+mn-lt"/>
          <a:ea typeface="+mn-ea"/>
          <a:cs typeface="+mn-cs"/>
        </a:defRPr>
      </a:lvl2pPr>
      <a:lvl3pPr marL="1143000" indent="-228600" algn="l" rtl="0" fontAlgn="base">
        <a:spcBef>
          <a:spcPct val="20000"/>
        </a:spcBef>
        <a:spcAft>
          <a:spcPct val="0"/>
        </a:spcAft>
        <a:buClr>
          <a:srgbClr val="800000"/>
        </a:buClr>
        <a:buChar char="•"/>
        <a:defRPr sz="2400" kern="1200">
          <a:solidFill>
            <a:srgbClr val="00234C"/>
          </a:solidFill>
          <a:latin typeface="+mn-lt"/>
          <a:ea typeface="+mn-ea"/>
          <a:cs typeface="+mn-cs"/>
        </a:defRPr>
      </a:lvl3pPr>
      <a:lvl4pPr marL="1600200" indent="-228600" algn="l" rtl="0" fontAlgn="base">
        <a:spcBef>
          <a:spcPct val="20000"/>
        </a:spcBef>
        <a:spcAft>
          <a:spcPct val="0"/>
        </a:spcAft>
        <a:buClr>
          <a:srgbClr val="800000"/>
        </a:buClr>
        <a:buChar char="•"/>
        <a:defRPr sz="2000" kern="1200">
          <a:solidFill>
            <a:srgbClr val="00234C"/>
          </a:solidFill>
          <a:latin typeface="+mn-lt"/>
          <a:ea typeface="+mn-ea"/>
          <a:cs typeface="+mn-cs"/>
        </a:defRPr>
      </a:lvl4pPr>
      <a:lvl5pPr marL="2057400" indent="-228600" algn="l" rtl="0" fontAlgn="base">
        <a:spcBef>
          <a:spcPct val="20000"/>
        </a:spcBef>
        <a:spcAft>
          <a:spcPct val="0"/>
        </a:spcAft>
        <a:buClr>
          <a:srgbClr val="800000"/>
        </a:buClr>
        <a:buChar char="•"/>
        <a:defRPr sz="2000" kern="1200">
          <a:solidFill>
            <a:srgbClr val="002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hyperlink" Target="https://gpctek.com.sg/technology/?utm_source=chatgpt.com" TargetMode="External"/><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72077EE1-D498-B3A4-99E4-1DF7B93F58A4}"/>
              </a:ext>
            </a:extLst>
          </p:cNvPr>
          <p:cNvSpPr>
            <a:spLocks noGrp="1" noChangeArrowheads="1"/>
          </p:cNvSpPr>
          <p:nvPr>
            <p:ph type="subTitle" idx="1"/>
          </p:nvPr>
        </p:nvSpPr>
        <p:spPr>
          <a:xfrm>
            <a:off x="410183" y="3985098"/>
            <a:ext cx="8320391" cy="1828800"/>
          </a:xfrm>
        </p:spPr>
        <p:txBody>
          <a:bodyPr/>
          <a:lstStyle/>
          <a:p>
            <a:pPr>
              <a:lnSpc>
                <a:spcPct val="80000"/>
              </a:lnSpc>
            </a:pPr>
            <a:r>
              <a:rPr lang="en-US" altLang="en-US" sz="2800"/>
              <a:t>Group 1</a:t>
            </a:r>
            <a:endParaRPr lang="en-US" altLang="en-US" sz="2800">
              <a:cs typeface="Arial"/>
            </a:endParaRPr>
          </a:p>
          <a:p>
            <a:pPr>
              <a:lnSpc>
                <a:spcPct val="80000"/>
              </a:lnSpc>
            </a:pPr>
            <a:r>
              <a:rPr lang="en-US" altLang="en-US" sz="2800"/>
              <a:t>Joshua </a:t>
            </a:r>
            <a:r>
              <a:rPr lang="en-US" altLang="en-US" sz="2800" err="1"/>
              <a:t>Olusoji</a:t>
            </a:r>
            <a:r>
              <a:rPr lang="en-US" altLang="en-US" sz="2800"/>
              <a:t>, Omar </a:t>
            </a:r>
            <a:r>
              <a:rPr lang="en-US" altLang="en-US" sz="2800" err="1"/>
              <a:t>Zaruk</a:t>
            </a:r>
            <a:r>
              <a:rPr lang="en-US" altLang="en-US" sz="2800"/>
              <a:t>, Sanad Abu </a:t>
            </a:r>
            <a:r>
              <a:rPr lang="en-US" altLang="en-US" sz="2800" err="1"/>
              <a:t>Hweij</a:t>
            </a:r>
            <a:r>
              <a:rPr lang="en-US" altLang="en-US" sz="2800"/>
              <a:t>, Qussay Suleiman</a:t>
            </a:r>
            <a:endParaRPr lang="en-US" altLang="en-US" sz="2800">
              <a:cs typeface="Arial"/>
            </a:endParaRPr>
          </a:p>
          <a:p>
            <a:pPr>
              <a:lnSpc>
                <a:spcPct val="80000"/>
              </a:lnSpc>
            </a:pPr>
            <a:r>
              <a:rPr lang="en-US" altLang="en-US" sz="2800"/>
              <a:t>Chemical Engineering Lab I</a:t>
            </a:r>
          </a:p>
          <a:p>
            <a:pPr>
              <a:lnSpc>
                <a:spcPct val="80000"/>
              </a:lnSpc>
            </a:pPr>
            <a:r>
              <a:rPr lang="en-US" altLang="en-US" sz="2800">
                <a:cs typeface="Arial"/>
              </a:rPr>
              <a:t>11/25/2025</a:t>
            </a:r>
          </a:p>
        </p:txBody>
      </p:sp>
      <p:sp>
        <p:nvSpPr>
          <p:cNvPr id="2053" name="Rectangle 5">
            <a:extLst>
              <a:ext uri="{FF2B5EF4-FFF2-40B4-BE49-F238E27FC236}">
                <a16:creationId xmlns:a16="http://schemas.microsoft.com/office/drawing/2014/main" id="{177B3EAE-4BF6-7FAA-5ABF-F67506E35031}"/>
              </a:ext>
            </a:extLst>
          </p:cNvPr>
          <p:cNvSpPr>
            <a:spLocks noGrp="1" noChangeArrowheads="1"/>
          </p:cNvSpPr>
          <p:nvPr>
            <p:ph type="ctrTitle"/>
          </p:nvPr>
        </p:nvSpPr>
        <p:spPr>
          <a:xfrm>
            <a:off x="0" y="0"/>
            <a:ext cx="9144000" cy="3581400"/>
          </a:xfrm>
        </p:spPr>
        <p:txBody>
          <a:bodyPr/>
          <a:lstStyle/>
          <a:p>
            <a:br>
              <a:rPr lang="en-US" altLang="en-US" sz="4000" b="1"/>
            </a:br>
            <a:br>
              <a:rPr lang="en-US" altLang="en-US" sz="4000" b="1"/>
            </a:br>
            <a:r>
              <a:rPr lang="en-US" altLang="en-US" sz="4000" b="1"/>
              <a:t>Membrane Air Separation</a:t>
            </a:r>
          </a:p>
        </p:txBody>
      </p:sp>
      <p:sp>
        <p:nvSpPr>
          <p:cNvPr id="2054" name="Line 6">
            <a:extLst>
              <a:ext uri="{FF2B5EF4-FFF2-40B4-BE49-F238E27FC236}">
                <a16:creationId xmlns:a16="http://schemas.microsoft.com/office/drawing/2014/main" id="{9B324F58-C193-380D-8D31-2E03C0290791}"/>
              </a:ext>
            </a:extLst>
          </p:cNvPr>
          <p:cNvSpPr>
            <a:spLocks noChangeShapeType="1"/>
          </p:cNvSpPr>
          <p:nvPr/>
        </p:nvSpPr>
        <p:spPr bwMode="auto">
          <a:xfrm>
            <a:off x="0" y="35814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39B22-1318-601B-70B4-C33032FCBE66}"/>
            </a:ext>
          </a:extLst>
        </p:cNvPr>
        <p:cNvGrpSpPr/>
        <p:nvPr/>
      </p:nvGrpSpPr>
      <p:grpSpPr>
        <a:xfrm>
          <a:off x="0" y="0"/>
          <a:ext cx="0" cy="0"/>
          <a:chOff x="0" y="0"/>
          <a:chExt cx="0" cy="0"/>
        </a:xfrm>
      </p:grpSpPr>
      <p:sp>
        <p:nvSpPr>
          <p:cNvPr id="92162" name="Rectangle 2">
            <a:extLst>
              <a:ext uri="{FF2B5EF4-FFF2-40B4-BE49-F238E27FC236}">
                <a16:creationId xmlns:a16="http://schemas.microsoft.com/office/drawing/2014/main" id="{6E1372AA-FFEC-B4A1-0E40-FCF89DA28985}"/>
              </a:ext>
            </a:extLst>
          </p:cNvPr>
          <p:cNvSpPr>
            <a:spLocks noGrp="1" noChangeArrowheads="1"/>
          </p:cNvSpPr>
          <p:nvPr>
            <p:ph type="title"/>
          </p:nvPr>
        </p:nvSpPr>
        <p:spPr/>
        <p:txBody>
          <a:bodyPr/>
          <a:lstStyle/>
          <a:p>
            <a:r>
              <a:rPr lang="en-US" altLang="en-US" sz="4000" b="1"/>
              <a:t>Introduction</a:t>
            </a:r>
          </a:p>
        </p:txBody>
      </p:sp>
      <p:sp>
        <p:nvSpPr>
          <p:cNvPr id="92163" name="Rectangle 3">
            <a:extLst>
              <a:ext uri="{FF2B5EF4-FFF2-40B4-BE49-F238E27FC236}">
                <a16:creationId xmlns:a16="http://schemas.microsoft.com/office/drawing/2014/main" id="{67704580-64DC-0618-ADC1-F78288E7AA39}"/>
              </a:ext>
            </a:extLst>
          </p:cNvPr>
          <p:cNvSpPr>
            <a:spLocks noGrp="1" noChangeArrowheads="1"/>
          </p:cNvSpPr>
          <p:nvPr>
            <p:ph sz="half" idx="1"/>
          </p:nvPr>
        </p:nvSpPr>
        <p:spPr/>
        <p:txBody>
          <a:bodyPr/>
          <a:lstStyle/>
          <a:p>
            <a:pPr>
              <a:buFontTx/>
              <a:buNone/>
            </a:pPr>
            <a:endParaRPr lang="en-US" altLang="en-US" b="1"/>
          </a:p>
          <a:p>
            <a:endParaRPr lang="en-US" sz="2800">
              <a:cs typeface="Arial"/>
            </a:endParaRPr>
          </a:p>
          <a:p>
            <a:endParaRPr lang="en-US" altLang="en-US" sz="2800">
              <a:cs typeface="Arial"/>
            </a:endParaRPr>
          </a:p>
        </p:txBody>
      </p:sp>
      <p:pic>
        <p:nvPicPr>
          <p:cNvPr id="1026" name="Picture 2" descr="PCI Gases: Advanced Membrane Tech for Aerospace &amp; Defense">
            <a:extLst>
              <a:ext uri="{FF2B5EF4-FFF2-40B4-BE49-F238E27FC236}">
                <a16:creationId xmlns:a16="http://schemas.microsoft.com/office/drawing/2014/main" id="{C686159A-369A-B78B-3BC6-33FB064FA3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139" r="10152"/>
          <a:stretch>
            <a:fillRect/>
          </a:stretch>
        </p:blipFill>
        <p:spPr bwMode="auto">
          <a:xfrm>
            <a:off x="5367528" y="1508919"/>
            <a:ext cx="3319272" cy="247902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6BC644C-F685-13A2-9F5C-E60F603075F5}"/>
              </a:ext>
            </a:extLst>
          </p:cNvPr>
          <p:cNvPicPr>
            <a:picLocks noChangeAspect="1"/>
          </p:cNvPicPr>
          <p:nvPr/>
        </p:nvPicPr>
        <p:blipFill>
          <a:blip r:embed="rId4"/>
          <a:stretch>
            <a:fillRect/>
          </a:stretch>
        </p:blipFill>
        <p:spPr>
          <a:xfrm>
            <a:off x="5367528" y="4079220"/>
            <a:ext cx="3319272" cy="2682386"/>
          </a:xfrm>
          <a:prstGeom prst="rect">
            <a:avLst/>
          </a:prstGeom>
          <a:ln>
            <a:solidFill>
              <a:schemeClr val="tx1"/>
            </a:solidFill>
          </a:ln>
        </p:spPr>
      </p:pic>
      <p:sp>
        <p:nvSpPr>
          <p:cNvPr id="4" name="TextBox 3">
            <a:extLst>
              <a:ext uri="{FF2B5EF4-FFF2-40B4-BE49-F238E27FC236}">
                <a16:creationId xmlns:a16="http://schemas.microsoft.com/office/drawing/2014/main" id="{D928C34B-08A3-9F8A-E4E7-44661E6EE065}"/>
              </a:ext>
            </a:extLst>
          </p:cNvPr>
          <p:cNvSpPr txBox="1"/>
          <p:nvPr/>
        </p:nvSpPr>
        <p:spPr>
          <a:xfrm>
            <a:off x="147782" y="1600200"/>
            <a:ext cx="5126180" cy="6045501"/>
          </a:xfrm>
          <a:prstGeom prst="rect">
            <a:avLst/>
          </a:prstGeom>
          <a:noFill/>
        </p:spPr>
        <p:txBody>
          <a:bodyPr wrap="square">
            <a:spAutoFit/>
          </a:bodyPr>
          <a:lstStyle/>
          <a:p>
            <a:pPr marR="0" lvl="0" algn="l" defTabSz="914400" rtl="0" eaLnBrk="1" fontAlgn="base" latinLnBrk="0" hangingPunct="1">
              <a:lnSpc>
                <a:spcPct val="150000"/>
              </a:lnSpc>
              <a:spcBef>
                <a:spcPct val="0"/>
              </a:spcBef>
              <a:spcAft>
                <a:spcPct val="0"/>
              </a:spcAft>
              <a:buClrTx/>
              <a:buSzTx/>
              <a:tabLst/>
              <a:defRPr/>
            </a:pPr>
            <a:r>
              <a:rPr lang="en-US" sz="2400" dirty="0">
                <a:solidFill>
                  <a:srgbClr val="002060"/>
                </a:solidFill>
              </a:rPr>
              <a:t>Membrane Separation</a:t>
            </a:r>
            <a:endParaRPr kumimoji="0" lang="en-US" b="0" i="0"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285750" indent="-285750">
              <a:lnSpc>
                <a:spcPct val="200000"/>
              </a:lnSpc>
              <a:buFont typeface="Arial" panose="020B0604020202020204" pitchFamily="34" charset="0"/>
              <a:buChar char="•"/>
              <a:defRPr/>
            </a:pPr>
            <a:r>
              <a:rPr lang="en-US" dirty="0">
                <a:solidFill>
                  <a:srgbClr val="002060"/>
                </a:solidFill>
              </a:rPr>
              <a:t>Thousands of bundled, hollow tubes allow </a:t>
            </a:r>
            <a:r>
              <a:rPr lang="en-US" u="sng" dirty="0">
                <a:solidFill>
                  <a:srgbClr val="002060"/>
                </a:solidFill>
              </a:rPr>
              <a:t>fast flow of oxygen </a:t>
            </a:r>
            <a:r>
              <a:rPr lang="en-US" dirty="0">
                <a:solidFill>
                  <a:srgbClr val="002060"/>
                </a:solidFill>
              </a:rPr>
              <a:t>&amp; </a:t>
            </a:r>
            <a:r>
              <a:rPr lang="en-US" u="sng" dirty="0">
                <a:solidFill>
                  <a:srgbClr val="002060"/>
                </a:solidFill>
              </a:rPr>
              <a:t>slow flow of nitrogen.</a:t>
            </a:r>
          </a:p>
          <a:p>
            <a:pPr marL="285750" lvl="0" indent="-285750">
              <a:lnSpc>
                <a:spcPct val="200000"/>
              </a:lnSpc>
              <a:buFont typeface="Arial" panose="020B0604020202020204" pitchFamily="34" charset="0"/>
              <a:buChar char="•"/>
              <a:defRPr/>
            </a:pPr>
            <a:r>
              <a:rPr lang="en-US" b="1" dirty="0">
                <a:solidFill>
                  <a:srgbClr val="002060"/>
                </a:solidFill>
              </a:rPr>
              <a:t>Cheaper</a:t>
            </a:r>
            <a:r>
              <a:rPr lang="en-US" dirty="0">
                <a:solidFill>
                  <a:srgbClr val="002060"/>
                </a:solidFill>
              </a:rPr>
              <a:t> than liquefaction &amp; evaporation!</a:t>
            </a:r>
          </a:p>
          <a:p>
            <a:pPr marL="285750" lvl="0" indent="-285750">
              <a:lnSpc>
                <a:spcPct val="200000"/>
              </a:lnSpc>
              <a:buFont typeface="Arial" panose="020B0604020202020204" pitchFamily="34" charset="0"/>
              <a:buChar char="•"/>
              <a:defRPr/>
            </a:pPr>
            <a:r>
              <a:rPr lang="en-US" dirty="0">
                <a:solidFill>
                  <a:srgbClr val="002060"/>
                </a:solidFill>
              </a:rPr>
              <a:t>Studied </a:t>
            </a:r>
            <a:r>
              <a:rPr lang="en-US" b="1" dirty="0">
                <a:solidFill>
                  <a:srgbClr val="002060"/>
                </a:solidFill>
              </a:rPr>
              <a:t>pressure</a:t>
            </a:r>
            <a:r>
              <a:rPr lang="en-US" dirty="0">
                <a:solidFill>
                  <a:srgbClr val="002060"/>
                </a:solidFill>
              </a:rPr>
              <a:t>, flowrate, and configuration effects on </a:t>
            </a:r>
            <a:r>
              <a:rPr lang="en-US" b="1" dirty="0">
                <a:solidFill>
                  <a:srgbClr val="002060"/>
                </a:solidFill>
              </a:rPr>
              <a:t>separation efficiency.</a:t>
            </a:r>
            <a:endParaRPr kumimoji="0" lang="en-US"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285750" marR="0" lvl="0" indent="-285750" algn="l" defTabSz="914400" rtl="0" eaLnBrk="1" fontAlgn="base" latinLnBrk="0" hangingPunct="1">
              <a:lnSpc>
                <a:spcPct val="200000"/>
              </a:lnSpc>
              <a:spcBef>
                <a:spcPct val="0"/>
              </a:spcBef>
              <a:spcAft>
                <a:spcPct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2060"/>
                </a:solidFill>
                <a:effectLst/>
                <a:uLnTx/>
                <a:uFillTx/>
                <a:latin typeface="Arial" panose="020B0604020202020204" pitchFamily="34" charset="0"/>
                <a:ea typeface="+mn-ea"/>
                <a:cs typeface="+mn-cs"/>
              </a:rPr>
              <a:t>Used in purification, filtration, and electrolyte recycling.</a:t>
            </a:r>
          </a:p>
          <a:p>
            <a:pPr marR="0" lvl="0" algn="l" defTabSz="914400" rtl="0" eaLnBrk="1" fontAlgn="base" latinLnBrk="0" hangingPunct="1">
              <a:lnSpc>
                <a:spcPct val="150000"/>
              </a:lnSpc>
              <a:spcBef>
                <a:spcPct val="0"/>
              </a:spcBef>
              <a:spcAft>
                <a:spcPct val="0"/>
              </a:spcAft>
              <a:buClrTx/>
              <a:buSzTx/>
              <a:tabLst/>
              <a:defRPr/>
            </a:pPr>
            <a:endParaRPr kumimoji="0" lang="en-US" sz="17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endParaRPr kumimoji="0" lang="en-US" sz="17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endParaRPr kumimoji="0" lang="en-US" sz="17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endParaRPr kumimoji="0" lang="en-US" sz="1700" b="0" i="0" u="none" strike="noStrike" kern="1200" cap="none" spc="0" normalizeH="0" baseline="0" noProof="0" dirty="0">
              <a:ln>
                <a:noFill/>
              </a:ln>
              <a:solidFill>
                <a:srgbClr val="00206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4403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2B505-14F3-52D8-A7DB-5BD167D72C4D}"/>
              </a:ext>
            </a:extLst>
          </p:cNvPr>
          <p:cNvSpPr>
            <a:spLocks noGrp="1"/>
          </p:cNvSpPr>
          <p:nvPr>
            <p:ph type="title"/>
          </p:nvPr>
        </p:nvSpPr>
        <p:spPr>
          <a:xfrm>
            <a:off x="0" y="0"/>
            <a:ext cx="9144000" cy="1417638"/>
          </a:xfrm>
        </p:spPr>
        <p:txBody>
          <a:bodyPr wrap="square" anchor="ctr">
            <a:normAutofit/>
          </a:bodyPr>
          <a:lstStyle/>
          <a:p>
            <a:r>
              <a:rPr lang="en-US"/>
              <a:t>Theory </a:t>
            </a:r>
          </a:p>
        </p:txBody>
      </p:sp>
      <p:sp>
        <p:nvSpPr>
          <p:cNvPr id="4" name="Content Placeholder 3">
            <a:extLst>
              <a:ext uri="{FF2B5EF4-FFF2-40B4-BE49-F238E27FC236}">
                <a16:creationId xmlns:a16="http://schemas.microsoft.com/office/drawing/2014/main" id="{8A0DEA78-7A42-72FF-CCE4-3EFECD32BCDA}"/>
              </a:ext>
            </a:extLst>
          </p:cNvPr>
          <p:cNvSpPr>
            <a:spLocks noGrp="1"/>
          </p:cNvSpPr>
          <p:nvPr>
            <p:ph sz="half" idx="1"/>
          </p:nvPr>
        </p:nvSpPr>
        <p:spPr>
          <a:xfrm>
            <a:off x="409492" y="1576346"/>
            <a:ext cx="4038600" cy="4525963"/>
          </a:xfrm>
        </p:spPr>
        <p:txBody>
          <a:bodyPr wrap="square" anchor="t">
            <a:normAutofit fontScale="25000" lnSpcReduction="20000"/>
          </a:bodyPr>
          <a:lstStyle/>
          <a:p>
            <a:r>
              <a:rPr lang="en-US" sz="3400">
                <a:latin typeface="Arial"/>
                <a:cs typeface="Times New Roman"/>
              </a:rPr>
              <a:t>Separation occurs because O₂ permeates through the polymer membrane faster than N₂.</a:t>
            </a:r>
          </a:p>
          <a:p>
            <a:endParaRPr lang="en-US" sz="3400">
              <a:cs typeface="Times New Roman"/>
            </a:endParaRPr>
          </a:p>
          <a:p>
            <a:r>
              <a:rPr lang="en-US" sz="3400">
                <a:ea typeface="+mn-lt"/>
                <a:cs typeface="+mn-lt"/>
              </a:rPr>
              <a:t>Fick’s Law explains diffusion how molecules move from high concentration pressure to low concentration/pressure</a:t>
            </a:r>
          </a:p>
          <a:p>
            <a:endParaRPr lang="en-US" sz="3400">
              <a:cs typeface="Arial"/>
            </a:endParaRPr>
          </a:p>
          <a:p>
            <a:pPr marL="0" indent="0">
              <a:buNone/>
            </a:pPr>
            <a:r>
              <a:rPr lang="en-US" sz="3400">
                <a:cs typeface="Arial"/>
              </a:rPr>
              <a:t> </a:t>
            </a:r>
          </a:p>
          <a:p>
            <a:endParaRPr lang="en-US" sz="3400">
              <a:cs typeface="Arial"/>
            </a:endParaRPr>
          </a:p>
          <a:p>
            <a:r>
              <a:rPr lang="en-US" sz="3400">
                <a:cs typeface="Arial"/>
              </a:rPr>
              <a:t>The amount of gas that dissolves at the membrane surface follows Henry Law</a:t>
            </a:r>
            <a:endParaRPr lang="en-US" sz="3400">
              <a:ea typeface="+mn-lt"/>
              <a:cs typeface="+mn-lt"/>
            </a:endParaRPr>
          </a:p>
          <a:p>
            <a:endParaRPr lang="en-US" sz="3400">
              <a:ea typeface="+mn-lt"/>
              <a:cs typeface="+mn-lt"/>
            </a:endParaRPr>
          </a:p>
          <a:p>
            <a:r>
              <a:rPr lang="en-US" sz="3400">
                <a:ea typeface="+mn-lt"/>
                <a:cs typeface="+mn-lt"/>
              </a:rPr>
              <a:t> </a:t>
            </a:r>
          </a:p>
          <a:p>
            <a:endParaRPr lang="en-US" sz="3400">
              <a:ea typeface="+mn-lt"/>
              <a:cs typeface="+mn-lt"/>
            </a:endParaRPr>
          </a:p>
          <a:p>
            <a:r>
              <a:rPr lang="en-US" sz="3400"/>
              <a:t>By combining diffusion and solubility, the permeability coefficient is obtained</a:t>
            </a:r>
            <a:r>
              <a:rPr lang="en-US" sz="3400">
                <a:ea typeface="+mn-lt"/>
                <a:cs typeface="+mn-lt"/>
              </a:rPr>
              <a:t> </a:t>
            </a:r>
          </a:p>
          <a:p>
            <a:endParaRPr lang="en-US" sz="3400">
              <a:ea typeface="+mn-lt"/>
              <a:cs typeface="+mn-lt"/>
            </a:endParaRPr>
          </a:p>
          <a:p>
            <a:r>
              <a:rPr lang="en-US" sz="3400">
                <a:ea typeface="+mn-lt"/>
                <a:cs typeface="+mn-lt"/>
              </a:rPr>
              <a:t> </a:t>
            </a:r>
          </a:p>
          <a:p>
            <a:endParaRPr lang="en-US" sz="3400">
              <a:ea typeface="+mn-lt"/>
              <a:cs typeface="+mn-lt"/>
            </a:endParaRPr>
          </a:p>
          <a:p>
            <a:r>
              <a:rPr lang="en-US" sz="3400">
                <a:ea typeface="+mn-lt"/>
                <a:cs typeface="+mn-lt"/>
              </a:rPr>
              <a:t>In our experiments we don’t measure permeability directly. Instead, we calculate the overall mass transfer coefficients using measured gas flowrates </a:t>
            </a:r>
          </a:p>
          <a:p>
            <a:pPr marL="0" indent="0">
              <a:buNone/>
            </a:pPr>
            <a:r>
              <a:rPr lang="en-US" sz="3400">
                <a:ea typeface="+mn-lt"/>
                <a:cs typeface="+mn-lt"/>
              </a:rPr>
              <a:t> </a:t>
            </a:r>
          </a:p>
          <a:p>
            <a:r>
              <a:rPr lang="en-US" sz="3400">
                <a:ea typeface="+mn-lt"/>
                <a:cs typeface="+mn-lt"/>
              </a:rPr>
              <a:t> </a:t>
            </a:r>
          </a:p>
          <a:p>
            <a:pPr marL="0" indent="0">
              <a:buNone/>
            </a:pPr>
            <a:r>
              <a:rPr lang="en-US" sz="3400">
                <a:ea typeface="+mn-lt"/>
                <a:cs typeface="+mn-lt"/>
              </a:rPr>
              <a:t> </a:t>
            </a:r>
          </a:p>
          <a:p>
            <a:endParaRPr lang="en-US" sz="3400">
              <a:ea typeface="+mn-lt"/>
              <a:cs typeface="+mn-lt"/>
            </a:endParaRPr>
          </a:p>
          <a:p>
            <a:r>
              <a:rPr lang="en-US" sz="3600"/>
              <a:t>Oxygen permeates more because it dissolves better (Henry) and diffuses faster (Fick)</a:t>
            </a:r>
            <a:r>
              <a:rPr lang="en-US" sz="3600">
                <a:ea typeface="+mn-lt"/>
                <a:cs typeface="+mn-lt"/>
              </a:rPr>
              <a:t> </a:t>
            </a:r>
          </a:p>
          <a:p>
            <a:endParaRPr lang="en-US" sz="3400">
              <a:ea typeface="+mn-lt"/>
              <a:cs typeface="+mn-lt"/>
            </a:endParaRPr>
          </a:p>
          <a:p>
            <a:endParaRPr lang="en-US" sz="3400">
              <a:ea typeface="+mn-lt"/>
              <a:cs typeface="+mn-lt"/>
            </a:endParaRPr>
          </a:p>
          <a:p>
            <a:pPr marL="0" indent="0">
              <a:buNone/>
            </a:pPr>
            <a:r>
              <a:rPr lang="en-US" sz="3400">
                <a:ea typeface="+mn-lt"/>
                <a:cs typeface="+mn-lt"/>
              </a:rPr>
              <a:t> </a:t>
            </a:r>
            <a:endParaRPr lang="en-US" sz="1600">
              <a:ea typeface="+mn-lt"/>
              <a:cs typeface="+mn-lt"/>
            </a:endParaRPr>
          </a:p>
          <a:p>
            <a:endParaRPr lang="en-US" sz="1600">
              <a:ea typeface="+mn-lt"/>
              <a:cs typeface="+mn-lt"/>
            </a:endParaRPr>
          </a:p>
          <a:p>
            <a:pPr marL="0" indent="0">
              <a:buNone/>
            </a:pPr>
            <a:endParaRPr lang="en-US" sz="1600">
              <a:ea typeface="+mn-lt"/>
              <a:cs typeface="+mn-lt"/>
            </a:endParaRPr>
          </a:p>
          <a:p>
            <a:pPr marL="0" indent="0">
              <a:buNone/>
            </a:pPr>
            <a:endParaRPr lang="en-US" sz="1600">
              <a:ea typeface="+mn-lt"/>
              <a:cs typeface="+mn-lt"/>
            </a:endParaRPr>
          </a:p>
          <a:p>
            <a:pPr marL="0" indent="0">
              <a:buNone/>
            </a:pPr>
            <a:r>
              <a:rPr lang="en-US" sz="1600">
                <a:ea typeface="+mn-lt"/>
                <a:cs typeface="+mn-lt"/>
              </a:rPr>
              <a:t> </a:t>
            </a:r>
          </a:p>
          <a:p>
            <a:pPr marL="0" indent="0">
              <a:buNone/>
            </a:pPr>
            <a:endParaRPr lang="en-US" sz="1600">
              <a:ea typeface="+mn-lt"/>
              <a:cs typeface="+mn-lt"/>
            </a:endParaRPr>
          </a:p>
          <a:p>
            <a:pPr marL="0" indent="0">
              <a:buNone/>
            </a:pPr>
            <a:r>
              <a:rPr lang="en-US" sz="1600">
                <a:ea typeface="+mn-lt"/>
                <a:cs typeface="+mn-lt"/>
              </a:rPr>
              <a:t>  </a:t>
            </a:r>
          </a:p>
          <a:p>
            <a:pPr marL="0" indent="0">
              <a:buNone/>
            </a:pPr>
            <a:endParaRPr lang="en-US" sz="1600">
              <a:cs typeface="Arial"/>
            </a:endParaRPr>
          </a:p>
          <a:p>
            <a:pPr marL="0" indent="0">
              <a:buNone/>
            </a:pPr>
            <a:r>
              <a:rPr lang="en-US" sz="1600">
                <a:cs typeface="Arial"/>
              </a:rPr>
              <a:t> </a:t>
            </a:r>
          </a:p>
          <a:p>
            <a:endParaRPr lang="en-US" sz="1600">
              <a:latin typeface="Arial"/>
              <a:cs typeface="Arial"/>
            </a:endParaRPr>
          </a:p>
          <a:p>
            <a:pPr marL="0" indent="0">
              <a:buNone/>
            </a:pPr>
            <a:endParaRPr lang="en-US" sz="1600">
              <a:cs typeface="Arial"/>
            </a:endParaRPr>
          </a:p>
          <a:p>
            <a:pPr marL="0" indent="0">
              <a:buNone/>
            </a:pPr>
            <a:br>
              <a:rPr lang="en-US"/>
            </a:br>
            <a:endParaRPr lang="en-US">
              <a:cs typeface="Arial"/>
            </a:endParaRPr>
          </a:p>
          <a:p>
            <a:endParaRPr lang="en-US" sz="1600">
              <a:cs typeface="Arial"/>
            </a:endParaRPr>
          </a:p>
          <a:p>
            <a:endParaRPr lang="en-US" sz="1600">
              <a:cs typeface="Times New Roman"/>
            </a:endParaRPr>
          </a:p>
          <a:p>
            <a:endParaRPr lang="en-US" sz="1600">
              <a:cs typeface="Times New Roman"/>
            </a:endParaRPr>
          </a:p>
          <a:p>
            <a:endParaRPr lang="en-US" sz="1600">
              <a:cs typeface="Times New Roman"/>
            </a:endParaRPr>
          </a:p>
          <a:p>
            <a:endParaRPr lang="en-US" sz="1400">
              <a:cs typeface="Times New Roman"/>
            </a:endParaRPr>
          </a:p>
          <a:p>
            <a:endParaRPr lang="en-US" sz="1400">
              <a:cs typeface="Times New Roman"/>
            </a:endParaRPr>
          </a:p>
          <a:p>
            <a:endParaRPr lang="en-US">
              <a:cs typeface="Arial"/>
            </a:endParaRPr>
          </a:p>
          <a:p>
            <a:endParaRPr lang="en-US">
              <a:cs typeface="Arial"/>
            </a:endParaRPr>
          </a:p>
        </p:txBody>
      </p:sp>
      <p:pic>
        <p:nvPicPr>
          <p:cNvPr id="3" name="Picture 2">
            <a:extLst>
              <a:ext uri="{FF2B5EF4-FFF2-40B4-BE49-F238E27FC236}">
                <a16:creationId xmlns:a16="http://schemas.microsoft.com/office/drawing/2014/main" id="{5E628554-2A2F-2047-F25A-4F2ABAD16930}"/>
              </a:ext>
            </a:extLst>
          </p:cNvPr>
          <p:cNvPicPr>
            <a:picLocks noChangeAspect="1"/>
          </p:cNvPicPr>
          <p:nvPr/>
        </p:nvPicPr>
        <p:blipFill>
          <a:blip r:embed="rId2"/>
          <a:stretch>
            <a:fillRect/>
          </a:stretch>
        </p:blipFill>
        <p:spPr>
          <a:xfrm>
            <a:off x="5582404" y="1639172"/>
            <a:ext cx="3477883" cy="2661279"/>
          </a:xfrm>
          <a:prstGeom prst="rect">
            <a:avLst/>
          </a:prstGeom>
          <a:noFill/>
        </p:spPr>
      </p:pic>
      <p:pic>
        <p:nvPicPr>
          <p:cNvPr id="10" name="Picture 9">
            <a:extLst>
              <a:ext uri="{FF2B5EF4-FFF2-40B4-BE49-F238E27FC236}">
                <a16:creationId xmlns:a16="http://schemas.microsoft.com/office/drawing/2014/main" id="{61413940-B3C0-8A25-B9AD-F07D3813299C}"/>
              </a:ext>
            </a:extLst>
          </p:cNvPr>
          <p:cNvPicPr>
            <a:picLocks noChangeAspect="1"/>
          </p:cNvPicPr>
          <p:nvPr/>
        </p:nvPicPr>
        <p:blipFill>
          <a:blip r:embed="rId3"/>
          <a:stretch>
            <a:fillRect/>
          </a:stretch>
        </p:blipFill>
        <p:spPr>
          <a:xfrm>
            <a:off x="823913" y="2253609"/>
            <a:ext cx="1483501" cy="417111"/>
          </a:xfrm>
          <a:prstGeom prst="rect">
            <a:avLst/>
          </a:prstGeom>
        </p:spPr>
      </p:pic>
      <p:pic>
        <p:nvPicPr>
          <p:cNvPr id="14" name="Picture 13">
            <a:extLst>
              <a:ext uri="{FF2B5EF4-FFF2-40B4-BE49-F238E27FC236}">
                <a16:creationId xmlns:a16="http://schemas.microsoft.com/office/drawing/2014/main" id="{9111FE09-92DC-E466-1326-4D4E554B585C}"/>
              </a:ext>
            </a:extLst>
          </p:cNvPr>
          <p:cNvPicPr>
            <a:picLocks noChangeAspect="1"/>
          </p:cNvPicPr>
          <p:nvPr/>
        </p:nvPicPr>
        <p:blipFill>
          <a:blip r:embed="rId4"/>
          <a:stretch>
            <a:fillRect/>
          </a:stretch>
        </p:blipFill>
        <p:spPr>
          <a:xfrm>
            <a:off x="850511" y="3024771"/>
            <a:ext cx="768349" cy="252206"/>
          </a:xfrm>
          <a:prstGeom prst="rect">
            <a:avLst/>
          </a:prstGeom>
        </p:spPr>
      </p:pic>
      <p:pic>
        <p:nvPicPr>
          <p:cNvPr id="16" name="Picture 15">
            <a:extLst>
              <a:ext uri="{FF2B5EF4-FFF2-40B4-BE49-F238E27FC236}">
                <a16:creationId xmlns:a16="http://schemas.microsoft.com/office/drawing/2014/main" id="{2286E019-BC5C-3D2E-E876-58CE0C8C3921}"/>
              </a:ext>
            </a:extLst>
          </p:cNvPr>
          <p:cNvPicPr>
            <a:picLocks noChangeAspect="1"/>
          </p:cNvPicPr>
          <p:nvPr/>
        </p:nvPicPr>
        <p:blipFill>
          <a:blip r:embed="rId5"/>
          <a:stretch>
            <a:fillRect/>
          </a:stretch>
        </p:blipFill>
        <p:spPr>
          <a:xfrm>
            <a:off x="823913" y="3567968"/>
            <a:ext cx="1414462" cy="391664"/>
          </a:xfrm>
          <a:prstGeom prst="rect">
            <a:avLst/>
          </a:prstGeom>
        </p:spPr>
      </p:pic>
      <p:pic>
        <p:nvPicPr>
          <p:cNvPr id="18" name="Picture 17">
            <a:extLst>
              <a:ext uri="{FF2B5EF4-FFF2-40B4-BE49-F238E27FC236}">
                <a16:creationId xmlns:a16="http://schemas.microsoft.com/office/drawing/2014/main" id="{6C4F47DA-B056-212A-1156-DE97EB152036}"/>
              </a:ext>
            </a:extLst>
          </p:cNvPr>
          <p:cNvPicPr>
            <a:picLocks noChangeAspect="1"/>
          </p:cNvPicPr>
          <p:nvPr/>
        </p:nvPicPr>
        <p:blipFill>
          <a:blip r:embed="rId6"/>
          <a:stretch>
            <a:fillRect/>
          </a:stretch>
        </p:blipFill>
        <p:spPr>
          <a:xfrm>
            <a:off x="823913" y="4390950"/>
            <a:ext cx="1774507" cy="300640"/>
          </a:xfrm>
          <a:prstGeom prst="rect">
            <a:avLst/>
          </a:prstGeom>
        </p:spPr>
      </p:pic>
      <p:pic>
        <p:nvPicPr>
          <p:cNvPr id="6" name="Picture 5">
            <a:extLst>
              <a:ext uri="{FF2B5EF4-FFF2-40B4-BE49-F238E27FC236}">
                <a16:creationId xmlns:a16="http://schemas.microsoft.com/office/drawing/2014/main" id="{AEB64ABF-4C24-3EAE-0343-1A545B6CFF2D}"/>
              </a:ext>
            </a:extLst>
          </p:cNvPr>
          <p:cNvPicPr>
            <a:picLocks noChangeAspect="1"/>
          </p:cNvPicPr>
          <p:nvPr/>
        </p:nvPicPr>
        <p:blipFill>
          <a:blip r:embed="rId7"/>
          <a:srcRect b="9137"/>
          <a:stretch>
            <a:fillRect/>
          </a:stretch>
        </p:blipFill>
        <p:spPr>
          <a:xfrm>
            <a:off x="171177" y="1576346"/>
            <a:ext cx="5269690" cy="4589801"/>
          </a:xfrm>
          <a:prstGeom prst="rect">
            <a:avLst/>
          </a:prstGeom>
        </p:spPr>
      </p:pic>
      <p:sp>
        <p:nvSpPr>
          <p:cNvPr id="5" name="TextBox 4">
            <a:extLst>
              <a:ext uri="{FF2B5EF4-FFF2-40B4-BE49-F238E27FC236}">
                <a16:creationId xmlns:a16="http://schemas.microsoft.com/office/drawing/2014/main" id="{8B7C0CF9-DAF7-BDBB-A7E7-CCF07E648E01}"/>
              </a:ext>
            </a:extLst>
          </p:cNvPr>
          <p:cNvSpPr txBox="1"/>
          <p:nvPr/>
        </p:nvSpPr>
        <p:spPr>
          <a:xfrm>
            <a:off x="5851535" y="4228710"/>
            <a:ext cx="25746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latin typeface="Arial"/>
                <a:cs typeface="Arial"/>
              </a:rPr>
              <a:t>Technology.” GPCTEK Co., Ltd., </a:t>
            </a:r>
            <a:r>
              <a:rPr lang="en-US" sz="800">
                <a:latin typeface="Arial"/>
                <a:cs typeface="Arial"/>
                <a:hlinkClick r:id="rId8"/>
              </a:rPr>
              <a:t>https://gpctek.com.sg/technology/</a:t>
            </a:r>
            <a:r>
              <a:rPr lang="en-US" sz="800">
                <a:latin typeface="Arial"/>
                <a:cs typeface="Arial"/>
              </a:rPr>
              <a:t>. Accessed 25 Nov. 2025</a:t>
            </a:r>
          </a:p>
        </p:txBody>
      </p:sp>
    </p:spTree>
    <p:extLst>
      <p:ext uri="{BB962C8B-B14F-4D97-AF65-F5344CB8AC3E}">
        <p14:creationId xmlns:p14="http://schemas.microsoft.com/office/powerpoint/2010/main" val="90042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661A5-7C23-88BB-1ED8-85BD308DD14D}"/>
              </a:ext>
            </a:extLst>
          </p:cNvPr>
          <p:cNvSpPr>
            <a:spLocks noGrp="1"/>
          </p:cNvSpPr>
          <p:nvPr>
            <p:ph type="title"/>
          </p:nvPr>
        </p:nvSpPr>
        <p:spPr/>
        <p:txBody>
          <a:bodyPr/>
          <a:lstStyle/>
          <a:p>
            <a:r>
              <a:rPr lang="en-US"/>
              <a:t>Experimental Objective</a:t>
            </a:r>
          </a:p>
        </p:txBody>
      </p:sp>
      <p:sp>
        <p:nvSpPr>
          <p:cNvPr id="8" name="TextBox 7">
            <a:extLst>
              <a:ext uri="{FF2B5EF4-FFF2-40B4-BE49-F238E27FC236}">
                <a16:creationId xmlns:a16="http://schemas.microsoft.com/office/drawing/2014/main" id="{0E08A6B2-58DB-B76E-E9C2-B14DDD3911B0}"/>
              </a:ext>
            </a:extLst>
          </p:cNvPr>
          <p:cNvSpPr txBox="1"/>
          <p:nvPr/>
        </p:nvSpPr>
        <p:spPr>
          <a:xfrm>
            <a:off x="67732" y="2176786"/>
            <a:ext cx="8873067" cy="3539430"/>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
                <a:srgbClr val="800000"/>
              </a:buClr>
              <a:buSzTx/>
              <a:buFontTx/>
              <a:buChar char="•"/>
              <a:tabLst/>
              <a:defRPr/>
            </a:pPr>
            <a:r>
              <a:rPr kumimoji="0" lang="en-US" sz="2000" b="0" i="0" u="none" strike="noStrike" kern="1200" cap="none" spc="0" normalizeH="0" baseline="0" noProof="0" dirty="0">
                <a:ln>
                  <a:noFill/>
                </a:ln>
                <a:solidFill>
                  <a:srgbClr val="00234C"/>
                </a:solidFill>
                <a:effectLst/>
                <a:uLnTx/>
                <a:uFillTx/>
                <a:latin typeface="Arial"/>
                <a:ea typeface="+mn-ea"/>
                <a:cs typeface="+mn-cs"/>
              </a:rPr>
              <a:t>The objective of this experiment is to investigate the pressure-driven separation of oxygen and nitrogen using a two-module hollow-fiber membrane unit. By measuring flow rates, gas compositions, and operating pressures, the experiment evaluates how these variables affect permeation behavior, transport coefficients, and overall separation performance.</a:t>
            </a:r>
          </a:p>
          <a:p>
            <a:pPr marL="342900" marR="0" lvl="0" indent="-342900" algn="l" defTabSz="914400" rtl="0" eaLnBrk="1" fontAlgn="base" latinLnBrk="0" hangingPunct="1">
              <a:lnSpc>
                <a:spcPct val="100000"/>
              </a:lnSpc>
              <a:spcBef>
                <a:spcPct val="20000"/>
              </a:spcBef>
              <a:spcAft>
                <a:spcPct val="0"/>
              </a:spcAft>
              <a:buClr>
                <a:srgbClr val="800000"/>
              </a:buClr>
              <a:buSzTx/>
              <a:buFontTx/>
              <a:buChar char="•"/>
              <a:tabLst/>
              <a:defRPr/>
            </a:pPr>
            <a:r>
              <a:rPr kumimoji="0" lang="en-US" sz="2000" b="0" i="0" u="none" strike="noStrike" kern="1200" cap="none" spc="0" normalizeH="0" baseline="0" noProof="0" dirty="0">
                <a:ln>
                  <a:noFill/>
                </a:ln>
                <a:solidFill>
                  <a:srgbClr val="00234C"/>
                </a:solidFill>
                <a:effectLst/>
                <a:uLnTx/>
                <a:uFillTx/>
                <a:latin typeface="Arial"/>
                <a:ea typeface="+mn-ea"/>
                <a:cs typeface="+mn-cs"/>
              </a:rPr>
              <a:t>The experiment also compares series and parallel flow configurations to determine how module arrangement influences gas recovery and separation efficiency. Analysis of permeate and retentate compositions under varying conditions provides insight into membrane selectivity and system behavior.</a:t>
            </a:r>
            <a:endParaRPr kumimoji="0" lang="en-US" sz="2400" b="0" i="0" u="none" strike="noStrike" kern="1200" cap="none" spc="0" normalizeH="0" baseline="0" noProof="0" dirty="0">
              <a:ln>
                <a:noFill/>
              </a:ln>
              <a:solidFill>
                <a:srgbClr val="00234C"/>
              </a:solidFill>
              <a:effectLst/>
              <a:uLnTx/>
              <a:uFillTx/>
              <a:latin typeface="Arial"/>
              <a:ea typeface="+mn-ea"/>
              <a:cs typeface="+mn-cs"/>
            </a:endParaRPr>
          </a:p>
        </p:txBody>
      </p:sp>
    </p:spTree>
    <p:extLst>
      <p:ext uri="{BB962C8B-B14F-4D97-AF65-F5344CB8AC3E}">
        <p14:creationId xmlns:p14="http://schemas.microsoft.com/office/powerpoint/2010/main" val="953291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42199E74-8958-3C2B-6E6E-8B369B01504B}"/>
              </a:ext>
            </a:extLst>
          </p:cNvPr>
          <p:cNvSpPr>
            <a:spLocks noGrp="1" noChangeArrowheads="1"/>
          </p:cNvSpPr>
          <p:nvPr>
            <p:ph type="title"/>
          </p:nvPr>
        </p:nvSpPr>
        <p:spPr/>
        <p:txBody>
          <a:bodyPr vert="horz" lIns="91440" tIns="45720" rIns="91440" bIns="45720" rtlCol="0" anchor="ctr">
            <a:normAutofit/>
          </a:bodyPr>
          <a:lstStyle/>
          <a:p>
            <a:pPr algn="l">
              <a:lnSpc>
                <a:spcPct val="90000"/>
              </a:lnSpc>
            </a:pPr>
            <a:r>
              <a:rPr lang="en-US" altLang="en-US" sz="2800">
                <a:solidFill>
                  <a:srgbClr val="FFFFFF"/>
                </a:solidFill>
              </a:rPr>
              <a:t>                         A</a:t>
            </a:r>
            <a:r>
              <a:rPr lang="en-US" altLang="en-US" sz="2800" kern="1200">
                <a:solidFill>
                  <a:srgbClr val="FFFFFF"/>
                </a:solidFill>
                <a:latin typeface="+mj-lt"/>
                <a:ea typeface="+mj-ea"/>
                <a:cs typeface="+mj-cs"/>
              </a:rPr>
              <a:t>pparatus</a:t>
            </a:r>
            <a:endParaRPr lang="en-US">
              <a:ea typeface="+mj-ea"/>
              <a:cs typeface="+mj-cs"/>
            </a:endParaRPr>
          </a:p>
        </p:txBody>
      </p:sp>
      <p:pic>
        <p:nvPicPr>
          <p:cNvPr id="2" name="Picture 1" descr="A machine with red labels on it&#10;&#10;AI-generated content may be incorrect.">
            <a:extLst>
              <a:ext uri="{FF2B5EF4-FFF2-40B4-BE49-F238E27FC236}">
                <a16:creationId xmlns:a16="http://schemas.microsoft.com/office/drawing/2014/main" id="{31B2B0ED-FF9D-A7C6-21AD-1B6B53FDD094}"/>
              </a:ext>
            </a:extLst>
          </p:cNvPr>
          <p:cNvPicPr>
            <a:picLocks noChangeAspect="1"/>
          </p:cNvPicPr>
          <p:nvPr/>
        </p:nvPicPr>
        <p:blipFill>
          <a:blip r:embed="rId2" cstate="print">
            <a:extLst>
              <a:ext uri="{28A0092B-C50C-407E-A947-70E740481C1C}">
                <a14:useLocalDpi xmlns:a14="http://schemas.microsoft.com/office/drawing/2010/main" val="0"/>
              </a:ext>
            </a:extLst>
          </a:blip>
          <a:srcRect l="8082" t="15038" r="7472" b="21456"/>
          <a:stretch>
            <a:fillRect/>
          </a:stretch>
        </p:blipFill>
        <p:spPr>
          <a:xfrm>
            <a:off x="626532" y="1598348"/>
            <a:ext cx="8034867" cy="45318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7236D3DD-1664-E4EB-6833-5246BDF88123}"/>
              </a:ext>
            </a:extLst>
          </p:cNvPr>
          <p:cNvSpPr>
            <a:spLocks noGrp="1" noChangeArrowheads="1"/>
          </p:cNvSpPr>
          <p:nvPr>
            <p:ph type="title"/>
          </p:nvPr>
        </p:nvSpPr>
        <p:spPr/>
        <p:txBody>
          <a:bodyPr/>
          <a:lstStyle/>
          <a:p>
            <a:r>
              <a:rPr lang="en-US" altLang="en-US"/>
              <a:t>Procedure</a:t>
            </a:r>
          </a:p>
        </p:txBody>
      </p:sp>
      <p:sp>
        <p:nvSpPr>
          <p:cNvPr id="2" name="Text Placeholder 1">
            <a:extLst>
              <a:ext uri="{FF2B5EF4-FFF2-40B4-BE49-F238E27FC236}">
                <a16:creationId xmlns:a16="http://schemas.microsoft.com/office/drawing/2014/main" id="{6B1A56CA-1F7A-5AD0-2514-0405428537CF}"/>
              </a:ext>
            </a:extLst>
          </p:cNvPr>
          <p:cNvSpPr>
            <a:spLocks noGrp="1" noChangeArrowheads="1"/>
          </p:cNvSpPr>
          <p:nvPr>
            <p:ph type="body" idx="1"/>
          </p:nvPr>
        </p:nvSpPr>
        <p:spPr bwMode="auto">
          <a:xfrm>
            <a:off x="0" y="1474450"/>
            <a:ext cx="9105900" cy="4847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50000"/>
              </a:lnSpc>
              <a:spcBef>
                <a:spcPct val="0"/>
              </a:spcBef>
              <a:buClrTx/>
            </a:pPr>
            <a:r>
              <a:rPr lang="en-US" sz="1600"/>
              <a:t>Calibrate portable O₂ sensors to ambient air (20.9% O₂). </a:t>
            </a:r>
          </a:p>
          <a:p>
            <a:pPr eaLnBrk="0" hangingPunct="0">
              <a:lnSpc>
                <a:spcPct val="150000"/>
              </a:lnSpc>
              <a:spcBef>
                <a:spcPct val="0"/>
              </a:spcBef>
              <a:buClrTx/>
            </a:pPr>
            <a:r>
              <a:rPr lang="en-US" sz="1600"/>
              <a:t>Select the module configuration: Parallel = A-Left, B-Up, C-Down, D-Up; Series = A-Right, B-Up, C-Up, D-Up.</a:t>
            </a:r>
          </a:p>
          <a:p>
            <a:pPr eaLnBrk="0" hangingPunct="0">
              <a:lnSpc>
                <a:spcPct val="150000"/>
              </a:lnSpc>
              <a:spcBef>
                <a:spcPct val="0"/>
              </a:spcBef>
              <a:buClrTx/>
            </a:pPr>
            <a:r>
              <a:rPr lang="en-US" sz="1600"/>
              <a:t>Set the operating pressure by opening the cylinder valve and adjusting the regulator (20, 40, 80 </a:t>
            </a:r>
            <a:r>
              <a:rPr lang="en-US" sz="1600" err="1"/>
              <a:t>psig</a:t>
            </a:r>
            <a:r>
              <a:rPr lang="en-US" sz="1600"/>
              <a:t>). </a:t>
            </a:r>
          </a:p>
          <a:p>
            <a:pPr eaLnBrk="0" hangingPunct="0">
              <a:lnSpc>
                <a:spcPct val="150000"/>
              </a:lnSpc>
              <a:spcBef>
                <a:spcPct val="0"/>
              </a:spcBef>
              <a:buClrTx/>
            </a:pPr>
            <a:r>
              <a:rPr lang="en-US" sz="1600"/>
              <a:t>Adjust the needle valve to reach the desired tube-side flowrate (0.5, 1, 2, 4, or 8 SLPM) and wait 1–3 minutes for readings to stabilize.</a:t>
            </a:r>
          </a:p>
          <a:p>
            <a:pPr eaLnBrk="0" hangingPunct="0">
              <a:lnSpc>
                <a:spcPct val="150000"/>
              </a:lnSpc>
              <a:spcBef>
                <a:spcPct val="0"/>
              </a:spcBef>
              <a:buClrTx/>
            </a:pPr>
            <a:r>
              <a:rPr lang="en-US" sz="1600"/>
              <a:t>Record the steady-state tube-side pressure and flowrate, the tube-side and shell-side O₂ mole fractions, the shell-side flowrate, and the configuration used.</a:t>
            </a:r>
          </a:p>
          <a:p>
            <a:pPr eaLnBrk="0" hangingPunct="0">
              <a:lnSpc>
                <a:spcPct val="150000"/>
              </a:lnSpc>
              <a:spcBef>
                <a:spcPct val="0"/>
              </a:spcBef>
              <a:buClrTx/>
            </a:pPr>
            <a:r>
              <a:rPr lang="en-US" sz="1600"/>
              <a:t>Perform runs for all combinations of pressure and flowrate in both parallel and series configurations.</a:t>
            </a:r>
          </a:p>
          <a:p>
            <a:pPr eaLnBrk="0" hangingPunct="0">
              <a:lnSpc>
                <a:spcPct val="150000"/>
              </a:lnSpc>
              <a:spcBef>
                <a:spcPct val="0"/>
              </a:spcBef>
              <a:buClrTx/>
            </a:pPr>
            <a:r>
              <a:rPr lang="en-US" sz="1600"/>
              <a:t>After completing all runs, slowly depressurize the system, then shut off the cylinder valve and all instruments.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4BB8A-5C31-0F28-267E-C2534DC8888A}"/>
              </a:ext>
            </a:extLst>
          </p:cNvPr>
          <p:cNvSpPr>
            <a:spLocks noGrp="1"/>
          </p:cNvSpPr>
          <p:nvPr>
            <p:ph type="title"/>
          </p:nvPr>
        </p:nvSpPr>
        <p:spPr/>
        <p:txBody>
          <a:bodyPr/>
          <a:lstStyle/>
          <a:p>
            <a:r>
              <a:rPr lang="en-US" sz="3600"/>
              <a:t>Results - Transport Coefficients</a:t>
            </a:r>
          </a:p>
        </p:txBody>
      </p:sp>
      <p:pic>
        <p:nvPicPr>
          <p:cNvPr id="4" name="Picture 3" descr="A graph of different colored lines&#10;&#10;AI-generated content may be incorrect.">
            <a:extLst>
              <a:ext uri="{FF2B5EF4-FFF2-40B4-BE49-F238E27FC236}">
                <a16:creationId xmlns:a16="http://schemas.microsoft.com/office/drawing/2014/main" id="{02AF64A8-1A41-AF2C-2BF7-8E45DAFD4F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82" y="2013878"/>
            <a:ext cx="3052450" cy="2066987"/>
          </a:xfrm>
          <a:prstGeom prst="rect">
            <a:avLst/>
          </a:prstGeom>
          <a:ln>
            <a:solidFill>
              <a:schemeClr val="tx1"/>
            </a:solidFill>
          </a:ln>
        </p:spPr>
      </p:pic>
      <p:pic>
        <p:nvPicPr>
          <p:cNvPr id="5" name="Picture 4" descr="A graph of a graph with different colored lines&#10;&#10;AI-generated content may be incorrect.">
            <a:extLst>
              <a:ext uri="{FF2B5EF4-FFF2-40B4-BE49-F238E27FC236}">
                <a16:creationId xmlns:a16="http://schemas.microsoft.com/office/drawing/2014/main" id="{A695A6B9-DD67-5EC6-F2E9-85AD161A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37" y="4279696"/>
            <a:ext cx="3058695" cy="2066986"/>
          </a:xfrm>
          <a:prstGeom prst="rect">
            <a:avLst/>
          </a:prstGeom>
          <a:ln>
            <a:solidFill>
              <a:schemeClr val="tx1"/>
            </a:solidFill>
          </a:ln>
        </p:spPr>
      </p:pic>
      <p:sp>
        <p:nvSpPr>
          <p:cNvPr id="6" name="TextBox 5">
            <a:extLst>
              <a:ext uri="{FF2B5EF4-FFF2-40B4-BE49-F238E27FC236}">
                <a16:creationId xmlns:a16="http://schemas.microsoft.com/office/drawing/2014/main" id="{D5EF4540-D677-6C31-C5CA-4BEFC6EB2CF7}"/>
              </a:ext>
            </a:extLst>
          </p:cNvPr>
          <p:cNvSpPr txBox="1"/>
          <p:nvPr/>
        </p:nvSpPr>
        <p:spPr>
          <a:xfrm>
            <a:off x="3936935" y="1505860"/>
            <a:ext cx="1053811" cy="369332"/>
          </a:xfrm>
          <a:prstGeom prst="rect">
            <a:avLst/>
          </a:prstGeom>
          <a:noFill/>
        </p:spPr>
        <p:txBody>
          <a:bodyPr wrap="square" rtlCol="0">
            <a:spAutoFit/>
          </a:bodyPr>
          <a:lstStyle/>
          <a:p>
            <a:r>
              <a:rPr lang="en-US" b="1" u="sng">
                <a:solidFill>
                  <a:srgbClr val="002060"/>
                </a:solidFill>
              </a:rPr>
              <a:t>Parallel</a:t>
            </a:r>
          </a:p>
        </p:txBody>
      </p:sp>
      <p:pic>
        <p:nvPicPr>
          <p:cNvPr id="7" name="Picture 6" descr="A graph with colored lines and numbers&#10;&#10;AI-generated content may be incorrect.">
            <a:extLst>
              <a:ext uri="{FF2B5EF4-FFF2-40B4-BE49-F238E27FC236}">
                <a16:creationId xmlns:a16="http://schemas.microsoft.com/office/drawing/2014/main" id="{172B122B-8EDA-AE27-7C72-51D35290AC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1211" y="2007243"/>
            <a:ext cx="3058695" cy="2073622"/>
          </a:xfrm>
          <a:prstGeom prst="rect">
            <a:avLst/>
          </a:prstGeom>
          <a:ln>
            <a:solidFill>
              <a:schemeClr val="tx1"/>
            </a:solidFill>
          </a:ln>
        </p:spPr>
      </p:pic>
      <p:pic>
        <p:nvPicPr>
          <p:cNvPr id="8" name="Picture 7" descr="A graph with colorful lines&#10;&#10;AI-generated content may be incorrect.">
            <a:extLst>
              <a:ext uri="{FF2B5EF4-FFF2-40B4-BE49-F238E27FC236}">
                <a16:creationId xmlns:a16="http://schemas.microsoft.com/office/drawing/2014/main" id="{5F1B5B11-3220-9AD1-6D9C-476CDA31DC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61211" y="4279696"/>
            <a:ext cx="3058695" cy="2073621"/>
          </a:xfrm>
          <a:prstGeom prst="rect">
            <a:avLst/>
          </a:prstGeom>
          <a:ln>
            <a:solidFill>
              <a:schemeClr val="tx1"/>
            </a:solidFill>
          </a:ln>
        </p:spPr>
      </p:pic>
      <p:sp>
        <p:nvSpPr>
          <p:cNvPr id="9" name="TextBox 8">
            <a:extLst>
              <a:ext uri="{FF2B5EF4-FFF2-40B4-BE49-F238E27FC236}">
                <a16:creationId xmlns:a16="http://schemas.microsoft.com/office/drawing/2014/main" id="{F954EFAD-E9AC-4656-D0EC-A516AEED15C7}"/>
              </a:ext>
            </a:extLst>
          </p:cNvPr>
          <p:cNvSpPr txBox="1"/>
          <p:nvPr/>
        </p:nvSpPr>
        <p:spPr>
          <a:xfrm>
            <a:off x="1113231" y="1531092"/>
            <a:ext cx="971550" cy="369332"/>
          </a:xfrm>
          <a:prstGeom prst="rect">
            <a:avLst/>
          </a:prstGeom>
          <a:noFill/>
        </p:spPr>
        <p:txBody>
          <a:bodyPr wrap="square" rtlCol="0">
            <a:spAutoFit/>
          </a:bodyPr>
          <a:lstStyle/>
          <a:p>
            <a:r>
              <a:rPr lang="en-US" b="1" u="sng">
                <a:solidFill>
                  <a:srgbClr val="002060"/>
                </a:solidFill>
              </a:rPr>
              <a:t>Series</a:t>
            </a:r>
          </a:p>
        </p:txBody>
      </p:sp>
      <p:sp>
        <p:nvSpPr>
          <p:cNvPr id="10" name="TextBox 9">
            <a:extLst>
              <a:ext uri="{FF2B5EF4-FFF2-40B4-BE49-F238E27FC236}">
                <a16:creationId xmlns:a16="http://schemas.microsoft.com/office/drawing/2014/main" id="{D17A084D-823A-4993-C287-DE1B8AA33804}"/>
              </a:ext>
            </a:extLst>
          </p:cNvPr>
          <p:cNvSpPr txBox="1"/>
          <p:nvPr/>
        </p:nvSpPr>
        <p:spPr>
          <a:xfrm>
            <a:off x="6219906" y="2029267"/>
            <a:ext cx="2819591" cy="1769715"/>
          </a:xfrm>
          <a:prstGeom prst="rect">
            <a:avLst/>
          </a:prstGeom>
          <a:noFill/>
        </p:spPr>
        <p:txBody>
          <a:bodyPr wrap="square" rtlCol="0">
            <a:spAutoFit/>
          </a:bodyPr>
          <a:lstStyle/>
          <a:p>
            <a:pPr algn="ctr"/>
            <a:r>
              <a:rPr lang="en-US">
                <a:solidFill>
                  <a:srgbClr val="002060"/>
                </a:solidFill>
              </a:rPr>
              <a:t>O</a:t>
            </a:r>
            <a:r>
              <a:rPr lang="en-US" baseline="-25000">
                <a:solidFill>
                  <a:srgbClr val="002060"/>
                </a:solidFill>
              </a:rPr>
              <a:t>2 </a:t>
            </a:r>
            <a:r>
              <a:rPr lang="en-US">
                <a:solidFill>
                  <a:srgbClr val="002060"/>
                </a:solidFill>
              </a:rPr>
              <a:t>Transport:</a:t>
            </a:r>
          </a:p>
          <a:p>
            <a:pPr marL="285750" indent="-285750">
              <a:buFont typeface="Arial" panose="020B0604020202020204" pitchFamily="34" charset="0"/>
              <a:buChar char="•"/>
            </a:pPr>
            <a:r>
              <a:rPr lang="en-US" sz="1300">
                <a:solidFill>
                  <a:srgbClr val="800000"/>
                </a:solidFill>
              </a:rPr>
              <a:t>Increases with pressure for all flowrates.</a:t>
            </a:r>
          </a:p>
          <a:p>
            <a:pPr marL="285750" indent="-285750">
              <a:buFont typeface="Arial" panose="020B0604020202020204" pitchFamily="34" charset="0"/>
              <a:buChar char="•"/>
            </a:pPr>
            <a:r>
              <a:rPr lang="en-US" sz="1300">
                <a:solidFill>
                  <a:srgbClr val="800000"/>
                </a:solidFill>
              </a:rPr>
              <a:t>Slightly higher at larger flowrates.</a:t>
            </a:r>
          </a:p>
          <a:p>
            <a:pPr marL="285750" indent="-285750">
              <a:buFont typeface="Arial" panose="020B0604020202020204" pitchFamily="34" charset="0"/>
              <a:buChar char="•"/>
            </a:pPr>
            <a:r>
              <a:rPr lang="en-US" sz="1300">
                <a:solidFill>
                  <a:srgbClr val="800000"/>
                </a:solidFill>
              </a:rPr>
              <a:t>Levels off at higher pressures.</a:t>
            </a:r>
          </a:p>
          <a:p>
            <a:pPr marL="285750" indent="-285750">
              <a:buFont typeface="Arial" panose="020B0604020202020204" pitchFamily="34" charset="0"/>
              <a:buChar char="•"/>
            </a:pPr>
            <a:r>
              <a:rPr lang="en-US" sz="1300">
                <a:solidFill>
                  <a:srgbClr val="800000"/>
                </a:solidFill>
              </a:rPr>
              <a:t>Slightly higher in series than in parallel.</a:t>
            </a:r>
          </a:p>
        </p:txBody>
      </p:sp>
      <p:sp>
        <p:nvSpPr>
          <p:cNvPr id="11" name="TextBox 10">
            <a:extLst>
              <a:ext uri="{FF2B5EF4-FFF2-40B4-BE49-F238E27FC236}">
                <a16:creationId xmlns:a16="http://schemas.microsoft.com/office/drawing/2014/main" id="{33DAF9B3-14DB-0F6E-7D20-90E36FDBD23E}"/>
              </a:ext>
            </a:extLst>
          </p:cNvPr>
          <p:cNvSpPr txBox="1"/>
          <p:nvPr/>
        </p:nvSpPr>
        <p:spPr>
          <a:xfrm>
            <a:off x="6219906" y="4089050"/>
            <a:ext cx="2819591" cy="2385268"/>
          </a:xfrm>
          <a:prstGeom prst="rect">
            <a:avLst/>
          </a:prstGeom>
          <a:noFill/>
        </p:spPr>
        <p:txBody>
          <a:bodyPr wrap="square" rtlCol="0">
            <a:spAutoFit/>
          </a:bodyPr>
          <a:lstStyle/>
          <a:p>
            <a:pPr algn="ctr"/>
            <a:r>
              <a:rPr lang="en-US">
                <a:solidFill>
                  <a:srgbClr val="002060"/>
                </a:solidFill>
              </a:rPr>
              <a:t>N</a:t>
            </a:r>
            <a:r>
              <a:rPr lang="en-US" baseline="-25000">
                <a:solidFill>
                  <a:srgbClr val="002060"/>
                </a:solidFill>
              </a:rPr>
              <a:t>2 </a:t>
            </a:r>
            <a:r>
              <a:rPr lang="en-US">
                <a:solidFill>
                  <a:srgbClr val="002060"/>
                </a:solidFill>
              </a:rPr>
              <a:t>Transport:</a:t>
            </a:r>
          </a:p>
          <a:p>
            <a:pPr marL="285750" indent="-285750">
              <a:buFont typeface="Arial" panose="020B0604020202020204" pitchFamily="34" charset="0"/>
              <a:buChar char="•"/>
            </a:pPr>
            <a:r>
              <a:rPr lang="en-US" sz="1300">
                <a:solidFill>
                  <a:srgbClr val="800000"/>
                </a:solidFill>
              </a:rPr>
              <a:t>Increases slightly with pressure (much less than O₂).</a:t>
            </a:r>
          </a:p>
          <a:p>
            <a:pPr marL="285750" indent="-285750">
              <a:buFont typeface="Arial" panose="020B0604020202020204" pitchFamily="34" charset="0"/>
              <a:buChar char="•"/>
            </a:pPr>
            <a:r>
              <a:rPr lang="en-US" sz="1300">
                <a:solidFill>
                  <a:srgbClr val="800000"/>
                </a:solidFill>
              </a:rPr>
              <a:t>Shows minimal dependence on flowrate.</a:t>
            </a:r>
          </a:p>
          <a:p>
            <a:pPr marL="285750" indent="-285750">
              <a:buFont typeface="Arial" panose="020B0604020202020204" pitchFamily="34" charset="0"/>
              <a:buChar char="•"/>
            </a:pPr>
            <a:r>
              <a:rPr lang="en-US" sz="1300">
                <a:solidFill>
                  <a:srgbClr val="800000"/>
                </a:solidFill>
              </a:rPr>
              <a:t>Much lower overall magnitude than O₂ due to lower membrane selectivity.</a:t>
            </a:r>
          </a:p>
          <a:p>
            <a:pPr marL="285750" indent="-285750">
              <a:buFont typeface="Arial" panose="020B0604020202020204" pitchFamily="34" charset="0"/>
              <a:buChar char="•"/>
            </a:pPr>
            <a:r>
              <a:rPr lang="en-US" sz="1300">
                <a:solidFill>
                  <a:srgbClr val="800000"/>
                </a:solidFill>
              </a:rPr>
              <a:t>Series and parallel give nearly identical trends.</a:t>
            </a:r>
          </a:p>
          <a:p>
            <a:pPr marL="285750" indent="-285750">
              <a:buFont typeface="Arial" panose="020B0604020202020204" pitchFamily="34" charset="0"/>
              <a:buChar char="•"/>
            </a:pPr>
            <a:endParaRPr lang="en-US" sz="1400">
              <a:solidFill>
                <a:srgbClr val="800000"/>
              </a:solidFill>
            </a:endParaRPr>
          </a:p>
        </p:txBody>
      </p:sp>
      <p:sp>
        <p:nvSpPr>
          <p:cNvPr id="12" name="TextBox 11">
            <a:extLst>
              <a:ext uri="{FF2B5EF4-FFF2-40B4-BE49-F238E27FC236}">
                <a16:creationId xmlns:a16="http://schemas.microsoft.com/office/drawing/2014/main" id="{4F5E83AF-F26B-B5D8-4067-E11ECF70CB4A}"/>
              </a:ext>
            </a:extLst>
          </p:cNvPr>
          <p:cNvSpPr txBox="1"/>
          <p:nvPr/>
        </p:nvSpPr>
        <p:spPr>
          <a:xfrm>
            <a:off x="6658984" y="1546481"/>
            <a:ext cx="1657531" cy="353943"/>
          </a:xfrm>
          <a:prstGeom prst="rect">
            <a:avLst/>
          </a:prstGeom>
          <a:noFill/>
        </p:spPr>
        <p:txBody>
          <a:bodyPr wrap="square" rtlCol="0">
            <a:spAutoFit/>
          </a:bodyPr>
          <a:lstStyle/>
          <a:p>
            <a:r>
              <a:rPr lang="en-US" sz="1700" b="1" u="sng">
                <a:solidFill>
                  <a:srgbClr val="002060"/>
                </a:solidFill>
              </a:rPr>
              <a:t>Data &amp; Trends</a:t>
            </a:r>
          </a:p>
        </p:txBody>
      </p:sp>
    </p:spTree>
    <p:extLst>
      <p:ext uri="{BB962C8B-B14F-4D97-AF65-F5344CB8AC3E}">
        <p14:creationId xmlns:p14="http://schemas.microsoft.com/office/powerpoint/2010/main" val="80554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50BC8-A4EC-BB7E-84C3-F0E424F45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01D1A-A205-7FF5-28FC-9042D6C45E12}"/>
              </a:ext>
            </a:extLst>
          </p:cNvPr>
          <p:cNvSpPr>
            <a:spLocks noGrp="1"/>
          </p:cNvSpPr>
          <p:nvPr>
            <p:ph type="title"/>
          </p:nvPr>
        </p:nvSpPr>
        <p:spPr/>
        <p:txBody>
          <a:bodyPr/>
          <a:lstStyle/>
          <a:p>
            <a:r>
              <a:rPr lang="en-US" sz="3600"/>
              <a:t>Results - Separation Coefficients</a:t>
            </a:r>
          </a:p>
        </p:txBody>
      </p:sp>
      <p:pic>
        <p:nvPicPr>
          <p:cNvPr id="4" name="Picture 3" descr="A table with numbers and text&#10;&#10;AI-generated content may be incorrect.">
            <a:extLst>
              <a:ext uri="{FF2B5EF4-FFF2-40B4-BE49-F238E27FC236}">
                <a16:creationId xmlns:a16="http://schemas.microsoft.com/office/drawing/2014/main" id="{B1D18E9C-A96A-B0FB-D12C-B8D23C0A1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14475"/>
            <a:ext cx="5445190" cy="2723159"/>
          </a:xfrm>
          <a:prstGeom prst="rect">
            <a:avLst/>
          </a:prstGeom>
          <a:ln>
            <a:solidFill>
              <a:schemeClr val="tx1"/>
            </a:solidFill>
          </a:ln>
        </p:spPr>
      </p:pic>
      <p:pic>
        <p:nvPicPr>
          <p:cNvPr id="5" name="Picture 4" descr="A table with numbers and letters&#10;&#10;AI-generated content may be incorrect.">
            <a:extLst>
              <a:ext uri="{FF2B5EF4-FFF2-40B4-BE49-F238E27FC236}">
                <a16:creationId xmlns:a16="http://schemas.microsoft.com/office/drawing/2014/main" id="{55797A44-DE80-B2A9-0283-A47489EE51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237634"/>
            <a:ext cx="5445190" cy="2620366"/>
          </a:xfrm>
          <a:prstGeom prst="rect">
            <a:avLst/>
          </a:prstGeom>
          <a:ln>
            <a:solidFill>
              <a:schemeClr val="tx1"/>
            </a:solidFill>
          </a:ln>
        </p:spPr>
      </p:pic>
      <p:sp>
        <p:nvSpPr>
          <p:cNvPr id="11" name="TextBox 10">
            <a:extLst>
              <a:ext uri="{FF2B5EF4-FFF2-40B4-BE49-F238E27FC236}">
                <a16:creationId xmlns:a16="http://schemas.microsoft.com/office/drawing/2014/main" id="{DFFA6E3B-2AF3-8AFA-EA59-76C93E59DB61}"/>
              </a:ext>
            </a:extLst>
          </p:cNvPr>
          <p:cNvSpPr txBox="1"/>
          <p:nvPr/>
        </p:nvSpPr>
        <p:spPr>
          <a:xfrm>
            <a:off x="5445190" y="2164200"/>
            <a:ext cx="3605679" cy="3968009"/>
          </a:xfrm>
          <a:prstGeom prst="rect">
            <a:avLst/>
          </a:prstGeom>
          <a:noFill/>
        </p:spPr>
        <p:txBody>
          <a:bodyPr wrap="square">
            <a:spAutoFit/>
          </a:bodyPr>
          <a:lstStyle/>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7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7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700" b="1" i="0" u="none" strike="noStrike" kern="1200" cap="none" spc="0" normalizeH="0" baseline="-25000" noProof="0">
                <a:ln>
                  <a:noFill/>
                </a:ln>
                <a:solidFill>
                  <a:srgbClr val="002060"/>
                </a:solidFill>
                <a:effectLst/>
                <a:uLnTx/>
                <a:uFillTx/>
                <a:latin typeface="Arial" panose="020B0604020202020204" pitchFamily="34" charset="0"/>
                <a:ea typeface="+mn-ea"/>
                <a:cs typeface="+mn-cs"/>
              </a:rPr>
              <a:t> </a:t>
            </a:r>
            <a:r>
              <a:rPr kumimoji="0" lang="en-US" sz="1700" b="1" i="0" u="none" strike="noStrike" kern="1200" cap="none" spc="0" normalizeH="0" baseline="0" noProof="0">
                <a:ln>
                  <a:noFill/>
                </a:ln>
                <a:solidFill>
                  <a:srgbClr val="002060"/>
                </a:solidFill>
                <a:effectLst/>
                <a:uLnTx/>
                <a:uFillTx/>
                <a:latin typeface="Arial" panose="020B0604020202020204" pitchFamily="34" charset="0"/>
                <a:ea typeface="+mn-ea"/>
                <a:cs typeface="+mn-cs"/>
              </a:rPr>
              <a:t>(Permeate-based)</a:t>
            </a:r>
            <a:r>
              <a:rPr kumimoji="0" lang="en-US" sz="1700" b="0" i="0" u="none" strike="noStrike" kern="1200" cap="none" spc="0" normalizeH="0" baseline="0" noProof="0">
                <a:ln>
                  <a:noFill/>
                </a:ln>
                <a:solidFill>
                  <a:srgbClr val="002060"/>
                </a:solidFill>
                <a:effectLst/>
                <a:uLnTx/>
                <a:uFillTx/>
                <a:latin typeface="Arial" panose="020B0604020202020204" pitchFamily="34" charset="0"/>
                <a:ea typeface="+mn-ea"/>
                <a:cs typeface="+mn-cs"/>
              </a:rPr>
              <a:t>: Decreases with pressure and rises slightly with flowrate </a:t>
            </a: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7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7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700" b="1" i="0" u="none" strike="noStrike" kern="1200" cap="none" spc="0" normalizeH="0" baseline="0" noProof="0">
                <a:ln>
                  <a:noFill/>
                </a:ln>
                <a:solidFill>
                  <a:srgbClr val="002060"/>
                </a:solidFill>
                <a:effectLst/>
                <a:uLnTx/>
                <a:uFillTx/>
                <a:latin typeface="Arial" panose="020B0604020202020204" pitchFamily="34" charset="0"/>
                <a:ea typeface="+mn-ea"/>
                <a:cs typeface="+mn-cs"/>
              </a:rPr>
              <a:t>’ (Retentate-based)</a:t>
            </a:r>
            <a:r>
              <a:rPr kumimoji="0" lang="en-US" sz="1700" b="0" i="0" u="none" strike="noStrike" kern="1200" cap="none" spc="0" normalizeH="0" baseline="0" noProof="0">
                <a:ln>
                  <a:noFill/>
                </a:ln>
                <a:solidFill>
                  <a:srgbClr val="002060"/>
                </a:solidFill>
                <a:effectLst/>
                <a:uLnTx/>
                <a:uFillTx/>
                <a:latin typeface="Arial" panose="020B0604020202020204" pitchFamily="34" charset="0"/>
                <a:ea typeface="+mn-ea"/>
                <a:cs typeface="+mn-cs"/>
              </a:rPr>
              <a:t>: Increases with pressure and decreases slightly with flowrate</a:t>
            </a: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700" b="1" i="0" u="none" strike="noStrike" kern="1200" cap="none" spc="0" normalizeH="0" baseline="0" noProof="0" err="1">
                <a:ln>
                  <a:noFill/>
                </a:ln>
                <a:solidFill>
                  <a:srgbClr val="002060"/>
                </a:solidFill>
                <a:effectLst/>
                <a:uLnTx/>
                <a:uFillTx/>
                <a:latin typeface="Arial" panose="020B0604020202020204" pitchFamily="34" charset="0"/>
                <a:ea typeface="+mn-ea"/>
                <a:cs typeface="+mn-cs"/>
              </a:rPr>
              <a:t>a</a:t>
            </a:r>
            <a:r>
              <a:rPr kumimoji="0" lang="en-US" sz="1700" b="1" i="0" u="none" strike="noStrike" kern="1200" cap="none" spc="0" normalizeH="0" baseline="-25000" noProof="0" err="1">
                <a:ln>
                  <a:noFill/>
                </a:ln>
                <a:solidFill>
                  <a:srgbClr val="002060"/>
                </a:solidFill>
                <a:effectLst/>
                <a:uLnTx/>
                <a:uFillTx/>
                <a:latin typeface="Arial" panose="020B0604020202020204" pitchFamily="34" charset="0"/>
                <a:ea typeface="+mn-ea"/>
                <a:cs typeface="+mn-cs"/>
              </a:rPr>
              <a:t>AB</a:t>
            </a:r>
            <a:r>
              <a:rPr kumimoji="0" lang="en-US" sz="1700" b="1" i="0" u="none" strike="noStrike" kern="1200" cap="none" spc="0" normalizeH="0" baseline="0" noProof="0">
                <a:ln>
                  <a:noFill/>
                </a:ln>
                <a:solidFill>
                  <a:srgbClr val="002060"/>
                </a:solidFill>
                <a:effectLst/>
                <a:uLnTx/>
                <a:uFillTx/>
                <a:latin typeface="Arial" panose="020B0604020202020204" pitchFamily="34" charset="0"/>
                <a:ea typeface="+mn-ea"/>
                <a:cs typeface="+mn-cs"/>
              </a:rPr>
              <a:t>’’ (Feed-based)</a:t>
            </a:r>
            <a:r>
              <a:rPr kumimoji="0" lang="en-US" sz="1700" b="0" i="0" u="none" strike="noStrike" kern="1200" cap="none" spc="0" normalizeH="0" baseline="0" noProof="0">
                <a:ln>
                  <a:noFill/>
                </a:ln>
                <a:solidFill>
                  <a:srgbClr val="002060"/>
                </a:solidFill>
                <a:effectLst/>
                <a:uLnTx/>
                <a:uFillTx/>
                <a:latin typeface="Arial" panose="020B0604020202020204" pitchFamily="34" charset="0"/>
                <a:ea typeface="+mn-ea"/>
                <a:cs typeface="+mn-cs"/>
              </a:rPr>
              <a:t>: Strongly increases with flowrate in both configurations and shows weaker pressure dependence</a:t>
            </a:r>
          </a:p>
        </p:txBody>
      </p:sp>
      <p:sp>
        <p:nvSpPr>
          <p:cNvPr id="12" name="TextBox 11">
            <a:extLst>
              <a:ext uri="{FF2B5EF4-FFF2-40B4-BE49-F238E27FC236}">
                <a16:creationId xmlns:a16="http://schemas.microsoft.com/office/drawing/2014/main" id="{5DA73479-2961-F094-6103-E7D6CDFD65BA}"/>
              </a:ext>
            </a:extLst>
          </p:cNvPr>
          <p:cNvSpPr txBox="1"/>
          <p:nvPr/>
        </p:nvSpPr>
        <p:spPr>
          <a:xfrm>
            <a:off x="5669226" y="1626848"/>
            <a:ext cx="2407974" cy="461665"/>
          </a:xfrm>
          <a:prstGeom prst="rect">
            <a:avLst/>
          </a:prstGeom>
          <a:noFill/>
        </p:spPr>
        <p:txBody>
          <a:bodyPr wrap="square">
            <a:spAutoFit/>
          </a:bodyPr>
          <a:lstStyle/>
          <a:p>
            <a:r>
              <a:rPr lang="en-US" sz="2400" b="1" u="sng">
                <a:solidFill>
                  <a:srgbClr val="002060"/>
                </a:solidFill>
              </a:rPr>
              <a:t>Data &amp; Trends</a:t>
            </a:r>
          </a:p>
        </p:txBody>
      </p:sp>
    </p:spTree>
    <p:extLst>
      <p:ext uri="{BB962C8B-B14F-4D97-AF65-F5344CB8AC3E}">
        <p14:creationId xmlns:p14="http://schemas.microsoft.com/office/powerpoint/2010/main" val="60801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500"/>
                                        <p:tgtEl>
                                          <p:spTgt spid="11">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500"/>
                                        <p:tgtEl>
                                          <p:spTgt spid="11">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fade">
                                      <p:cBhvr>
                                        <p:cTn id="24"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25B30-B264-071C-B6F8-DB748F893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A1D30-56E2-31DF-CF3F-5BE632081402}"/>
              </a:ext>
            </a:extLst>
          </p:cNvPr>
          <p:cNvSpPr>
            <a:spLocks noGrp="1"/>
          </p:cNvSpPr>
          <p:nvPr>
            <p:ph type="title"/>
          </p:nvPr>
        </p:nvSpPr>
        <p:spPr/>
        <p:txBody>
          <a:bodyPr/>
          <a:lstStyle/>
          <a:p>
            <a:r>
              <a:rPr lang="en-US" sz="3600"/>
              <a:t>Results - Transport Recoveries</a:t>
            </a:r>
          </a:p>
        </p:txBody>
      </p:sp>
      <p:sp>
        <p:nvSpPr>
          <p:cNvPr id="6" name="TextBox 5">
            <a:extLst>
              <a:ext uri="{FF2B5EF4-FFF2-40B4-BE49-F238E27FC236}">
                <a16:creationId xmlns:a16="http://schemas.microsoft.com/office/drawing/2014/main" id="{7570B965-70FD-C9F6-45EF-BF21D53BB9B1}"/>
              </a:ext>
            </a:extLst>
          </p:cNvPr>
          <p:cNvSpPr txBox="1"/>
          <p:nvPr/>
        </p:nvSpPr>
        <p:spPr>
          <a:xfrm>
            <a:off x="3936935" y="1505860"/>
            <a:ext cx="1053811" cy="369332"/>
          </a:xfrm>
          <a:prstGeom prst="rect">
            <a:avLst/>
          </a:prstGeom>
          <a:noFill/>
        </p:spPr>
        <p:txBody>
          <a:bodyPr wrap="square" rtlCol="0">
            <a:spAutoFit/>
          </a:bodyPr>
          <a:lstStyle/>
          <a:p>
            <a:r>
              <a:rPr lang="en-US" b="1" u="sng">
                <a:solidFill>
                  <a:srgbClr val="002060"/>
                </a:solidFill>
              </a:rPr>
              <a:t>Parallel</a:t>
            </a:r>
          </a:p>
        </p:txBody>
      </p:sp>
      <p:sp>
        <p:nvSpPr>
          <p:cNvPr id="9" name="TextBox 8">
            <a:extLst>
              <a:ext uri="{FF2B5EF4-FFF2-40B4-BE49-F238E27FC236}">
                <a16:creationId xmlns:a16="http://schemas.microsoft.com/office/drawing/2014/main" id="{DBE065B1-5EE3-7230-3DFD-B87119FC1C32}"/>
              </a:ext>
            </a:extLst>
          </p:cNvPr>
          <p:cNvSpPr txBox="1"/>
          <p:nvPr/>
        </p:nvSpPr>
        <p:spPr>
          <a:xfrm>
            <a:off x="1122854" y="1505860"/>
            <a:ext cx="971550" cy="369332"/>
          </a:xfrm>
          <a:prstGeom prst="rect">
            <a:avLst/>
          </a:prstGeom>
          <a:noFill/>
        </p:spPr>
        <p:txBody>
          <a:bodyPr wrap="square" rtlCol="0">
            <a:spAutoFit/>
          </a:bodyPr>
          <a:lstStyle/>
          <a:p>
            <a:r>
              <a:rPr lang="en-US" b="1" u="sng">
                <a:solidFill>
                  <a:srgbClr val="002060"/>
                </a:solidFill>
              </a:rPr>
              <a:t>Series</a:t>
            </a:r>
          </a:p>
        </p:txBody>
      </p:sp>
      <p:sp>
        <p:nvSpPr>
          <p:cNvPr id="10" name="TextBox 9">
            <a:extLst>
              <a:ext uri="{FF2B5EF4-FFF2-40B4-BE49-F238E27FC236}">
                <a16:creationId xmlns:a16="http://schemas.microsoft.com/office/drawing/2014/main" id="{2E9A3ACD-8B10-81E8-CAC6-0E368B3C1EF6}"/>
              </a:ext>
            </a:extLst>
          </p:cNvPr>
          <p:cNvSpPr txBox="1"/>
          <p:nvPr/>
        </p:nvSpPr>
        <p:spPr>
          <a:xfrm>
            <a:off x="6481914" y="1898911"/>
            <a:ext cx="2743201" cy="1969770"/>
          </a:xfrm>
          <a:prstGeom prst="rect">
            <a:avLst/>
          </a:prstGeom>
          <a:noFill/>
        </p:spPr>
        <p:txBody>
          <a:bodyPr wrap="square" rtlCol="0">
            <a:spAutoFit/>
          </a:bodyPr>
          <a:lstStyle/>
          <a:p>
            <a:pPr algn="ctr"/>
            <a:r>
              <a:rPr lang="en-US">
                <a:solidFill>
                  <a:srgbClr val="002060"/>
                </a:solidFill>
              </a:rPr>
              <a:t>O</a:t>
            </a:r>
            <a:r>
              <a:rPr lang="en-US" baseline="-25000">
                <a:solidFill>
                  <a:srgbClr val="002060"/>
                </a:solidFill>
              </a:rPr>
              <a:t>2 </a:t>
            </a:r>
            <a:r>
              <a:rPr lang="en-US">
                <a:solidFill>
                  <a:srgbClr val="002060"/>
                </a:solidFill>
              </a:rPr>
              <a:t>Recovery:</a:t>
            </a:r>
          </a:p>
          <a:p>
            <a:pPr marL="285750" indent="-285750">
              <a:buFont typeface="Arial" panose="020B0604020202020204" pitchFamily="34" charset="0"/>
              <a:buChar char="•"/>
            </a:pPr>
            <a:r>
              <a:rPr lang="en-US" sz="1300">
                <a:solidFill>
                  <a:srgbClr val="800000"/>
                </a:solidFill>
              </a:rPr>
              <a:t>Decreases with increasing pressure.</a:t>
            </a:r>
          </a:p>
          <a:p>
            <a:pPr marL="285750" indent="-285750">
              <a:buFont typeface="Arial" panose="020B0604020202020204" pitchFamily="34" charset="0"/>
              <a:buChar char="•"/>
            </a:pPr>
            <a:r>
              <a:rPr lang="en-US" sz="1300">
                <a:solidFill>
                  <a:srgbClr val="800000"/>
                </a:solidFill>
              </a:rPr>
              <a:t>Highest at low flowrates (0.5–1 SLPM).</a:t>
            </a:r>
          </a:p>
          <a:p>
            <a:pPr marL="285750" indent="-285750">
              <a:buFont typeface="Arial" panose="020B0604020202020204" pitchFamily="34" charset="0"/>
              <a:buChar char="•"/>
            </a:pPr>
            <a:r>
              <a:rPr lang="en-US" sz="1300">
                <a:solidFill>
                  <a:srgbClr val="800000"/>
                </a:solidFill>
              </a:rPr>
              <a:t>Drops at high flow due to large retentate flow.</a:t>
            </a:r>
          </a:p>
          <a:p>
            <a:pPr marL="285750" indent="-285750">
              <a:buFont typeface="Arial" panose="020B0604020202020204" pitchFamily="34" charset="0"/>
              <a:buChar char="•"/>
            </a:pPr>
            <a:r>
              <a:rPr lang="en-US" sz="1300">
                <a:solidFill>
                  <a:srgbClr val="800000"/>
                </a:solidFill>
              </a:rPr>
              <a:t>Series gives slightly higher O₂ recovery than parallel.</a:t>
            </a:r>
          </a:p>
        </p:txBody>
      </p:sp>
      <p:sp>
        <p:nvSpPr>
          <p:cNvPr id="11" name="TextBox 10">
            <a:extLst>
              <a:ext uri="{FF2B5EF4-FFF2-40B4-BE49-F238E27FC236}">
                <a16:creationId xmlns:a16="http://schemas.microsoft.com/office/drawing/2014/main" id="{95267FD6-5199-B742-E47B-F477806F56B1}"/>
              </a:ext>
            </a:extLst>
          </p:cNvPr>
          <p:cNvSpPr txBox="1"/>
          <p:nvPr/>
        </p:nvSpPr>
        <p:spPr>
          <a:xfrm>
            <a:off x="6481914" y="4092663"/>
            <a:ext cx="2662085" cy="2369880"/>
          </a:xfrm>
          <a:prstGeom prst="rect">
            <a:avLst/>
          </a:prstGeom>
          <a:noFill/>
        </p:spPr>
        <p:txBody>
          <a:bodyPr wrap="square" rtlCol="0">
            <a:spAutoFit/>
          </a:bodyPr>
          <a:lstStyle/>
          <a:p>
            <a:pPr algn="ctr"/>
            <a:r>
              <a:rPr lang="en-US">
                <a:solidFill>
                  <a:srgbClr val="002060"/>
                </a:solidFill>
              </a:rPr>
              <a:t>N</a:t>
            </a:r>
            <a:r>
              <a:rPr lang="en-US" baseline="-25000">
                <a:solidFill>
                  <a:srgbClr val="002060"/>
                </a:solidFill>
              </a:rPr>
              <a:t>2 </a:t>
            </a:r>
            <a:r>
              <a:rPr lang="en-US">
                <a:solidFill>
                  <a:srgbClr val="002060"/>
                </a:solidFill>
              </a:rPr>
              <a:t>Recovery:</a:t>
            </a:r>
          </a:p>
          <a:p>
            <a:pPr marL="285750" indent="-285750">
              <a:buFont typeface="Arial" panose="020B0604020202020204" pitchFamily="34" charset="0"/>
              <a:buChar char="•"/>
            </a:pPr>
            <a:r>
              <a:rPr lang="en-US" sz="1300">
                <a:solidFill>
                  <a:srgbClr val="800000"/>
                </a:solidFill>
              </a:rPr>
              <a:t>Highest at low pressure and high flowrates.</a:t>
            </a:r>
          </a:p>
          <a:p>
            <a:pPr marL="285750" indent="-285750">
              <a:buFont typeface="Arial" panose="020B0604020202020204" pitchFamily="34" charset="0"/>
              <a:buChar char="•"/>
            </a:pPr>
            <a:r>
              <a:rPr lang="en-US" sz="1300">
                <a:solidFill>
                  <a:srgbClr val="800000"/>
                </a:solidFill>
              </a:rPr>
              <a:t>Decreases as pressure increases.</a:t>
            </a:r>
          </a:p>
          <a:p>
            <a:pPr marL="285750" indent="-285750">
              <a:buFont typeface="Arial" panose="020B0604020202020204" pitchFamily="34" charset="0"/>
              <a:buChar char="•"/>
            </a:pPr>
            <a:r>
              <a:rPr lang="en-US" sz="1300">
                <a:solidFill>
                  <a:srgbClr val="800000"/>
                </a:solidFill>
              </a:rPr>
              <a:t>Strong flowrate dependence; high flow gives higher N₂ recovery.</a:t>
            </a:r>
          </a:p>
          <a:p>
            <a:pPr marL="285750" indent="-285750">
              <a:buFont typeface="Arial" panose="020B0604020202020204" pitchFamily="34" charset="0"/>
              <a:buChar char="•"/>
            </a:pPr>
            <a:r>
              <a:rPr lang="en-US" sz="1300">
                <a:solidFill>
                  <a:srgbClr val="800000"/>
                </a:solidFill>
              </a:rPr>
              <a:t>Parallel slightly higher than series due to greater retentate flow.</a:t>
            </a:r>
          </a:p>
        </p:txBody>
      </p:sp>
      <p:sp>
        <p:nvSpPr>
          <p:cNvPr id="12" name="TextBox 11">
            <a:extLst>
              <a:ext uri="{FF2B5EF4-FFF2-40B4-BE49-F238E27FC236}">
                <a16:creationId xmlns:a16="http://schemas.microsoft.com/office/drawing/2014/main" id="{F0D1D38A-52DA-584C-21A9-3058A702D980}"/>
              </a:ext>
            </a:extLst>
          </p:cNvPr>
          <p:cNvSpPr txBox="1"/>
          <p:nvPr/>
        </p:nvSpPr>
        <p:spPr>
          <a:xfrm>
            <a:off x="6833277" y="1539811"/>
            <a:ext cx="1714738" cy="353943"/>
          </a:xfrm>
          <a:prstGeom prst="rect">
            <a:avLst/>
          </a:prstGeom>
          <a:noFill/>
        </p:spPr>
        <p:txBody>
          <a:bodyPr wrap="square" rtlCol="0">
            <a:spAutoFit/>
          </a:bodyPr>
          <a:lstStyle/>
          <a:p>
            <a:r>
              <a:rPr lang="en-US" sz="1700" b="1" u="sng">
                <a:solidFill>
                  <a:srgbClr val="002060"/>
                </a:solidFill>
              </a:rPr>
              <a:t>Data &amp; Trends</a:t>
            </a:r>
          </a:p>
        </p:txBody>
      </p:sp>
      <p:pic>
        <p:nvPicPr>
          <p:cNvPr id="3" name="Picture 2">
            <a:extLst>
              <a:ext uri="{FF2B5EF4-FFF2-40B4-BE49-F238E27FC236}">
                <a16:creationId xmlns:a16="http://schemas.microsoft.com/office/drawing/2014/main" id="{FF89C5D0-85AF-1C76-27EF-98AAE8ADD70D}"/>
              </a:ext>
            </a:extLst>
          </p:cNvPr>
          <p:cNvPicPr>
            <a:picLocks noChangeAspect="1"/>
          </p:cNvPicPr>
          <p:nvPr/>
        </p:nvPicPr>
        <p:blipFill>
          <a:blip r:embed="rId3"/>
          <a:srcRect l="2569" t="1768" r="1537" b="1600"/>
          <a:stretch>
            <a:fillRect/>
          </a:stretch>
        </p:blipFill>
        <p:spPr>
          <a:xfrm>
            <a:off x="18765" y="2006344"/>
            <a:ext cx="3211461" cy="1960971"/>
          </a:xfrm>
          <a:prstGeom prst="rect">
            <a:avLst/>
          </a:prstGeom>
          <a:ln>
            <a:solidFill>
              <a:schemeClr val="tx1"/>
            </a:solidFill>
          </a:ln>
        </p:spPr>
      </p:pic>
      <p:pic>
        <p:nvPicPr>
          <p:cNvPr id="13" name="Picture 12">
            <a:extLst>
              <a:ext uri="{FF2B5EF4-FFF2-40B4-BE49-F238E27FC236}">
                <a16:creationId xmlns:a16="http://schemas.microsoft.com/office/drawing/2014/main" id="{7547507D-5CE3-C70C-0D16-8CCEF99061C6}"/>
              </a:ext>
            </a:extLst>
          </p:cNvPr>
          <p:cNvPicPr>
            <a:picLocks noChangeAspect="1"/>
          </p:cNvPicPr>
          <p:nvPr/>
        </p:nvPicPr>
        <p:blipFill>
          <a:blip r:embed="rId4"/>
          <a:srcRect l="3012" t="1330" r="1092" b="1328"/>
          <a:stretch>
            <a:fillRect/>
          </a:stretch>
        </p:blipFill>
        <p:spPr>
          <a:xfrm>
            <a:off x="18766" y="4090246"/>
            <a:ext cx="3211460" cy="2023049"/>
          </a:xfrm>
          <a:prstGeom prst="rect">
            <a:avLst/>
          </a:prstGeom>
          <a:ln>
            <a:solidFill>
              <a:schemeClr val="tx1"/>
            </a:solidFill>
          </a:ln>
        </p:spPr>
      </p:pic>
      <p:pic>
        <p:nvPicPr>
          <p:cNvPr id="14" name="Picture 13">
            <a:extLst>
              <a:ext uri="{FF2B5EF4-FFF2-40B4-BE49-F238E27FC236}">
                <a16:creationId xmlns:a16="http://schemas.microsoft.com/office/drawing/2014/main" id="{635CE408-890D-F957-6739-5142D70F9B90}"/>
              </a:ext>
            </a:extLst>
          </p:cNvPr>
          <p:cNvPicPr>
            <a:picLocks noChangeAspect="1"/>
          </p:cNvPicPr>
          <p:nvPr/>
        </p:nvPicPr>
        <p:blipFill>
          <a:blip r:embed="rId5"/>
          <a:srcRect l="1500" t="1770" r="2092" b="1507"/>
          <a:stretch>
            <a:fillRect/>
          </a:stretch>
        </p:blipFill>
        <p:spPr>
          <a:xfrm>
            <a:off x="3338602" y="2014282"/>
            <a:ext cx="3143312" cy="1960971"/>
          </a:xfrm>
          <a:prstGeom prst="rect">
            <a:avLst/>
          </a:prstGeom>
          <a:ln>
            <a:solidFill>
              <a:schemeClr val="tx1"/>
            </a:solidFill>
          </a:ln>
        </p:spPr>
      </p:pic>
      <p:pic>
        <p:nvPicPr>
          <p:cNvPr id="15" name="Picture 14">
            <a:extLst>
              <a:ext uri="{FF2B5EF4-FFF2-40B4-BE49-F238E27FC236}">
                <a16:creationId xmlns:a16="http://schemas.microsoft.com/office/drawing/2014/main" id="{3B5E60D5-019C-129F-D65C-EBA5F00C8558}"/>
              </a:ext>
            </a:extLst>
          </p:cNvPr>
          <p:cNvPicPr>
            <a:picLocks noChangeAspect="1"/>
          </p:cNvPicPr>
          <p:nvPr/>
        </p:nvPicPr>
        <p:blipFill>
          <a:blip r:embed="rId6"/>
          <a:srcRect l="2128" t="1040" r="2128" b="2076"/>
          <a:stretch>
            <a:fillRect/>
          </a:stretch>
        </p:blipFill>
        <p:spPr>
          <a:xfrm>
            <a:off x="3338603" y="4090246"/>
            <a:ext cx="3143311" cy="2023049"/>
          </a:xfrm>
          <a:prstGeom prst="rect">
            <a:avLst/>
          </a:prstGeom>
          <a:ln>
            <a:solidFill>
              <a:schemeClr val="tx1"/>
            </a:solidFill>
          </a:ln>
        </p:spPr>
      </p:pic>
    </p:spTree>
    <p:extLst>
      <p:ext uri="{BB962C8B-B14F-4D97-AF65-F5344CB8AC3E}">
        <p14:creationId xmlns:p14="http://schemas.microsoft.com/office/powerpoint/2010/main" val="268565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DAF6C-D169-F08A-B5F4-15263EB1984F}"/>
              </a:ext>
            </a:extLst>
          </p:cNvPr>
          <p:cNvSpPr>
            <a:spLocks noGrp="1"/>
          </p:cNvSpPr>
          <p:nvPr>
            <p:ph type="title"/>
          </p:nvPr>
        </p:nvSpPr>
        <p:spPr/>
        <p:txBody>
          <a:bodyPr/>
          <a:lstStyle/>
          <a:p>
            <a:r>
              <a:rPr lang="en-US"/>
              <a:t>Discussion</a:t>
            </a:r>
          </a:p>
        </p:txBody>
      </p:sp>
      <p:sp>
        <p:nvSpPr>
          <p:cNvPr id="6" name="TextBox 5">
            <a:extLst>
              <a:ext uri="{FF2B5EF4-FFF2-40B4-BE49-F238E27FC236}">
                <a16:creationId xmlns:a16="http://schemas.microsoft.com/office/drawing/2014/main" id="{1FEA8918-EBAA-9F9F-DF6C-85C793FBCEF2}"/>
              </a:ext>
            </a:extLst>
          </p:cNvPr>
          <p:cNvSpPr txBox="1"/>
          <p:nvPr/>
        </p:nvSpPr>
        <p:spPr>
          <a:xfrm>
            <a:off x="-71022" y="2523519"/>
            <a:ext cx="4784478" cy="3416320"/>
          </a:xfrm>
          <a:prstGeom prst="rect">
            <a:avLst/>
          </a:prstGeom>
          <a:noFill/>
        </p:spPr>
        <p:txBody>
          <a:bodyPr wrap="square" rtlCol="0">
            <a:spAutoFit/>
          </a:bodyPr>
          <a:lstStyle/>
          <a:p>
            <a:pPr marL="285750" indent="-285750">
              <a:buFont typeface="Arial" panose="020B0604020202020204" pitchFamily="34" charset="0"/>
              <a:buChar char="•"/>
            </a:pPr>
            <a:r>
              <a:rPr lang="en-US"/>
              <a:t>KO₂ increases with pressure, while KN₂ shows weak dependence on flowrate.</a:t>
            </a:r>
          </a:p>
          <a:p>
            <a:endParaRPr lang="en-US"/>
          </a:p>
          <a:p>
            <a:pPr marL="285750" indent="-285750">
              <a:buFont typeface="Arial" panose="020B0604020202020204" pitchFamily="34" charset="0"/>
              <a:buChar char="•"/>
            </a:pPr>
            <a:r>
              <a:rPr lang="en-US"/>
              <a:t>O₂ recovery is highest at low flowrates and decreases with pressure.</a:t>
            </a:r>
          </a:p>
          <a:p>
            <a:endParaRPr lang="en-US"/>
          </a:p>
          <a:p>
            <a:pPr marL="285750" indent="-285750">
              <a:buFont typeface="Arial" panose="020B0604020202020204" pitchFamily="34" charset="0"/>
              <a:buChar char="•"/>
            </a:pPr>
            <a:r>
              <a:rPr lang="en-US"/>
              <a:t>N₂ recovery is highest at high flowrates and low pressure.</a:t>
            </a:r>
          </a:p>
          <a:p>
            <a:endParaRPr lang="en-US"/>
          </a:p>
          <a:p>
            <a:pPr marL="285750" indent="-285750">
              <a:buFont typeface="Arial" panose="020B0604020202020204" pitchFamily="34" charset="0"/>
              <a:buChar char="•"/>
            </a:pPr>
            <a:r>
              <a:rPr lang="en-US"/>
              <a:t>Series configuration enhances O₂ permeation; parallel configuration favors N₂ retention.</a:t>
            </a:r>
          </a:p>
        </p:txBody>
      </p:sp>
      <p:sp>
        <p:nvSpPr>
          <p:cNvPr id="9" name="TextBox 8">
            <a:extLst>
              <a:ext uri="{FF2B5EF4-FFF2-40B4-BE49-F238E27FC236}">
                <a16:creationId xmlns:a16="http://schemas.microsoft.com/office/drawing/2014/main" id="{FBC2B892-D22E-106B-F113-E2699847BCA6}"/>
              </a:ext>
            </a:extLst>
          </p:cNvPr>
          <p:cNvSpPr txBox="1"/>
          <p:nvPr/>
        </p:nvSpPr>
        <p:spPr>
          <a:xfrm>
            <a:off x="4332304" y="2523519"/>
            <a:ext cx="4882718" cy="2585323"/>
          </a:xfrm>
          <a:prstGeom prst="rect">
            <a:avLst/>
          </a:prstGeom>
          <a:noFill/>
        </p:spPr>
        <p:txBody>
          <a:bodyPr wrap="square" rtlCol="0">
            <a:spAutoFit/>
          </a:bodyPr>
          <a:lstStyle/>
          <a:p>
            <a:pPr marL="285750" indent="-285750">
              <a:buFont typeface="Arial" panose="020B0604020202020204" pitchFamily="34" charset="0"/>
              <a:buChar char="•"/>
            </a:pPr>
            <a:r>
              <a:rPr lang="en-US"/>
              <a:t>Selectivity (~3–5) matches the (4–5) range reported by Samarasinghe et al. (2020).</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Also fits within the typical (4–8) range noted by Yong et al. (2020).</a:t>
            </a:r>
          </a:p>
          <a:p>
            <a:endParaRPr lang="en-US"/>
          </a:p>
          <a:p>
            <a:pPr marL="285750" indent="-285750">
              <a:buFont typeface="Arial" panose="020B0604020202020204" pitchFamily="34" charset="0"/>
              <a:buChar char="•"/>
            </a:pPr>
            <a:r>
              <a:rPr lang="en-US"/>
              <a:t>Selectivity can rise ~34% with Pluronic-compatibilized </a:t>
            </a:r>
            <a:r>
              <a:rPr lang="en-US" err="1"/>
              <a:t>CoPCMP</a:t>
            </a:r>
            <a:r>
              <a:rPr lang="en-US"/>
              <a:t> fillers (MMM membranes). </a:t>
            </a:r>
          </a:p>
        </p:txBody>
      </p:sp>
      <p:sp>
        <p:nvSpPr>
          <p:cNvPr id="13" name="TextBox 12">
            <a:extLst>
              <a:ext uri="{FF2B5EF4-FFF2-40B4-BE49-F238E27FC236}">
                <a16:creationId xmlns:a16="http://schemas.microsoft.com/office/drawing/2014/main" id="{2B79A3AE-DEE8-C998-8EB8-10D7A3E0AE3E}"/>
              </a:ext>
            </a:extLst>
          </p:cNvPr>
          <p:cNvSpPr txBox="1"/>
          <p:nvPr/>
        </p:nvSpPr>
        <p:spPr>
          <a:xfrm>
            <a:off x="612559" y="1855433"/>
            <a:ext cx="2867488" cy="584775"/>
          </a:xfrm>
          <a:prstGeom prst="rect">
            <a:avLst/>
          </a:prstGeom>
          <a:noFill/>
        </p:spPr>
        <p:txBody>
          <a:bodyPr wrap="square" rtlCol="0">
            <a:spAutoFit/>
          </a:bodyPr>
          <a:lstStyle/>
          <a:p>
            <a:r>
              <a:rPr lang="en-US" sz="3200" u="sng">
                <a:solidFill>
                  <a:srgbClr val="00234C"/>
                </a:solidFill>
              </a:rPr>
              <a:t>Key Learnings</a:t>
            </a:r>
          </a:p>
        </p:txBody>
      </p:sp>
      <p:sp>
        <p:nvSpPr>
          <p:cNvPr id="15" name="TextBox 14">
            <a:extLst>
              <a:ext uri="{FF2B5EF4-FFF2-40B4-BE49-F238E27FC236}">
                <a16:creationId xmlns:a16="http://schemas.microsoft.com/office/drawing/2014/main" id="{C659D0A3-2272-0209-8169-94B01BFA200D}"/>
              </a:ext>
            </a:extLst>
          </p:cNvPr>
          <p:cNvSpPr txBox="1"/>
          <p:nvPr/>
        </p:nvSpPr>
        <p:spPr>
          <a:xfrm>
            <a:off x="4714043" y="1855432"/>
            <a:ext cx="4500979" cy="584775"/>
          </a:xfrm>
          <a:prstGeom prst="rect">
            <a:avLst/>
          </a:prstGeom>
          <a:noFill/>
        </p:spPr>
        <p:txBody>
          <a:bodyPr wrap="square" rtlCol="0">
            <a:spAutoFit/>
          </a:bodyPr>
          <a:lstStyle/>
          <a:p>
            <a:r>
              <a:rPr lang="en-US" sz="3200" u="sng">
                <a:solidFill>
                  <a:srgbClr val="00234C"/>
                </a:solidFill>
              </a:rPr>
              <a:t>Literature Comparison</a:t>
            </a:r>
          </a:p>
        </p:txBody>
      </p:sp>
    </p:spTree>
    <p:extLst>
      <p:ext uri="{BB962C8B-B14F-4D97-AF65-F5344CB8AC3E}">
        <p14:creationId xmlns:p14="http://schemas.microsoft.com/office/powerpoint/2010/main" val="172051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D0499-FF9C-F540-1776-4C47237FD0B3}"/>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8A92F25E-6951-B1E4-E1F2-47FC0F763F34}"/>
              </a:ext>
            </a:extLst>
          </p:cNvPr>
          <p:cNvSpPr>
            <a:spLocks noGrp="1"/>
          </p:cNvSpPr>
          <p:nvPr>
            <p:ph idx="1"/>
          </p:nvPr>
        </p:nvSpPr>
        <p:spPr>
          <a:xfrm>
            <a:off x="457200" y="1767178"/>
            <a:ext cx="8229600" cy="4525963"/>
          </a:xfrm>
        </p:spPr>
        <p:txBody>
          <a:bodyPr/>
          <a:lstStyle/>
          <a:p>
            <a:r>
              <a:rPr lang="en-US" sz="2900" dirty="0"/>
              <a:t>Membrane separation is cheaper and more energy-efficient than liquefaction or cryogenic distillation.</a:t>
            </a:r>
          </a:p>
          <a:p>
            <a:r>
              <a:rPr lang="en-US" sz="2900" dirty="0"/>
              <a:t>Membranes are widely used in gas purification, filtration, and electrolyte recycling.</a:t>
            </a:r>
          </a:p>
          <a:p>
            <a:r>
              <a:rPr lang="en-US" sz="2900" dirty="0"/>
              <a:t>Series and parallel configurations affect separation efficiency, with series giving slightly stronger enrichment.</a:t>
            </a:r>
          </a:p>
        </p:txBody>
      </p:sp>
    </p:spTree>
    <p:extLst>
      <p:ext uri="{BB962C8B-B14F-4D97-AF65-F5344CB8AC3E}">
        <p14:creationId xmlns:p14="http://schemas.microsoft.com/office/powerpoint/2010/main" val="274562777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D4DB9680548741AF142E25CD163C89" ma:contentTypeVersion="13" ma:contentTypeDescription="Create a new document." ma:contentTypeScope="" ma:versionID="9ba498e175684ea91d55eafe43e998c1">
  <xsd:schema xmlns:xsd="http://www.w3.org/2001/XMLSchema" xmlns:xs="http://www.w3.org/2001/XMLSchema" xmlns:p="http://schemas.microsoft.com/office/2006/metadata/properties" xmlns:ns3="ce0042e0-bc9f-43b7-ada3-1b351bed2e77" xmlns:ns4="d41bf40f-5717-4d64-bbdf-fab2410a53d4" targetNamespace="http://schemas.microsoft.com/office/2006/metadata/properties" ma:root="true" ma:fieldsID="a081e4d60c675e40e7f49c4d11442203" ns3:_="" ns4:_="">
    <xsd:import namespace="ce0042e0-bc9f-43b7-ada3-1b351bed2e77"/>
    <xsd:import namespace="d41bf40f-5717-4d64-bbdf-fab2410a53d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element ref="ns3:MediaServiceGenerationTime" minOccurs="0"/>
                <xsd:element ref="ns3:MediaServiceEventHashCode"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0042e0-bc9f-43b7-ada3-1b351bed2e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41bf40f-5717-4d64-bbdf-fab2410a53d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e0042e0-bc9f-43b7-ada3-1b351bed2e7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ED5535-828A-4359-B922-C923513C4F1F}">
  <ds:schemaRefs>
    <ds:schemaRef ds:uri="ce0042e0-bc9f-43b7-ada3-1b351bed2e77"/>
    <ds:schemaRef ds:uri="d41bf40f-5717-4d64-bbdf-fab2410a53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E8DB255-D0CC-4FFD-B98C-5E7459B6BEAB}">
  <ds:schemaRefs>
    <ds:schemaRef ds:uri="http://purl.org/dc/dcmitype/"/>
    <ds:schemaRef ds:uri="d41bf40f-5717-4d64-bbdf-fab2410a53d4"/>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schemas.microsoft.com/office/infopath/2007/PartnerControls"/>
    <ds:schemaRef ds:uri="ce0042e0-bc9f-43b7-ada3-1b351bed2e77"/>
    <ds:schemaRef ds:uri="http://www.w3.org/XML/1998/namespace"/>
    <ds:schemaRef ds:uri="http://purl.org/dc/elements/1.1/"/>
  </ds:schemaRefs>
</ds:datastoreItem>
</file>

<file path=customXml/itemProps3.xml><?xml version="1.0" encoding="utf-8"?>
<ds:datastoreItem xmlns:ds="http://schemas.openxmlformats.org/officeDocument/2006/customXml" ds:itemID="{3CB1BB7A-3A53-4FB2-BA89-8D477CCF4D9A}">
  <ds:schemaRefs>
    <ds:schemaRef ds:uri="http://schemas.microsoft.com/sharepoint/v3/contenttype/forms"/>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otalTime>0</TotalTime>
  <Words>988</Words>
  <Application>Microsoft Office PowerPoint</Application>
  <PresentationFormat>On-screen Show (4:3)</PresentationFormat>
  <Paragraphs>131</Paragraphs>
  <Slides>11</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Default Design</vt:lpstr>
      <vt:lpstr>  Membrane Air Separation</vt:lpstr>
      <vt:lpstr>Introduction</vt:lpstr>
      <vt:lpstr>Theory </vt:lpstr>
      <vt:lpstr>Experimental Objective</vt:lpstr>
      <vt:lpstr>                         Apparatus</vt:lpstr>
      <vt:lpstr>Procedure</vt:lpstr>
      <vt:lpstr>Results - Transport Coefficients</vt:lpstr>
      <vt:lpstr>Results - Separation Coefficients</vt:lpstr>
      <vt:lpstr>Results - Transport Recoveries</vt:lpstr>
      <vt:lpstr>Discussion</vt:lpstr>
      <vt:lpstr>Conclusion</vt:lpstr>
    </vt:vector>
  </TitlesOfParts>
  <Company>UIC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UIC BRAND</dc:title>
  <dc:creator>Elizabeth Zweigle Yee</dc:creator>
  <cp:lastModifiedBy>Suleiman, Qussay</cp:lastModifiedBy>
  <cp:revision>1</cp:revision>
  <dcterms:created xsi:type="dcterms:W3CDTF">2008-04-09T18:55:55Z</dcterms:created>
  <dcterms:modified xsi:type="dcterms:W3CDTF">2025-11-25T14:59:31Z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0x0101007BD4DB9680548741AF142E25CD163C89</vt:lpwstr>
  </property>
</Properties>
</file>