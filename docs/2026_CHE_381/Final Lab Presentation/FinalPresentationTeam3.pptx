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97" r:id="rId6"/>
    <p:sldId id="313" r:id="rId7"/>
    <p:sldId id="314" r:id="rId8"/>
    <p:sldId id="298" r:id="rId9"/>
    <p:sldId id="307" r:id="rId10"/>
    <p:sldId id="308" r:id="rId11"/>
    <p:sldId id="309" r:id="rId12"/>
    <p:sldId id="306" r:id="rId13"/>
    <p:sldId id="299" r:id="rId14"/>
    <p:sldId id="305" r:id="rId15"/>
    <p:sldId id="300" r:id="rId16"/>
    <p:sldId id="301" r:id="rId17"/>
    <p:sldId id="302" r:id="rId18"/>
    <p:sldId id="310" r:id="rId19"/>
    <p:sldId id="315" r:id="rId20"/>
    <p:sldId id="311" r:id="rId21"/>
    <p:sldId id="312" r:id="rId22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6600"/>
    <a:srgbClr val="0066CC"/>
    <a:srgbClr val="3366FF"/>
    <a:srgbClr val="CC9900"/>
    <a:srgbClr val="99CCFF"/>
    <a:srgbClr val="800000"/>
    <a:srgbClr val="FF0000"/>
    <a:srgbClr val="002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28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ic365-my.sharepoint.com/personal/hrezk2_uic_edu/Documents/lab3%20datateam3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Adjusted</a:t>
            </a:r>
            <a:r>
              <a:rPr lang="en-US" baseline="0"/>
              <a:t> Sherwood's number vs Reynolds number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072742370756893"/>
          <c:y val="0.11209259020322927"/>
          <c:w val="0.83462729658792656"/>
          <c:h val="0.74952172645086035"/>
        </c:manualLayout>
      </c:layout>
      <c:scatterChart>
        <c:scatterStyle val="smoothMarker"/>
        <c:varyColors val="0"/>
        <c:ser>
          <c:idx val="0"/>
          <c:order val="0"/>
          <c:tx>
            <c:v>Empirical Relation</c:v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Sheet1!$E$100:$E$152</c:f>
              <c:numCache>
                <c:formatCode>General</c:formatCode>
                <c:ptCount val="53"/>
                <c:pt idx="0">
                  <c:v>2.6020599913279625</c:v>
                </c:pt>
                <c:pt idx="1">
                  <c:v>2.6532125137753435</c:v>
                </c:pt>
                <c:pt idx="2">
                  <c:v>2.6989700043360187</c:v>
                </c:pt>
                <c:pt idx="3">
                  <c:v>2.7403626894942437</c:v>
                </c:pt>
                <c:pt idx="4">
                  <c:v>2.7781512503836434</c:v>
                </c:pt>
                <c:pt idx="5">
                  <c:v>2.8129133566428557</c:v>
                </c:pt>
                <c:pt idx="6">
                  <c:v>2.8450980400142569</c:v>
                </c:pt>
                <c:pt idx="7">
                  <c:v>2.8750612633917001</c:v>
                </c:pt>
                <c:pt idx="8">
                  <c:v>2.9030899869919438</c:v>
                </c:pt>
                <c:pt idx="9">
                  <c:v>2.9294189257142929</c:v>
                </c:pt>
                <c:pt idx="10">
                  <c:v>2.9542425094393248</c:v>
                </c:pt>
                <c:pt idx="11">
                  <c:v>2.9777236052888476</c:v>
                </c:pt>
                <c:pt idx="12">
                  <c:v>3</c:v>
                </c:pt>
                <c:pt idx="13">
                  <c:v>3.0211892990699383</c:v>
                </c:pt>
                <c:pt idx="14">
                  <c:v>3.0413926851582249</c:v>
                </c:pt>
                <c:pt idx="15">
                  <c:v>3.0606978403536118</c:v>
                </c:pt>
                <c:pt idx="16">
                  <c:v>3.0791812460476247</c:v>
                </c:pt>
                <c:pt idx="17">
                  <c:v>3.0969100130080562</c:v>
                </c:pt>
                <c:pt idx="18">
                  <c:v>3.1139433523068369</c:v>
                </c:pt>
                <c:pt idx="19">
                  <c:v>3.1303337684950061</c:v>
                </c:pt>
                <c:pt idx="20">
                  <c:v>3.1461280356782382</c:v>
                </c:pt>
                <c:pt idx="21">
                  <c:v>3.1613680022349748</c:v>
                </c:pt>
                <c:pt idx="22">
                  <c:v>3.1760912590556813</c:v>
                </c:pt>
                <c:pt idx="23">
                  <c:v>3.1903316981702914</c:v>
                </c:pt>
                <c:pt idx="24">
                  <c:v>3.2041199826559246</c:v>
                </c:pt>
                <c:pt idx="25">
                  <c:v>3.2174839442139063</c:v>
                </c:pt>
                <c:pt idx="26">
                  <c:v>3.2304489213782741</c:v>
                </c:pt>
                <c:pt idx="27">
                  <c:v>3.2430380486862944</c:v>
                </c:pt>
                <c:pt idx="28">
                  <c:v>3.255272505103306</c:v>
                </c:pt>
                <c:pt idx="29">
                  <c:v>3.2671717284030137</c:v>
                </c:pt>
                <c:pt idx="30">
                  <c:v>3.2787536009528289</c:v>
                </c:pt>
                <c:pt idx="31">
                  <c:v>3.2900346113625178</c:v>
                </c:pt>
                <c:pt idx="32">
                  <c:v>3.3010299956639813</c:v>
                </c:pt>
                <c:pt idx="33">
                  <c:v>3.3117538610557542</c:v>
                </c:pt>
                <c:pt idx="34">
                  <c:v>3.3222192947339191</c:v>
                </c:pt>
                <c:pt idx="35">
                  <c:v>3.3324384599156054</c:v>
                </c:pt>
                <c:pt idx="36">
                  <c:v>3.3424226808222062</c:v>
                </c:pt>
                <c:pt idx="37">
                  <c:v>3.3521825181113627</c:v>
                </c:pt>
                <c:pt idx="38">
                  <c:v>3.3617278360175931</c:v>
                </c:pt>
                <c:pt idx="39">
                  <c:v>3.3710678622717363</c:v>
                </c:pt>
                <c:pt idx="40">
                  <c:v>3.3802112417116059</c:v>
                </c:pt>
                <c:pt idx="41">
                  <c:v>3.3891660843645326</c:v>
                </c:pt>
                <c:pt idx="42">
                  <c:v>3.3979400086720375</c:v>
                </c:pt>
                <c:pt idx="43">
                  <c:v>3.406540180433955</c:v>
                </c:pt>
                <c:pt idx="44">
                  <c:v>3.4149733479708178</c:v>
                </c:pt>
                <c:pt idx="45">
                  <c:v>3.4232458739368079</c:v>
                </c:pt>
                <c:pt idx="46">
                  <c:v>3.4313637641589874</c:v>
                </c:pt>
                <c:pt idx="47">
                  <c:v>3.4393326938302629</c:v>
                </c:pt>
                <c:pt idx="48">
                  <c:v>3.4471580313422194</c:v>
                </c:pt>
                <c:pt idx="49">
                  <c:v>3.4548448600085102</c:v>
                </c:pt>
                <c:pt idx="50">
                  <c:v>3.4623979978989561</c:v>
                </c:pt>
                <c:pt idx="51">
                  <c:v>3.469822015978163</c:v>
                </c:pt>
                <c:pt idx="52">
                  <c:v>3.4771212547196626</c:v>
                </c:pt>
              </c:numCache>
            </c:numRef>
          </c:xVal>
          <c:yVal>
            <c:numRef>
              <c:f>Sheet1!$D$100:$D$152</c:f>
              <c:numCache>
                <c:formatCode>General</c:formatCode>
                <c:ptCount val="53"/>
                <c:pt idx="0">
                  <c:v>1.5214376288198013</c:v>
                </c:pt>
                <c:pt idx="1">
                  <c:v>1.5638942224511279</c:v>
                </c:pt>
                <c:pt idx="2">
                  <c:v>1.6018729396164881</c:v>
                </c:pt>
                <c:pt idx="3">
                  <c:v>1.636228868297815</c:v>
                </c:pt>
                <c:pt idx="4">
                  <c:v>1.6675933738360169</c:v>
                </c:pt>
                <c:pt idx="5">
                  <c:v>1.6964459220311627</c:v>
                </c:pt>
                <c:pt idx="6">
                  <c:v>1.7231592092294259</c:v>
                </c:pt>
                <c:pt idx="7">
                  <c:v>1.7480286846327038</c:v>
                </c:pt>
                <c:pt idx="8">
                  <c:v>1.7712925252209057</c:v>
                </c:pt>
                <c:pt idx="9">
                  <c:v>1.7931455443604558</c:v>
                </c:pt>
                <c:pt idx="10">
                  <c:v>1.8137491188522326</c:v>
                </c:pt>
                <c:pt idx="11">
                  <c:v>1.8332384284073364</c:v>
                </c:pt>
                <c:pt idx="12">
                  <c:v>1.8517278360175926</c:v>
                </c:pt>
                <c:pt idx="13">
                  <c:v>1.8693149542456413</c:v>
                </c:pt>
                <c:pt idx="14">
                  <c:v>1.8860837646989195</c:v>
                </c:pt>
                <c:pt idx="15">
                  <c:v>1.9021070435110905</c:v>
                </c:pt>
                <c:pt idx="16">
                  <c:v>1.9174482702371216</c:v>
                </c:pt>
                <c:pt idx="17">
                  <c:v>1.9321631468142795</c:v>
                </c:pt>
                <c:pt idx="18">
                  <c:v>1.9463008184322672</c:v>
                </c:pt>
                <c:pt idx="19">
                  <c:v>1.9599048638684482</c:v>
                </c:pt>
                <c:pt idx="20">
                  <c:v>1.9730141056305301</c:v>
                </c:pt>
                <c:pt idx="21">
                  <c:v>1.985663277872622</c:v>
                </c:pt>
                <c:pt idx="22">
                  <c:v>1.997883581033808</c:v>
                </c:pt>
                <c:pt idx="23">
                  <c:v>2.0097031454989347</c:v>
                </c:pt>
                <c:pt idx="24">
                  <c:v>2.0211474216220102</c:v>
                </c:pt>
                <c:pt idx="25">
                  <c:v>2.0322395097151351</c:v>
                </c:pt>
                <c:pt idx="26">
                  <c:v>2.0430004407615603</c:v>
                </c:pt>
                <c:pt idx="27">
                  <c:v>2.0534494164272172</c:v>
                </c:pt>
                <c:pt idx="28">
                  <c:v>2.063604015253337</c:v>
                </c:pt>
                <c:pt idx="29">
                  <c:v>2.0734803705920943</c:v>
                </c:pt>
                <c:pt idx="30">
                  <c:v>2.0830933248084409</c:v>
                </c:pt>
                <c:pt idx="31">
                  <c:v>2.0924565634484829</c:v>
                </c:pt>
                <c:pt idx="32">
                  <c:v>2.1015827324186969</c:v>
                </c:pt>
                <c:pt idx="33">
                  <c:v>2.1104835406938687</c:v>
                </c:pt>
                <c:pt idx="34">
                  <c:v>2.1191698506467458</c:v>
                </c:pt>
                <c:pt idx="35">
                  <c:v>2.1276517577475453</c:v>
                </c:pt>
                <c:pt idx="36">
                  <c:v>2.1359386611000239</c:v>
                </c:pt>
                <c:pt idx="37">
                  <c:v>2.1440393260500237</c:v>
                </c:pt>
                <c:pt idx="38">
                  <c:v>2.1519619399121948</c:v>
                </c:pt>
                <c:pt idx="39">
                  <c:v>2.1597141617031341</c:v>
                </c:pt>
                <c:pt idx="40">
                  <c:v>2.1673031666382259</c:v>
                </c:pt>
                <c:pt idx="41">
                  <c:v>2.1747356860401545</c:v>
                </c:pt>
                <c:pt idx="42">
                  <c:v>2.182018043215384</c:v>
                </c:pt>
                <c:pt idx="43">
                  <c:v>2.1891561857777755</c:v>
                </c:pt>
                <c:pt idx="44">
                  <c:v>2.1961557148333717</c:v>
                </c:pt>
                <c:pt idx="45">
                  <c:v>2.203021911385143</c:v>
                </c:pt>
                <c:pt idx="46">
                  <c:v>2.2097597602695522</c:v>
                </c:pt>
                <c:pt idx="47">
                  <c:v>2.2163739718967106</c:v>
                </c:pt>
                <c:pt idx="48">
                  <c:v>2.2228690020316346</c:v>
                </c:pt>
                <c:pt idx="49">
                  <c:v>2.2292490698246561</c:v>
                </c:pt>
                <c:pt idx="50">
                  <c:v>2.2355181742737265</c:v>
                </c:pt>
                <c:pt idx="51">
                  <c:v>2.2416801092794683</c:v>
                </c:pt>
                <c:pt idx="52">
                  <c:v>2.2477384774349125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72F-422E-BF7B-AA0FB9F5F7F6}"/>
            </c:ext>
          </c:extLst>
        </c:ser>
        <c:ser>
          <c:idx val="1"/>
          <c:order val="1"/>
          <c:tx>
            <c:v>3 SCFM</c:v>
          </c:tx>
          <c:spPr>
            <a:ln w="952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xVal>
            <c:numRef>
              <c:f>Sheet1!$G$85:$G$87</c:f>
              <c:numCache>
                <c:formatCode>General</c:formatCode>
                <c:ptCount val="3"/>
                <c:pt idx="0">
                  <c:v>2.764972545385866</c:v>
                </c:pt>
                <c:pt idx="1">
                  <c:v>3.2421050742596376</c:v>
                </c:pt>
                <c:pt idx="2">
                  <c:v>3.4638797420957945</c:v>
                </c:pt>
              </c:numCache>
            </c:numRef>
          </c:xVal>
          <c:yVal>
            <c:numRef>
              <c:f>Sheet1!$F$85:$F$87</c:f>
              <c:numCache>
                <c:formatCode>General</c:formatCode>
                <c:ptCount val="3"/>
                <c:pt idx="0">
                  <c:v>1.6566550486878617</c:v>
                </c:pt>
                <c:pt idx="1">
                  <c:v>2.0526750476530919</c:v>
                </c:pt>
                <c:pt idx="2">
                  <c:v>2.2367480219571019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72F-422E-BF7B-AA0FB9F5F7F6}"/>
            </c:ext>
          </c:extLst>
        </c:ser>
        <c:ser>
          <c:idx val="2"/>
          <c:order val="2"/>
          <c:tx>
            <c:v>5 SCFM</c:v>
          </c:tx>
          <c:spPr>
            <a:ln w="952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3"/>
                </a:solidFill>
                <a:round/>
              </a:ln>
              <a:effectLst/>
            </c:spPr>
          </c:marker>
          <c:xVal>
            <c:numRef>
              <c:f>Sheet1!$G$88:$G$90</c:f>
              <c:numCache>
                <c:formatCode>General</c:formatCode>
                <c:ptCount val="3"/>
                <c:pt idx="0">
                  <c:v>2.722784512967062</c:v>
                </c:pt>
                <c:pt idx="1">
                  <c:v>3.1999287554854785</c:v>
                </c:pt>
                <c:pt idx="2">
                  <c:v>3.4217097092274202</c:v>
                </c:pt>
              </c:numCache>
            </c:numRef>
          </c:xVal>
          <c:yVal>
            <c:numRef>
              <c:f>Sheet1!$F$88:$F$90</c:f>
              <c:numCache>
                <c:formatCode>General</c:formatCode>
                <c:ptCount val="3"/>
                <c:pt idx="0">
                  <c:v>1.6216389817802541</c:v>
                </c:pt>
                <c:pt idx="1">
                  <c:v>2.01766870307054</c:v>
                </c:pt>
                <c:pt idx="2">
                  <c:v>2.2017468946763512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72F-422E-BF7B-AA0FB9F5F7F6}"/>
            </c:ext>
          </c:extLst>
        </c:ser>
        <c:ser>
          <c:idx val="3"/>
          <c:order val="3"/>
          <c:tx>
            <c:v>9 SCFM</c:v>
          </c:tx>
          <c:spPr>
            <a:ln w="952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4"/>
                </a:solidFill>
                <a:round/>
              </a:ln>
              <a:effectLst/>
            </c:spPr>
          </c:marker>
          <c:xVal>
            <c:numRef>
              <c:f>Sheet1!$G$91:$G$93</c:f>
              <c:numCache>
                <c:formatCode>General</c:formatCode>
                <c:ptCount val="3"/>
                <c:pt idx="0">
                  <c:v>2.7133909875845372</c:v>
                </c:pt>
                <c:pt idx="1">
                  <c:v>3.1904301982845094</c:v>
                </c:pt>
                <c:pt idx="2">
                  <c:v>3.4121291051571037</c:v>
                </c:pt>
              </c:numCache>
            </c:numRef>
          </c:xVal>
          <c:yVal>
            <c:numRef>
              <c:f>Sheet1!$F$91:$F$93</c:f>
              <c:numCache>
                <c:formatCode>General</c:formatCode>
                <c:ptCount val="3"/>
                <c:pt idx="0">
                  <c:v>1.6138423557127586</c:v>
                </c:pt>
                <c:pt idx="1">
                  <c:v>2.0097849005937358</c:v>
                </c:pt>
                <c:pt idx="2">
                  <c:v>2.1937949932979888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72F-422E-BF7B-AA0FB9F5F7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31922376"/>
        <c:axId val="1331924536"/>
      </c:scatterChart>
      <c:valAx>
        <c:axId val="1331922376"/>
        <c:scaling>
          <c:orientation val="minMax"/>
          <c:min val="2.5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Reynolds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1924536"/>
        <c:crosses val="autoZero"/>
        <c:crossBetween val="midCat"/>
      </c:valAx>
      <c:valAx>
        <c:axId val="1331924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Adjusted Sherwood's number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19223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B210B4F7-4AE5-A6A0-9F02-39F60C8482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E786B526-00DE-E0CC-0795-A32CF0DC61B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6576419F-87FE-ACCD-9810-B2FF2100C97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C998B845-A6AD-C969-A02F-95685E69AD9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F158FD-4F00-4EA5-8224-A35E129746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1029FD0A-0998-261C-FD6F-844E480FA5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FED24CB4-52A0-1BD9-1779-DA1B7688B0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48C68140-F1AC-D7F2-BB7B-01AF8C9F5E5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838A52A2-E219-CD53-BC5F-B03FC36BA5F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E1462DD2-4990-56EA-7C34-FBD481CCA3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BFBF8A5F-FE31-375C-D39D-C09843A59C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5B95775-480F-4971-A6FC-A4B4F55777D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EF645967-6921-5363-1CED-42C7CD7DB4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D5D54A-8AD0-42DF-9DCB-147E0DE3BF4D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52312F39-06BF-C035-1EED-8F18455B38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12380D0B-A331-51B6-9856-A9DE0BAC0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1E5219D5-7ABF-E2E4-1257-1908685B8E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B02263-78A1-4CA4-8E39-B80AEBA0174A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3D0232CD-FFDB-BB9C-252A-DFE548AD12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53A7BF0B-B4C4-E0CB-9009-F92E04529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F102F36-ECAF-8270-6297-C01A3E1796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8E6DCDB-A847-2EC9-9136-F227815A41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F2F719B-0CEE-4FC2-9887-B792672174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0F939C99-289F-2A2C-F312-A389E32EE9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E4C1-6F19-2C30-85B2-C877CFB6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505F4-9AE1-A987-0A88-0D7F638E4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705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118F-EA7C-DE8D-6B2B-F786556A9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33C4C-7F77-690D-EDB7-EB4172151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650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9B6E-C17D-AD98-DFA6-EE488E90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ADD06-3DEF-1347-2D2A-96A44B5AC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30113-18A9-C460-7BCB-29918B28A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838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E314-40BA-DA60-5572-199FBF55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30DD3-21FE-BAF3-5E8B-DDD16F451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DAA93-29BC-4E8B-0B8C-FE8CF7374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2932B-F683-EF98-9CF0-EA2691E03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25540-E57F-7F77-5DC7-525890313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029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CDD0-63F4-C667-CA13-A5851447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8451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15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950C7-FF89-2341-7EF8-77F2B7A5D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FD1E3-0805-2CAC-9378-6E897773C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1D4E6-1F00-C34E-C639-33FA55B61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2832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B391-E0FD-57FD-B067-D95CBD7A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D53D4-A384-20BE-B8E3-95E43344C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A113B-ED88-D418-9D8A-E393790F5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07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F2D9-72BB-5A15-354F-96D5D8A8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9786D-B1B2-0DE1-FBD8-EC63C9F0D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2256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0E4D5A-B94C-B69F-D504-81DD56447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95D3B-9748-2180-C0CF-1ADBA02B9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3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50F6032-27D5-AF2D-2766-BCE316FAC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19D7CB2-7216-7C72-C3F8-2358801458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F78ED963-B2E4-3468-63DF-2C5DFC87F9A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A41A3A61-786B-1CAA-7F52-3E2D776560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3AB3B8F5-60E4-8946-2D13-4A784A2DFE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4114800"/>
            <a:ext cx="76962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Group #3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Adil Feratovic, Hussein Rezk, Anna Cai, Aaron Casas</a:t>
            </a:r>
            <a:endParaRPr lang="en-US" altLang="en-US" sz="2800"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altLang="en-US" sz="2800"/>
              <a:t>Chemical Engineering Lab I</a:t>
            </a:r>
            <a:endParaRPr lang="en-US" altLang="en-US" sz="2800"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altLang="en-US" sz="2800"/>
              <a:t>11/24/25</a:t>
            </a:r>
            <a:endParaRPr lang="en-US" altLang="en-US" sz="2800">
              <a:cs typeface="Arial"/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BD010ED-BD1A-1903-07E0-D61401CE98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/>
            </a:br>
            <a:br>
              <a:rPr lang="en-US" altLang="en-US" sz="4000" b="1"/>
            </a:br>
            <a:br>
              <a:rPr lang="en-US" altLang="en-US" sz="4000" b="1"/>
            </a:br>
            <a:r>
              <a:rPr lang="en-US" altLang="en-US" sz="4000" b="1"/>
              <a:t>Humidification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D900939D-E5C4-163C-0524-A1B5DCB10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77B38A7C-2B77-7699-FE4D-6E8A375A0E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EA888DDC-C832-BE85-B2EE-12791D29D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The objective is to obtain the heat and mass transfer coefficients of water and air</a:t>
            </a:r>
          </a:p>
          <a:p>
            <a:r>
              <a:rPr lang="en-US" altLang="en-US" sz="2800"/>
              <a:t>Use the data collected to see how inlet temperature and the flow rates of air and water influence the heat and mass transfer coefficients</a:t>
            </a:r>
          </a:p>
          <a:p>
            <a:r>
              <a:rPr lang="en-US" altLang="en-US" sz="2800"/>
              <a:t>Analyze the experimental data by comparing it to data found in literature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3A0E2-FC07-3D2C-E895-48A675C45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Industrial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282D-A78A-4C03-FDA2-910EFC540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Automotive Manufacturing: Sanding decks, engine testing cells, and spray paint booths</a:t>
            </a:r>
          </a:p>
          <a:p>
            <a:r>
              <a:rPr lang="en-US"/>
              <a:t>Data Centers: Used to prevent electrostatic discharge and provide low-cost cooling</a:t>
            </a:r>
          </a:p>
          <a:p>
            <a:r>
              <a:rPr lang="en-US"/>
              <a:t>Dust Suppression: Safeguards health of employees</a:t>
            </a:r>
          </a:p>
        </p:txBody>
      </p:sp>
    </p:spTree>
    <p:extLst>
      <p:ext uri="{BB962C8B-B14F-4D97-AF65-F5344CB8AC3E}">
        <p14:creationId xmlns:p14="http://schemas.microsoft.com/office/powerpoint/2010/main" val="3958500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0B937-99C4-F377-CC84-9B769C36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5BA1-CB84-1283-4680-AA55DFEB9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17473"/>
          </a:xfrm>
        </p:spPr>
        <p:txBody>
          <a:bodyPr/>
          <a:lstStyle/>
          <a:p>
            <a:r>
              <a:rPr lang="en-US" sz="2400"/>
              <a:t>Measure temperature and humidity along the wet column </a:t>
            </a:r>
          </a:p>
          <a:p>
            <a:r>
              <a:rPr lang="en-US" sz="2400"/>
              <a:t>Determine the mass and heat transfer coefficients </a:t>
            </a:r>
          </a:p>
          <a:p>
            <a:r>
              <a:rPr lang="en-US" sz="2400"/>
              <a:t>Calculate and analyze NTU (number of transfer units) and HTU ( height of transfer unit)  </a:t>
            </a:r>
          </a:p>
          <a:p>
            <a:r>
              <a:rPr lang="en-US" sz="2400"/>
              <a:t>Compute the Reynolds, Schmidt, Sherwood, and Lewis numbers </a:t>
            </a:r>
          </a:p>
          <a:p>
            <a:r>
              <a:rPr lang="en-US" sz="2400"/>
              <a:t>Examine how different air flows and temperatures affect performance</a:t>
            </a:r>
          </a:p>
          <a:p>
            <a:r>
              <a:rPr lang="en-US" sz="2400"/>
              <a:t>Compare experimental results with the theoretical Sherwood correlation </a:t>
            </a: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14494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046BDEAB-8826-C52B-59ED-81F09FCE8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1" name="Rectangle 3">
                <a:extLst>
                  <a:ext uri="{FF2B5EF4-FFF2-40B4-BE49-F238E27FC236}">
                    <a16:creationId xmlns:a16="http://schemas.microsoft.com/office/drawing/2014/main" id="{CA6C3FDC-C7C8-C0E3-AF2C-C35AF8672CA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300" b="1"/>
                  <a:t>Heat and mass transfer are key processes in many chemical engineering operations</a:t>
                </a:r>
                <a:r>
                  <a:rPr lang="en-US" sz="2300"/>
                  <a:t> that involve the movement of thermal energy and mass driven by temperature and concentration differences.</a:t>
                </a:r>
              </a:p>
              <a:p>
                <a:r>
                  <a:rPr lang="en-US" sz="2300" b="1"/>
                  <a:t>Transport coefficients</a:t>
                </a:r>
                <a:r>
                  <a:rPr lang="en-US" sz="2300"/>
                  <a:t> such as the heat transfer coefficient </a:t>
                </a:r>
                <a14:m>
                  <m:oMath xmlns:m="http://schemas.openxmlformats.org/officeDocument/2006/math">
                    <m:r>
                      <a:rPr lang="en-US" sz="23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/>
                  <a:t> and the mass transfer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2300"/>
                  <a:t> are used to quantify the rate of heat and mass transfer.</a:t>
                </a:r>
              </a:p>
              <a:p>
                <a:r>
                  <a:rPr lang="en-US" sz="2300"/>
                  <a:t>Key formulas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3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300"/>
              </a:p>
              <a:p>
                <a:pPr marL="0" indent="0">
                  <a:buNone/>
                </a:pPr>
                <a:endParaRPr lang="en-US" altLang="en-US" sz="2300"/>
              </a:p>
            </p:txBody>
          </p:sp>
        </mc:Choice>
        <mc:Fallback xmlns="">
          <p:sp>
            <p:nvSpPr>
              <p:cNvPr id="124931" name="Rectangle 3">
                <a:extLst>
                  <a:ext uri="{FF2B5EF4-FFF2-40B4-BE49-F238E27FC236}">
                    <a16:creationId xmlns:a16="http://schemas.microsoft.com/office/drawing/2014/main" id="{CA6C3FDC-C7C8-C0E3-AF2C-C35AF8672C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89" t="-1078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C803-A831-780E-CA0F-46F11DF8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Underlying physical principles, governing equations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33523-B7A1-07BB-3959-EA5450B369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/>
                  <a:t>Physical Principles:</a:t>
                </a:r>
              </a:p>
              <a:p>
                <a:pPr lvl="1"/>
                <a:r>
                  <a:rPr lang="en-US" sz="2000"/>
                  <a:t>Heat Transfer: Energy flows from regions of high to low temperature.</a:t>
                </a:r>
              </a:p>
              <a:p>
                <a:pPr lvl="1"/>
                <a:r>
                  <a:rPr lang="en-US" sz="2000"/>
                  <a:t>Mass Transfer: Molecules move from areas of high concentration to low concentration.</a:t>
                </a:r>
              </a:p>
              <a:p>
                <a:r>
                  <a:rPr lang="en-US" sz="2000"/>
                  <a:t>Governing Equations:</a:t>
                </a:r>
              </a:p>
              <a:p>
                <a:pPr lvl="1"/>
                <a:r>
                  <a:rPr lang="en-US" sz="2000"/>
                  <a:t>The Reynolds number (Re) and Schmidt number (Sc) help define the system’s fluid dynamics.</a:t>
                </a:r>
              </a:p>
              <a:p>
                <a:pPr lvl="1"/>
                <a:r>
                  <a:rPr lang="en-US" sz="2000"/>
                  <a:t>The Sherwood number correlates mass transfer to the system geometry</a:t>
                </a:r>
              </a:p>
              <a:p>
                <a:pPr marL="571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=0.023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0.83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0.44</m:t>
                          </m:r>
                        </m:sup>
                      </m:sSup>
                    </m:oMath>
                  </m:oMathPara>
                </a14:m>
                <a:endParaRPr lang="en-US" sz="2000"/>
              </a:p>
              <a:p>
                <a:pPr marL="800100" lvl="1"/>
                <a:r>
                  <a:rPr lang="en-US" sz="2000"/>
                  <a:t>The Sherwood number also defines mass transfer coefficient: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33523-B7A1-07BB-3959-EA5450B36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674" r="-1407" b="-3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01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24D5-66E3-879F-A66A-1692553B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Assumptions/limitations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9560D-3459-8308-423D-42113F2F7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/>
              <a:t>Assumptions</a:t>
            </a:r>
            <a:r>
              <a:rPr lang="en-US" sz="2000"/>
              <a:t>:</a:t>
            </a:r>
          </a:p>
          <a:p>
            <a:pPr lvl="1"/>
            <a:r>
              <a:rPr lang="en-US" sz="1800"/>
              <a:t>Steady-state conditions: Heat and mass transfer are assumed constant over time.</a:t>
            </a:r>
          </a:p>
          <a:p>
            <a:pPr lvl="1"/>
            <a:r>
              <a:rPr lang="en-US" sz="1800"/>
              <a:t>Dilute concentrations: Mass transfer coefficients are simplified for low concentrations.</a:t>
            </a:r>
          </a:p>
          <a:p>
            <a:pPr lvl="1"/>
            <a:r>
              <a:rPr lang="en-US" sz="1800"/>
              <a:t>Neglecting counter-diffusion: Simplifies equations for cases where the concentration of the diffusing species is small.</a:t>
            </a:r>
          </a:p>
          <a:p>
            <a:r>
              <a:rPr lang="en-US" sz="2200"/>
              <a:t>Limitations</a:t>
            </a:r>
            <a:r>
              <a:rPr lang="en-US" sz="2000"/>
              <a:t>:</a:t>
            </a:r>
          </a:p>
          <a:p>
            <a:pPr lvl="1"/>
            <a:r>
              <a:rPr lang="en-US" sz="1800"/>
              <a:t>The Lewis relationship assumes that heat and mass transfer coefficients are equivalent in ideal conditions, which may not always hold true.</a:t>
            </a:r>
          </a:p>
          <a:p>
            <a:pPr lvl="1"/>
            <a:r>
              <a:rPr lang="en-US" sz="1800"/>
              <a:t>Complex flow patterns can introduce errors, and the theory assumes well-defined geometries like in a wetted-wall column.</a:t>
            </a:r>
          </a:p>
        </p:txBody>
      </p:sp>
    </p:spTree>
    <p:extLst>
      <p:ext uri="{BB962C8B-B14F-4D97-AF65-F5344CB8AC3E}">
        <p14:creationId xmlns:p14="http://schemas.microsoft.com/office/powerpoint/2010/main" val="115551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98F6-5AF3-2B83-A7B3-8DB8C1CB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Connection to experiment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09F53-95B9-B3DC-B5D3-4A128C300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Experimental Setup: A wetted-wall column is used to study heat and mass transfer between the gas (air) and the liquid (water) film.</a:t>
            </a:r>
          </a:p>
          <a:p>
            <a:r>
              <a:rPr lang="en-US" sz="2000"/>
              <a:t>Relevance of Theory:</a:t>
            </a:r>
          </a:p>
          <a:p>
            <a:pPr lvl="1"/>
            <a:r>
              <a:rPr lang="en-US" sz="1600"/>
              <a:t>The experiment tests the Sherwood number correlation by measuring the mass transfer rate.</a:t>
            </a:r>
          </a:p>
          <a:p>
            <a:pPr lvl="1"/>
            <a:r>
              <a:rPr lang="en-US" sz="1600"/>
              <a:t>It applies the heat and mass flux equations to quantify how efficiently heat and mass are exchanged between the phases.</a:t>
            </a:r>
          </a:p>
          <a:p>
            <a:r>
              <a:rPr lang="en-US" sz="2000"/>
              <a:t>The theory helps in determining transport coefficients using measured experimental data such as temperature gradients and concentration differences.</a:t>
            </a:r>
          </a:p>
        </p:txBody>
      </p:sp>
    </p:spTree>
    <p:extLst>
      <p:ext uri="{BB962C8B-B14F-4D97-AF65-F5344CB8AC3E}">
        <p14:creationId xmlns:p14="http://schemas.microsoft.com/office/powerpoint/2010/main" val="659653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58921-5CEB-7E69-41C4-E815DA52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altLang="en-US" sz="3500"/>
              <a:t>Apparatus</a:t>
            </a:r>
            <a:endParaRPr lang="en-US" sz="3500"/>
          </a:p>
        </p:txBody>
      </p:sp>
      <p:pic>
        <p:nvPicPr>
          <p:cNvPr id="5" name="Content Placeholder 4" descr="A room with a large glass tube&#10;&#10;Description automatically generated with medium confidence">
            <a:extLst>
              <a:ext uri="{FF2B5EF4-FFF2-40B4-BE49-F238E27FC236}">
                <a16:creationId xmlns:a16="http://schemas.microsoft.com/office/drawing/2014/main" id="{B65B5360-A0D2-5D77-B565-47D19DB29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12"/>
          <a:stretch/>
        </p:blipFill>
        <p:spPr>
          <a:xfrm rot="5400000">
            <a:off x="3431559" y="1140441"/>
            <a:ext cx="6858000" cy="45771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13D3AB-7ECB-EDD1-6FE9-524E2D5C652D}"/>
              </a:ext>
            </a:extLst>
          </p:cNvPr>
          <p:cNvSpPr txBox="1"/>
          <p:nvPr/>
        </p:nvSpPr>
        <p:spPr>
          <a:xfrm>
            <a:off x="7391400" y="1295400"/>
            <a:ext cx="152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E44DD-ADF8-539D-68CB-A91CDCF392E4}"/>
              </a:ext>
            </a:extLst>
          </p:cNvPr>
          <p:cNvSpPr txBox="1"/>
          <p:nvPr/>
        </p:nvSpPr>
        <p:spPr>
          <a:xfrm>
            <a:off x="7391400" y="386090"/>
            <a:ext cx="152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338938-AFFC-0E44-1923-9E4C422316E7}"/>
              </a:ext>
            </a:extLst>
          </p:cNvPr>
          <p:cNvSpPr txBox="1"/>
          <p:nvPr/>
        </p:nvSpPr>
        <p:spPr>
          <a:xfrm>
            <a:off x="6739217" y="386090"/>
            <a:ext cx="152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3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1B2478F-B13A-FED0-D2E5-C897AF2DF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993305"/>
              </p:ext>
            </p:extLst>
          </p:nvPr>
        </p:nvGraphicFramePr>
        <p:xfrm>
          <a:off x="543410" y="2285999"/>
          <a:ext cx="3485180" cy="4245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590">
                  <a:extLst>
                    <a:ext uri="{9D8B030D-6E8A-4147-A177-3AD203B41FA5}">
                      <a16:colId xmlns:a16="http://schemas.microsoft.com/office/drawing/2014/main" val="1192804119"/>
                    </a:ext>
                  </a:extLst>
                </a:gridCol>
                <a:gridCol w="1742590">
                  <a:extLst>
                    <a:ext uri="{9D8B030D-6E8A-4147-A177-3AD203B41FA5}">
                      <a16:colId xmlns:a16="http://schemas.microsoft.com/office/drawing/2014/main" val="3460716548"/>
                    </a:ext>
                  </a:extLst>
                </a:gridCol>
              </a:tblGrid>
              <a:tr h="40286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Number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31012"/>
                  </a:ext>
                </a:extLst>
              </a:tr>
              <a:tr h="4497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Weir </a:t>
                      </a:r>
                    </a:p>
                    <a:p>
                      <a:pPr algn="ctr"/>
                      <a:r>
                        <a:rPr lang="en-US" sz="1200"/>
                        <a:t>Disperses Water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433552"/>
                  </a:ext>
                </a:extLst>
              </a:tr>
              <a:tr h="4497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Thermocouple</a:t>
                      </a:r>
                    </a:p>
                    <a:p>
                      <a:pPr algn="ctr"/>
                      <a:r>
                        <a:rPr lang="en-US" sz="1200"/>
                        <a:t>Dry Bulb Temp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522790"/>
                  </a:ext>
                </a:extLst>
              </a:tr>
              <a:tr h="44970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Thermocouple</a:t>
                      </a:r>
                    </a:p>
                    <a:p>
                      <a:pPr algn="ctr"/>
                      <a:r>
                        <a:rPr lang="en-US" sz="1200"/>
                        <a:t>Wet Bulb Temp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646474"/>
                  </a:ext>
                </a:extLst>
              </a:tr>
              <a:tr h="40286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Air Outlet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551005"/>
                  </a:ext>
                </a:extLst>
              </a:tr>
              <a:tr h="40286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091977"/>
                  </a:ext>
                </a:extLst>
              </a:tr>
              <a:tr h="40286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Thermometer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136135"/>
                  </a:ext>
                </a:extLst>
              </a:tr>
              <a:tr h="40286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Air Rotameter</a:t>
                      </a:r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063989"/>
                  </a:ext>
                </a:extLst>
              </a:tr>
              <a:tr h="40286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Air Pressure Gauge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399703"/>
                  </a:ext>
                </a:extLst>
              </a:tr>
              <a:tr h="40286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Pump Switch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16573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1E30849-83EF-ED43-8F7F-C9105DD7E5B8}"/>
              </a:ext>
            </a:extLst>
          </p:cNvPr>
          <p:cNvSpPr txBox="1"/>
          <p:nvPr/>
        </p:nvSpPr>
        <p:spPr>
          <a:xfrm>
            <a:off x="5410200" y="762000"/>
            <a:ext cx="152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D43C84-6CAC-C819-2870-0E6642DF28B5}"/>
              </a:ext>
            </a:extLst>
          </p:cNvPr>
          <p:cNvSpPr txBox="1"/>
          <p:nvPr/>
        </p:nvSpPr>
        <p:spPr>
          <a:xfrm>
            <a:off x="7359495" y="3036585"/>
            <a:ext cx="152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AC1C3F-344E-1678-DD84-A47286E7E739}"/>
              </a:ext>
            </a:extLst>
          </p:cNvPr>
          <p:cNvSpPr txBox="1"/>
          <p:nvPr/>
        </p:nvSpPr>
        <p:spPr>
          <a:xfrm>
            <a:off x="8305800" y="5486400"/>
            <a:ext cx="152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867DA3-042E-7A38-FDAF-411ECD966160}"/>
              </a:ext>
            </a:extLst>
          </p:cNvPr>
          <p:cNvSpPr txBox="1"/>
          <p:nvPr/>
        </p:nvSpPr>
        <p:spPr>
          <a:xfrm>
            <a:off x="5105400" y="3962727"/>
            <a:ext cx="152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083C8A-5ADE-BD84-FA1D-A323D3B115E1}"/>
              </a:ext>
            </a:extLst>
          </p:cNvPr>
          <p:cNvSpPr txBox="1"/>
          <p:nvPr/>
        </p:nvSpPr>
        <p:spPr>
          <a:xfrm>
            <a:off x="5791200" y="4441197"/>
            <a:ext cx="152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BCD2D8-6FD3-DFF5-6EAF-0922789C4EC0}"/>
              </a:ext>
            </a:extLst>
          </p:cNvPr>
          <p:cNvSpPr txBox="1"/>
          <p:nvPr/>
        </p:nvSpPr>
        <p:spPr>
          <a:xfrm>
            <a:off x="5257800" y="5804024"/>
            <a:ext cx="152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36936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99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5998" name="Rectangle 12599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BE4841DE-FFEB-371F-AAF3-C69DE9B53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altLang="en-US" sz="3500"/>
              <a:t>Apparatus</a:t>
            </a:r>
          </a:p>
        </p:txBody>
      </p:sp>
      <p:pic>
        <p:nvPicPr>
          <p:cNvPr id="3" name="Picture 2" descr="A machine in a room&#10;&#10;Description automatically generated">
            <a:extLst>
              <a:ext uri="{FF2B5EF4-FFF2-40B4-BE49-F238E27FC236}">
                <a16:creationId xmlns:a16="http://schemas.microsoft.com/office/drawing/2014/main" id="{FF8CFA42-F69E-BDFD-B865-CB6AB7571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" b="10003"/>
          <a:stretch/>
        </p:blipFill>
        <p:spPr>
          <a:xfrm rot="5400000">
            <a:off x="3431559" y="1140442"/>
            <a:ext cx="6858000" cy="457711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714F15-DA8A-ED7F-60CF-ADDAB8339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0857"/>
              </p:ext>
            </p:extLst>
          </p:nvPr>
        </p:nvGraphicFramePr>
        <p:xfrm>
          <a:off x="568184" y="2283124"/>
          <a:ext cx="3485178" cy="399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589">
                  <a:extLst>
                    <a:ext uri="{9D8B030D-6E8A-4147-A177-3AD203B41FA5}">
                      <a16:colId xmlns:a16="http://schemas.microsoft.com/office/drawing/2014/main" val="3904372161"/>
                    </a:ext>
                  </a:extLst>
                </a:gridCol>
                <a:gridCol w="1742589">
                  <a:extLst>
                    <a:ext uri="{9D8B030D-6E8A-4147-A177-3AD203B41FA5}">
                      <a16:colId xmlns:a16="http://schemas.microsoft.com/office/drawing/2014/main" val="336266245"/>
                    </a:ext>
                  </a:extLst>
                </a:gridCol>
              </a:tblGrid>
              <a:tr h="42700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06148"/>
                  </a:ext>
                </a:extLst>
              </a:tr>
              <a:tr h="42700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Thermocouple</a:t>
                      </a:r>
                    </a:p>
                    <a:p>
                      <a:pPr algn="ctr"/>
                      <a:r>
                        <a:rPr lang="en-US" sz="1200"/>
                        <a:t>Column 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119766"/>
                  </a:ext>
                </a:extLst>
              </a:tr>
              <a:tr h="42700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Thermocouple</a:t>
                      </a:r>
                    </a:p>
                    <a:p>
                      <a:pPr algn="ctr"/>
                      <a:r>
                        <a:rPr lang="en-US" sz="1200"/>
                        <a:t>Column Middle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598838"/>
                  </a:ext>
                </a:extLst>
              </a:tr>
              <a:tr h="42700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Thermocouple</a:t>
                      </a:r>
                    </a:p>
                    <a:p>
                      <a:pPr algn="ctr"/>
                      <a:r>
                        <a:rPr lang="en-US" sz="1200"/>
                        <a:t>Column Bottom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066200"/>
                  </a:ext>
                </a:extLst>
              </a:tr>
              <a:tr h="42700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Thermometer</a:t>
                      </a:r>
                    </a:p>
                    <a:p>
                      <a:pPr algn="ctr"/>
                      <a:r>
                        <a:rPr lang="en-US" sz="1200"/>
                        <a:t>Air Inlet Temp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026093"/>
                  </a:ext>
                </a:extLst>
              </a:tr>
              <a:tr h="42700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Pump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518650"/>
                  </a:ext>
                </a:extLst>
              </a:tr>
              <a:tr h="42700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425858"/>
                  </a:ext>
                </a:extLst>
              </a:tr>
              <a:tr h="42700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Thermocouple</a:t>
                      </a:r>
                    </a:p>
                    <a:p>
                      <a:pPr algn="ctr"/>
                      <a:r>
                        <a:rPr lang="en-US" sz="1200"/>
                        <a:t>Tank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156293"/>
                  </a:ext>
                </a:extLst>
              </a:tr>
              <a:tr h="427008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Water Inlet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3683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F2FDA7-61F6-9F7E-BFC2-159D17547D87}"/>
              </a:ext>
            </a:extLst>
          </p:cNvPr>
          <p:cNvSpPr txBox="1"/>
          <p:nvPr/>
        </p:nvSpPr>
        <p:spPr>
          <a:xfrm>
            <a:off x="6552207" y="485353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713560-5715-3974-DC73-6D1A5ECF51A1}"/>
              </a:ext>
            </a:extLst>
          </p:cNvPr>
          <p:cNvSpPr txBox="1"/>
          <p:nvPr/>
        </p:nvSpPr>
        <p:spPr>
          <a:xfrm>
            <a:off x="6552207" y="1628206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5F02E0-951B-F907-B79D-1C8144244FD2}"/>
              </a:ext>
            </a:extLst>
          </p:cNvPr>
          <p:cNvSpPr txBox="1"/>
          <p:nvPr/>
        </p:nvSpPr>
        <p:spPr>
          <a:xfrm>
            <a:off x="6552207" y="2696113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3534B2-423B-E0AD-23B9-B8BA2172ABFD}"/>
              </a:ext>
            </a:extLst>
          </p:cNvPr>
          <p:cNvSpPr txBox="1"/>
          <p:nvPr/>
        </p:nvSpPr>
        <p:spPr>
          <a:xfrm>
            <a:off x="6811442" y="4582180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87E3DE-6EAF-8B4A-5599-90CA0CB673AB}"/>
              </a:ext>
            </a:extLst>
          </p:cNvPr>
          <p:cNvSpPr txBox="1"/>
          <p:nvPr/>
        </p:nvSpPr>
        <p:spPr>
          <a:xfrm>
            <a:off x="6789772" y="5453536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4C8D2-CA2C-69A2-1F22-9EB196541C1E}"/>
              </a:ext>
            </a:extLst>
          </p:cNvPr>
          <p:cNvSpPr txBox="1"/>
          <p:nvPr/>
        </p:nvSpPr>
        <p:spPr>
          <a:xfrm>
            <a:off x="5790207" y="5037045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569A5B-860B-F47B-0B85-2CA4E7E70104}"/>
              </a:ext>
            </a:extLst>
          </p:cNvPr>
          <p:cNvSpPr txBox="1"/>
          <p:nvPr/>
        </p:nvSpPr>
        <p:spPr>
          <a:xfrm>
            <a:off x="6102304" y="4644630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FFD186-1844-F936-2CF4-CE4287402597}"/>
              </a:ext>
            </a:extLst>
          </p:cNvPr>
          <p:cNvSpPr txBox="1"/>
          <p:nvPr/>
        </p:nvSpPr>
        <p:spPr>
          <a:xfrm>
            <a:off x="5755047" y="3953440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E9BCC-F130-D385-29D2-B065BC33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altLang="en-US" sz="3500"/>
              <a:t>Apparatus</a:t>
            </a:r>
            <a:endParaRPr lang="en-US" sz="3500"/>
          </a:p>
        </p:txBody>
      </p:sp>
      <p:pic>
        <p:nvPicPr>
          <p:cNvPr id="5" name="Content Placeholder 4" descr="A room with machinery and equipment&#10;&#10;Description automatically generated with medium confidence">
            <a:extLst>
              <a:ext uri="{FF2B5EF4-FFF2-40B4-BE49-F238E27FC236}">
                <a16:creationId xmlns:a16="http://schemas.microsoft.com/office/drawing/2014/main" id="{241A8649-DBA6-5442-2D28-187CC7D1A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12"/>
          <a:stretch/>
        </p:blipFill>
        <p:spPr>
          <a:xfrm rot="5400000">
            <a:off x="3431559" y="1140442"/>
            <a:ext cx="6858000" cy="457711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22BF95-9BE0-7B2F-377F-480E95D6C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750042"/>
              </p:ext>
            </p:extLst>
          </p:nvPr>
        </p:nvGraphicFramePr>
        <p:xfrm>
          <a:off x="571352" y="2285998"/>
          <a:ext cx="3485178" cy="185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589">
                  <a:extLst>
                    <a:ext uri="{9D8B030D-6E8A-4147-A177-3AD203B41FA5}">
                      <a16:colId xmlns:a16="http://schemas.microsoft.com/office/drawing/2014/main" val="984770529"/>
                    </a:ext>
                  </a:extLst>
                </a:gridCol>
                <a:gridCol w="1742589">
                  <a:extLst>
                    <a:ext uri="{9D8B030D-6E8A-4147-A177-3AD203B41FA5}">
                      <a16:colId xmlns:a16="http://schemas.microsoft.com/office/drawing/2014/main" val="3770271958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Number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46308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Steam Valve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88987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Heat Exchanger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79415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Water Valve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1023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Water Rotameter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88803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ADAB12-0125-3C54-3724-DD7A38ED2F07}"/>
              </a:ext>
            </a:extLst>
          </p:cNvPr>
          <p:cNvSpPr txBox="1"/>
          <p:nvPr/>
        </p:nvSpPr>
        <p:spPr>
          <a:xfrm>
            <a:off x="8001000" y="1691540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98A02-8350-01A5-FB0C-E69849863A35}"/>
              </a:ext>
            </a:extLst>
          </p:cNvPr>
          <p:cNvSpPr txBox="1"/>
          <p:nvPr/>
        </p:nvSpPr>
        <p:spPr>
          <a:xfrm>
            <a:off x="8628530" y="1691540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517F61-3BA4-7E38-E756-F099CC96AB3D}"/>
              </a:ext>
            </a:extLst>
          </p:cNvPr>
          <p:cNvSpPr txBox="1"/>
          <p:nvPr/>
        </p:nvSpPr>
        <p:spPr>
          <a:xfrm>
            <a:off x="7162800" y="3510288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947153-BF89-6ADF-D240-5645BC4BCBAA}"/>
              </a:ext>
            </a:extLst>
          </p:cNvPr>
          <p:cNvSpPr txBox="1"/>
          <p:nvPr/>
        </p:nvSpPr>
        <p:spPr>
          <a:xfrm>
            <a:off x="5943600" y="2142255"/>
            <a:ext cx="381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2070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142DD209-1F23-0A82-6D73-BB649EE19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Material &amp; Supplies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1CFDA19C-9A63-EF58-B838-6B92BC580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Deionized Water</a:t>
            </a:r>
          </a:p>
          <a:p>
            <a:r>
              <a:rPr lang="en-US" altLang="en-US"/>
              <a:t>Bucket</a:t>
            </a:r>
          </a:p>
          <a:p>
            <a:r>
              <a:rPr lang="en-US" altLang="en-US"/>
              <a:t>Funnel</a:t>
            </a:r>
          </a:p>
          <a:p>
            <a:r>
              <a:rPr lang="en-US" altLang="en-US"/>
              <a:t>Hygrometer </a:t>
            </a:r>
          </a:p>
          <a:p>
            <a:r>
              <a:rPr lang="en-US" altLang="en-US"/>
              <a:t>Heat Resistant Gloves</a:t>
            </a:r>
          </a:p>
          <a:p>
            <a:r>
              <a:rPr lang="en-US" altLang="en-US"/>
              <a:t>Steam</a:t>
            </a:r>
          </a:p>
          <a:p>
            <a:r>
              <a:rPr lang="en-US" altLang="en-US"/>
              <a:t>Air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1EA4A458-93E1-0146-9377-E19CE1811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0EB2EAC9-25A4-D81E-A903-69313FD5C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Select 3 temperatures, 3 air flow rates, and 3 water flow rates (one water flow rate will be zero)</a:t>
            </a:r>
          </a:p>
          <a:p>
            <a:r>
              <a:rPr lang="en-US" altLang="en-US" sz="2400"/>
              <a:t>First turn on the thermometer and record dry air data </a:t>
            </a:r>
          </a:p>
          <a:p>
            <a:pPr lvl="1"/>
            <a:r>
              <a:rPr lang="en-US" altLang="en-US" sz="2000"/>
              <a:t>While that this happening fill up the tank with deionized water </a:t>
            </a:r>
          </a:p>
          <a:p>
            <a:r>
              <a:rPr lang="en-US" altLang="en-US" sz="2400"/>
              <a:t>Next turn on the pump and wet the column</a:t>
            </a:r>
          </a:p>
          <a:p>
            <a:pPr lvl="1"/>
            <a:r>
              <a:rPr lang="en-US" altLang="en-US" sz="2000"/>
              <a:t>Keep increasing the water flow rate until water is around the entire column</a:t>
            </a:r>
          </a:p>
          <a:p>
            <a:r>
              <a:rPr lang="en-US" altLang="en-US" sz="2400"/>
              <a:t>Turn on steam to get to the required temperature</a:t>
            </a:r>
          </a:p>
          <a:p>
            <a:r>
              <a:rPr lang="en-US" altLang="en-US" sz="2400"/>
              <a:t>Record data for the different temperatures and flow rates once they are in steady state</a:t>
            </a:r>
            <a:endParaRPr lang="en-US" altLang="en-US" sz="16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C5461199-B9A0-C268-D01E-D2C1F9341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407888A1-2F5E-7241-D24A-70B1D7356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525963"/>
          </a:xfrm>
        </p:spPr>
        <p:txBody>
          <a:bodyPr/>
          <a:lstStyle/>
          <a:p>
            <a:r>
              <a:rPr lang="en-US" altLang="en-US" sz="2800"/>
              <a:t>Running out of compressed air</a:t>
            </a:r>
          </a:p>
          <a:p>
            <a:pPr lvl="1"/>
            <a:r>
              <a:rPr lang="en-US" altLang="en-US" sz="2400"/>
              <a:t>Try to minimize the time spent at high flow rates</a:t>
            </a:r>
          </a:p>
          <a:p>
            <a:r>
              <a:rPr lang="en-US" altLang="en-US" sz="2800"/>
              <a:t>Getting the inlet air to the correct temp takes time, slowly increase steam until the desired temperature is reached</a:t>
            </a:r>
          </a:p>
          <a:p>
            <a:pPr lvl="1"/>
            <a:r>
              <a:rPr lang="en-US" altLang="en-US" sz="2400"/>
              <a:t>This could take a while</a:t>
            </a:r>
          </a:p>
          <a:p>
            <a:pPr lvl="1"/>
            <a:r>
              <a:rPr lang="en-US" altLang="en-US" sz="2400"/>
              <a:t>Check the inlet air temp every 5 minute</a:t>
            </a:r>
          </a:p>
          <a:p>
            <a:r>
              <a:rPr lang="en-US" altLang="en-US" sz="2800"/>
              <a:t>Double check units to ensure the correct data is collected</a:t>
            </a:r>
          </a:p>
          <a:p>
            <a:r>
              <a:rPr lang="en-US" altLang="en-US" sz="2800"/>
              <a:t>Make sure the column is properly wetted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31D6-F058-B292-B4A5-BB24A53B4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942531"/>
          </a:xfrm>
        </p:spPr>
        <p:txBody>
          <a:bodyPr/>
          <a:lstStyle/>
          <a:p>
            <a:r>
              <a:rPr lang="en-US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1945F-45FF-B4AC-D844-67A4AEC25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2" y="6490359"/>
            <a:ext cx="2232491" cy="2921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85DDE0-509F-7605-5F23-6E961D890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8" y="6093516"/>
            <a:ext cx="1324549" cy="292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110319-75C4-D56B-215B-5FED7287F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2" y="1974626"/>
            <a:ext cx="7828252" cy="40867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29ED5D-0F6A-6929-2162-1C65D416D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400" y="2876509"/>
            <a:ext cx="927330" cy="3396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C566DF-EDF1-FAD7-D94A-6EEE471C80E7}"/>
              </a:ext>
            </a:extLst>
          </p:cNvPr>
          <p:cNvSpPr txBox="1"/>
          <p:nvPr/>
        </p:nvSpPr>
        <p:spPr>
          <a:xfrm>
            <a:off x="7890934" y="3715141"/>
            <a:ext cx="1054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NTU-driving force decreasing as higher inlet temp means higher moisture, making the difference smaller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0359B2-F818-1201-0255-8CB5B9970E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1144" y="4871645"/>
            <a:ext cx="847843" cy="3715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4186BB-BF53-B9DC-1012-3E79304DDBFF}"/>
              </a:ext>
            </a:extLst>
          </p:cNvPr>
          <p:cNvSpPr txBox="1"/>
          <p:nvPr/>
        </p:nvSpPr>
        <p:spPr>
          <a:xfrm>
            <a:off x="2716107" y="6160121"/>
            <a:ext cx="2323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-Yi-interface humidity</a:t>
            </a:r>
          </a:p>
          <a:p>
            <a:r>
              <a:rPr lang="en-US" sz="1400"/>
              <a:t>-Y humidity in or out </a:t>
            </a:r>
          </a:p>
        </p:txBody>
      </p:sp>
    </p:spTree>
    <p:extLst>
      <p:ext uri="{BB962C8B-B14F-4D97-AF65-F5344CB8AC3E}">
        <p14:creationId xmlns:p14="http://schemas.microsoft.com/office/powerpoint/2010/main" val="395389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139B1-54A7-3374-5BB2-35246500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A44DB7-F417-A1F2-3155-C38F42A7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811"/>
            <a:ext cx="9144000" cy="42603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375792-733A-55E7-3DB0-9F65B2D960AF}"/>
              </a:ext>
            </a:extLst>
          </p:cNvPr>
          <p:cNvSpPr txBox="1"/>
          <p:nvPr/>
        </p:nvSpPr>
        <p:spPr>
          <a:xfrm>
            <a:off x="2336800" y="5559189"/>
            <a:ext cx="6258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3SCFM- heat transfer dominate,5SCFM, mass transfer weakens,9SCFM heat and mass transfer are nearly balanced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1E829B-70FF-9AAD-84B3-B4513396B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74" y="5559189"/>
            <a:ext cx="1333686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39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FCBA-6035-C2B5-AD8F-F35ABAC1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continued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792FAC-264D-113B-04FF-B714D64D77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702938"/>
              </p:ext>
            </p:extLst>
          </p:nvPr>
        </p:nvGraphicFramePr>
        <p:xfrm>
          <a:off x="202929" y="1614870"/>
          <a:ext cx="8229600" cy="414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D62E188-0A62-3B1D-8429-542D285C3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960" y="5611195"/>
            <a:ext cx="2591162" cy="609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F0CF3F-3419-0E7B-1EA6-9C957EB22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135" y="5672624"/>
            <a:ext cx="3464198" cy="486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C4A00A-3EE2-0E76-6AFD-CE6A807237A5}"/>
              </a:ext>
            </a:extLst>
          </p:cNvPr>
          <p:cNvSpPr txBox="1"/>
          <p:nvPr/>
        </p:nvSpPr>
        <p:spPr>
          <a:xfrm>
            <a:off x="2783841" y="6159450"/>
            <a:ext cx="4097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Further reinforces that higher Re number gives a better mass transfer coefficient </a:t>
            </a:r>
          </a:p>
        </p:txBody>
      </p:sp>
    </p:spTree>
    <p:extLst>
      <p:ext uri="{BB962C8B-B14F-4D97-AF65-F5344CB8AC3E}">
        <p14:creationId xmlns:p14="http://schemas.microsoft.com/office/powerpoint/2010/main" val="1608615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EBDB6-757B-9963-FDBF-0BCED257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Discussion of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DF00F5-20F8-AB55-5221-FC108B97F9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Humidification requires simultaneous heat transfer and mass transfer in which depends how well the gas phase is mixed</a:t>
                </a:r>
              </a:p>
              <a:p>
                <a:r>
                  <a:rPr lang="en-US"/>
                  <a:t>Reynold’s number describes air flow, and the flow is a function of heat and mass transfer</a:t>
                </a:r>
              </a:p>
              <a:p>
                <a:r>
                  <a:rPr lang="en-US"/>
                  <a:t>With this, as air flow and temperature increase NTU,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/>
                  <a:t>, and </a:t>
                </a:r>
                <a:r>
                  <a:rPr lang="en-US" i="1"/>
                  <a:t>h</a:t>
                </a:r>
                <a:r>
                  <a:rPr lang="en-US"/>
                  <a:t> should also increase.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DF00F5-20F8-AB55-5221-FC108B97F9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1111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73265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7ECD77449BF84BA936ED47DC3D71C4" ma:contentTypeVersion="4" ma:contentTypeDescription="Create a new document." ma:contentTypeScope="" ma:versionID="9a1cbd8291be6ce8e05b3f81179de9be">
  <xsd:schema xmlns:xsd="http://www.w3.org/2001/XMLSchema" xmlns:xs="http://www.w3.org/2001/XMLSchema" xmlns:p="http://schemas.microsoft.com/office/2006/metadata/properties" xmlns:ns2="972b9306-a30d-4be6-a680-43c764941422" targetNamespace="http://schemas.microsoft.com/office/2006/metadata/properties" ma:root="true" ma:fieldsID="96c21ecf12b1659edc0bab54f9208f50" ns2:_="">
    <xsd:import namespace="972b9306-a30d-4be6-a680-43c7649414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b9306-a30d-4be6-a680-43c7649414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1FDE3D-F3F9-49CA-BBCE-CABF4E8AEC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B60287-2C20-457A-B9FB-FD77FCBDD762}">
  <ds:schemaRefs>
    <ds:schemaRef ds:uri="972b9306-a30d-4be6-a680-43c7649414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42EDDB0-BA27-4EE7-8622-425854543D06}">
  <ds:schemaRefs>
    <ds:schemaRef ds:uri="http://schemas.openxmlformats.org/package/2006/metadata/core-properties"/>
    <ds:schemaRef ds:uri="http://schemas.microsoft.com/office/2006/documentManagement/types"/>
    <ds:schemaRef ds:uri="972b9306-a30d-4be6-a680-43c764941422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911</Words>
  <Application>Microsoft Office PowerPoint</Application>
  <PresentationFormat>On-screen Show (4:3)</PresentationFormat>
  <Paragraphs>170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Cambria Math</vt:lpstr>
      <vt:lpstr>Default Design</vt:lpstr>
      <vt:lpstr>   Humidification</vt:lpstr>
      <vt:lpstr>Introduction</vt:lpstr>
      <vt:lpstr>Industrial Applications</vt:lpstr>
      <vt:lpstr>Experimental Objectives </vt:lpstr>
      <vt:lpstr>Theory</vt:lpstr>
      <vt:lpstr>Underlying physical principles, governing equations</vt:lpstr>
      <vt:lpstr>Assumptions/limitations</vt:lpstr>
      <vt:lpstr>Connection to experiment</vt:lpstr>
      <vt:lpstr>Apparatus</vt:lpstr>
      <vt:lpstr>Apparatus</vt:lpstr>
      <vt:lpstr>Apparatus</vt:lpstr>
      <vt:lpstr>Material &amp; Supplies</vt:lpstr>
      <vt:lpstr>Procedure</vt:lpstr>
      <vt:lpstr>Experimental Challenges</vt:lpstr>
      <vt:lpstr>Results</vt:lpstr>
      <vt:lpstr>PowerPoint Presentation</vt:lpstr>
      <vt:lpstr>Results continued</vt:lpstr>
      <vt:lpstr>Discussion of Results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</dc:title>
  <dc:creator>Elizabeth Zweigle Yee</dc:creator>
  <cp:lastModifiedBy>Casas, Aaron</cp:lastModifiedBy>
  <cp:revision>2</cp:revision>
  <dcterms:created xsi:type="dcterms:W3CDTF">2008-04-09T18:55:55Z</dcterms:created>
  <dcterms:modified xsi:type="dcterms:W3CDTF">2025-11-25T18:57:40Z</dcterms:modified>
</cp:coreProperties>
</file>