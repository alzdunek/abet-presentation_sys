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C_10FF9892.xml" ContentType="application/vnd.ms-powerpoint.comments+xml"/>
  <Override PartName="/ppt/comments/modernComment_102_FD09F58.xml" ContentType="application/vnd.ms-powerpoint.comments+xml"/>
  <Override PartName="/ppt/comments/modernComment_103_5956AB0F.xml" ContentType="application/vnd.ms-powerpoint.comments+xml"/>
  <Override PartName="/ppt/comments/modernComment_104_21D44917.xml" ContentType="application/vnd.ms-powerpoint.comments+xml"/>
  <Override PartName="/ppt/comments/modernComment_105_686A3B3A.xml" ContentType="application/vnd.ms-powerpoint.comments+xml"/>
  <Override PartName="/ppt/comments/modernComment_106_C123EBE5.xml" ContentType="application/vnd.ms-powerpoint.comments+xml"/>
  <Override PartName="/ppt/comments/modernComment_108_CFB6FE3B.xml" ContentType="application/vnd.ms-powerpoint.comments+xml"/>
  <Override PartName="/ppt/comments/modernComment_10B_D416386.xml" ContentType="application/vnd.ms-powerpoint.comments+xml"/>
  <Override PartName="/ppt/comments/modernComment_107_F8E60BBE.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9_7BAAE2D.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8" r:id="rId2"/>
    <p:sldId id="258" r:id="rId3"/>
    <p:sldId id="259" r:id="rId4"/>
    <p:sldId id="260" r:id="rId5"/>
    <p:sldId id="261" r:id="rId6"/>
    <p:sldId id="262" r:id="rId7"/>
    <p:sldId id="264" r:id="rId8"/>
    <p:sldId id="267" r:id="rId9"/>
    <p:sldId id="266" r:id="rId10"/>
    <p:sldId id="263"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1D57C8-51C7-EE85-8AB6-225351DF053F}" v="933" dt="2025-09-30T18:49:24.761"/>
    <p1510:client id="{08BBD676-28E0-B26B-F773-155E630FA67F}" v="935" dt="2025-09-30T20:57:13.618"/>
    <p1510:client id="{0C6A455E-E435-03AA-DBE5-AF0A932E0025}" v="1815" dt="2025-09-30T06:14:37.494"/>
    <p1510:client id="{38D126B9-8FD3-48F0-88FB-296D800A89E0}" v="1075" dt="2025-09-30T18:49:47.7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modernComment_10B_D416386.xml><?xml version="1.0" encoding="utf-8"?>
<p188:cmLst xmlns:a="http://schemas.openxmlformats.org/drawingml/2006/main" xmlns:r="http://schemas.openxmlformats.org/officeDocument/2006/relationships" xmlns:p188="http://schemas.microsoft.com/office/powerpoint/2018/8/main">
  <p188:cm id="{E3AAF5B3-2D30-4E08-A2EB-E336C4596829}" authorId="{DF52CCAC-0B66-CA76-A7A3-D551D844506B}" created="2025-10-01T19:34:59.664">
    <ac:deMkLst xmlns:ac="http://schemas.microsoft.com/office/drawing/2013/main/command">
      <pc:docMk xmlns:pc="http://schemas.microsoft.com/office/powerpoint/2013/main/command"/>
      <pc:sldMk xmlns:pc="http://schemas.microsoft.com/office/powerpoint/2013/main/command" cId="222389126" sldId="267"/>
      <ac:spMk id="3" creationId="{F0BE43CC-8FC6-7AAF-ED31-952DB777E247}"/>
    </ac:deMkLst>
    <p188:txBody>
      <a:bodyPr/>
      <a:lstStyle/>
      <a:p>
        <a:r>
          <a:rPr lang="en-US"/>
          <a:t>You can state that the temperatures are recorded using the data acquisition system.</a:t>
        </a:r>
      </a:p>
    </p188:txBody>
  </p188:cm>
</p188:cmLst>
</file>

<file path=ppt/comments/modernComment_10C_10FF9892.xml><?xml version="1.0" encoding="utf-8"?>
<p188:cmLst xmlns:a="http://schemas.openxmlformats.org/drawingml/2006/main" xmlns:r="http://schemas.openxmlformats.org/officeDocument/2006/relationships" xmlns:p188="http://schemas.microsoft.com/office/powerpoint/2018/8/main">
  <p188:cm id="{93E70899-63CA-43CD-8637-D4AC153AF288}" authorId="{DF52CCAC-0B66-CA76-A7A3-D551D844506B}" created="2025-10-01T19:38:09.424">
    <ac:deMkLst xmlns:ac="http://schemas.microsoft.com/office/drawing/2013/main/command">
      <pc:docMk xmlns:pc="http://schemas.microsoft.com/office/powerpoint/2013/main/command"/>
      <pc:sldMk xmlns:pc="http://schemas.microsoft.com/office/powerpoint/2013/main/command" cId="285186194" sldId="268"/>
      <ac:spMk id="3" creationId="{718F2F3C-6C79-C2EF-BFF7-1E9032ACCAC0}"/>
    </ac:deMkLst>
    <p188:txBody>
      <a:bodyPr/>
      <a:lstStyle/>
      <a:p>
        <a:r>
          <a:rPr lang="en-US"/>
          <a:t>87/100</a:t>
        </a:r>
      </a:p>
    </p188:txBody>
  </p188:cm>
</p188:cmLst>
</file>

<file path=ppt/comments/modernComment_102_FD09F58.xml><?xml version="1.0" encoding="utf-8"?>
<p188:cmLst xmlns:a="http://schemas.openxmlformats.org/drawingml/2006/main" xmlns:r="http://schemas.openxmlformats.org/officeDocument/2006/relationships" xmlns:p188="http://schemas.microsoft.com/office/powerpoint/2018/8/main">
  <p188:cm id="{32345622-6846-49F3-AC6E-C032C647FC2C}" authorId="{DF52CCAC-0B66-CA76-A7A3-D551D844506B}" created="2025-10-01T19:22:11.223">
    <ac:deMkLst xmlns:ac="http://schemas.microsoft.com/office/drawing/2013/main/command">
      <pc:docMk xmlns:pc="http://schemas.microsoft.com/office/powerpoint/2013/main/command"/>
      <pc:sldMk xmlns:pc="http://schemas.microsoft.com/office/powerpoint/2013/main/command" cId="265330520" sldId="258"/>
      <ac:spMk id="2" creationId="{9F807F89-B2CA-B743-26EF-8078A5436AEC}"/>
    </ac:deMkLst>
    <p188:txBody>
      <a:bodyPr/>
      <a:lstStyle/>
      <a:p>
        <a:r>
          <a:rPr lang="en-US"/>
          <a:t>-1
Good objective, but also state the apparatus used  (batch distillation column)</a:t>
        </a:r>
      </a:p>
    </p188:txBody>
  </p188:cm>
</p188:cmLst>
</file>

<file path=ppt/comments/modernComment_103_5956AB0F.xml><?xml version="1.0" encoding="utf-8"?>
<p188:cmLst xmlns:a="http://schemas.openxmlformats.org/drawingml/2006/main" xmlns:r="http://schemas.openxmlformats.org/officeDocument/2006/relationships" xmlns:p188="http://schemas.microsoft.com/office/powerpoint/2018/8/main">
  <p188:cm id="{06EAD2AA-06B4-4086-B9B0-E709C54413E7}" authorId="{DF52CCAC-0B66-CA76-A7A3-D551D844506B}" created="2025-10-01T19:23:37.879">
    <ac:deMkLst xmlns:ac="http://schemas.microsoft.com/office/drawing/2013/main/command">
      <pc:docMk xmlns:pc="http://schemas.microsoft.com/office/powerpoint/2013/main/command"/>
      <pc:sldMk xmlns:pc="http://schemas.microsoft.com/office/powerpoint/2013/main/command" cId="1498852111" sldId="259"/>
      <ac:spMk id="2" creationId="{2765C5F1-8710-00F5-19BB-8F8A06618088}"/>
    </ac:deMkLst>
    <p188:txBody>
      <a:bodyPr/>
      <a:lstStyle/>
      <a:p>
        <a:r>
          <a:rPr lang="en-US"/>
          <a:t>Column (spelling error)</a:t>
        </a:r>
      </a:p>
    </p188:txBody>
  </p188:cm>
</p188:cmLst>
</file>

<file path=ppt/comments/modernComment_104_21D44917.xml><?xml version="1.0" encoding="utf-8"?>
<p188:cmLst xmlns:a="http://schemas.openxmlformats.org/drawingml/2006/main" xmlns:r="http://schemas.openxmlformats.org/officeDocument/2006/relationships" xmlns:p188="http://schemas.microsoft.com/office/powerpoint/2018/8/main">
  <p188:cm id="{76588530-2D0B-4E3E-9377-FC0F7E6E537D}" authorId="{DF52CCAC-0B66-CA76-A7A3-D551D844506B}" created="2025-10-01T19:26:05.459">
    <ac:deMkLst xmlns:ac="http://schemas.microsoft.com/office/drawing/2013/main/command">
      <pc:docMk xmlns:pc="http://schemas.microsoft.com/office/powerpoint/2013/main/command"/>
      <pc:sldMk xmlns:pc="http://schemas.microsoft.com/office/powerpoint/2013/main/command" cId="567560471" sldId="260"/>
      <ac:spMk id="3" creationId="{75D7D2E3-59C6-C11E-D218-8A279368D12B}"/>
    </ac:deMkLst>
    <p188:txBody>
      <a:bodyPr/>
      <a:lstStyle/>
      <a:p>
        <a:r>
          <a:rPr lang="en-US"/>
          <a:t>-3
Good, but it looks like you just cut/pasted this from text.  For a presentation slide, there is too much text, you need to summarize the information in bullet items.</a:t>
        </a:r>
      </a:p>
    </p188:txBody>
  </p188:cm>
  <p188:cm id="{55DA552A-D6AD-4681-801C-1D33C8E8767E}" authorId="{DF52CCAC-0B66-CA76-A7A3-D551D844506B}" created="2025-10-01T19:26:56.131">
    <ac:deMkLst xmlns:ac="http://schemas.microsoft.com/office/drawing/2013/main/command">
      <pc:docMk xmlns:pc="http://schemas.microsoft.com/office/powerpoint/2013/main/command"/>
      <pc:sldMk xmlns:pc="http://schemas.microsoft.com/office/powerpoint/2013/main/command" cId="567560471" sldId="260"/>
      <ac:picMk id="4" creationId="{062E33FF-4A05-8A66-E591-1FC126B445EB}"/>
    </ac:deMkLst>
    <p188:txBody>
      <a:bodyPr/>
      <a:lstStyle/>
      <a:p>
        <a:r>
          <a:rPr lang="en-US"/>
          <a:t>This is an image of a continuous distillation column, not a batch column.  It also needs to be referenced since it is from the lab manual.</a:t>
        </a:r>
      </a:p>
    </p188:txBody>
  </p188:cm>
</p188:cmLst>
</file>

<file path=ppt/comments/modernComment_105_686A3B3A.xml><?xml version="1.0" encoding="utf-8"?>
<p188:cmLst xmlns:a="http://schemas.openxmlformats.org/drawingml/2006/main" xmlns:r="http://schemas.openxmlformats.org/officeDocument/2006/relationships" xmlns:p188="http://schemas.microsoft.com/office/powerpoint/2018/8/main">
  <p188:cm id="{118FC3D2-1670-4DB1-8AC6-600B2345454D}" authorId="{DF52CCAC-0B66-CA76-A7A3-D551D844506B}" created="2025-10-01T19:30:39.955">
    <pc:sldMkLst xmlns:pc="http://schemas.microsoft.com/office/powerpoint/2013/main/command">
      <pc:docMk/>
      <pc:sldMk cId="1751792442" sldId="261"/>
    </pc:sldMkLst>
    <p188:txBody>
      <a:bodyPr/>
      <a:lstStyle/>
      <a:p>
        <a:r>
          <a:rPr lang="en-US"/>
          <a:t>-4
You should state that the vacuum pump, feed pump and feed tank and bottom product receiver are not used for this experiment.
Cooling water is not part of the apparatus.
Missing the manometer, cooling water flow meter, thermocouples.</a:t>
        </a:r>
      </a:p>
    </p188:txBody>
  </p188:cm>
</p188:cmLst>
</file>

<file path=ppt/comments/modernComment_106_C123EBE5.xml><?xml version="1.0" encoding="utf-8"?>
<p188:cmLst xmlns:a="http://schemas.openxmlformats.org/drawingml/2006/main" xmlns:r="http://schemas.openxmlformats.org/officeDocument/2006/relationships" xmlns:p188="http://schemas.microsoft.com/office/powerpoint/2018/8/main">
  <p188:cm id="{2C964B61-E1F3-4EA2-B9F1-26C3F5354A47}" authorId="{DF52CCAC-0B66-CA76-A7A3-D551D844506B}" created="2025-10-01T19:33:19.040">
    <ac:deMkLst xmlns:ac="http://schemas.microsoft.com/office/drawing/2013/main/command">
      <pc:docMk xmlns:pc="http://schemas.microsoft.com/office/powerpoint/2013/main/command"/>
      <pc:sldMk xmlns:pc="http://schemas.microsoft.com/office/powerpoint/2013/main/command" cId="3240356837" sldId="262"/>
      <ac:spMk id="3" creationId="{C045C1CC-7534-0FE1-1F69-50F5D7E7DB2D}"/>
    </ac:deMkLst>
    <p188:txBody>
      <a:bodyPr/>
      <a:lstStyle/>
      <a:p>
        <a:r>
          <a:rPr lang="en-US"/>
          <a:t>-3
200 proof ethanol, not 180
State what type of instrument the Snap 41 is (densitometer).
Add the computer/monitor to the control panel item.
Beaker for making your solution
Parafilm</a:t>
        </a:r>
      </a:p>
    </p188:txBody>
  </p188:cm>
</p188:cmLst>
</file>

<file path=ppt/comments/modernComment_107_F8E60BBE.xml><?xml version="1.0" encoding="utf-8"?>
<p188:cmLst xmlns:a="http://schemas.openxmlformats.org/drawingml/2006/main" xmlns:r="http://schemas.openxmlformats.org/officeDocument/2006/relationships" xmlns:p188="http://schemas.microsoft.com/office/powerpoint/2018/8/main">
  <p188:cm id="{E28EAB9E-E2AD-4354-9064-FD0F4F896B8E}" authorId="{DF52CCAC-0B66-CA76-A7A3-D551D844506B}" created="2025-10-01T19:35:58.207">
    <ac:deMkLst xmlns:ac="http://schemas.microsoft.com/office/drawing/2013/main/command">
      <pc:docMk xmlns:pc="http://schemas.microsoft.com/office/powerpoint/2013/main/command"/>
      <pc:sldMk xmlns:pc="http://schemas.microsoft.com/office/powerpoint/2013/main/command" cId="4175825854" sldId="263"/>
      <ac:graphicFrameMk id="5" creationId="{04D4DA36-61ED-2516-BD6B-F9FA9093697C}"/>
    </ac:deMkLst>
    <p188:txBody>
      <a:bodyPr/>
      <a:lstStyle/>
      <a:p>
        <a:r>
          <a:rPr lang="en-US"/>
          <a:t>-1
It also has a toxicity hazard especially at 200-proof.</a:t>
        </a:r>
      </a:p>
    </p188:txBody>
  </p188:cm>
</p188:cmLst>
</file>

<file path=ppt/comments/modernComment_108_CFB6FE3B.xml><?xml version="1.0" encoding="utf-8"?>
<p188:cmLst xmlns:a="http://schemas.openxmlformats.org/drawingml/2006/main" xmlns:r="http://schemas.openxmlformats.org/officeDocument/2006/relationships" xmlns:p188="http://schemas.microsoft.com/office/powerpoint/2018/8/main">
  <p188:cm id="{EF405AEA-FE99-4C5A-A46E-B67F38E00FAE}" authorId="{DF52CCAC-0B66-CA76-A7A3-D551D844506B}" created="2025-10-01T19:34:13.930">
    <ac:deMkLst xmlns:ac="http://schemas.microsoft.com/office/drawing/2013/main/command">
      <pc:docMk xmlns:pc="http://schemas.microsoft.com/office/powerpoint/2013/main/command"/>
      <pc:sldMk xmlns:pc="http://schemas.microsoft.com/office/powerpoint/2013/main/command" cId="3484876347" sldId="264"/>
      <ac:spMk id="3" creationId="{F55092D2-7DE8-6EEE-3D03-3C6156B30A79}"/>
    </ac:deMkLst>
    <p188:txBody>
      <a:bodyPr/>
      <a:lstStyle/>
      <a:p>
        <a:r>
          <a:rPr lang="en-US"/>
          <a:t>-1
Don’t use #’s for valves if you have not included the numbers in the apparatus section.</a:t>
        </a:r>
      </a:p>
    </p188:txBody>
  </p188:cm>
</p188:cmLst>
</file>

<file path=ppt/comments/modernComment_109_7BAAE2D.xml><?xml version="1.0" encoding="utf-8"?>
<p188:cmLst xmlns:a="http://schemas.openxmlformats.org/drawingml/2006/main" xmlns:r="http://schemas.openxmlformats.org/officeDocument/2006/relationships" xmlns:p188="http://schemas.microsoft.com/office/powerpoint/2018/8/main">
  <p188:cm id="{05A16F1D-6FAF-4D99-9F74-ADF18E5E859C}" authorId="{DF52CCAC-0B66-CA76-A7A3-D551D844506B}" created="2025-10-01T19:36:53.973">
    <ac:deMkLst xmlns:ac="http://schemas.microsoft.com/office/drawing/2013/main/command">
      <pc:docMk xmlns:pc="http://schemas.microsoft.com/office/powerpoint/2013/main/command"/>
      <pc:sldMk xmlns:pc="http://schemas.microsoft.com/office/powerpoint/2013/main/command" cId="129674797" sldId="265"/>
      <ac:graphicFrameMk id="16" creationId="{32DDB840-0801-3B6C-9D9C-C641BB951CD9}"/>
    </ac:deMkLst>
    <p188:txBody>
      <a:bodyPr/>
      <a:lstStyle/>
      <a:p>
        <a:r>
          <a:rPr lang="en-US"/>
          <a:t>Confusing, doesn’t it get to 90C?</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DD3E29-7AA7-4E8E-8F38-2D1C405C171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C00D78E-129E-4DCB-B466-6440C379B58F}">
      <dgm:prSet/>
      <dgm:spPr/>
      <dgm:t>
        <a:bodyPr/>
        <a:lstStyle/>
        <a:p>
          <a:pPr>
            <a:lnSpc>
              <a:spcPct val="100000"/>
            </a:lnSpc>
          </a:pPr>
          <a:r>
            <a:rPr lang="en-US"/>
            <a:t>Ethanol is highly flammable, do not allow it near large heat sources</a:t>
          </a:r>
        </a:p>
      </dgm:t>
    </dgm:pt>
    <dgm:pt modelId="{9076A4E9-DAFB-4E50-B72F-945A51B3BB68}" type="parTrans" cxnId="{B3A3D370-702B-4245-9C58-AE4C00C81EB5}">
      <dgm:prSet/>
      <dgm:spPr/>
      <dgm:t>
        <a:bodyPr/>
        <a:lstStyle/>
        <a:p>
          <a:endParaRPr lang="en-US"/>
        </a:p>
      </dgm:t>
    </dgm:pt>
    <dgm:pt modelId="{7A87AB1C-CAFA-47E3-930C-7874774E4E86}" type="sibTrans" cxnId="{B3A3D370-702B-4245-9C58-AE4C00C81EB5}">
      <dgm:prSet/>
      <dgm:spPr/>
      <dgm:t>
        <a:bodyPr/>
        <a:lstStyle/>
        <a:p>
          <a:endParaRPr lang="en-US"/>
        </a:p>
      </dgm:t>
    </dgm:pt>
    <dgm:pt modelId="{0EB9FEC8-337C-4364-A4FD-FFFA17CF42B4}">
      <dgm:prSet/>
      <dgm:spPr/>
      <dgm:t>
        <a:bodyPr/>
        <a:lstStyle/>
        <a:p>
          <a:pPr>
            <a:lnSpc>
              <a:spcPct val="100000"/>
            </a:lnSpc>
          </a:pPr>
          <a:r>
            <a:rPr lang="en-US"/>
            <a:t>Heat can reach up to 100 ℃, caution is advised when maneuvering around valves</a:t>
          </a:r>
        </a:p>
      </dgm:t>
    </dgm:pt>
    <dgm:pt modelId="{51104257-10E1-4E4A-8A10-7F706CC3BB13}" type="parTrans" cxnId="{0CB2BB14-F255-46F1-9625-3C52DE4E65FE}">
      <dgm:prSet/>
      <dgm:spPr/>
      <dgm:t>
        <a:bodyPr/>
        <a:lstStyle/>
        <a:p>
          <a:endParaRPr lang="en-US"/>
        </a:p>
      </dgm:t>
    </dgm:pt>
    <dgm:pt modelId="{8972763C-2C3C-4AC4-A4F2-F78DA1B5C51C}" type="sibTrans" cxnId="{0CB2BB14-F255-46F1-9625-3C52DE4E65FE}">
      <dgm:prSet/>
      <dgm:spPr/>
      <dgm:t>
        <a:bodyPr/>
        <a:lstStyle/>
        <a:p>
          <a:endParaRPr lang="en-US"/>
        </a:p>
      </dgm:t>
    </dgm:pt>
    <dgm:pt modelId="{681973C6-154A-4ABD-9EFC-2D3E2369D000}">
      <dgm:prSet/>
      <dgm:spPr/>
      <dgm:t>
        <a:bodyPr/>
        <a:lstStyle/>
        <a:p>
          <a:pPr>
            <a:lnSpc>
              <a:spcPct val="100000"/>
            </a:lnSpc>
          </a:pPr>
          <a:r>
            <a:rPr lang="en-US"/>
            <a:t>Water can reach electrical components, resulting in an electrical fire</a:t>
          </a:r>
        </a:p>
      </dgm:t>
    </dgm:pt>
    <dgm:pt modelId="{43C64105-1721-4490-867A-27B0DD290BD3}" type="parTrans" cxnId="{7E54CBF6-F52C-4CA9-8EB3-E5E4F89287EC}">
      <dgm:prSet/>
      <dgm:spPr/>
      <dgm:t>
        <a:bodyPr/>
        <a:lstStyle/>
        <a:p>
          <a:endParaRPr lang="en-US"/>
        </a:p>
      </dgm:t>
    </dgm:pt>
    <dgm:pt modelId="{1349D4D8-B1FF-4DE2-9908-20335F67AD93}" type="sibTrans" cxnId="{7E54CBF6-F52C-4CA9-8EB3-E5E4F89287EC}">
      <dgm:prSet/>
      <dgm:spPr/>
      <dgm:t>
        <a:bodyPr/>
        <a:lstStyle/>
        <a:p>
          <a:endParaRPr lang="en-US"/>
        </a:p>
      </dgm:t>
    </dgm:pt>
    <dgm:pt modelId="{B544DE0C-4091-4AF2-BCC4-EEE0A328F6DF}" type="pres">
      <dgm:prSet presAssocID="{46DD3E29-7AA7-4E8E-8F38-2D1C405C171C}" presName="root" presStyleCnt="0">
        <dgm:presLayoutVars>
          <dgm:dir/>
          <dgm:resizeHandles val="exact"/>
        </dgm:presLayoutVars>
      </dgm:prSet>
      <dgm:spPr/>
    </dgm:pt>
    <dgm:pt modelId="{886EBA0A-8444-42C6-B061-007743E20455}" type="pres">
      <dgm:prSet presAssocID="{FC00D78E-129E-4DCB-B466-6440C379B58F}" presName="compNode" presStyleCnt="0"/>
      <dgm:spPr/>
    </dgm:pt>
    <dgm:pt modelId="{7397DD8F-B5AD-43F8-B7EB-DCD58B1BD1C8}" type="pres">
      <dgm:prSet presAssocID="{FC00D78E-129E-4DCB-B466-6440C379B58F}" presName="bgRect" presStyleLbl="bgShp" presStyleIdx="0" presStyleCnt="3"/>
      <dgm:spPr/>
    </dgm:pt>
    <dgm:pt modelId="{96605A92-0D9E-455A-B474-B73C63C40897}" type="pres">
      <dgm:prSet presAssocID="{FC00D78E-129E-4DCB-B466-6440C379B58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ammable"/>
        </a:ext>
      </dgm:extLst>
    </dgm:pt>
    <dgm:pt modelId="{8859234F-08B9-4B58-BF8F-409971B5D643}" type="pres">
      <dgm:prSet presAssocID="{FC00D78E-129E-4DCB-B466-6440C379B58F}" presName="spaceRect" presStyleCnt="0"/>
      <dgm:spPr/>
    </dgm:pt>
    <dgm:pt modelId="{F6B852A4-83D0-49AE-A9FB-34668F96B566}" type="pres">
      <dgm:prSet presAssocID="{FC00D78E-129E-4DCB-B466-6440C379B58F}" presName="parTx" presStyleLbl="revTx" presStyleIdx="0" presStyleCnt="3">
        <dgm:presLayoutVars>
          <dgm:chMax val="0"/>
          <dgm:chPref val="0"/>
        </dgm:presLayoutVars>
      </dgm:prSet>
      <dgm:spPr/>
    </dgm:pt>
    <dgm:pt modelId="{C9D818D9-4C00-49D4-B956-7B21E0A0C7E3}" type="pres">
      <dgm:prSet presAssocID="{7A87AB1C-CAFA-47E3-930C-7874774E4E86}" presName="sibTrans" presStyleCnt="0"/>
      <dgm:spPr/>
    </dgm:pt>
    <dgm:pt modelId="{0ADE2837-10FA-4C13-ADB9-351C2985BC52}" type="pres">
      <dgm:prSet presAssocID="{0EB9FEC8-337C-4364-A4FD-FFFA17CF42B4}" presName="compNode" presStyleCnt="0"/>
      <dgm:spPr/>
    </dgm:pt>
    <dgm:pt modelId="{7D925892-25C2-4ED1-BA77-D49F2AC8F3C3}" type="pres">
      <dgm:prSet presAssocID="{0EB9FEC8-337C-4364-A4FD-FFFA17CF42B4}" presName="bgRect" presStyleLbl="bgShp" presStyleIdx="1" presStyleCnt="3"/>
      <dgm:spPr/>
    </dgm:pt>
    <dgm:pt modelId="{0C3B24A2-8444-4DEC-AEA3-F97F538CB898}" type="pres">
      <dgm:prSet presAssocID="{0EB9FEC8-337C-4364-A4FD-FFFA17CF42B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C2D68896-5AA2-447D-9229-980D3E8433AD}" type="pres">
      <dgm:prSet presAssocID="{0EB9FEC8-337C-4364-A4FD-FFFA17CF42B4}" presName="spaceRect" presStyleCnt="0"/>
      <dgm:spPr/>
    </dgm:pt>
    <dgm:pt modelId="{6022E3EC-7347-4A6F-A051-D3B9D6A11C92}" type="pres">
      <dgm:prSet presAssocID="{0EB9FEC8-337C-4364-A4FD-FFFA17CF42B4}" presName="parTx" presStyleLbl="revTx" presStyleIdx="1" presStyleCnt="3">
        <dgm:presLayoutVars>
          <dgm:chMax val="0"/>
          <dgm:chPref val="0"/>
        </dgm:presLayoutVars>
      </dgm:prSet>
      <dgm:spPr/>
    </dgm:pt>
    <dgm:pt modelId="{2E495E62-7BF5-4F80-A288-F93A76A8F413}" type="pres">
      <dgm:prSet presAssocID="{8972763C-2C3C-4AC4-A4F2-F78DA1B5C51C}" presName="sibTrans" presStyleCnt="0"/>
      <dgm:spPr/>
    </dgm:pt>
    <dgm:pt modelId="{0B69E0F7-C9FE-4AD3-98B8-BD3AD98CFA8F}" type="pres">
      <dgm:prSet presAssocID="{681973C6-154A-4ABD-9EFC-2D3E2369D000}" presName="compNode" presStyleCnt="0"/>
      <dgm:spPr/>
    </dgm:pt>
    <dgm:pt modelId="{BD2947AC-8983-49BB-B1F5-3FEF89E99EFF}" type="pres">
      <dgm:prSet presAssocID="{681973C6-154A-4ABD-9EFC-2D3E2369D000}" presName="bgRect" presStyleLbl="bgShp" presStyleIdx="2" presStyleCnt="3"/>
      <dgm:spPr/>
    </dgm:pt>
    <dgm:pt modelId="{454FAD8C-15E7-4481-ACCA-828AAA746BE0}" type="pres">
      <dgm:prSet presAssocID="{681973C6-154A-4ABD-9EFC-2D3E2369D00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lectrician"/>
        </a:ext>
      </dgm:extLst>
    </dgm:pt>
    <dgm:pt modelId="{6E2711D2-69DE-4AA9-8FB8-8F280EEF8164}" type="pres">
      <dgm:prSet presAssocID="{681973C6-154A-4ABD-9EFC-2D3E2369D000}" presName="spaceRect" presStyleCnt="0"/>
      <dgm:spPr/>
    </dgm:pt>
    <dgm:pt modelId="{47AD909F-7B72-42F8-806A-0A19B8AA3DE9}" type="pres">
      <dgm:prSet presAssocID="{681973C6-154A-4ABD-9EFC-2D3E2369D000}" presName="parTx" presStyleLbl="revTx" presStyleIdx="2" presStyleCnt="3">
        <dgm:presLayoutVars>
          <dgm:chMax val="0"/>
          <dgm:chPref val="0"/>
        </dgm:presLayoutVars>
      </dgm:prSet>
      <dgm:spPr/>
    </dgm:pt>
  </dgm:ptLst>
  <dgm:cxnLst>
    <dgm:cxn modelId="{0CB2BB14-F255-46F1-9625-3C52DE4E65FE}" srcId="{46DD3E29-7AA7-4E8E-8F38-2D1C405C171C}" destId="{0EB9FEC8-337C-4364-A4FD-FFFA17CF42B4}" srcOrd="1" destOrd="0" parTransId="{51104257-10E1-4E4A-8A10-7F706CC3BB13}" sibTransId="{8972763C-2C3C-4AC4-A4F2-F78DA1B5C51C}"/>
    <dgm:cxn modelId="{705A2266-997F-42DC-A7A4-9E919CBBC43D}" type="presOf" srcId="{FC00D78E-129E-4DCB-B466-6440C379B58F}" destId="{F6B852A4-83D0-49AE-A9FB-34668F96B566}" srcOrd="0" destOrd="0" presId="urn:microsoft.com/office/officeart/2018/2/layout/IconVerticalSolidList"/>
    <dgm:cxn modelId="{B3A3D370-702B-4245-9C58-AE4C00C81EB5}" srcId="{46DD3E29-7AA7-4E8E-8F38-2D1C405C171C}" destId="{FC00D78E-129E-4DCB-B466-6440C379B58F}" srcOrd="0" destOrd="0" parTransId="{9076A4E9-DAFB-4E50-B72F-945A51B3BB68}" sibTransId="{7A87AB1C-CAFA-47E3-930C-7874774E4E86}"/>
    <dgm:cxn modelId="{B010FE96-351A-4F42-97B0-D8329BCE4C30}" type="presOf" srcId="{46DD3E29-7AA7-4E8E-8F38-2D1C405C171C}" destId="{B544DE0C-4091-4AF2-BCC4-EEE0A328F6DF}" srcOrd="0" destOrd="0" presId="urn:microsoft.com/office/officeart/2018/2/layout/IconVerticalSolidList"/>
    <dgm:cxn modelId="{9F75C299-C886-436F-A05B-7C13664EFF76}" type="presOf" srcId="{681973C6-154A-4ABD-9EFC-2D3E2369D000}" destId="{47AD909F-7B72-42F8-806A-0A19B8AA3DE9}" srcOrd="0" destOrd="0" presId="urn:microsoft.com/office/officeart/2018/2/layout/IconVerticalSolidList"/>
    <dgm:cxn modelId="{194BC0C7-21D8-4576-A4CF-6C7278D501D8}" type="presOf" srcId="{0EB9FEC8-337C-4364-A4FD-FFFA17CF42B4}" destId="{6022E3EC-7347-4A6F-A051-D3B9D6A11C92}" srcOrd="0" destOrd="0" presId="urn:microsoft.com/office/officeart/2018/2/layout/IconVerticalSolidList"/>
    <dgm:cxn modelId="{7E54CBF6-F52C-4CA9-8EB3-E5E4F89287EC}" srcId="{46DD3E29-7AA7-4E8E-8F38-2D1C405C171C}" destId="{681973C6-154A-4ABD-9EFC-2D3E2369D000}" srcOrd="2" destOrd="0" parTransId="{43C64105-1721-4490-867A-27B0DD290BD3}" sibTransId="{1349D4D8-B1FF-4DE2-9908-20335F67AD93}"/>
    <dgm:cxn modelId="{57C79AC5-249A-40E5-AEF9-5EE0332F09E4}" type="presParOf" srcId="{B544DE0C-4091-4AF2-BCC4-EEE0A328F6DF}" destId="{886EBA0A-8444-42C6-B061-007743E20455}" srcOrd="0" destOrd="0" presId="urn:microsoft.com/office/officeart/2018/2/layout/IconVerticalSolidList"/>
    <dgm:cxn modelId="{BCE90A18-BD1B-416D-B87A-F0B0944892F9}" type="presParOf" srcId="{886EBA0A-8444-42C6-B061-007743E20455}" destId="{7397DD8F-B5AD-43F8-B7EB-DCD58B1BD1C8}" srcOrd="0" destOrd="0" presId="urn:microsoft.com/office/officeart/2018/2/layout/IconVerticalSolidList"/>
    <dgm:cxn modelId="{FFC01B94-3414-42B8-8666-EFFA1D9E2C5A}" type="presParOf" srcId="{886EBA0A-8444-42C6-B061-007743E20455}" destId="{96605A92-0D9E-455A-B474-B73C63C40897}" srcOrd="1" destOrd="0" presId="urn:microsoft.com/office/officeart/2018/2/layout/IconVerticalSolidList"/>
    <dgm:cxn modelId="{DF77C9F3-5CE3-4675-B790-5A61595CA96F}" type="presParOf" srcId="{886EBA0A-8444-42C6-B061-007743E20455}" destId="{8859234F-08B9-4B58-BF8F-409971B5D643}" srcOrd="2" destOrd="0" presId="urn:microsoft.com/office/officeart/2018/2/layout/IconVerticalSolidList"/>
    <dgm:cxn modelId="{E429320D-0E9F-4DCC-B3BE-34663F49F079}" type="presParOf" srcId="{886EBA0A-8444-42C6-B061-007743E20455}" destId="{F6B852A4-83D0-49AE-A9FB-34668F96B566}" srcOrd="3" destOrd="0" presId="urn:microsoft.com/office/officeart/2018/2/layout/IconVerticalSolidList"/>
    <dgm:cxn modelId="{86F68045-A5D8-44AE-BF75-5BBD01A17E65}" type="presParOf" srcId="{B544DE0C-4091-4AF2-BCC4-EEE0A328F6DF}" destId="{C9D818D9-4C00-49D4-B956-7B21E0A0C7E3}" srcOrd="1" destOrd="0" presId="urn:microsoft.com/office/officeart/2018/2/layout/IconVerticalSolidList"/>
    <dgm:cxn modelId="{FD3CE0AD-7FA7-4EDD-A12A-9599A400340F}" type="presParOf" srcId="{B544DE0C-4091-4AF2-BCC4-EEE0A328F6DF}" destId="{0ADE2837-10FA-4C13-ADB9-351C2985BC52}" srcOrd="2" destOrd="0" presId="urn:microsoft.com/office/officeart/2018/2/layout/IconVerticalSolidList"/>
    <dgm:cxn modelId="{4DE9911E-83C4-40FF-8738-53A5091DA872}" type="presParOf" srcId="{0ADE2837-10FA-4C13-ADB9-351C2985BC52}" destId="{7D925892-25C2-4ED1-BA77-D49F2AC8F3C3}" srcOrd="0" destOrd="0" presId="urn:microsoft.com/office/officeart/2018/2/layout/IconVerticalSolidList"/>
    <dgm:cxn modelId="{DB369173-9BF4-40EB-8AB3-8C0773960A79}" type="presParOf" srcId="{0ADE2837-10FA-4C13-ADB9-351C2985BC52}" destId="{0C3B24A2-8444-4DEC-AEA3-F97F538CB898}" srcOrd="1" destOrd="0" presId="urn:microsoft.com/office/officeart/2018/2/layout/IconVerticalSolidList"/>
    <dgm:cxn modelId="{4EAC299A-3CBA-48D9-9428-7FDA50743733}" type="presParOf" srcId="{0ADE2837-10FA-4C13-ADB9-351C2985BC52}" destId="{C2D68896-5AA2-447D-9229-980D3E8433AD}" srcOrd="2" destOrd="0" presId="urn:microsoft.com/office/officeart/2018/2/layout/IconVerticalSolidList"/>
    <dgm:cxn modelId="{12A1E5C4-14E2-4605-A499-B33C884E6777}" type="presParOf" srcId="{0ADE2837-10FA-4C13-ADB9-351C2985BC52}" destId="{6022E3EC-7347-4A6F-A051-D3B9D6A11C92}" srcOrd="3" destOrd="0" presId="urn:microsoft.com/office/officeart/2018/2/layout/IconVerticalSolidList"/>
    <dgm:cxn modelId="{3C417429-6723-495B-83A0-F4ED9414624C}" type="presParOf" srcId="{B544DE0C-4091-4AF2-BCC4-EEE0A328F6DF}" destId="{2E495E62-7BF5-4F80-A288-F93A76A8F413}" srcOrd="3" destOrd="0" presId="urn:microsoft.com/office/officeart/2018/2/layout/IconVerticalSolidList"/>
    <dgm:cxn modelId="{6568381C-C5E4-4F0B-AC94-059C3E120CA0}" type="presParOf" srcId="{B544DE0C-4091-4AF2-BCC4-EEE0A328F6DF}" destId="{0B69E0F7-C9FE-4AD3-98B8-BD3AD98CFA8F}" srcOrd="4" destOrd="0" presId="urn:microsoft.com/office/officeart/2018/2/layout/IconVerticalSolidList"/>
    <dgm:cxn modelId="{9B375CDC-7608-4953-8BF3-156883009BB5}" type="presParOf" srcId="{0B69E0F7-C9FE-4AD3-98B8-BD3AD98CFA8F}" destId="{BD2947AC-8983-49BB-B1F5-3FEF89E99EFF}" srcOrd="0" destOrd="0" presId="urn:microsoft.com/office/officeart/2018/2/layout/IconVerticalSolidList"/>
    <dgm:cxn modelId="{C573FD49-D49B-4391-B97A-BBA3DE9CBA02}" type="presParOf" srcId="{0B69E0F7-C9FE-4AD3-98B8-BD3AD98CFA8F}" destId="{454FAD8C-15E7-4481-ACCA-828AAA746BE0}" srcOrd="1" destOrd="0" presId="urn:microsoft.com/office/officeart/2018/2/layout/IconVerticalSolidList"/>
    <dgm:cxn modelId="{D9D0F847-E9D9-43C1-843F-C22DF238FCEC}" type="presParOf" srcId="{0B69E0F7-C9FE-4AD3-98B8-BD3AD98CFA8F}" destId="{6E2711D2-69DE-4AA9-8FB8-8F280EEF8164}" srcOrd="2" destOrd="0" presId="urn:microsoft.com/office/officeart/2018/2/layout/IconVerticalSolidList"/>
    <dgm:cxn modelId="{CB6C946E-1B29-4BD0-922F-C6957193FC83}" type="presParOf" srcId="{0B69E0F7-C9FE-4AD3-98B8-BD3AD98CFA8F}" destId="{47AD909F-7B72-42F8-806A-0A19B8AA3DE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421032-08B4-4EA9-8357-DFA62D6063F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A3A11CB-D9DF-45D3-9736-53E063BA609A}">
      <dgm:prSet/>
      <dgm:spPr/>
      <dgm:t>
        <a:bodyPr/>
        <a:lstStyle/>
        <a:p>
          <a:r>
            <a:rPr lang="en-US"/>
            <a:t>Time consuming lab, recommended to arrive early to complete on time</a:t>
          </a:r>
        </a:p>
      </dgm:t>
    </dgm:pt>
    <dgm:pt modelId="{6FE06950-4718-4CDF-A3D7-3F7BDE4C58F9}" type="parTrans" cxnId="{4D9F2390-1074-467F-A414-39712CECCC69}">
      <dgm:prSet/>
      <dgm:spPr/>
      <dgm:t>
        <a:bodyPr/>
        <a:lstStyle/>
        <a:p>
          <a:endParaRPr lang="en-US"/>
        </a:p>
      </dgm:t>
    </dgm:pt>
    <dgm:pt modelId="{7091CFEA-4B44-4572-AC25-D3CE0713C175}" type="sibTrans" cxnId="{4D9F2390-1074-467F-A414-39712CECCC69}">
      <dgm:prSet/>
      <dgm:spPr/>
      <dgm:t>
        <a:bodyPr/>
        <a:lstStyle/>
        <a:p>
          <a:endParaRPr lang="en-US"/>
        </a:p>
      </dgm:t>
    </dgm:pt>
    <dgm:pt modelId="{A2A88EBE-C290-4ED7-B1E0-497FBDFE5C6E}">
      <dgm:prSet/>
      <dgm:spPr/>
      <dgm:t>
        <a:bodyPr/>
        <a:lstStyle/>
        <a:p>
          <a:r>
            <a:rPr lang="en-US"/>
            <a:t>Not enough solution may be produced, potentially hindering ability to measure alcohol and temperature</a:t>
          </a:r>
        </a:p>
      </dgm:t>
    </dgm:pt>
    <dgm:pt modelId="{A1510D52-DCA1-4422-A111-824626EF5523}" type="parTrans" cxnId="{14AAB7F4-D41A-4AF2-B0AE-A0780430DA9D}">
      <dgm:prSet/>
      <dgm:spPr/>
      <dgm:t>
        <a:bodyPr/>
        <a:lstStyle/>
        <a:p>
          <a:endParaRPr lang="en-US"/>
        </a:p>
      </dgm:t>
    </dgm:pt>
    <dgm:pt modelId="{CB30C3E6-B235-478A-A8F0-AC6776DCC59B}" type="sibTrans" cxnId="{14AAB7F4-D41A-4AF2-B0AE-A0780430DA9D}">
      <dgm:prSet/>
      <dgm:spPr/>
      <dgm:t>
        <a:bodyPr/>
        <a:lstStyle/>
        <a:p>
          <a:endParaRPr lang="en-US"/>
        </a:p>
      </dgm:t>
    </dgm:pt>
    <dgm:pt modelId="{45A04D15-EFF6-40D1-A2AB-13A5E0C70D8E}">
      <dgm:prSet/>
      <dgm:spPr/>
      <dgm:t>
        <a:bodyPr/>
        <a:lstStyle/>
        <a:p>
          <a:r>
            <a:rPr lang="en-US"/>
            <a:t>Take extra care not to spill vials in bucket, will severely set back your progress</a:t>
          </a:r>
        </a:p>
      </dgm:t>
    </dgm:pt>
    <dgm:pt modelId="{251DA305-9F05-4427-BBAD-1357C53AFAA9}" type="parTrans" cxnId="{07FB7BE8-6B4A-4B5F-9047-10404CFB1577}">
      <dgm:prSet/>
      <dgm:spPr/>
      <dgm:t>
        <a:bodyPr/>
        <a:lstStyle/>
        <a:p>
          <a:endParaRPr lang="en-US"/>
        </a:p>
      </dgm:t>
    </dgm:pt>
    <dgm:pt modelId="{0F9492EF-1349-45F7-B9F8-F0E6D4FE9C01}" type="sibTrans" cxnId="{07FB7BE8-6B4A-4B5F-9047-10404CFB1577}">
      <dgm:prSet/>
      <dgm:spPr/>
      <dgm:t>
        <a:bodyPr/>
        <a:lstStyle/>
        <a:p>
          <a:endParaRPr lang="en-US"/>
        </a:p>
      </dgm:t>
    </dgm:pt>
    <dgm:pt modelId="{BA649058-B3FB-4794-A67D-54CBB5D574A9}">
      <dgm:prSet/>
      <dgm:spPr/>
      <dgm:t>
        <a:bodyPr/>
        <a:lstStyle/>
        <a:p>
          <a:r>
            <a:rPr lang="en-US"/>
            <a:t>Ensure apparatus does not exceed room temperature otherwise it becomes a safety hazard</a:t>
          </a:r>
        </a:p>
      </dgm:t>
    </dgm:pt>
    <dgm:pt modelId="{DE430D6E-16FA-4BB1-8B28-FF198C6D1622}" type="parTrans" cxnId="{0BED513C-BC14-4EB6-855E-DD908F63DEBA}">
      <dgm:prSet/>
      <dgm:spPr/>
      <dgm:t>
        <a:bodyPr/>
        <a:lstStyle/>
        <a:p>
          <a:endParaRPr lang="en-US"/>
        </a:p>
      </dgm:t>
    </dgm:pt>
    <dgm:pt modelId="{29434AA2-D783-4464-9ED6-2EBBCAA68C11}" type="sibTrans" cxnId="{0BED513C-BC14-4EB6-855E-DD908F63DEBA}">
      <dgm:prSet/>
      <dgm:spPr/>
      <dgm:t>
        <a:bodyPr/>
        <a:lstStyle/>
        <a:p>
          <a:endParaRPr lang="en-US"/>
        </a:p>
      </dgm:t>
    </dgm:pt>
    <dgm:pt modelId="{282BB724-2DB2-44B1-8515-4E5319CE2554}" type="pres">
      <dgm:prSet presAssocID="{D1421032-08B4-4EA9-8357-DFA62D6063FF}" presName="linear" presStyleCnt="0">
        <dgm:presLayoutVars>
          <dgm:animLvl val="lvl"/>
          <dgm:resizeHandles val="exact"/>
        </dgm:presLayoutVars>
      </dgm:prSet>
      <dgm:spPr/>
    </dgm:pt>
    <dgm:pt modelId="{2A7A0D64-24CE-4ED7-B2D1-B1811A8B4DDD}" type="pres">
      <dgm:prSet presAssocID="{AA3A11CB-D9DF-45D3-9736-53E063BA609A}" presName="parentText" presStyleLbl="node1" presStyleIdx="0" presStyleCnt="4">
        <dgm:presLayoutVars>
          <dgm:chMax val="0"/>
          <dgm:bulletEnabled val="1"/>
        </dgm:presLayoutVars>
      </dgm:prSet>
      <dgm:spPr/>
    </dgm:pt>
    <dgm:pt modelId="{9AAAB5BD-8D37-4765-911C-04B6D62C6FAB}" type="pres">
      <dgm:prSet presAssocID="{7091CFEA-4B44-4572-AC25-D3CE0713C175}" presName="spacer" presStyleCnt="0"/>
      <dgm:spPr/>
    </dgm:pt>
    <dgm:pt modelId="{0D1B7C4C-A625-47C4-AE7F-86ED5549FCCE}" type="pres">
      <dgm:prSet presAssocID="{A2A88EBE-C290-4ED7-B1E0-497FBDFE5C6E}" presName="parentText" presStyleLbl="node1" presStyleIdx="1" presStyleCnt="4">
        <dgm:presLayoutVars>
          <dgm:chMax val="0"/>
          <dgm:bulletEnabled val="1"/>
        </dgm:presLayoutVars>
      </dgm:prSet>
      <dgm:spPr/>
    </dgm:pt>
    <dgm:pt modelId="{AFFFC6F2-FC9B-410F-BE5E-0C0B65044659}" type="pres">
      <dgm:prSet presAssocID="{CB30C3E6-B235-478A-A8F0-AC6776DCC59B}" presName="spacer" presStyleCnt="0"/>
      <dgm:spPr/>
    </dgm:pt>
    <dgm:pt modelId="{E7400ED0-A295-4DCC-AF91-DA37E8882347}" type="pres">
      <dgm:prSet presAssocID="{45A04D15-EFF6-40D1-A2AB-13A5E0C70D8E}" presName="parentText" presStyleLbl="node1" presStyleIdx="2" presStyleCnt="4">
        <dgm:presLayoutVars>
          <dgm:chMax val="0"/>
          <dgm:bulletEnabled val="1"/>
        </dgm:presLayoutVars>
      </dgm:prSet>
      <dgm:spPr/>
    </dgm:pt>
    <dgm:pt modelId="{4F85E2B6-F3F3-4F0E-95AE-A20D0C2EFC5B}" type="pres">
      <dgm:prSet presAssocID="{0F9492EF-1349-45F7-B9F8-F0E6D4FE9C01}" presName="spacer" presStyleCnt="0"/>
      <dgm:spPr/>
    </dgm:pt>
    <dgm:pt modelId="{EBCD3746-94CB-4270-ABB2-DA95DFEEE683}" type="pres">
      <dgm:prSet presAssocID="{BA649058-B3FB-4794-A67D-54CBB5D574A9}" presName="parentText" presStyleLbl="node1" presStyleIdx="3" presStyleCnt="4">
        <dgm:presLayoutVars>
          <dgm:chMax val="0"/>
          <dgm:bulletEnabled val="1"/>
        </dgm:presLayoutVars>
      </dgm:prSet>
      <dgm:spPr/>
    </dgm:pt>
  </dgm:ptLst>
  <dgm:cxnLst>
    <dgm:cxn modelId="{0BED513C-BC14-4EB6-855E-DD908F63DEBA}" srcId="{D1421032-08B4-4EA9-8357-DFA62D6063FF}" destId="{BA649058-B3FB-4794-A67D-54CBB5D574A9}" srcOrd="3" destOrd="0" parTransId="{DE430D6E-16FA-4BB1-8B28-FF198C6D1622}" sibTransId="{29434AA2-D783-4464-9ED6-2EBBCAA68C11}"/>
    <dgm:cxn modelId="{9F35E148-FA1B-4E23-AB8D-7FA94E11D884}" type="presOf" srcId="{AA3A11CB-D9DF-45D3-9736-53E063BA609A}" destId="{2A7A0D64-24CE-4ED7-B2D1-B1811A8B4DDD}" srcOrd="0" destOrd="0" presId="urn:microsoft.com/office/officeart/2005/8/layout/vList2"/>
    <dgm:cxn modelId="{17BD7F6E-C988-4FEB-BACE-705D3C00152A}" type="presOf" srcId="{A2A88EBE-C290-4ED7-B1E0-497FBDFE5C6E}" destId="{0D1B7C4C-A625-47C4-AE7F-86ED5549FCCE}" srcOrd="0" destOrd="0" presId="urn:microsoft.com/office/officeart/2005/8/layout/vList2"/>
    <dgm:cxn modelId="{6A336E7D-25FE-454E-A59E-4FB224873670}" type="presOf" srcId="{45A04D15-EFF6-40D1-A2AB-13A5E0C70D8E}" destId="{E7400ED0-A295-4DCC-AF91-DA37E8882347}" srcOrd="0" destOrd="0" presId="urn:microsoft.com/office/officeart/2005/8/layout/vList2"/>
    <dgm:cxn modelId="{4D9F2390-1074-467F-A414-39712CECCC69}" srcId="{D1421032-08B4-4EA9-8357-DFA62D6063FF}" destId="{AA3A11CB-D9DF-45D3-9736-53E063BA609A}" srcOrd="0" destOrd="0" parTransId="{6FE06950-4718-4CDF-A3D7-3F7BDE4C58F9}" sibTransId="{7091CFEA-4B44-4572-AC25-D3CE0713C175}"/>
    <dgm:cxn modelId="{8DC562E7-4CE6-4EEE-A192-51A3793DE11F}" type="presOf" srcId="{D1421032-08B4-4EA9-8357-DFA62D6063FF}" destId="{282BB724-2DB2-44B1-8515-4E5319CE2554}" srcOrd="0" destOrd="0" presId="urn:microsoft.com/office/officeart/2005/8/layout/vList2"/>
    <dgm:cxn modelId="{07FB7BE8-6B4A-4B5F-9047-10404CFB1577}" srcId="{D1421032-08B4-4EA9-8357-DFA62D6063FF}" destId="{45A04D15-EFF6-40D1-A2AB-13A5E0C70D8E}" srcOrd="2" destOrd="0" parTransId="{251DA305-9F05-4427-BBAD-1357C53AFAA9}" sibTransId="{0F9492EF-1349-45F7-B9F8-F0E6D4FE9C01}"/>
    <dgm:cxn modelId="{605808EE-E31B-49C2-A136-00D2F28FB715}" type="presOf" srcId="{BA649058-B3FB-4794-A67D-54CBB5D574A9}" destId="{EBCD3746-94CB-4270-ABB2-DA95DFEEE683}" srcOrd="0" destOrd="0" presId="urn:microsoft.com/office/officeart/2005/8/layout/vList2"/>
    <dgm:cxn modelId="{14AAB7F4-D41A-4AF2-B0AE-A0780430DA9D}" srcId="{D1421032-08B4-4EA9-8357-DFA62D6063FF}" destId="{A2A88EBE-C290-4ED7-B1E0-497FBDFE5C6E}" srcOrd="1" destOrd="0" parTransId="{A1510D52-DCA1-4422-A111-824626EF5523}" sibTransId="{CB30C3E6-B235-478A-A8F0-AC6776DCC59B}"/>
    <dgm:cxn modelId="{00856D02-315B-4CB6-B3AC-FFB16B82015B}" type="presParOf" srcId="{282BB724-2DB2-44B1-8515-4E5319CE2554}" destId="{2A7A0D64-24CE-4ED7-B2D1-B1811A8B4DDD}" srcOrd="0" destOrd="0" presId="urn:microsoft.com/office/officeart/2005/8/layout/vList2"/>
    <dgm:cxn modelId="{AC10E579-983F-43DD-9CA4-4B1F17B9E592}" type="presParOf" srcId="{282BB724-2DB2-44B1-8515-4E5319CE2554}" destId="{9AAAB5BD-8D37-4765-911C-04B6D62C6FAB}" srcOrd="1" destOrd="0" presId="urn:microsoft.com/office/officeart/2005/8/layout/vList2"/>
    <dgm:cxn modelId="{04E8247D-768A-4979-AB5F-571848ABE1AE}" type="presParOf" srcId="{282BB724-2DB2-44B1-8515-4E5319CE2554}" destId="{0D1B7C4C-A625-47C4-AE7F-86ED5549FCCE}" srcOrd="2" destOrd="0" presId="urn:microsoft.com/office/officeart/2005/8/layout/vList2"/>
    <dgm:cxn modelId="{E4165677-D6CE-4C19-8818-3D2E7DC25C14}" type="presParOf" srcId="{282BB724-2DB2-44B1-8515-4E5319CE2554}" destId="{AFFFC6F2-FC9B-410F-BE5E-0C0B65044659}" srcOrd="3" destOrd="0" presId="urn:microsoft.com/office/officeart/2005/8/layout/vList2"/>
    <dgm:cxn modelId="{9AD68677-9128-49FA-B1CB-EB46B6A9509C}" type="presParOf" srcId="{282BB724-2DB2-44B1-8515-4E5319CE2554}" destId="{E7400ED0-A295-4DCC-AF91-DA37E8882347}" srcOrd="4" destOrd="0" presId="urn:microsoft.com/office/officeart/2005/8/layout/vList2"/>
    <dgm:cxn modelId="{8FF48A89-ED32-4918-B487-7C18F611AC3B}" type="presParOf" srcId="{282BB724-2DB2-44B1-8515-4E5319CE2554}" destId="{4F85E2B6-F3F3-4F0E-95AE-A20D0C2EFC5B}" srcOrd="5" destOrd="0" presId="urn:microsoft.com/office/officeart/2005/8/layout/vList2"/>
    <dgm:cxn modelId="{6DF56CD6-AA8E-4905-8DD4-86E11E6116C2}" type="presParOf" srcId="{282BB724-2DB2-44B1-8515-4E5319CE2554}" destId="{EBCD3746-94CB-4270-ABB2-DA95DFEEE683}"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7DD8F-B5AD-43F8-B7EB-DCD58B1BD1C8}">
      <dsp:nvSpPr>
        <dsp:cNvPr id="0" name=""/>
        <dsp:cNvSpPr/>
      </dsp:nvSpPr>
      <dsp:spPr>
        <a:xfrm>
          <a:off x="0" y="671"/>
          <a:ext cx="6263640" cy="157238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605A92-0D9E-455A-B474-B73C63C40897}">
      <dsp:nvSpPr>
        <dsp:cNvPr id="0" name=""/>
        <dsp:cNvSpPr/>
      </dsp:nvSpPr>
      <dsp:spPr>
        <a:xfrm>
          <a:off x="475646" y="354458"/>
          <a:ext cx="864811" cy="8648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B852A4-83D0-49AE-A9FB-34668F96B566}">
      <dsp:nvSpPr>
        <dsp:cNvPr id="0" name=""/>
        <dsp:cNvSpPr/>
      </dsp:nvSpPr>
      <dsp:spPr>
        <a:xfrm>
          <a:off x="1816103" y="67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100000"/>
            </a:lnSpc>
            <a:spcBef>
              <a:spcPct val="0"/>
            </a:spcBef>
            <a:spcAft>
              <a:spcPct val="35000"/>
            </a:spcAft>
            <a:buNone/>
          </a:pPr>
          <a:r>
            <a:rPr lang="en-US" sz="2500" kern="1200"/>
            <a:t>Ethanol is highly flammable, do not allow it near large heat sources</a:t>
          </a:r>
        </a:p>
      </dsp:txBody>
      <dsp:txXfrm>
        <a:off x="1816103" y="671"/>
        <a:ext cx="4447536" cy="1572384"/>
      </dsp:txXfrm>
    </dsp:sp>
    <dsp:sp modelId="{7D925892-25C2-4ED1-BA77-D49F2AC8F3C3}">
      <dsp:nvSpPr>
        <dsp:cNvPr id="0" name=""/>
        <dsp:cNvSpPr/>
      </dsp:nvSpPr>
      <dsp:spPr>
        <a:xfrm>
          <a:off x="0" y="1966151"/>
          <a:ext cx="6263640" cy="157238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3B24A2-8444-4DEC-AEA3-F97F538CB898}">
      <dsp:nvSpPr>
        <dsp:cNvPr id="0" name=""/>
        <dsp:cNvSpPr/>
      </dsp:nvSpPr>
      <dsp:spPr>
        <a:xfrm>
          <a:off x="475646" y="2319938"/>
          <a:ext cx="864811" cy="8648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22E3EC-7347-4A6F-A051-D3B9D6A11C92}">
      <dsp:nvSpPr>
        <dsp:cNvPr id="0" name=""/>
        <dsp:cNvSpPr/>
      </dsp:nvSpPr>
      <dsp:spPr>
        <a:xfrm>
          <a:off x="1816103" y="196615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100000"/>
            </a:lnSpc>
            <a:spcBef>
              <a:spcPct val="0"/>
            </a:spcBef>
            <a:spcAft>
              <a:spcPct val="35000"/>
            </a:spcAft>
            <a:buNone/>
          </a:pPr>
          <a:r>
            <a:rPr lang="en-US" sz="2500" kern="1200"/>
            <a:t>Heat can reach up to 100 ℃, caution is advised when maneuvering around valves</a:t>
          </a:r>
        </a:p>
      </dsp:txBody>
      <dsp:txXfrm>
        <a:off x="1816103" y="1966151"/>
        <a:ext cx="4447536" cy="1572384"/>
      </dsp:txXfrm>
    </dsp:sp>
    <dsp:sp modelId="{BD2947AC-8983-49BB-B1F5-3FEF89E99EFF}">
      <dsp:nvSpPr>
        <dsp:cNvPr id="0" name=""/>
        <dsp:cNvSpPr/>
      </dsp:nvSpPr>
      <dsp:spPr>
        <a:xfrm>
          <a:off x="0" y="3931632"/>
          <a:ext cx="6263640" cy="157238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4FAD8C-15E7-4481-ACCA-828AAA746BE0}">
      <dsp:nvSpPr>
        <dsp:cNvPr id="0" name=""/>
        <dsp:cNvSpPr/>
      </dsp:nvSpPr>
      <dsp:spPr>
        <a:xfrm>
          <a:off x="475646" y="4285418"/>
          <a:ext cx="864811" cy="8648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AD909F-7B72-42F8-806A-0A19B8AA3DE9}">
      <dsp:nvSpPr>
        <dsp:cNvPr id="0" name=""/>
        <dsp:cNvSpPr/>
      </dsp:nvSpPr>
      <dsp:spPr>
        <a:xfrm>
          <a:off x="1816103" y="3931632"/>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100000"/>
            </a:lnSpc>
            <a:spcBef>
              <a:spcPct val="0"/>
            </a:spcBef>
            <a:spcAft>
              <a:spcPct val="35000"/>
            </a:spcAft>
            <a:buNone/>
          </a:pPr>
          <a:r>
            <a:rPr lang="en-US" sz="2500" kern="1200"/>
            <a:t>Water can reach electrical components, resulting in an electrical fire</a:t>
          </a:r>
        </a:p>
      </dsp:txBody>
      <dsp:txXfrm>
        <a:off x="1816103" y="3931632"/>
        <a:ext cx="4447536" cy="15723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7A0D64-24CE-4ED7-B2D1-B1811A8B4DDD}">
      <dsp:nvSpPr>
        <dsp:cNvPr id="0" name=""/>
        <dsp:cNvSpPr/>
      </dsp:nvSpPr>
      <dsp:spPr>
        <a:xfrm>
          <a:off x="0" y="47711"/>
          <a:ext cx="6830568" cy="128663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Time consuming lab, recommended to arrive early to complete on time</a:t>
          </a:r>
        </a:p>
      </dsp:txBody>
      <dsp:txXfrm>
        <a:off x="62808" y="110519"/>
        <a:ext cx="6704952" cy="1161018"/>
      </dsp:txXfrm>
    </dsp:sp>
    <dsp:sp modelId="{0D1B7C4C-A625-47C4-AE7F-86ED5549FCCE}">
      <dsp:nvSpPr>
        <dsp:cNvPr id="0" name=""/>
        <dsp:cNvSpPr/>
      </dsp:nvSpPr>
      <dsp:spPr>
        <a:xfrm>
          <a:off x="0" y="1400585"/>
          <a:ext cx="6830568" cy="1286634"/>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Not enough solution may be produced, potentially hindering ability to measure alcohol and temperature</a:t>
          </a:r>
        </a:p>
      </dsp:txBody>
      <dsp:txXfrm>
        <a:off x="62808" y="1463393"/>
        <a:ext cx="6704952" cy="1161018"/>
      </dsp:txXfrm>
    </dsp:sp>
    <dsp:sp modelId="{E7400ED0-A295-4DCC-AF91-DA37E8882347}">
      <dsp:nvSpPr>
        <dsp:cNvPr id="0" name=""/>
        <dsp:cNvSpPr/>
      </dsp:nvSpPr>
      <dsp:spPr>
        <a:xfrm>
          <a:off x="0" y="2753460"/>
          <a:ext cx="6830568" cy="1286634"/>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Take extra care not to spill vials in bucket, will severely set back your progress</a:t>
          </a:r>
        </a:p>
      </dsp:txBody>
      <dsp:txXfrm>
        <a:off x="62808" y="2816268"/>
        <a:ext cx="6704952" cy="1161018"/>
      </dsp:txXfrm>
    </dsp:sp>
    <dsp:sp modelId="{EBCD3746-94CB-4270-ABB2-DA95DFEEE683}">
      <dsp:nvSpPr>
        <dsp:cNvPr id="0" name=""/>
        <dsp:cNvSpPr/>
      </dsp:nvSpPr>
      <dsp:spPr>
        <a:xfrm>
          <a:off x="0" y="4106334"/>
          <a:ext cx="6830568" cy="1286634"/>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Ensure apparatus does not exceed room temperature otherwise it becomes a safety hazard</a:t>
          </a:r>
        </a:p>
      </dsp:txBody>
      <dsp:txXfrm>
        <a:off x="62808" y="4169142"/>
        <a:ext cx="6704952" cy="11610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A95D54-F875-49A8-806E-0CB6D72CB3F0}" type="datetimeFigureOut">
              <a:rPr lang="en-US" smtClean="0"/>
              <a:t>10/1/2025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5F56-A180-4FC5-95FC-C0E5E388CC9E}" type="slidenum">
              <a:rPr lang="en-US" smtClean="0"/>
              <a:t>‹#›</a:t>
            </a:fld>
            <a:endParaRPr lang="en-US"/>
          </a:p>
        </p:txBody>
      </p:sp>
    </p:spTree>
    <p:extLst>
      <p:ext uri="{BB962C8B-B14F-4D97-AF65-F5344CB8AC3E}">
        <p14:creationId xmlns:p14="http://schemas.microsoft.com/office/powerpoint/2010/main" val="1711088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C_10FF9892.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2_FD09F58.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3_5956AB0F.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4_21D44917.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5_686A3B3A.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microsoft.com/office/2018/10/relationships/comments" Target="../comments/modernComment_106_C123EB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microsoft.com/office/2018/10/relationships/comments" Target="../comments/modernComment_108_CFB6FE3B.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0B_D41638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07_F8E60BBE.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109_7BAAE2D.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EC32C0-ABAB-B5D1-4A85-679F0E453D7F}"/>
              </a:ext>
            </a:extLst>
          </p:cNvPr>
          <p:cNvSpPr>
            <a:spLocks noGrp="1"/>
          </p:cNvSpPr>
          <p:nvPr>
            <p:ph type="ctrTitle"/>
          </p:nvPr>
        </p:nvSpPr>
        <p:spPr>
          <a:xfrm>
            <a:off x="838199" y="1093788"/>
            <a:ext cx="10506455" cy="2967208"/>
          </a:xfrm>
        </p:spPr>
        <p:txBody>
          <a:bodyPr>
            <a:normAutofit/>
          </a:bodyPr>
          <a:lstStyle/>
          <a:p>
            <a:pPr algn="l"/>
            <a:r>
              <a:rPr lang="en-US" sz="8000"/>
              <a:t>Binary Batch Distilation</a:t>
            </a:r>
          </a:p>
        </p:txBody>
      </p:sp>
      <p:sp>
        <p:nvSpPr>
          <p:cNvPr id="3" name="Subtitle 2">
            <a:extLst>
              <a:ext uri="{FF2B5EF4-FFF2-40B4-BE49-F238E27FC236}">
                <a16:creationId xmlns:a16="http://schemas.microsoft.com/office/drawing/2014/main" id="{718F2F3C-6C79-C2EF-BFF7-1E9032ACCAC0}"/>
              </a:ext>
            </a:extLst>
          </p:cNvPr>
          <p:cNvSpPr>
            <a:spLocks noGrp="1"/>
          </p:cNvSpPr>
          <p:nvPr>
            <p:ph type="subTitle" idx="1"/>
          </p:nvPr>
        </p:nvSpPr>
        <p:spPr>
          <a:xfrm>
            <a:off x="6708774" y="4619624"/>
            <a:ext cx="4638929" cy="1038225"/>
          </a:xfrm>
        </p:spPr>
        <p:txBody>
          <a:bodyPr vert="horz" lIns="91440" tIns="45720" rIns="91440" bIns="45720" rtlCol="0" anchor="t">
            <a:normAutofit/>
          </a:bodyPr>
          <a:lstStyle/>
          <a:p>
            <a:pPr algn="r"/>
            <a:r>
              <a:rPr lang="en-US" sz="2200" dirty="0"/>
              <a:t>By: </a:t>
            </a:r>
            <a:r>
              <a:rPr lang="en-US" sz="2200" dirty="0">
                <a:latin typeface="Aptos"/>
                <a:cs typeface="Times New Roman"/>
              </a:rPr>
              <a:t>Ameen </a:t>
            </a:r>
            <a:r>
              <a:rPr lang="en-US" sz="2200" dirty="0" err="1">
                <a:latin typeface="Aptos"/>
                <a:cs typeface="Times New Roman"/>
              </a:rPr>
              <a:t>Abuzir</a:t>
            </a:r>
            <a:r>
              <a:rPr lang="en-US" sz="2200" dirty="0">
                <a:latin typeface="Aptos"/>
                <a:cs typeface="Times New Roman"/>
              </a:rPr>
              <a:t>, Joshua Laforest, Javier Silva, and </a:t>
            </a:r>
            <a:r>
              <a:rPr lang="en-US" sz="2200" dirty="0" err="1">
                <a:latin typeface="Aptos"/>
                <a:cs typeface="Times New Roman"/>
              </a:rPr>
              <a:t>Cesearo</a:t>
            </a:r>
            <a:r>
              <a:rPr lang="en-US" sz="2200" dirty="0">
                <a:latin typeface="Aptos"/>
                <a:cs typeface="Times New Roman"/>
              </a:rPr>
              <a:t> Dilosa</a:t>
            </a:r>
            <a:endParaRPr lang="en-US" sz="2200" dirty="0" err="1">
              <a:latin typeface="Aptos"/>
            </a:endParaRPr>
          </a:p>
          <a:p>
            <a:pPr algn="r"/>
            <a:endParaRPr lang="en-US" sz="2200" dirty="0"/>
          </a:p>
        </p:txBody>
      </p:sp>
      <p:sp>
        <p:nvSpPr>
          <p:cNvPr id="40" name="Rectangle 3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2" name="Rectangle 4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186194"/>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07F89-B2CA-B743-26EF-8078A5436AEC}"/>
              </a:ext>
            </a:extLst>
          </p:cNvPr>
          <p:cNvSpPr>
            <a:spLocks noGrp="1"/>
          </p:cNvSpPr>
          <p:nvPr>
            <p:ph type="title"/>
          </p:nvPr>
        </p:nvSpPr>
        <p:spPr>
          <a:xfrm>
            <a:off x="640080" y="325369"/>
            <a:ext cx="4368602" cy="1956841"/>
          </a:xfrm>
        </p:spPr>
        <p:txBody>
          <a:bodyPr anchor="b">
            <a:normAutofit/>
          </a:bodyPr>
          <a:lstStyle/>
          <a:p>
            <a:r>
              <a:rPr lang="en-US" sz="5400" cap="all" dirty="0">
                <a:latin typeface="Aptos"/>
              </a:rPr>
              <a:t>Purpose of lab</a:t>
            </a:r>
            <a:endParaRPr lang="en-US" sz="5400" dirty="0">
              <a:latin typeface="Aptos"/>
            </a:endParaRPr>
          </a:p>
        </p:txBody>
      </p:sp>
      <p:sp>
        <p:nvSpPr>
          <p:cNvPr id="2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4ECA7D-BDDA-C3EE-F836-2364C2344EB0}"/>
              </a:ext>
            </a:extLst>
          </p:cNvPr>
          <p:cNvSpPr>
            <a:spLocks noGrp="1"/>
          </p:cNvSpPr>
          <p:nvPr>
            <p:ph idx="1"/>
          </p:nvPr>
        </p:nvSpPr>
        <p:spPr>
          <a:xfrm>
            <a:off x="640080" y="2872899"/>
            <a:ext cx="4243589" cy="3320668"/>
          </a:xfrm>
        </p:spPr>
        <p:txBody>
          <a:bodyPr>
            <a:normAutofit/>
          </a:bodyPr>
          <a:lstStyle/>
          <a:p>
            <a:r>
              <a:rPr lang="en-US" sz="2000"/>
              <a:t>The objective of the lab was to determine the boil-up rates, top/bottom composition, pressure drop, and column efficiency of different reboiler power rates and reflux ratios</a:t>
            </a:r>
          </a:p>
          <a:p>
            <a:r>
              <a:rPr lang="en-US" sz="2000"/>
              <a:t>This is performed by pouring a 10 wt% ethanol and 90 wt% water solution into the reboiler and adjusting settings on the control panel</a:t>
            </a:r>
          </a:p>
        </p:txBody>
      </p:sp>
      <p:pic>
        <p:nvPicPr>
          <p:cNvPr id="5" name="Picture 4" descr="Laboratory glassware containing solution">
            <a:extLst>
              <a:ext uri="{FF2B5EF4-FFF2-40B4-BE49-F238E27FC236}">
                <a16:creationId xmlns:a16="http://schemas.microsoft.com/office/drawing/2014/main" id="{122D799E-8E73-20B9-E316-F0EEE7BA146F}"/>
              </a:ext>
            </a:extLst>
          </p:cNvPr>
          <p:cNvPicPr>
            <a:picLocks noChangeAspect="1"/>
          </p:cNvPicPr>
          <p:nvPr/>
        </p:nvPicPr>
        <p:blipFill>
          <a:blip r:embed="rId3"/>
          <a:srcRect r="2477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6533052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5C5F1-8710-00F5-19BB-8F8A06618088}"/>
              </a:ext>
            </a:extLst>
          </p:cNvPr>
          <p:cNvSpPr>
            <a:spLocks noGrp="1"/>
          </p:cNvSpPr>
          <p:nvPr>
            <p:ph type="title"/>
          </p:nvPr>
        </p:nvSpPr>
        <p:spPr/>
        <p:txBody>
          <a:bodyPr/>
          <a:lstStyle/>
          <a:p>
            <a:r>
              <a:rPr lang="en-US" sz="3200" cap="all" dirty="0">
                <a:latin typeface="Aptos"/>
              </a:rPr>
              <a:t>Technical nature of Distillation at different Temperature and Reflux ratios.</a:t>
            </a:r>
            <a:endParaRPr lang="en-US" dirty="0">
              <a:latin typeface="Aptos"/>
            </a:endParaRPr>
          </a:p>
        </p:txBody>
      </p:sp>
      <p:sp>
        <p:nvSpPr>
          <p:cNvPr id="3" name="Content Placeholder 2">
            <a:extLst>
              <a:ext uri="{FF2B5EF4-FFF2-40B4-BE49-F238E27FC236}">
                <a16:creationId xmlns:a16="http://schemas.microsoft.com/office/drawing/2014/main" id="{42C03C6E-88D9-29E7-01EF-7D7EB8992275}"/>
              </a:ext>
            </a:extLst>
          </p:cNvPr>
          <p:cNvSpPr>
            <a:spLocks noGrp="1"/>
          </p:cNvSpPr>
          <p:nvPr>
            <p:ph idx="1"/>
          </p:nvPr>
        </p:nvSpPr>
        <p:spPr/>
        <p:txBody>
          <a:bodyPr vert="horz" lIns="91440" tIns="45720" rIns="91440" bIns="45720" rtlCol="0" anchor="t">
            <a:normAutofit/>
          </a:bodyPr>
          <a:lstStyle/>
          <a:p>
            <a:pPr marL="0" indent="0">
              <a:buNone/>
            </a:pPr>
            <a:r>
              <a:rPr lang="en-US" sz="2000" dirty="0"/>
              <a:t>Impact in controlling the temperature in a distillation Collum.</a:t>
            </a:r>
          </a:p>
          <a:p>
            <a:r>
              <a:rPr lang="en-US" sz="2000" dirty="0"/>
              <a:t>At the top part of the Collum most of the distillate product is present due to the lower boiling point and at the bottom most of the solution is there usually resides in the lower part.</a:t>
            </a:r>
          </a:p>
          <a:p>
            <a:r>
              <a:rPr lang="en-US" sz="2000" dirty="0"/>
              <a:t>Controlling the temperature is important as sometimes the need for lower temperatures is needed to separate solutions in the stream. Having temperature too low will not separate the solution while to high will turn the whole solution into vapor not separating the solution.</a:t>
            </a:r>
          </a:p>
          <a:p>
            <a:r>
              <a:rPr lang="en-US" sz="2000" dirty="0"/>
              <a:t>Controlling the temperature mainly dependent on the boiling points of what needs to be separated.</a:t>
            </a:r>
          </a:p>
          <a:p>
            <a:pPr marL="0" indent="0">
              <a:buNone/>
            </a:pPr>
            <a:r>
              <a:rPr lang="en-US" sz="2000" dirty="0"/>
              <a:t>Impact of reflux ratio on distillate.</a:t>
            </a:r>
          </a:p>
          <a:p>
            <a:r>
              <a:rPr lang="en-US" sz="2000" dirty="0"/>
              <a:t>The reflux ratio is based on product made and returned back into the reboiler.</a:t>
            </a:r>
          </a:p>
          <a:p>
            <a:r>
              <a:rPr lang="en-US" sz="2000" dirty="0"/>
              <a:t>The ratio is used to determine how to recycle the unseparated components in the distillate in order to find the best point in the vapor liquid equilibrium.</a:t>
            </a:r>
          </a:p>
        </p:txBody>
      </p:sp>
    </p:spTree>
    <p:extLst>
      <p:ext uri="{BB962C8B-B14F-4D97-AF65-F5344CB8AC3E}">
        <p14:creationId xmlns:p14="http://schemas.microsoft.com/office/powerpoint/2010/main" val="1498852111"/>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D3294C-7670-D377-0729-CD341BDD9D0A}"/>
              </a:ext>
            </a:extLst>
          </p:cNvPr>
          <p:cNvSpPr>
            <a:spLocks noGrp="1"/>
          </p:cNvSpPr>
          <p:nvPr>
            <p:ph type="title"/>
          </p:nvPr>
        </p:nvSpPr>
        <p:spPr>
          <a:xfrm>
            <a:off x="630936" y="640080"/>
            <a:ext cx="4818888" cy="1481328"/>
          </a:xfrm>
        </p:spPr>
        <p:txBody>
          <a:bodyPr anchor="b">
            <a:normAutofit/>
          </a:bodyPr>
          <a:lstStyle/>
          <a:p>
            <a:r>
              <a:rPr lang="en-US" sz="5000"/>
              <a:t>Theory of Binary Batch Distillation</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D7D2E3-59C6-C11E-D218-8A279368D12B}"/>
              </a:ext>
            </a:extLst>
          </p:cNvPr>
          <p:cNvSpPr>
            <a:spLocks noGrp="1"/>
          </p:cNvSpPr>
          <p:nvPr>
            <p:ph idx="1"/>
          </p:nvPr>
        </p:nvSpPr>
        <p:spPr>
          <a:xfrm>
            <a:off x="637233" y="2660904"/>
            <a:ext cx="5920954" cy="3547872"/>
          </a:xfrm>
        </p:spPr>
        <p:txBody>
          <a:bodyPr vert="horz" lIns="91440" tIns="45720" rIns="91440" bIns="45720" rtlCol="0" anchor="t">
            <a:noAutofit/>
          </a:bodyPr>
          <a:lstStyle/>
          <a:p>
            <a:r>
              <a:rPr lang="en-US" sz="1400" dirty="0"/>
              <a:t>Distillation is a common unit operation used in industry to separate components based on volatility. It works because when heat is added to a solution, more volatile components separate through evaporation. As heat is increased more of the volatile components will separate out.</a:t>
            </a:r>
          </a:p>
          <a:p>
            <a:r>
              <a:rPr lang="en-US" sz="1400" dirty="0"/>
              <a:t>This separation process can be made more efficient &amp; effective by adding a column with stages for vapor and liquid to interact. In this column, some liquid (condensate) is being recycled downward and vapor is flowing upward. Each stage in the column will act as an equilibrium point where mass transfer can occur; also heat. This provides further separation and creates mini distillation steps in the column that aid in purer distillate and bottoms. </a:t>
            </a:r>
          </a:p>
          <a:p>
            <a:r>
              <a:rPr lang="en-US" sz="1400" dirty="0"/>
              <a:t>Further control over efficiency and effectiveness can be implemented through a concept called "reflux ratio". This ratio determines how much liquid is returning to the system to be further purified. A balance must be found with this ratio as there are economic &amp; sustainability trade-offs for it being too high or too low.  </a:t>
            </a:r>
          </a:p>
          <a:p>
            <a:endParaRPr lang="en-US" sz="1400" dirty="0"/>
          </a:p>
        </p:txBody>
      </p:sp>
      <p:pic>
        <p:nvPicPr>
          <p:cNvPr id="4" name="Picture 3" descr="Diagram of a distillation column&#10;&#10;AI-generated content may be incorrect.">
            <a:extLst>
              <a:ext uri="{FF2B5EF4-FFF2-40B4-BE49-F238E27FC236}">
                <a16:creationId xmlns:a16="http://schemas.microsoft.com/office/drawing/2014/main" id="{062E33FF-4A05-8A66-E591-1FC126B445EB}"/>
              </a:ext>
            </a:extLst>
          </p:cNvPr>
          <p:cNvPicPr>
            <a:picLocks noChangeAspect="1"/>
          </p:cNvPicPr>
          <p:nvPr/>
        </p:nvPicPr>
        <p:blipFill>
          <a:blip r:embed="rId3"/>
          <a:stretch>
            <a:fillRect/>
          </a:stretch>
        </p:blipFill>
        <p:spPr>
          <a:xfrm>
            <a:off x="6735098" y="1712006"/>
            <a:ext cx="5458968" cy="3862219"/>
          </a:xfrm>
          <a:prstGeom prst="rect">
            <a:avLst/>
          </a:prstGeom>
        </p:spPr>
      </p:pic>
    </p:spTree>
    <p:extLst>
      <p:ext uri="{BB962C8B-B14F-4D97-AF65-F5344CB8AC3E}">
        <p14:creationId xmlns:p14="http://schemas.microsoft.com/office/powerpoint/2010/main" val="567560471"/>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02472DE8-E58B-4D56-BA61-C69C601DC7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0183ACFC-B25E-402F-BBD8-E42034CDD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76818"/>
          </a:xfrm>
          <a:custGeom>
            <a:avLst/>
            <a:gdLst>
              <a:gd name="connsiteX0" fmla="*/ 0 w 12192000"/>
              <a:gd name="connsiteY0" fmla="*/ 0 h 2237474"/>
              <a:gd name="connsiteX1" fmla="*/ 12192000 w 12192000"/>
              <a:gd name="connsiteY1" fmla="*/ 0 h 2237474"/>
              <a:gd name="connsiteX2" fmla="*/ 12192000 w 12192000"/>
              <a:gd name="connsiteY2" fmla="*/ 751299 h 2237474"/>
              <a:gd name="connsiteX3" fmla="*/ 12176759 w 12192000"/>
              <a:gd name="connsiteY3" fmla="*/ 759190 h 2237474"/>
              <a:gd name="connsiteX4" fmla="*/ 12154948 w 12192000"/>
              <a:gd name="connsiteY4" fmla="*/ 762731 h 2237474"/>
              <a:gd name="connsiteX5" fmla="*/ 12047364 w 12192000"/>
              <a:gd name="connsiteY5" fmla="*/ 749662 h 2237474"/>
              <a:gd name="connsiteX6" fmla="*/ 11890686 w 12192000"/>
              <a:gd name="connsiteY6" fmla="*/ 732766 h 2237474"/>
              <a:gd name="connsiteX7" fmla="*/ 11782413 w 12192000"/>
              <a:gd name="connsiteY7" fmla="*/ 769868 h 2237474"/>
              <a:gd name="connsiteX8" fmla="*/ 11649954 w 12192000"/>
              <a:gd name="connsiteY8" fmla="*/ 749628 h 2237474"/>
              <a:gd name="connsiteX9" fmla="*/ 11560424 w 12192000"/>
              <a:gd name="connsiteY9" fmla="*/ 748017 h 2237474"/>
              <a:gd name="connsiteX10" fmla="*/ 11358455 w 12192000"/>
              <a:gd name="connsiteY10" fmla="*/ 747593 h 2237474"/>
              <a:gd name="connsiteX11" fmla="*/ 11165209 w 12192000"/>
              <a:gd name="connsiteY11" fmla="*/ 748852 h 2237474"/>
              <a:gd name="connsiteX12" fmla="*/ 11058755 w 12192000"/>
              <a:gd name="connsiteY12" fmla="*/ 749617 h 2237474"/>
              <a:gd name="connsiteX13" fmla="*/ 10884013 w 12192000"/>
              <a:gd name="connsiteY13" fmla="*/ 760728 h 2237474"/>
              <a:gd name="connsiteX14" fmla="*/ 10834688 w 12192000"/>
              <a:gd name="connsiteY14" fmla="*/ 757726 h 2237474"/>
              <a:gd name="connsiteX15" fmla="*/ 10805004 w 12192000"/>
              <a:gd name="connsiteY15" fmla="*/ 757573 h 2237474"/>
              <a:gd name="connsiteX16" fmla="*/ 10739478 w 12192000"/>
              <a:gd name="connsiteY16" fmla="*/ 776841 h 2237474"/>
              <a:gd name="connsiteX17" fmla="*/ 10458762 w 12192000"/>
              <a:gd name="connsiteY17" fmla="*/ 755400 h 2237474"/>
              <a:gd name="connsiteX18" fmla="*/ 10246919 w 12192000"/>
              <a:gd name="connsiteY18" fmla="*/ 769960 h 2237474"/>
              <a:gd name="connsiteX19" fmla="*/ 10167995 w 12192000"/>
              <a:gd name="connsiteY19" fmla="*/ 760843 h 2237474"/>
              <a:gd name="connsiteX20" fmla="*/ 9997044 w 12192000"/>
              <a:gd name="connsiteY20" fmla="*/ 780129 h 2237474"/>
              <a:gd name="connsiteX21" fmla="*/ 9943887 w 12192000"/>
              <a:gd name="connsiteY21" fmla="*/ 804141 h 2237474"/>
              <a:gd name="connsiteX22" fmla="*/ 9918248 w 12192000"/>
              <a:gd name="connsiteY22" fmla="*/ 816628 h 2237474"/>
              <a:gd name="connsiteX23" fmla="*/ 9836148 w 12192000"/>
              <a:gd name="connsiteY23" fmla="*/ 858312 h 2237474"/>
              <a:gd name="connsiteX24" fmla="*/ 9823800 w 12192000"/>
              <a:gd name="connsiteY24" fmla="*/ 866604 h 2237474"/>
              <a:gd name="connsiteX25" fmla="*/ 9794684 w 12192000"/>
              <a:gd name="connsiteY25" fmla="*/ 864509 h 2237474"/>
              <a:gd name="connsiteX26" fmla="*/ 9778288 w 12192000"/>
              <a:gd name="connsiteY26" fmla="*/ 854362 h 2237474"/>
              <a:gd name="connsiteX27" fmla="*/ 9773886 w 12192000"/>
              <a:gd name="connsiteY27" fmla="*/ 857543 h 2237474"/>
              <a:gd name="connsiteX28" fmla="*/ 9761459 w 12192000"/>
              <a:gd name="connsiteY28" fmla="*/ 862394 h 2237474"/>
              <a:gd name="connsiteX29" fmla="*/ 9705768 w 12192000"/>
              <a:gd name="connsiteY29" fmla="*/ 894610 h 2237474"/>
              <a:gd name="connsiteX30" fmla="*/ 9683005 w 12192000"/>
              <a:gd name="connsiteY30" fmla="*/ 894128 h 2237474"/>
              <a:gd name="connsiteX31" fmla="*/ 9594438 w 12192000"/>
              <a:gd name="connsiteY31" fmla="*/ 919051 h 2237474"/>
              <a:gd name="connsiteX32" fmla="*/ 9577033 w 12192000"/>
              <a:gd name="connsiteY32" fmla="*/ 922857 h 2237474"/>
              <a:gd name="connsiteX33" fmla="*/ 9544189 w 12192000"/>
              <a:gd name="connsiteY33" fmla="*/ 938966 h 2237474"/>
              <a:gd name="connsiteX34" fmla="*/ 9534048 w 12192000"/>
              <a:gd name="connsiteY34" fmla="*/ 940158 h 2237474"/>
              <a:gd name="connsiteX35" fmla="*/ 9500499 w 12192000"/>
              <a:gd name="connsiteY35" fmla="*/ 954680 h 2237474"/>
              <a:gd name="connsiteX36" fmla="*/ 9428195 w 12192000"/>
              <a:gd name="connsiteY36" fmla="*/ 986225 h 2237474"/>
              <a:gd name="connsiteX37" fmla="*/ 9410017 w 12192000"/>
              <a:gd name="connsiteY37" fmla="*/ 993931 h 2237474"/>
              <a:gd name="connsiteX38" fmla="*/ 9392919 w 12192000"/>
              <a:gd name="connsiteY38" fmla="*/ 994656 h 2237474"/>
              <a:gd name="connsiteX39" fmla="*/ 9301293 w 12192000"/>
              <a:gd name="connsiteY39" fmla="*/ 1011593 h 2237474"/>
              <a:gd name="connsiteX40" fmla="*/ 9278619 w 12192000"/>
              <a:gd name="connsiteY40" fmla="*/ 1011878 h 2237474"/>
              <a:gd name="connsiteX41" fmla="*/ 9268019 w 12192000"/>
              <a:gd name="connsiteY41" fmla="*/ 1007442 h 2237474"/>
              <a:gd name="connsiteX42" fmla="*/ 9234662 w 12192000"/>
              <a:gd name="connsiteY42" fmla="*/ 1023056 h 2237474"/>
              <a:gd name="connsiteX43" fmla="*/ 9181033 w 12192000"/>
              <a:gd name="connsiteY43" fmla="*/ 1037921 h 2237474"/>
              <a:gd name="connsiteX44" fmla="*/ 9155969 w 12192000"/>
              <a:gd name="connsiteY44" fmla="*/ 1046804 h 2237474"/>
              <a:gd name="connsiteX45" fmla="*/ 9133985 w 12192000"/>
              <a:gd name="connsiteY45" fmla="*/ 1046450 h 2237474"/>
              <a:gd name="connsiteX46" fmla="*/ 9012987 w 12192000"/>
              <a:gd name="connsiteY46" fmla="*/ 1061986 h 2237474"/>
              <a:gd name="connsiteX47" fmla="*/ 8968445 w 12192000"/>
              <a:gd name="connsiteY47" fmla="*/ 1052169 h 2237474"/>
              <a:gd name="connsiteX48" fmla="*/ 8958984 w 12192000"/>
              <a:gd name="connsiteY48" fmla="*/ 1057212 h 2237474"/>
              <a:gd name="connsiteX49" fmla="*/ 8886001 w 12192000"/>
              <a:gd name="connsiteY49" fmla="*/ 1067468 h 2237474"/>
              <a:gd name="connsiteX50" fmla="*/ 8838610 w 12192000"/>
              <a:gd name="connsiteY50" fmla="*/ 1075091 h 2237474"/>
              <a:gd name="connsiteX51" fmla="*/ 8750383 w 12192000"/>
              <a:gd name="connsiteY51" fmla="*/ 1097387 h 2237474"/>
              <a:gd name="connsiteX52" fmla="*/ 8697365 w 12192000"/>
              <a:gd name="connsiteY52" fmla="*/ 1105869 h 2237474"/>
              <a:gd name="connsiteX53" fmla="*/ 8665605 w 12192000"/>
              <a:gd name="connsiteY53" fmla="*/ 1110791 h 2237474"/>
              <a:gd name="connsiteX54" fmla="*/ 8584946 w 12192000"/>
              <a:gd name="connsiteY54" fmla="*/ 1135226 h 2237474"/>
              <a:gd name="connsiteX55" fmla="*/ 8460755 w 12192000"/>
              <a:gd name="connsiteY55" fmla="*/ 1203427 h 2237474"/>
              <a:gd name="connsiteX56" fmla="*/ 8419755 w 12192000"/>
              <a:gd name="connsiteY56" fmla="*/ 1216260 h 2237474"/>
              <a:gd name="connsiteX57" fmla="*/ 8411626 w 12192000"/>
              <a:gd name="connsiteY57" fmla="*/ 1214397 h 2237474"/>
              <a:gd name="connsiteX58" fmla="*/ 8363469 w 12192000"/>
              <a:gd name="connsiteY58" fmla="*/ 1246658 h 2237474"/>
              <a:gd name="connsiteX59" fmla="*/ 8275497 w 12192000"/>
              <a:gd name="connsiteY59" fmla="*/ 1264396 h 2237474"/>
              <a:gd name="connsiteX60" fmla="*/ 8206287 w 12192000"/>
              <a:gd name="connsiteY60" fmla="*/ 1273060 h 2237474"/>
              <a:gd name="connsiteX61" fmla="*/ 8168705 w 12192000"/>
              <a:gd name="connsiteY61" fmla="*/ 1279956 h 2237474"/>
              <a:gd name="connsiteX62" fmla="*/ 8139997 w 12192000"/>
              <a:gd name="connsiteY62" fmla="*/ 1282713 h 2237474"/>
              <a:gd name="connsiteX63" fmla="*/ 8074238 w 12192000"/>
              <a:gd name="connsiteY63" fmla="*/ 1301895 h 2237474"/>
              <a:gd name="connsiteX64" fmla="*/ 7968292 w 12192000"/>
              <a:gd name="connsiteY64" fmla="*/ 1338779 h 2237474"/>
              <a:gd name="connsiteX65" fmla="*/ 7945122 w 12192000"/>
              <a:gd name="connsiteY65" fmla="*/ 1345477 h 2237474"/>
              <a:gd name="connsiteX66" fmla="*/ 7922771 w 12192000"/>
              <a:gd name="connsiteY66" fmla="*/ 1346645 h 2237474"/>
              <a:gd name="connsiteX67" fmla="*/ 7915461 w 12192000"/>
              <a:gd name="connsiteY67" fmla="*/ 1342919 h 2237474"/>
              <a:gd name="connsiteX68" fmla="*/ 7902328 w 12192000"/>
              <a:gd name="connsiteY68" fmla="*/ 1345865 h 2237474"/>
              <a:gd name="connsiteX69" fmla="*/ 7898322 w 12192000"/>
              <a:gd name="connsiteY69" fmla="*/ 1345689 h 2237474"/>
              <a:gd name="connsiteX70" fmla="*/ 7875879 w 12192000"/>
              <a:gd name="connsiteY70" fmla="*/ 1345646 h 2237474"/>
              <a:gd name="connsiteX71" fmla="*/ 7840612 w 12192000"/>
              <a:gd name="connsiteY71" fmla="*/ 1369373 h 2237474"/>
              <a:gd name="connsiteX72" fmla="*/ 7786819 w 12192000"/>
              <a:gd name="connsiteY72" fmla="*/ 1378970 h 2237474"/>
              <a:gd name="connsiteX73" fmla="*/ 7548172 w 12192000"/>
              <a:gd name="connsiteY73" fmla="*/ 1417460 h 2237474"/>
              <a:gd name="connsiteX74" fmla="*/ 7483437 w 12192000"/>
              <a:gd name="connsiteY74" fmla="*/ 1478152 h 2237474"/>
              <a:gd name="connsiteX75" fmla="*/ 7377870 w 12192000"/>
              <a:gd name="connsiteY75" fmla="*/ 1523319 h 2237474"/>
              <a:gd name="connsiteX76" fmla="*/ 7230737 w 12192000"/>
              <a:gd name="connsiteY76" fmla="*/ 1562633 h 2237474"/>
              <a:gd name="connsiteX77" fmla="*/ 7224458 w 12192000"/>
              <a:gd name="connsiteY77" fmla="*/ 1573008 h 2237474"/>
              <a:gd name="connsiteX78" fmla="*/ 7213486 w 12192000"/>
              <a:gd name="connsiteY78" fmla="*/ 1580987 h 2237474"/>
              <a:gd name="connsiteX79" fmla="*/ 7210972 w 12192000"/>
              <a:gd name="connsiteY79" fmla="*/ 1580856 h 2237474"/>
              <a:gd name="connsiteX80" fmla="*/ 7183121 w 12192000"/>
              <a:gd name="connsiteY80" fmla="*/ 1595162 h 2237474"/>
              <a:gd name="connsiteX81" fmla="*/ 7164601 w 12192000"/>
              <a:gd name="connsiteY81" fmla="*/ 1606490 h 2237474"/>
              <a:gd name="connsiteX82" fmla="*/ 7159286 w 12192000"/>
              <a:gd name="connsiteY82" fmla="*/ 1606850 h 2237474"/>
              <a:gd name="connsiteX83" fmla="*/ 7114651 w 12192000"/>
              <a:gd name="connsiteY83" fmla="*/ 1620959 h 2237474"/>
              <a:gd name="connsiteX84" fmla="*/ 7092727 w 12192000"/>
              <a:gd name="connsiteY84" fmla="*/ 1623628 h 2237474"/>
              <a:gd name="connsiteX85" fmla="*/ 7031309 w 12192000"/>
              <a:gd name="connsiteY85" fmla="*/ 1619451 h 2237474"/>
              <a:gd name="connsiteX86" fmla="*/ 6999084 w 12192000"/>
              <a:gd name="connsiteY86" fmla="*/ 1634317 h 2237474"/>
              <a:gd name="connsiteX87" fmla="*/ 6992107 w 12192000"/>
              <a:gd name="connsiteY87" fmla="*/ 1636860 h 2237474"/>
              <a:gd name="connsiteX88" fmla="*/ 6991765 w 12192000"/>
              <a:gd name="connsiteY88" fmla="*/ 1636725 h 2237474"/>
              <a:gd name="connsiteX89" fmla="*/ 6983996 w 12192000"/>
              <a:gd name="connsiteY89" fmla="*/ 1639040 h 2237474"/>
              <a:gd name="connsiteX90" fmla="*/ 6979383 w 12192000"/>
              <a:gd name="connsiteY90" fmla="*/ 1641496 h 2237474"/>
              <a:gd name="connsiteX91" fmla="*/ 6900177 w 12192000"/>
              <a:gd name="connsiteY91" fmla="*/ 1636016 h 2237474"/>
              <a:gd name="connsiteX92" fmla="*/ 6795372 w 12192000"/>
              <a:gd name="connsiteY92" fmla="*/ 1644845 h 2237474"/>
              <a:gd name="connsiteX93" fmla="*/ 6692251 w 12192000"/>
              <a:gd name="connsiteY93" fmla="*/ 1656357 h 2237474"/>
              <a:gd name="connsiteX94" fmla="*/ 6655235 w 12192000"/>
              <a:gd name="connsiteY94" fmla="*/ 1661869 h 2237474"/>
              <a:gd name="connsiteX95" fmla="*/ 6587857 w 12192000"/>
              <a:gd name="connsiteY95" fmla="*/ 1665769 h 2237474"/>
              <a:gd name="connsiteX96" fmla="*/ 6554894 w 12192000"/>
              <a:gd name="connsiteY96" fmla="*/ 1664428 h 2237474"/>
              <a:gd name="connsiteX97" fmla="*/ 6551579 w 12192000"/>
              <a:gd name="connsiteY97" fmla="*/ 1662213 h 2237474"/>
              <a:gd name="connsiteX98" fmla="*/ 6545693 w 12192000"/>
              <a:gd name="connsiteY98" fmla="*/ 1661776 h 2237474"/>
              <a:gd name="connsiteX99" fmla="*/ 6530561 w 12192000"/>
              <a:gd name="connsiteY99" fmla="*/ 1664619 h 2237474"/>
              <a:gd name="connsiteX100" fmla="*/ 6525028 w 12192000"/>
              <a:gd name="connsiteY100" fmla="*/ 1666354 h 2237474"/>
              <a:gd name="connsiteX101" fmla="*/ 6516595 w 12192000"/>
              <a:gd name="connsiteY101" fmla="*/ 1667475 h 2237474"/>
              <a:gd name="connsiteX102" fmla="*/ 6516340 w 12192000"/>
              <a:gd name="connsiteY102" fmla="*/ 1667291 h 2237474"/>
              <a:gd name="connsiteX103" fmla="*/ 6508541 w 12192000"/>
              <a:gd name="connsiteY103" fmla="*/ 1668757 h 2237474"/>
              <a:gd name="connsiteX104" fmla="*/ 6471012 w 12192000"/>
              <a:gd name="connsiteY104" fmla="*/ 1678604 h 2237474"/>
              <a:gd name="connsiteX105" fmla="*/ 6415265 w 12192000"/>
              <a:gd name="connsiteY105" fmla="*/ 1665317 h 2237474"/>
              <a:gd name="connsiteX106" fmla="*/ 6393343 w 12192000"/>
              <a:gd name="connsiteY106" fmla="*/ 1664672 h 2237474"/>
              <a:gd name="connsiteX107" fmla="*/ 6380457 w 12192000"/>
              <a:gd name="connsiteY107" fmla="*/ 1662376 h 2237474"/>
              <a:gd name="connsiteX108" fmla="*/ 6280959 w 12192000"/>
              <a:gd name="connsiteY108" fmla="*/ 1689329 h 2237474"/>
              <a:gd name="connsiteX109" fmla="*/ 6266765 w 12192000"/>
              <a:gd name="connsiteY109" fmla="*/ 1695560 h 2237474"/>
              <a:gd name="connsiteX110" fmla="*/ 6255823 w 12192000"/>
              <a:gd name="connsiteY110" fmla="*/ 1704850 h 2237474"/>
              <a:gd name="connsiteX111" fmla="*/ 6098321 w 12192000"/>
              <a:gd name="connsiteY111" fmla="*/ 1721646 h 2237474"/>
              <a:gd name="connsiteX112" fmla="*/ 5880652 w 12192000"/>
              <a:gd name="connsiteY112" fmla="*/ 1779643 h 2237474"/>
              <a:gd name="connsiteX113" fmla="*/ 5785959 w 12192000"/>
              <a:gd name="connsiteY113" fmla="*/ 1775307 h 2237474"/>
              <a:gd name="connsiteX114" fmla="*/ 5643534 w 12192000"/>
              <a:gd name="connsiteY114" fmla="*/ 1802919 h 2237474"/>
              <a:gd name="connsiteX115" fmla="*/ 5518799 w 12192000"/>
              <a:gd name="connsiteY115" fmla="*/ 1818312 h 2237474"/>
              <a:gd name="connsiteX116" fmla="*/ 5505014 w 12192000"/>
              <a:gd name="connsiteY116" fmla="*/ 1819259 h 2237474"/>
              <a:gd name="connsiteX117" fmla="*/ 5499949 w 12192000"/>
              <a:gd name="connsiteY117" fmla="*/ 1814490 h 2237474"/>
              <a:gd name="connsiteX118" fmla="*/ 5453307 w 12192000"/>
              <a:gd name="connsiteY118" fmla="*/ 1815450 h 2237474"/>
              <a:gd name="connsiteX119" fmla="*/ 5364192 w 12192000"/>
              <a:gd name="connsiteY119" fmla="*/ 1826074 h 2237474"/>
              <a:gd name="connsiteX120" fmla="*/ 5350380 w 12192000"/>
              <a:gd name="connsiteY120" fmla="*/ 1830891 h 2237474"/>
              <a:gd name="connsiteX121" fmla="*/ 5259633 w 12192000"/>
              <a:gd name="connsiteY121" fmla="*/ 1837160 h 2237474"/>
              <a:gd name="connsiteX122" fmla="*/ 5197513 w 12192000"/>
              <a:gd name="connsiteY122" fmla="*/ 1844718 h 2237474"/>
              <a:gd name="connsiteX123" fmla="*/ 5184170 w 12192000"/>
              <a:gd name="connsiteY123" fmla="*/ 1849402 h 2237474"/>
              <a:gd name="connsiteX124" fmla="*/ 5168852 w 12192000"/>
              <a:gd name="connsiteY124" fmla="*/ 1844846 h 2237474"/>
              <a:gd name="connsiteX125" fmla="*/ 5164370 w 12192000"/>
              <a:gd name="connsiteY125" fmla="*/ 1840597 h 2237474"/>
              <a:gd name="connsiteX126" fmla="*/ 5114927 w 12192000"/>
              <a:gd name="connsiteY126" fmla="*/ 1847827 h 2237474"/>
              <a:gd name="connsiteX127" fmla="*/ 5108970 w 12192000"/>
              <a:gd name="connsiteY127" fmla="*/ 1847935 h 2237474"/>
              <a:gd name="connsiteX128" fmla="*/ 5067961 w 12192000"/>
              <a:gd name="connsiteY128" fmla="*/ 1845917 h 2237474"/>
              <a:gd name="connsiteX129" fmla="*/ 5007075 w 12192000"/>
              <a:gd name="connsiteY129" fmla="*/ 1838626 h 2237474"/>
              <a:gd name="connsiteX130" fmla="*/ 4944087 w 12192000"/>
              <a:gd name="connsiteY130" fmla="*/ 1823332 h 2237474"/>
              <a:gd name="connsiteX131" fmla="*/ 4907662 w 12192000"/>
              <a:gd name="connsiteY131" fmla="*/ 1816900 h 2237474"/>
              <a:gd name="connsiteX132" fmla="*/ 4882386 w 12192000"/>
              <a:gd name="connsiteY132" fmla="*/ 1809844 h 2237474"/>
              <a:gd name="connsiteX133" fmla="*/ 4811440 w 12192000"/>
              <a:gd name="connsiteY133" fmla="*/ 1804655 h 2237474"/>
              <a:gd name="connsiteX134" fmla="*/ 4691075 w 12192000"/>
              <a:gd name="connsiteY134" fmla="*/ 1801389 h 2237474"/>
              <a:gd name="connsiteX135" fmla="*/ 4647449 w 12192000"/>
              <a:gd name="connsiteY135" fmla="*/ 1793181 h 2237474"/>
              <a:gd name="connsiteX136" fmla="*/ 4645504 w 12192000"/>
              <a:gd name="connsiteY136" fmla="*/ 1787606 h 2237474"/>
              <a:gd name="connsiteX137" fmla="*/ 4632229 w 12192000"/>
              <a:gd name="connsiteY137" fmla="*/ 1785815 h 2237474"/>
              <a:gd name="connsiteX138" fmla="*/ 4629273 w 12192000"/>
              <a:gd name="connsiteY138" fmla="*/ 1784355 h 2237474"/>
              <a:gd name="connsiteX139" fmla="*/ 4611738 w 12192000"/>
              <a:gd name="connsiteY139" fmla="*/ 1776964 h 2237474"/>
              <a:gd name="connsiteX140" fmla="*/ 4560070 w 12192000"/>
              <a:gd name="connsiteY140" fmla="*/ 1785640 h 2237474"/>
              <a:gd name="connsiteX141" fmla="*/ 4536503 w 12192000"/>
              <a:gd name="connsiteY141" fmla="*/ 1785334 h 2237474"/>
              <a:gd name="connsiteX142" fmla="*/ 4513724 w 12192000"/>
              <a:gd name="connsiteY142" fmla="*/ 1791996 h 2237474"/>
              <a:gd name="connsiteX143" fmla="*/ 4501513 w 12192000"/>
              <a:gd name="connsiteY143" fmla="*/ 1799835 h 2237474"/>
              <a:gd name="connsiteX144" fmla="*/ 4459076 w 12192000"/>
              <a:gd name="connsiteY144" fmla="*/ 1813003 h 2237474"/>
              <a:gd name="connsiteX145" fmla="*/ 4459810 w 12192000"/>
              <a:gd name="connsiteY145" fmla="*/ 1797886 h 2237474"/>
              <a:gd name="connsiteX146" fmla="*/ 4379064 w 12192000"/>
              <a:gd name="connsiteY146" fmla="*/ 1817177 h 2237474"/>
              <a:gd name="connsiteX147" fmla="*/ 4319209 w 12192000"/>
              <a:gd name="connsiteY147" fmla="*/ 1834833 h 2237474"/>
              <a:gd name="connsiteX148" fmla="*/ 4306907 w 12192000"/>
              <a:gd name="connsiteY148" fmla="*/ 1841641 h 2237474"/>
              <a:gd name="connsiteX149" fmla="*/ 4290981 w 12192000"/>
              <a:gd name="connsiteY149" fmla="*/ 1839677 h 2237474"/>
              <a:gd name="connsiteX150" fmla="*/ 4285792 w 12192000"/>
              <a:gd name="connsiteY150" fmla="*/ 1836231 h 2237474"/>
              <a:gd name="connsiteX151" fmla="*/ 4238372 w 12192000"/>
              <a:gd name="connsiteY151" fmla="*/ 1851480 h 2237474"/>
              <a:gd name="connsiteX152" fmla="*/ 4232517 w 12192000"/>
              <a:gd name="connsiteY152" fmla="*/ 1852567 h 2237474"/>
              <a:gd name="connsiteX153" fmla="*/ 4191732 w 12192000"/>
              <a:gd name="connsiteY153" fmla="*/ 1857328 h 2237474"/>
              <a:gd name="connsiteX154" fmla="*/ 4065532 w 12192000"/>
              <a:gd name="connsiteY154" fmla="*/ 1855477 h 2237474"/>
              <a:gd name="connsiteX155" fmla="*/ 4028460 w 12192000"/>
              <a:gd name="connsiteY155" fmla="*/ 1855137 h 2237474"/>
              <a:gd name="connsiteX156" fmla="*/ 4002267 w 12192000"/>
              <a:gd name="connsiteY156" fmla="*/ 1852352 h 2237474"/>
              <a:gd name="connsiteX157" fmla="*/ 3931396 w 12192000"/>
              <a:gd name="connsiteY157" fmla="*/ 1858915 h 2237474"/>
              <a:gd name="connsiteX158" fmla="*/ 3812162 w 12192000"/>
              <a:gd name="connsiteY158" fmla="*/ 1875501 h 2237474"/>
              <a:gd name="connsiteX159" fmla="*/ 3767672 w 12192000"/>
              <a:gd name="connsiteY159" fmla="*/ 1874600 h 2237474"/>
              <a:gd name="connsiteX160" fmla="*/ 3764741 w 12192000"/>
              <a:gd name="connsiteY160" fmla="*/ 1869433 h 2237474"/>
              <a:gd name="connsiteX161" fmla="*/ 3751332 w 12192000"/>
              <a:gd name="connsiteY161" fmla="*/ 1869854 h 2237474"/>
              <a:gd name="connsiteX162" fmla="*/ 3748155 w 12192000"/>
              <a:gd name="connsiteY162" fmla="*/ 1868903 h 2237474"/>
              <a:gd name="connsiteX163" fmla="*/ 3729530 w 12192000"/>
              <a:gd name="connsiteY163" fmla="*/ 1864513 h 2237474"/>
              <a:gd name="connsiteX164" fmla="*/ 3680177 w 12192000"/>
              <a:gd name="connsiteY164" fmla="*/ 1881552 h 2237474"/>
              <a:gd name="connsiteX165" fmla="*/ 3567259 w 12192000"/>
              <a:gd name="connsiteY165" fmla="*/ 1893482 h 2237474"/>
              <a:gd name="connsiteX166" fmla="*/ 3405770 w 12192000"/>
              <a:gd name="connsiteY166" fmla="*/ 1904591 h 2237474"/>
              <a:gd name="connsiteX167" fmla="*/ 3280097 w 12192000"/>
              <a:gd name="connsiteY167" fmla="*/ 1919610 h 2237474"/>
              <a:gd name="connsiteX168" fmla="*/ 3123424 w 12192000"/>
              <a:gd name="connsiteY168" fmla="*/ 1952930 h 2237474"/>
              <a:gd name="connsiteX169" fmla="*/ 3009910 w 12192000"/>
              <a:gd name="connsiteY169" fmla="*/ 1957866 h 2237474"/>
              <a:gd name="connsiteX170" fmla="*/ 2995934 w 12192000"/>
              <a:gd name="connsiteY170" fmla="*/ 1967085 h 2237474"/>
              <a:gd name="connsiteX171" fmla="*/ 2980071 w 12192000"/>
              <a:gd name="connsiteY171" fmla="*/ 1972988 h 2237474"/>
              <a:gd name="connsiteX172" fmla="*/ 2978094 w 12192000"/>
              <a:gd name="connsiteY172" fmla="*/ 1972369 h 2237474"/>
              <a:gd name="connsiteX173" fmla="*/ 2942858 w 12192000"/>
              <a:gd name="connsiteY173" fmla="*/ 1981367 h 2237474"/>
              <a:gd name="connsiteX174" fmla="*/ 2875436 w 12192000"/>
              <a:gd name="connsiteY174" fmla="*/ 1996977 h 2237474"/>
              <a:gd name="connsiteX175" fmla="*/ 2874892 w 12192000"/>
              <a:gd name="connsiteY175" fmla="*/ 1996085 h 2237474"/>
              <a:gd name="connsiteX176" fmla="*/ 2864145 w 12192000"/>
              <a:gd name="connsiteY176" fmla="*/ 1994061 h 2237474"/>
              <a:gd name="connsiteX177" fmla="*/ 2843662 w 12192000"/>
              <a:gd name="connsiteY177" fmla="*/ 1992498 h 2237474"/>
              <a:gd name="connsiteX178" fmla="*/ 2796128 w 12192000"/>
              <a:gd name="connsiteY178" fmla="*/ 1976403 h 2237474"/>
              <a:gd name="connsiteX179" fmla="*/ 2756784 w 12192000"/>
              <a:gd name="connsiteY179" fmla="*/ 1985116 h 2237474"/>
              <a:gd name="connsiteX180" fmla="*/ 2748833 w 12192000"/>
              <a:gd name="connsiteY180" fmla="*/ 1986323 h 2237474"/>
              <a:gd name="connsiteX181" fmla="*/ 2748661 w 12192000"/>
              <a:gd name="connsiteY181" fmla="*/ 1986122 h 2237474"/>
              <a:gd name="connsiteX182" fmla="*/ 2740251 w 12192000"/>
              <a:gd name="connsiteY182" fmla="*/ 1986946 h 2237474"/>
              <a:gd name="connsiteX183" fmla="*/ 2718916 w 12192000"/>
              <a:gd name="connsiteY183" fmla="*/ 1990867 h 2237474"/>
              <a:gd name="connsiteX184" fmla="*/ 2713522 w 12192000"/>
              <a:gd name="connsiteY184" fmla="*/ 1990173 h 2237474"/>
              <a:gd name="connsiteX185" fmla="*/ 2680597 w 12192000"/>
              <a:gd name="connsiteY185" fmla="*/ 1984996 h 2237474"/>
              <a:gd name="connsiteX186" fmla="*/ 2578178 w 12192000"/>
              <a:gd name="connsiteY186" fmla="*/ 1990531 h 2237474"/>
              <a:gd name="connsiteX187" fmla="*/ 2476147 w 12192000"/>
              <a:gd name="connsiteY187" fmla="*/ 1998305 h 2237474"/>
              <a:gd name="connsiteX188" fmla="*/ 2373568 w 12192000"/>
              <a:gd name="connsiteY188" fmla="*/ 2003219 h 2237474"/>
              <a:gd name="connsiteX189" fmla="*/ 2321399 w 12192000"/>
              <a:gd name="connsiteY189" fmla="*/ 1989467 h 2237474"/>
              <a:gd name="connsiteX190" fmla="*/ 2315525 w 12192000"/>
              <a:gd name="connsiteY190" fmla="*/ 1989708 h 2237474"/>
              <a:gd name="connsiteX191" fmla="*/ 2300792 w 12192000"/>
              <a:gd name="connsiteY191" fmla="*/ 1994290 h 2237474"/>
              <a:gd name="connsiteX192" fmla="*/ 2295469 w 12192000"/>
              <a:gd name="connsiteY192" fmla="*/ 1996659 h 2237474"/>
              <a:gd name="connsiteX193" fmla="*/ 2287219 w 12192000"/>
              <a:gd name="connsiteY193" fmla="*/ 1998750 h 2237474"/>
              <a:gd name="connsiteX194" fmla="*/ 2286948 w 12192000"/>
              <a:gd name="connsiteY194" fmla="*/ 1998596 h 2237474"/>
              <a:gd name="connsiteX195" fmla="*/ 2243069 w 12192000"/>
              <a:gd name="connsiteY195" fmla="*/ 2015111 h 2237474"/>
              <a:gd name="connsiteX196" fmla="*/ 2186609 w 12192000"/>
              <a:gd name="connsiteY196" fmla="*/ 2008263 h 2237474"/>
              <a:gd name="connsiteX197" fmla="*/ 2164831 w 12192000"/>
              <a:gd name="connsiteY197" fmla="*/ 2010143 h 2237474"/>
              <a:gd name="connsiteX198" fmla="*/ 2152836 w 12192000"/>
              <a:gd name="connsiteY198" fmla="*/ 2010048 h 2237474"/>
              <a:gd name="connsiteX199" fmla="*/ 2117102 w 12192000"/>
              <a:gd name="connsiteY199" fmla="*/ 2023004 h 2237474"/>
              <a:gd name="connsiteX200" fmla="*/ 2111935 w 12192000"/>
              <a:gd name="connsiteY200" fmla="*/ 2023163 h 2237474"/>
              <a:gd name="connsiteX201" fmla="*/ 2089991 w 12192000"/>
              <a:gd name="connsiteY201" fmla="*/ 2034193 h 2237474"/>
              <a:gd name="connsiteX202" fmla="*/ 2058061 w 12192000"/>
              <a:gd name="connsiteY202" fmla="*/ 2047942 h 2237474"/>
              <a:gd name="connsiteX203" fmla="*/ 2055737 w 12192000"/>
              <a:gd name="connsiteY203" fmla="*/ 2047704 h 2237474"/>
              <a:gd name="connsiteX204" fmla="*/ 2042244 w 12192000"/>
              <a:gd name="connsiteY204" fmla="*/ 2055560 h 2237474"/>
              <a:gd name="connsiteX205" fmla="*/ 1976224 w 12192000"/>
              <a:gd name="connsiteY205" fmla="*/ 2074257 h 2237474"/>
              <a:gd name="connsiteX206" fmla="*/ 1877728 w 12192000"/>
              <a:gd name="connsiteY206" fmla="*/ 2101004 h 2237474"/>
              <a:gd name="connsiteX207" fmla="*/ 1759056 w 12192000"/>
              <a:gd name="connsiteY207" fmla="*/ 2125608 h 2237474"/>
              <a:gd name="connsiteX208" fmla="*/ 1637948 w 12192000"/>
              <a:gd name="connsiteY208" fmla="*/ 2172597 h 2237474"/>
              <a:gd name="connsiteX209" fmla="*/ 1434549 w 12192000"/>
              <a:gd name="connsiteY209" fmla="*/ 2234522 h 2237474"/>
              <a:gd name="connsiteX210" fmla="*/ 1398481 w 12192000"/>
              <a:gd name="connsiteY210" fmla="*/ 2237074 h 2237474"/>
              <a:gd name="connsiteX211" fmla="*/ 1398407 w 12192000"/>
              <a:gd name="connsiteY211" fmla="*/ 2237095 h 2237474"/>
              <a:gd name="connsiteX212" fmla="*/ 1370962 w 12192000"/>
              <a:gd name="connsiteY212" fmla="*/ 2237474 h 2237474"/>
              <a:gd name="connsiteX213" fmla="*/ 1356367 w 12192000"/>
              <a:gd name="connsiteY213" fmla="*/ 2235089 h 2237474"/>
              <a:gd name="connsiteX214" fmla="*/ 1324828 w 12192000"/>
              <a:gd name="connsiteY214" fmla="*/ 2231968 h 2237474"/>
              <a:gd name="connsiteX215" fmla="*/ 1297744 w 12192000"/>
              <a:gd name="connsiteY215" fmla="*/ 2235849 h 2237474"/>
              <a:gd name="connsiteX216" fmla="*/ 1286236 w 12192000"/>
              <a:gd name="connsiteY216" fmla="*/ 2233135 h 2237474"/>
              <a:gd name="connsiteX217" fmla="*/ 1283504 w 12192000"/>
              <a:gd name="connsiteY217" fmla="*/ 2233797 h 2237474"/>
              <a:gd name="connsiteX218" fmla="*/ 1279765 w 12192000"/>
              <a:gd name="connsiteY218" fmla="*/ 2229639 h 2237474"/>
              <a:gd name="connsiteX219" fmla="*/ 1195347 w 12192000"/>
              <a:gd name="connsiteY219" fmla="*/ 2212354 h 2237474"/>
              <a:gd name="connsiteX220" fmla="*/ 970251 w 12192000"/>
              <a:gd name="connsiteY220" fmla="*/ 2221029 h 2237474"/>
              <a:gd name="connsiteX221" fmla="*/ 812914 w 12192000"/>
              <a:gd name="connsiteY221" fmla="*/ 2202752 h 2237474"/>
              <a:gd name="connsiteX222" fmla="*/ 800195 w 12192000"/>
              <a:gd name="connsiteY222" fmla="*/ 2209407 h 2237474"/>
              <a:gd name="connsiteX223" fmla="*/ 784978 w 12192000"/>
              <a:gd name="connsiteY223" fmla="*/ 2212360 h 2237474"/>
              <a:gd name="connsiteX224" fmla="*/ 681987 w 12192000"/>
              <a:gd name="connsiteY224" fmla="*/ 2216757 h 2237474"/>
              <a:gd name="connsiteX225" fmla="*/ 669923 w 12192000"/>
              <a:gd name="connsiteY225" fmla="*/ 2211682 h 2237474"/>
              <a:gd name="connsiteX226" fmla="*/ 648680 w 12192000"/>
              <a:gd name="connsiteY226" fmla="*/ 2206229 h 2237474"/>
              <a:gd name="connsiteX227" fmla="*/ 597225 w 12192000"/>
              <a:gd name="connsiteY227" fmla="*/ 2180999 h 2237474"/>
              <a:gd name="connsiteX228" fmla="*/ 558449 w 12192000"/>
              <a:gd name="connsiteY228" fmla="*/ 2182346 h 2237474"/>
              <a:gd name="connsiteX229" fmla="*/ 550517 w 12192000"/>
              <a:gd name="connsiteY229" fmla="*/ 2182060 h 2237474"/>
              <a:gd name="connsiteX230" fmla="*/ 550309 w 12192000"/>
              <a:gd name="connsiteY230" fmla="*/ 2181825 h 2237474"/>
              <a:gd name="connsiteX231" fmla="*/ 541836 w 12192000"/>
              <a:gd name="connsiteY231" fmla="*/ 2181063 h 2237474"/>
              <a:gd name="connsiteX232" fmla="*/ 536057 w 12192000"/>
              <a:gd name="connsiteY232" fmla="*/ 2181537 h 2237474"/>
              <a:gd name="connsiteX233" fmla="*/ 520671 w 12192000"/>
              <a:gd name="connsiteY233" fmla="*/ 2180980 h 2237474"/>
              <a:gd name="connsiteX234" fmla="*/ 515024 w 12192000"/>
              <a:gd name="connsiteY234" fmla="*/ 2179258 h 2237474"/>
              <a:gd name="connsiteX235" fmla="*/ 512278 w 12192000"/>
              <a:gd name="connsiteY235" fmla="*/ 2176369 h 2237474"/>
              <a:gd name="connsiteX236" fmla="*/ 480419 w 12192000"/>
              <a:gd name="connsiteY236" fmla="*/ 2167807 h 2237474"/>
              <a:gd name="connsiteX237" fmla="*/ 413835 w 12192000"/>
              <a:gd name="connsiteY237" fmla="*/ 2156783 h 2237474"/>
              <a:gd name="connsiteX238" fmla="*/ 376513 w 12192000"/>
              <a:gd name="connsiteY238" fmla="*/ 2154014 h 2237474"/>
              <a:gd name="connsiteX239" fmla="*/ 273386 w 12192000"/>
              <a:gd name="connsiteY239" fmla="*/ 2142551 h 2237474"/>
              <a:gd name="connsiteX240" fmla="*/ 169207 w 12192000"/>
              <a:gd name="connsiteY240" fmla="*/ 2128100 h 2237474"/>
              <a:gd name="connsiteX241" fmla="*/ 93149 w 12192000"/>
              <a:gd name="connsiteY241" fmla="*/ 2105324 h 2237474"/>
              <a:gd name="connsiteX242" fmla="*/ 88109 w 12192000"/>
              <a:gd name="connsiteY242" fmla="*/ 2106704 h 2237474"/>
              <a:gd name="connsiteX243" fmla="*/ 80022 w 12192000"/>
              <a:gd name="connsiteY243" fmla="*/ 2107254 h 2237474"/>
              <a:gd name="connsiteX244" fmla="*/ 79717 w 12192000"/>
              <a:gd name="connsiteY244" fmla="*/ 2107046 h 2237474"/>
              <a:gd name="connsiteX245" fmla="*/ 72352 w 12192000"/>
              <a:gd name="connsiteY245" fmla="*/ 2107991 h 2237474"/>
              <a:gd name="connsiteX246" fmla="*/ 37645 w 12192000"/>
              <a:gd name="connsiteY246" fmla="*/ 2115401 h 2237474"/>
              <a:gd name="connsiteX247" fmla="*/ 4572 w 12192000"/>
              <a:gd name="connsiteY247" fmla="*/ 2111091 h 2237474"/>
              <a:gd name="connsiteX248" fmla="*/ 0 w 12192000"/>
              <a:gd name="connsiteY248" fmla="*/ 2110468 h 223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2192000" h="2237474">
                <a:moveTo>
                  <a:pt x="0" y="0"/>
                </a:moveTo>
                <a:lnTo>
                  <a:pt x="12192000" y="0"/>
                </a:lnTo>
                <a:lnTo>
                  <a:pt x="12192000" y="751299"/>
                </a:lnTo>
                <a:lnTo>
                  <a:pt x="12176759" y="759190"/>
                </a:lnTo>
                <a:cubicBezTo>
                  <a:pt x="12165968" y="763819"/>
                  <a:pt x="12157853" y="765770"/>
                  <a:pt x="12154948" y="762731"/>
                </a:cubicBezTo>
                <a:cubicBezTo>
                  <a:pt x="12116503" y="759396"/>
                  <a:pt x="12073342" y="763579"/>
                  <a:pt x="12047364" y="749662"/>
                </a:cubicBezTo>
                <a:cubicBezTo>
                  <a:pt x="12041261" y="730599"/>
                  <a:pt x="11914319" y="741909"/>
                  <a:pt x="11890686" y="732766"/>
                </a:cubicBezTo>
                <a:cubicBezTo>
                  <a:pt x="11832408" y="747890"/>
                  <a:pt x="11815359" y="777569"/>
                  <a:pt x="11782413" y="769868"/>
                </a:cubicBezTo>
                <a:cubicBezTo>
                  <a:pt x="11760031" y="763594"/>
                  <a:pt x="11675205" y="777151"/>
                  <a:pt x="11649954" y="749628"/>
                </a:cubicBezTo>
                <a:cubicBezTo>
                  <a:pt x="11608286" y="767874"/>
                  <a:pt x="11593031" y="740811"/>
                  <a:pt x="11560424" y="748017"/>
                </a:cubicBezTo>
                <a:cubicBezTo>
                  <a:pt x="11488916" y="747650"/>
                  <a:pt x="11449669" y="773362"/>
                  <a:pt x="11358455" y="747593"/>
                </a:cubicBezTo>
                <a:cubicBezTo>
                  <a:pt x="11316233" y="754756"/>
                  <a:pt x="11256313" y="713012"/>
                  <a:pt x="11165209" y="748852"/>
                </a:cubicBezTo>
                <a:cubicBezTo>
                  <a:pt x="11113345" y="753539"/>
                  <a:pt x="11140250" y="736122"/>
                  <a:pt x="11058755" y="749617"/>
                </a:cubicBezTo>
                <a:cubicBezTo>
                  <a:pt x="11036836" y="722990"/>
                  <a:pt x="10909903" y="759211"/>
                  <a:pt x="10884013" y="760728"/>
                </a:cubicBezTo>
                <a:cubicBezTo>
                  <a:pt x="10864519" y="743356"/>
                  <a:pt x="10853492" y="756172"/>
                  <a:pt x="10834688" y="757726"/>
                </a:cubicBezTo>
                <a:cubicBezTo>
                  <a:pt x="10826871" y="747343"/>
                  <a:pt x="10811086" y="746602"/>
                  <a:pt x="10805004" y="757573"/>
                </a:cubicBezTo>
                <a:cubicBezTo>
                  <a:pt x="10810951" y="784448"/>
                  <a:pt x="10744688" y="759043"/>
                  <a:pt x="10739478" y="776841"/>
                </a:cubicBezTo>
                <a:cubicBezTo>
                  <a:pt x="10678284" y="779408"/>
                  <a:pt x="10540854" y="756546"/>
                  <a:pt x="10458762" y="755400"/>
                </a:cubicBezTo>
                <a:cubicBezTo>
                  <a:pt x="10426976" y="747433"/>
                  <a:pt x="10362961" y="776166"/>
                  <a:pt x="10246919" y="769960"/>
                </a:cubicBezTo>
                <a:cubicBezTo>
                  <a:pt x="10231631" y="763610"/>
                  <a:pt x="10172943" y="749095"/>
                  <a:pt x="10167995" y="760843"/>
                </a:cubicBezTo>
                <a:cubicBezTo>
                  <a:pt x="10131971" y="759999"/>
                  <a:pt x="10021683" y="796978"/>
                  <a:pt x="9997044" y="780129"/>
                </a:cubicBezTo>
                <a:cubicBezTo>
                  <a:pt x="10001018" y="806225"/>
                  <a:pt x="9951331" y="779975"/>
                  <a:pt x="9943887" y="804141"/>
                </a:cubicBezTo>
                <a:lnTo>
                  <a:pt x="9918248" y="816628"/>
                </a:lnTo>
                <a:lnTo>
                  <a:pt x="9836148" y="858312"/>
                </a:lnTo>
                <a:lnTo>
                  <a:pt x="9823800" y="866604"/>
                </a:lnTo>
                <a:lnTo>
                  <a:pt x="9794684" y="864509"/>
                </a:lnTo>
                <a:lnTo>
                  <a:pt x="9778288" y="854362"/>
                </a:lnTo>
                <a:lnTo>
                  <a:pt x="9773886" y="857543"/>
                </a:lnTo>
                <a:cubicBezTo>
                  <a:pt x="9769008" y="863842"/>
                  <a:pt x="9766501" y="867741"/>
                  <a:pt x="9761459" y="862394"/>
                </a:cubicBezTo>
                <a:lnTo>
                  <a:pt x="9705768" y="894610"/>
                </a:lnTo>
                <a:cubicBezTo>
                  <a:pt x="9699860" y="897215"/>
                  <a:pt x="9692576" y="897590"/>
                  <a:pt x="9683005" y="894128"/>
                </a:cubicBezTo>
                <a:cubicBezTo>
                  <a:pt x="9664449" y="898200"/>
                  <a:pt x="9612100" y="914263"/>
                  <a:pt x="9594438" y="919051"/>
                </a:cubicBezTo>
                <a:lnTo>
                  <a:pt x="9577033" y="922857"/>
                </a:lnTo>
                <a:cubicBezTo>
                  <a:pt x="9568659" y="926175"/>
                  <a:pt x="9551353" y="936082"/>
                  <a:pt x="9544189" y="938966"/>
                </a:cubicBezTo>
                <a:cubicBezTo>
                  <a:pt x="9538380" y="940584"/>
                  <a:pt x="9541329" y="937538"/>
                  <a:pt x="9534048" y="940158"/>
                </a:cubicBezTo>
                <a:cubicBezTo>
                  <a:pt x="9533709" y="946069"/>
                  <a:pt x="9530854" y="951684"/>
                  <a:pt x="9500499" y="954680"/>
                </a:cubicBezTo>
                <a:cubicBezTo>
                  <a:pt x="9481230" y="968165"/>
                  <a:pt x="9456325" y="979029"/>
                  <a:pt x="9428195" y="986225"/>
                </a:cubicBezTo>
                <a:cubicBezTo>
                  <a:pt x="9422499" y="981315"/>
                  <a:pt x="9414660" y="991352"/>
                  <a:pt x="9410017" y="993931"/>
                </a:cubicBezTo>
                <a:cubicBezTo>
                  <a:pt x="9408360" y="990327"/>
                  <a:pt x="9395782" y="990863"/>
                  <a:pt x="9392919" y="994656"/>
                </a:cubicBezTo>
                <a:cubicBezTo>
                  <a:pt x="9310581" y="1024474"/>
                  <a:pt x="9345163" y="981210"/>
                  <a:pt x="9301293" y="1011593"/>
                </a:cubicBezTo>
                <a:cubicBezTo>
                  <a:pt x="9292916" y="1014346"/>
                  <a:pt x="9285483" y="1013807"/>
                  <a:pt x="9278619" y="1011878"/>
                </a:cubicBezTo>
                <a:lnTo>
                  <a:pt x="9268019" y="1007442"/>
                </a:lnTo>
                <a:lnTo>
                  <a:pt x="9234662" y="1023056"/>
                </a:lnTo>
                <a:cubicBezTo>
                  <a:pt x="9217868" y="1029197"/>
                  <a:pt x="9199852" y="1034202"/>
                  <a:pt x="9181033" y="1037921"/>
                </a:cubicBezTo>
                <a:cubicBezTo>
                  <a:pt x="9174974" y="1030923"/>
                  <a:pt x="9162516" y="1043719"/>
                  <a:pt x="9155969" y="1046804"/>
                </a:cubicBezTo>
                <a:cubicBezTo>
                  <a:pt x="9154734" y="1041866"/>
                  <a:pt x="9138567" y="1041606"/>
                  <a:pt x="9133985" y="1046450"/>
                </a:cubicBezTo>
                <a:cubicBezTo>
                  <a:pt x="9021681" y="1079910"/>
                  <a:pt x="9076377" y="1024799"/>
                  <a:pt x="9012987" y="1061986"/>
                </a:cubicBezTo>
                <a:lnTo>
                  <a:pt x="8968445" y="1052169"/>
                </a:lnTo>
                <a:lnTo>
                  <a:pt x="8958984" y="1057212"/>
                </a:lnTo>
                <a:cubicBezTo>
                  <a:pt x="8920115" y="1062770"/>
                  <a:pt x="8906181" y="1053838"/>
                  <a:pt x="8886001" y="1067468"/>
                </a:cubicBezTo>
                <a:cubicBezTo>
                  <a:pt x="8847384" y="1050046"/>
                  <a:pt x="8863283" y="1068286"/>
                  <a:pt x="8838610" y="1075091"/>
                </a:cubicBezTo>
                <a:cubicBezTo>
                  <a:pt x="8816007" y="1080079"/>
                  <a:pt x="8773923" y="1092257"/>
                  <a:pt x="8750383" y="1097387"/>
                </a:cubicBezTo>
                <a:cubicBezTo>
                  <a:pt x="8735450" y="1116502"/>
                  <a:pt x="8721220" y="1097372"/>
                  <a:pt x="8697365" y="1105869"/>
                </a:cubicBezTo>
                <a:cubicBezTo>
                  <a:pt x="8687037" y="1113735"/>
                  <a:pt x="8678781" y="1115961"/>
                  <a:pt x="8665605" y="1110791"/>
                </a:cubicBezTo>
                <a:cubicBezTo>
                  <a:pt x="8618410" y="1148662"/>
                  <a:pt x="8633049" y="1116609"/>
                  <a:pt x="8584946" y="1135226"/>
                </a:cubicBezTo>
                <a:cubicBezTo>
                  <a:pt x="8544020" y="1153499"/>
                  <a:pt x="8496232" y="1168229"/>
                  <a:pt x="8460755" y="1203427"/>
                </a:cubicBezTo>
                <a:cubicBezTo>
                  <a:pt x="8454928" y="1212828"/>
                  <a:pt x="8436573" y="1218574"/>
                  <a:pt x="8419755" y="1216260"/>
                </a:cubicBezTo>
                <a:cubicBezTo>
                  <a:pt x="8416861" y="1215863"/>
                  <a:pt x="8414124" y="1215234"/>
                  <a:pt x="8411626" y="1214397"/>
                </a:cubicBezTo>
                <a:cubicBezTo>
                  <a:pt x="8391326" y="1238641"/>
                  <a:pt x="8371389" y="1231045"/>
                  <a:pt x="8363469" y="1246658"/>
                </a:cubicBezTo>
                <a:cubicBezTo>
                  <a:pt x="8322316" y="1258746"/>
                  <a:pt x="8283162" y="1250600"/>
                  <a:pt x="8275497" y="1264396"/>
                </a:cubicBezTo>
                <a:cubicBezTo>
                  <a:pt x="8253233" y="1266996"/>
                  <a:pt x="8218383" y="1257577"/>
                  <a:pt x="8206287" y="1273060"/>
                </a:cubicBezTo>
                <a:cubicBezTo>
                  <a:pt x="8200396" y="1262794"/>
                  <a:pt x="8183827" y="1285000"/>
                  <a:pt x="8168705" y="1279956"/>
                </a:cubicBezTo>
                <a:cubicBezTo>
                  <a:pt x="8157611" y="1275235"/>
                  <a:pt x="8149996" y="1280870"/>
                  <a:pt x="8139997" y="1282713"/>
                </a:cubicBezTo>
                <a:cubicBezTo>
                  <a:pt x="8125566" y="1279776"/>
                  <a:pt x="8084128" y="1294221"/>
                  <a:pt x="8074238" y="1301895"/>
                </a:cubicBezTo>
                <a:cubicBezTo>
                  <a:pt x="8052170" y="1326903"/>
                  <a:pt x="7986951" y="1319381"/>
                  <a:pt x="7968292" y="1338779"/>
                </a:cubicBezTo>
                <a:cubicBezTo>
                  <a:pt x="7960694" y="1342282"/>
                  <a:pt x="7952937" y="1344333"/>
                  <a:pt x="7945122" y="1345477"/>
                </a:cubicBezTo>
                <a:lnTo>
                  <a:pt x="7922771" y="1346645"/>
                </a:lnTo>
                <a:lnTo>
                  <a:pt x="7915461" y="1342919"/>
                </a:lnTo>
                <a:lnTo>
                  <a:pt x="7902328" y="1345865"/>
                </a:lnTo>
                <a:lnTo>
                  <a:pt x="7898322" y="1345689"/>
                </a:lnTo>
                <a:lnTo>
                  <a:pt x="7875879" y="1345646"/>
                </a:lnTo>
                <a:cubicBezTo>
                  <a:pt x="7890672" y="1367295"/>
                  <a:pt x="7816428" y="1353520"/>
                  <a:pt x="7840612" y="1369373"/>
                </a:cubicBezTo>
                <a:cubicBezTo>
                  <a:pt x="7803208" y="1375918"/>
                  <a:pt x="7836041" y="1389289"/>
                  <a:pt x="7786819" y="1378970"/>
                </a:cubicBezTo>
                <a:cubicBezTo>
                  <a:pt x="7732613" y="1405648"/>
                  <a:pt x="7587405" y="1382806"/>
                  <a:pt x="7548172" y="1417460"/>
                </a:cubicBezTo>
                <a:cubicBezTo>
                  <a:pt x="7551327" y="1405830"/>
                  <a:pt x="7499280" y="1470447"/>
                  <a:pt x="7483437" y="1478152"/>
                </a:cubicBezTo>
                <a:cubicBezTo>
                  <a:pt x="7446517" y="1491067"/>
                  <a:pt x="7432754" y="1502351"/>
                  <a:pt x="7377870" y="1523319"/>
                </a:cubicBezTo>
                <a:cubicBezTo>
                  <a:pt x="7324166" y="1536168"/>
                  <a:pt x="7290459" y="1563749"/>
                  <a:pt x="7230737" y="1562633"/>
                </a:cubicBezTo>
                <a:cubicBezTo>
                  <a:pt x="7229794" y="1566487"/>
                  <a:pt x="7227568" y="1569908"/>
                  <a:pt x="7224458" y="1573008"/>
                </a:cubicBezTo>
                <a:lnTo>
                  <a:pt x="7213486" y="1580987"/>
                </a:lnTo>
                <a:lnTo>
                  <a:pt x="7210972" y="1580856"/>
                </a:lnTo>
                <a:lnTo>
                  <a:pt x="7183121" y="1595162"/>
                </a:lnTo>
                <a:lnTo>
                  <a:pt x="7164601" y="1606490"/>
                </a:lnTo>
                <a:lnTo>
                  <a:pt x="7159286" y="1606850"/>
                </a:lnTo>
                <a:cubicBezTo>
                  <a:pt x="7150961" y="1609262"/>
                  <a:pt x="7125743" y="1618162"/>
                  <a:pt x="7114651" y="1620959"/>
                </a:cubicBezTo>
                <a:cubicBezTo>
                  <a:pt x="7109310" y="1606138"/>
                  <a:pt x="7106695" y="1617324"/>
                  <a:pt x="7092727" y="1623628"/>
                </a:cubicBezTo>
                <a:cubicBezTo>
                  <a:pt x="7081313" y="1602012"/>
                  <a:pt x="7049394" y="1627301"/>
                  <a:pt x="7031309" y="1619451"/>
                </a:cubicBezTo>
                <a:cubicBezTo>
                  <a:pt x="7021305" y="1624569"/>
                  <a:pt x="7010515" y="1629587"/>
                  <a:pt x="6999084" y="1634317"/>
                </a:cubicBezTo>
                <a:lnTo>
                  <a:pt x="6992107" y="1636860"/>
                </a:lnTo>
                <a:lnTo>
                  <a:pt x="6991765" y="1636725"/>
                </a:lnTo>
                <a:cubicBezTo>
                  <a:pt x="6989813" y="1636884"/>
                  <a:pt x="6987353" y="1637572"/>
                  <a:pt x="6983996" y="1639040"/>
                </a:cubicBezTo>
                <a:lnTo>
                  <a:pt x="6979383" y="1641496"/>
                </a:lnTo>
                <a:lnTo>
                  <a:pt x="6900177" y="1636016"/>
                </a:lnTo>
                <a:cubicBezTo>
                  <a:pt x="6859708" y="1641136"/>
                  <a:pt x="6829973" y="1628753"/>
                  <a:pt x="6795372" y="1644845"/>
                </a:cubicBezTo>
                <a:cubicBezTo>
                  <a:pt x="6757466" y="1649571"/>
                  <a:pt x="6723150" y="1647290"/>
                  <a:pt x="6692251" y="1656357"/>
                </a:cubicBezTo>
                <a:cubicBezTo>
                  <a:pt x="6678032" y="1652894"/>
                  <a:pt x="6665282" y="1652445"/>
                  <a:pt x="6655235" y="1661869"/>
                </a:cubicBezTo>
                <a:cubicBezTo>
                  <a:pt x="6619334" y="1664040"/>
                  <a:pt x="6608179" y="1654034"/>
                  <a:pt x="6587857" y="1665769"/>
                </a:cubicBezTo>
                <a:lnTo>
                  <a:pt x="6554894" y="1664428"/>
                </a:lnTo>
                <a:lnTo>
                  <a:pt x="6551579" y="1662213"/>
                </a:lnTo>
                <a:lnTo>
                  <a:pt x="6545693" y="1661776"/>
                </a:lnTo>
                <a:lnTo>
                  <a:pt x="6530561" y="1664619"/>
                </a:lnTo>
                <a:lnTo>
                  <a:pt x="6525028" y="1666354"/>
                </a:lnTo>
                <a:cubicBezTo>
                  <a:pt x="6521154" y="1667301"/>
                  <a:pt x="6518510" y="1667613"/>
                  <a:pt x="6516595" y="1667475"/>
                </a:cubicBezTo>
                <a:lnTo>
                  <a:pt x="6516340" y="1667291"/>
                </a:lnTo>
                <a:lnTo>
                  <a:pt x="6508541" y="1668757"/>
                </a:lnTo>
                <a:cubicBezTo>
                  <a:pt x="6495493" y="1671715"/>
                  <a:pt x="6482908" y="1675051"/>
                  <a:pt x="6471012" y="1678604"/>
                </a:cubicBezTo>
                <a:cubicBezTo>
                  <a:pt x="6457809" y="1668164"/>
                  <a:pt x="6415506" y="1688334"/>
                  <a:pt x="6415265" y="1665317"/>
                </a:cubicBezTo>
                <a:cubicBezTo>
                  <a:pt x="6399063" y="1669446"/>
                  <a:pt x="6391173" y="1680085"/>
                  <a:pt x="6393343" y="1664672"/>
                </a:cubicBezTo>
                <a:lnTo>
                  <a:pt x="6380457" y="1662376"/>
                </a:lnTo>
                <a:lnTo>
                  <a:pt x="6280959" y="1689329"/>
                </a:lnTo>
                <a:lnTo>
                  <a:pt x="6266765" y="1695560"/>
                </a:lnTo>
                <a:cubicBezTo>
                  <a:pt x="6262331" y="1698152"/>
                  <a:pt x="6258580" y="1701192"/>
                  <a:pt x="6255823" y="1704850"/>
                </a:cubicBezTo>
                <a:cubicBezTo>
                  <a:pt x="6200184" y="1694834"/>
                  <a:pt x="6155082" y="1716996"/>
                  <a:pt x="6098321" y="1721646"/>
                </a:cubicBezTo>
                <a:cubicBezTo>
                  <a:pt x="6036511" y="1734126"/>
                  <a:pt x="5902526" y="1770074"/>
                  <a:pt x="5880652" y="1779643"/>
                </a:cubicBezTo>
                <a:cubicBezTo>
                  <a:pt x="5862008" y="1784877"/>
                  <a:pt x="5777344" y="1786304"/>
                  <a:pt x="5785959" y="1775307"/>
                </a:cubicBezTo>
                <a:cubicBezTo>
                  <a:pt x="5732223" y="1803618"/>
                  <a:pt x="5707481" y="1784706"/>
                  <a:pt x="5643534" y="1802919"/>
                </a:cubicBezTo>
                <a:lnTo>
                  <a:pt x="5518799" y="1818312"/>
                </a:lnTo>
                <a:lnTo>
                  <a:pt x="5505014" y="1819259"/>
                </a:lnTo>
                <a:lnTo>
                  <a:pt x="5499949" y="1814490"/>
                </a:lnTo>
                <a:lnTo>
                  <a:pt x="5453307" y="1815450"/>
                </a:lnTo>
                <a:cubicBezTo>
                  <a:pt x="5433075" y="1827706"/>
                  <a:pt x="5395563" y="1821122"/>
                  <a:pt x="5364192" y="1826074"/>
                </a:cubicBezTo>
                <a:lnTo>
                  <a:pt x="5350380" y="1830891"/>
                </a:lnTo>
                <a:lnTo>
                  <a:pt x="5259633" y="1837160"/>
                </a:lnTo>
                <a:lnTo>
                  <a:pt x="5197513" y="1844718"/>
                </a:lnTo>
                <a:lnTo>
                  <a:pt x="5184170" y="1849402"/>
                </a:lnTo>
                <a:lnTo>
                  <a:pt x="5168852" y="1844846"/>
                </a:lnTo>
                <a:cubicBezTo>
                  <a:pt x="5166986" y="1843561"/>
                  <a:pt x="5165478" y="1842127"/>
                  <a:pt x="5164370" y="1840597"/>
                </a:cubicBezTo>
                <a:lnTo>
                  <a:pt x="5114927" y="1847827"/>
                </a:lnTo>
                <a:lnTo>
                  <a:pt x="5108970" y="1847935"/>
                </a:lnTo>
                <a:lnTo>
                  <a:pt x="5067961" y="1845917"/>
                </a:lnTo>
                <a:lnTo>
                  <a:pt x="5007075" y="1838626"/>
                </a:lnTo>
                <a:cubicBezTo>
                  <a:pt x="4987003" y="1833546"/>
                  <a:pt x="4969259" y="1814096"/>
                  <a:pt x="4944087" y="1823332"/>
                </a:cubicBezTo>
                <a:cubicBezTo>
                  <a:pt x="4949882" y="1812650"/>
                  <a:pt x="4914396" y="1826154"/>
                  <a:pt x="4907662" y="1816900"/>
                </a:cubicBezTo>
                <a:cubicBezTo>
                  <a:pt x="4903760" y="1809237"/>
                  <a:pt x="4892087" y="1811549"/>
                  <a:pt x="4882386" y="1809844"/>
                </a:cubicBezTo>
                <a:cubicBezTo>
                  <a:pt x="4874062" y="1802609"/>
                  <a:pt x="4826962" y="1801349"/>
                  <a:pt x="4811440" y="1804655"/>
                </a:cubicBezTo>
                <a:cubicBezTo>
                  <a:pt x="4768806" y="1818748"/>
                  <a:pt x="4725356" y="1790961"/>
                  <a:pt x="4691075" y="1801389"/>
                </a:cubicBezTo>
                <a:cubicBezTo>
                  <a:pt x="4663743" y="1799478"/>
                  <a:pt x="4655044" y="1795479"/>
                  <a:pt x="4647449" y="1793181"/>
                </a:cubicBezTo>
                <a:lnTo>
                  <a:pt x="4645504" y="1787606"/>
                </a:lnTo>
                <a:lnTo>
                  <a:pt x="4632229" y="1785815"/>
                </a:lnTo>
                <a:lnTo>
                  <a:pt x="4629273" y="1784355"/>
                </a:lnTo>
                <a:cubicBezTo>
                  <a:pt x="4623639" y="1781544"/>
                  <a:pt x="4617950" y="1778917"/>
                  <a:pt x="4611738" y="1776964"/>
                </a:cubicBezTo>
                <a:cubicBezTo>
                  <a:pt x="4601379" y="1800272"/>
                  <a:pt x="4557197" y="1764196"/>
                  <a:pt x="4560070" y="1785640"/>
                </a:cubicBezTo>
                <a:lnTo>
                  <a:pt x="4536503" y="1785334"/>
                </a:lnTo>
                <a:lnTo>
                  <a:pt x="4513724" y="1791996"/>
                </a:lnTo>
                <a:lnTo>
                  <a:pt x="4501513" y="1799835"/>
                </a:lnTo>
                <a:lnTo>
                  <a:pt x="4459076" y="1813003"/>
                </a:lnTo>
                <a:lnTo>
                  <a:pt x="4459810" y="1797886"/>
                </a:lnTo>
                <a:lnTo>
                  <a:pt x="4379064" y="1817177"/>
                </a:lnTo>
                <a:lnTo>
                  <a:pt x="4319209" y="1834833"/>
                </a:lnTo>
                <a:lnTo>
                  <a:pt x="4306907" y="1841641"/>
                </a:lnTo>
                <a:lnTo>
                  <a:pt x="4290981" y="1839677"/>
                </a:lnTo>
                <a:cubicBezTo>
                  <a:pt x="4288909" y="1838717"/>
                  <a:pt x="4287163" y="1837555"/>
                  <a:pt x="4285792" y="1836231"/>
                </a:cubicBezTo>
                <a:lnTo>
                  <a:pt x="4238372" y="1851480"/>
                </a:lnTo>
                <a:lnTo>
                  <a:pt x="4232517" y="1852567"/>
                </a:lnTo>
                <a:lnTo>
                  <a:pt x="4191732" y="1857328"/>
                </a:lnTo>
                <a:lnTo>
                  <a:pt x="4065532" y="1855477"/>
                </a:lnTo>
                <a:cubicBezTo>
                  <a:pt x="4069305" y="1844009"/>
                  <a:pt x="4036780" y="1863138"/>
                  <a:pt x="4028460" y="1855137"/>
                </a:cubicBezTo>
                <a:cubicBezTo>
                  <a:pt x="4023224" y="1848238"/>
                  <a:pt x="4012138" y="1852433"/>
                  <a:pt x="4002267" y="1852352"/>
                </a:cubicBezTo>
                <a:cubicBezTo>
                  <a:pt x="3992749" y="1846600"/>
                  <a:pt x="3946095" y="1853107"/>
                  <a:pt x="3931396" y="1858915"/>
                </a:cubicBezTo>
                <a:cubicBezTo>
                  <a:pt x="3891932" y="1879798"/>
                  <a:pt x="3844059" y="1859600"/>
                  <a:pt x="3812162" y="1875501"/>
                </a:cubicBezTo>
                <a:cubicBezTo>
                  <a:pt x="3784875" y="1878116"/>
                  <a:pt x="3775574" y="1875612"/>
                  <a:pt x="3767672" y="1874600"/>
                </a:cubicBezTo>
                <a:lnTo>
                  <a:pt x="3764741" y="1869433"/>
                </a:lnTo>
                <a:lnTo>
                  <a:pt x="3751332" y="1869854"/>
                </a:lnTo>
                <a:lnTo>
                  <a:pt x="3748155" y="1868903"/>
                </a:lnTo>
                <a:cubicBezTo>
                  <a:pt x="3742091" y="1867062"/>
                  <a:pt x="3736007" y="1865414"/>
                  <a:pt x="3729530" y="1864513"/>
                </a:cubicBezTo>
                <a:cubicBezTo>
                  <a:pt x="3723549" y="1889158"/>
                  <a:pt x="3673453" y="1860919"/>
                  <a:pt x="3680177" y="1881552"/>
                </a:cubicBezTo>
                <a:cubicBezTo>
                  <a:pt x="3643549" y="1880892"/>
                  <a:pt x="3599470" y="1913398"/>
                  <a:pt x="3567259" y="1893482"/>
                </a:cubicBezTo>
                <a:cubicBezTo>
                  <a:pt x="3512865" y="1897927"/>
                  <a:pt x="3463644" y="1898121"/>
                  <a:pt x="3405770" y="1904591"/>
                </a:cubicBezTo>
                <a:cubicBezTo>
                  <a:pt x="3361027" y="1917619"/>
                  <a:pt x="3312439" y="1902759"/>
                  <a:pt x="3280097" y="1919610"/>
                </a:cubicBezTo>
                <a:cubicBezTo>
                  <a:pt x="3228353" y="1917339"/>
                  <a:pt x="3163854" y="1927961"/>
                  <a:pt x="3123424" y="1952930"/>
                </a:cubicBezTo>
                <a:cubicBezTo>
                  <a:pt x="3067921" y="1955455"/>
                  <a:pt x="3058626" y="1970554"/>
                  <a:pt x="3009910" y="1957866"/>
                </a:cubicBezTo>
                <a:cubicBezTo>
                  <a:pt x="3005875" y="1961558"/>
                  <a:pt x="3001138" y="1964570"/>
                  <a:pt x="2995934" y="1967085"/>
                </a:cubicBezTo>
                <a:lnTo>
                  <a:pt x="2980071" y="1972988"/>
                </a:lnTo>
                <a:lnTo>
                  <a:pt x="2978094" y="1972369"/>
                </a:lnTo>
                <a:lnTo>
                  <a:pt x="2942858" y="1981367"/>
                </a:lnTo>
                <a:lnTo>
                  <a:pt x="2875436" y="1996977"/>
                </a:lnTo>
                <a:lnTo>
                  <a:pt x="2874892" y="1996085"/>
                </a:lnTo>
                <a:cubicBezTo>
                  <a:pt x="2872808" y="1994277"/>
                  <a:pt x="2869648" y="1993306"/>
                  <a:pt x="2864145" y="1994061"/>
                </a:cubicBezTo>
                <a:cubicBezTo>
                  <a:pt x="2872218" y="1978115"/>
                  <a:pt x="2860603" y="1988862"/>
                  <a:pt x="2843662" y="1992498"/>
                </a:cubicBezTo>
                <a:cubicBezTo>
                  <a:pt x="2852423" y="1968542"/>
                  <a:pt x="2804535" y="1987804"/>
                  <a:pt x="2796128" y="1976403"/>
                </a:cubicBezTo>
                <a:cubicBezTo>
                  <a:pt x="2783487" y="1979614"/>
                  <a:pt x="2770278" y="1982573"/>
                  <a:pt x="2756784" y="1985116"/>
                </a:cubicBezTo>
                <a:lnTo>
                  <a:pt x="2748833" y="1986323"/>
                </a:lnTo>
                <a:cubicBezTo>
                  <a:pt x="2748775" y="1986256"/>
                  <a:pt x="2748719" y="1986188"/>
                  <a:pt x="2748661" y="1986122"/>
                </a:cubicBezTo>
                <a:cubicBezTo>
                  <a:pt x="2746906" y="1985902"/>
                  <a:pt x="2744280" y="1986117"/>
                  <a:pt x="2740251" y="1986946"/>
                </a:cubicBezTo>
                <a:lnTo>
                  <a:pt x="2718916" y="1990867"/>
                </a:lnTo>
                <a:lnTo>
                  <a:pt x="2713522" y="1990173"/>
                </a:lnTo>
                <a:lnTo>
                  <a:pt x="2680597" y="1984996"/>
                </a:lnTo>
                <a:cubicBezTo>
                  <a:pt x="2658416" y="1985461"/>
                  <a:pt x="2612251" y="1988312"/>
                  <a:pt x="2578178" y="1990531"/>
                </a:cubicBezTo>
                <a:cubicBezTo>
                  <a:pt x="2545413" y="1998704"/>
                  <a:pt x="2513846" y="1994934"/>
                  <a:pt x="2476147" y="1998305"/>
                </a:cubicBezTo>
                <a:cubicBezTo>
                  <a:pt x="2437134" y="2013637"/>
                  <a:pt x="2413847" y="1999542"/>
                  <a:pt x="2373568" y="2003219"/>
                </a:cubicBezTo>
                <a:cubicBezTo>
                  <a:pt x="2341422" y="2024631"/>
                  <a:pt x="2342856" y="1992997"/>
                  <a:pt x="2321399" y="1989467"/>
                </a:cubicBezTo>
                <a:lnTo>
                  <a:pt x="2315525" y="1989708"/>
                </a:lnTo>
                <a:lnTo>
                  <a:pt x="2300792" y="1994290"/>
                </a:lnTo>
                <a:lnTo>
                  <a:pt x="2295469" y="1996659"/>
                </a:lnTo>
                <a:cubicBezTo>
                  <a:pt x="2291722" y="1998049"/>
                  <a:pt x="2289127" y="1998665"/>
                  <a:pt x="2287219" y="1998750"/>
                </a:cubicBezTo>
                <a:lnTo>
                  <a:pt x="2286948" y="1998596"/>
                </a:lnTo>
                <a:lnTo>
                  <a:pt x="2243069" y="2015111"/>
                </a:lnTo>
                <a:cubicBezTo>
                  <a:pt x="2229030" y="2006206"/>
                  <a:pt x="2188966" y="2031217"/>
                  <a:pt x="2186609" y="2008263"/>
                </a:cubicBezTo>
                <a:cubicBezTo>
                  <a:pt x="2170936" y="2014251"/>
                  <a:pt x="2164097" y="2025782"/>
                  <a:pt x="2164831" y="2010143"/>
                </a:cubicBezTo>
                <a:cubicBezTo>
                  <a:pt x="2159536" y="2011705"/>
                  <a:pt x="2155830" y="2011340"/>
                  <a:pt x="2152836" y="2010048"/>
                </a:cubicBezTo>
                <a:lnTo>
                  <a:pt x="2117102" y="2023004"/>
                </a:lnTo>
                <a:lnTo>
                  <a:pt x="2111935" y="2023163"/>
                </a:lnTo>
                <a:lnTo>
                  <a:pt x="2089991" y="2034193"/>
                </a:lnTo>
                <a:lnTo>
                  <a:pt x="2058061" y="2047942"/>
                </a:lnTo>
                <a:lnTo>
                  <a:pt x="2055737" y="2047704"/>
                </a:lnTo>
                <a:lnTo>
                  <a:pt x="2042244" y="2055560"/>
                </a:lnTo>
                <a:cubicBezTo>
                  <a:pt x="2038090" y="2058656"/>
                  <a:pt x="1978623" y="2070285"/>
                  <a:pt x="1976224" y="2074257"/>
                </a:cubicBezTo>
                <a:cubicBezTo>
                  <a:pt x="1920172" y="2070662"/>
                  <a:pt x="1933546" y="2089824"/>
                  <a:pt x="1877728" y="2101004"/>
                </a:cubicBezTo>
                <a:cubicBezTo>
                  <a:pt x="1839146" y="2101989"/>
                  <a:pt x="1818769" y="2108983"/>
                  <a:pt x="1759056" y="2125608"/>
                </a:cubicBezTo>
                <a:cubicBezTo>
                  <a:pt x="1719091" y="2137539"/>
                  <a:pt x="1691494" y="2161097"/>
                  <a:pt x="1637948" y="2172597"/>
                </a:cubicBezTo>
                <a:cubicBezTo>
                  <a:pt x="1587306" y="2207053"/>
                  <a:pt x="1496241" y="2208973"/>
                  <a:pt x="1434549" y="2234522"/>
                </a:cubicBezTo>
                <a:cubicBezTo>
                  <a:pt x="1402655" y="2224964"/>
                  <a:pt x="1409212" y="2231152"/>
                  <a:pt x="1398481" y="2237074"/>
                </a:cubicBezTo>
                <a:cubicBezTo>
                  <a:pt x="1398456" y="2237082"/>
                  <a:pt x="1398432" y="2237089"/>
                  <a:pt x="1398407" y="2237095"/>
                </a:cubicBezTo>
                <a:lnTo>
                  <a:pt x="1370962" y="2237474"/>
                </a:lnTo>
                <a:lnTo>
                  <a:pt x="1356367" y="2235089"/>
                </a:lnTo>
                <a:cubicBezTo>
                  <a:pt x="1346056" y="2233320"/>
                  <a:pt x="1335986" y="2231930"/>
                  <a:pt x="1324828" y="2231968"/>
                </a:cubicBezTo>
                <a:lnTo>
                  <a:pt x="1297744" y="2235849"/>
                </a:lnTo>
                <a:lnTo>
                  <a:pt x="1286236" y="2233135"/>
                </a:lnTo>
                <a:lnTo>
                  <a:pt x="1283504" y="2233797"/>
                </a:lnTo>
                <a:lnTo>
                  <a:pt x="1279765" y="2229639"/>
                </a:lnTo>
                <a:cubicBezTo>
                  <a:pt x="1260110" y="2221111"/>
                  <a:pt x="1209850" y="2211602"/>
                  <a:pt x="1195347" y="2212354"/>
                </a:cubicBezTo>
                <a:cubicBezTo>
                  <a:pt x="1171903" y="2216875"/>
                  <a:pt x="1033292" y="2222456"/>
                  <a:pt x="970251" y="2221029"/>
                </a:cubicBezTo>
                <a:cubicBezTo>
                  <a:pt x="913858" y="2213074"/>
                  <a:pt x="864984" y="2224767"/>
                  <a:pt x="812914" y="2202752"/>
                </a:cubicBezTo>
                <a:cubicBezTo>
                  <a:pt x="809419" y="2205714"/>
                  <a:pt x="805091" y="2207855"/>
                  <a:pt x="800195" y="2209407"/>
                </a:cubicBezTo>
                <a:lnTo>
                  <a:pt x="784978" y="2212360"/>
                </a:lnTo>
                <a:lnTo>
                  <a:pt x="681987" y="2216757"/>
                </a:lnTo>
                <a:lnTo>
                  <a:pt x="669923" y="2211682"/>
                </a:lnTo>
                <a:cubicBezTo>
                  <a:pt x="675432" y="2197125"/>
                  <a:pt x="665394" y="2205767"/>
                  <a:pt x="648680" y="2206229"/>
                </a:cubicBezTo>
                <a:cubicBezTo>
                  <a:pt x="653511" y="2183723"/>
                  <a:pt x="607806" y="2194090"/>
                  <a:pt x="597225" y="2180999"/>
                </a:cubicBezTo>
                <a:cubicBezTo>
                  <a:pt x="584838" y="2181847"/>
                  <a:pt x="571827" y="2182333"/>
                  <a:pt x="558449" y="2182346"/>
                </a:cubicBezTo>
                <a:lnTo>
                  <a:pt x="550517" y="2182060"/>
                </a:lnTo>
                <a:lnTo>
                  <a:pt x="550309" y="2181825"/>
                </a:lnTo>
                <a:cubicBezTo>
                  <a:pt x="548471" y="2181269"/>
                  <a:pt x="545824" y="2180990"/>
                  <a:pt x="541836" y="2181063"/>
                </a:cubicBezTo>
                <a:lnTo>
                  <a:pt x="536057" y="2181537"/>
                </a:lnTo>
                <a:lnTo>
                  <a:pt x="520671" y="2180980"/>
                </a:lnTo>
                <a:lnTo>
                  <a:pt x="515024" y="2179258"/>
                </a:lnTo>
                <a:lnTo>
                  <a:pt x="512278" y="2176369"/>
                </a:lnTo>
                <a:lnTo>
                  <a:pt x="480419" y="2167807"/>
                </a:lnTo>
                <a:cubicBezTo>
                  <a:pt x="458012" y="2174781"/>
                  <a:pt x="449332" y="2162566"/>
                  <a:pt x="413835" y="2156783"/>
                </a:cubicBezTo>
                <a:cubicBezTo>
                  <a:pt x="401959" y="2163765"/>
                  <a:pt x="389622" y="2160522"/>
                  <a:pt x="376513" y="2154014"/>
                </a:cubicBezTo>
                <a:cubicBezTo>
                  <a:pt x="344376" y="2156059"/>
                  <a:pt x="311403" y="2146283"/>
                  <a:pt x="273386" y="2142551"/>
                </a:cubicBezTo>
                <a:cubicBezTo>
                  <a:pt x="236093" y="2150634"/>
                  <a:pt x="209811" y="2132011"/>
                  <a:pt x="169207" y="2128100"/>
                </a:cubicBezTo>
                <a:lnTo>
                  <a:pt x="93149" y="2105324"/>
                </a:lnTo>
                <a:lnTo>
                  <a:pt x="88109" y="2106704"/>
                </a:lnTo>
                <a:cubicBezTo>
                  <a:pt x="84511" y="2107398"/>
                  <a:pt x="81960" y="2107528"/>
                  <a:pt x="80022" y="2107254"/>
                </a:cubicBezTo>
                <a:lnTo>
                  <a:pt x="79717" y="2107046"/>
                </a:lnTo>
                <a:lnTo>
                  <a:pt x="72352" y="2107991"/>
                </a:lnTo>
                <a:cubicBezTo>
                  <a:pt x="60160" y="2110089"/>
                  <a:pt x="48530" y="2112610"/>
                  <a:pt x="37645" y="2115401"/>
                </a:cubicBezTo>
                <a:cubicBezTo>
                  <a:pt x="29688" y="2109582"/>
                  <a:pt x="16534" y="2111084"/>
                  <a:pt x="4572" y="2111091"/>
                </a:cubicBezTo>
                <a:lnTo>
                  <a:pt x="0" y="21104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A43D4B-00FE-A69B-9080-85D748B263C2}"/>
              </a:ext>
            </a:extLst>
          </p:cNvPr>
          <p:cNvSpPr>
            <a:spLocks noGrp="1"/>
          </p:cNvSpPr>
          <p:nvPr>
            <p:ph type="title"/>
          </p:nvPr>
        </p:nvSpPr>
        <p:spPr>
          <a:xfrm>
            <a:off x="1137037" y="741082"/>
            <a:ext cx="9274512" cy="949606"/>
          </a:xfrm>
        </p:spPr>
        <p:txBody>
          <a:bodyPr>
            <a:normAutofit/>
          </a:bodyPr>
          <a:lstStyle/>
          <a:p>
            <a:r>
              <a:rPr lang="en-US"/>
              <a:t>Apparatus</a:t>
            </a:r>
          </a:p>
        </p:txBody>
      </p:sp>
      <p:sp>
        <p:nvSpPr>
          <p:cNvPr id="8" name="Freeform: Shape 7">
            <a:extLst>
              <a:ext uri="{FF2B5EF4-FFF2-40B4-BE49-F238E27FC236}">
                <a16:creationId xmlns:a16="http://schemas.microsoft.com/office/drawing/2014/main" id="{3501A971-CEBD-4E4B-8529-3BB4F410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460" y="6189260"/>
            <a:ext cx="7831541" cy="668740"/>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D2FBAEB-C6AE-14E2-CF8A-FFD881FAB495}"/>
              </a:ext>
            </a:extLst>
          </p:cNvPr>
          <p:cNvGraphicFramePr>
            <a:graphicFrameLocks noGrp="1"/>
          </p:cNvGraphicFramePr>
          <p:nvPr>
            <p:ph idx="1"/>
            <p:extLst>
              <p:ext uri="{D42A27DB-BD31-4B8C-83A1-F6EECF244321}">
                <p14:modId xmlns:p14="http://schemas.microsoft.com/office/powerpoint/2010/main" val="1912049843"/>
              </p:ext>
            </p:extLst>
          </p:nvPr>
        </p:nvGraphicFramePr>
        <p:xfrm>
          <a:off x="1121820" y="2007704"/>
          <a:ext cx="9668960" cy="4247055"/>
        </p:xfrm>
        <a:graphic>
          <a:graphicData uri="http://schemas.openxmlformats.org/drawingml/2006/table">
            <a:tbl>
              <a:tblPr firstCol="1">
                <a:tableStyleId>{5C22544A-7EE6-4342-B048-85BDC9FD1C3A}</a:tableStyleId>
              </a:tblPr>
              <a:tblGrid>
                <a:gridCol w="2487979">
                  <a:extLst>
                    <a:ext uri="{9D8B030D-6E8A-4147-A177-3AD203B41FA5}">
                      <a16:colId xmlns:a16="http://schemas.microsoft.com/office/drawing/2014/main" val="2333480853"/>
                    </a:ext>
                  </a:extLst>
                </a:gridCol>
                <a:gridCol w="7180981">
                  <a:extLst>
                    <a:ext uri="{9D8B030D-6E8A-4147-A177-3AD203B41FA5}">
                      <a16:colId xmlns:a16="http://schemas.microsoft.com/office/drawing/2014/main" val="1588501784"/>
                    </a:ext>
                  </a:extLst>
                </a:gridCol>
              </a:tblGrid>
              <a:tr h="283137">
                <a:tc>
                  <a:txBody>
                    <a:bodyPr/>
                    <a:lstStyle/>
                    <a:p>
                      <a:pPr marL="0" marR="0" indent="0">
                        <a:lnSpc>
                          <a:spcPct val="103000"/>
                        </a:lnSpc>
                        <a:buNone/>
                      </a:pPr>
                      <a:r>
                        <a:rPr lang="en-US" sz="1100" kern="100">
                          <a:effectLst/>
                        </a:rPr>
                        <a:t>Tray glass column</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Allows for multiple stages where vapor and liquid meet to induce the separation of ethanol and water. </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640137529"/>
                  </a:ext>
                </a:extLst>
              </a:tr>
              <a:tr h="283137">
                <a:tc>
                  <a:txBody>
                    <a:bodyPr/>
                    <a:lstStyle/>
                    <a:p>
                      <a:pPr marL="0" marR="0" indent="0">
                        <a:lnSpc>
                          <a:spcPct val="103000"/>
                        </a:lnSpc>
                        <a:buNone/>
                      </a:pPr>
                      <a:r>
                        <a:rPr lang="en-US" sz="1100" kern="100">
                          <a:effectLst/>
                        </a:rPr>
                        <a:t>Immersion heater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Supplies controlled heat to the reboiler.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3265126876"/>
                  </a:ext>
                </a:extLst>
              </a:tr>
              <a:tr h="283137">
                <a:tc>
                  <a:txBody>
                    <a:bodyPr/>
                    <a:lstStyle/>
                    <a:p>
                      <a:pPr marL="0" marR="0" indent="0">
                        <a:lnSpc>
                          <a:spcPct val="103000"/>
                        </a:lnSpc>
                        <a:buNone/>
                      </a:pPr>
                      <a:r>
                        <a:rPr lang="en-US" sz="1100" kern="100">
                          <a:effectLst/>
                        </a:rPr>
                        <a:t>Condenser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Cools and condenses the water-ethanol solution into liquid distillate.</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2285434619"/>
                  </a:ext>
                </a:extLst>
              </a:tr>
              <a:tr h="283137">
                <a:tc>
                  <a:txBody>
                    <a:bodyPr/>
                    <a:lstStyle/>
                    <a:p>
                      <a:pPr marL="0" marR="0" indent="0">
                        <a:lnSpc>
                          <a:spcPct val="103000"/>
                        </a:lnSpc>
                        <a:buNone/>
                      </a:pPr>
                      <a:r>
                        <a:rPr lang="en-US" sz="1100" kern="100">
                          <a:effectLst/>
                        </a:rPr>
                        <a:t>Feed tank</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dirty="0">
                          <a:effectLst/>
                        </a:rPr>
                        <a:t>Stores the ethanol and water before being sent to the column.</a:t>
                      </a:r>
                      <a:endParaRPr lang="en-US" sz="1100" kern="100" dirty="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4138383077"/>
                  </a:ext>
                </a:extLst>
              </a:tr>
              <a:tr h="283137">
                <a:tc>
                  <a:txBody>
                    <a:bodyPr/>
                    <a:lstStyle/>
                    <a:p>
                      <a:pPr marL="0" marR="0" indent="0">
                        <a:lnSpc>
                          <a:spcPct val="103000"/>
                        </a:lnSpc>
                        <a:buNone/>
                      </a:pPr>
                      <a:r>
                        <a:rPr lang="en-US" sz="1100" kern="100">
                          <a:effectLst/>
                        </a:rPr>
                        <a:t>Vacuum Pump</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Reduces system pressure lowering boiling points.</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3830787680"/>
                  </a:ext>
                </a:extLst>
              </a:tr>
              <a:tr h="283137">
                <a:tc>
                  <a:txBody>
                    <a:bodyPr/>
                    <a:lstStyle/>
                    <a:p>
                      <a:pPr marL="0" marR="0" indent="0">
                        <a:lnSpc>
                          <a:spcPct val="103000"/>
                        </a:lnSpc>
                        <a:buNone/>
                      </a:pPr>
                      <a:r>
                        <a:rPr lang="en-US" sz="1100" kern="100">
                          <a:effectLst/>
                        </a:rPr>
                        <a:t>Bottom Product Receiver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Collects the stream exiting the bottom of the column.</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33954448"/>
                  </a:ext>
                </a:extLst>
              </a:tr>
              <a:tr h="283137">
                <a:tc>
                  <a:txBody>
                    <a:bodyPr/>
                    <a:lstStyle/>
                    <a:p>
                      <a:pPr marL="0" marR="0" indent="0">
                        <a:lnSpc>
                          <a:spcPct val="103000"/>
                        </a:lnSpc>
                        <a:buNone/>
                      </a:pPr>
                      <a:r>
                        <a:rPr lang="en-US" sz="1100" kern="100">
                          <a:effectLst/>
                        </a:rPr>
                        <a:t>Heat exchanger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Transfers heat between the streams.</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1907769039"/>
                  </a:ext>
                </a:extLst>
              </a:tr>
              <a:tr h="283137">
                <a:tc>
                  <a:txBody>
                    <a:bodyPr/>
                    <a:lstStyle/>
                    <a:p>
                      <a:pPr marL="0" marR="0" indent="0">
                        <a:lnSpc>
                          <a:spcPct val="103000"/>
                        </a:lnSpc>
                        <a:buNone/>
                      </a:pPr>
                      <a:r>
                        <a:rPr lang="en-US" sz="1100" kern="100">
                          <a:effectLst/>
                        </a:rPr>
                        <a:t>Reboiler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Heats bottom mixture to generate vapor to rise through the column.</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806606137"/>
                  </a:ext>
                </a:extLst>
              </a:tr>
              <a:tr h="283137">
                <a:tc>
                  <a:txBody>
                    <a:bodyPr/>
                    <a:lstStyle/>
                    <a:p>
                      <a:pPr marL="0" marR="0" indent="0">
                        <a:lnSpc>
                          <a:spcPct val="103000"/>
                        </a:lnSpc>
                        <a:buNone/>
                      </a:pPr>
                      <a:r>
                        <a:rPr lang="en-US" sz="1100" kern="100">
                          <a:effectLst/>
                        </a:rPr>
                        <a:t>Top Product Receiver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Collects the condensed distillate.</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3531003212"/>
                  </a:ext>
                </a:extLst>
              </a:tr>
              <a:tr h="283137">
                <a:tc>
                  <a:txBody>
                    <a:bodyPr/>
                    <a:lstStyle/>
                    <a:p>
                      <a:pPr marL="0" marR="0" indent="0">
                        <a:lnSpc>
                          <a:spcPct val="103000"/>
                        </a:lnSpc>
                        <a:buNone/>
                      </a:pPr>
                      <a:r>
                        <a:rPr lang="en-US" sz="1100" kern="100">
                          <a:effectLst/>
                        </a:rPr>
                        <a:t>Decanter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Separates any possible immiscible liquid phases.</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844171913"/>
                  </a:ext>
                </a:extLst>
              </a:tr>
              <a:tr h="283137">
                <a:tc>
                  <a:txBody>
                    <a:bodyPr/>
                    <a:lstStyle/>
                    <a:p>
                      <a:pPr marL="0" marR="0" indent="0">
                        <a:lnSpc>
                          <a:spcPct val="103000"/>
                        </a:lnSpc>
                        <a:buNone/>
                      </a:pPr>
                      <a:r>
                        <a:rPr lang="en-US" sz="1100" kern="100">
                          <a:effectLst/>
                        </a:rPr>
                        <a:t>Manometer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Measures pressure drop in the column, monitoring the vapor flow and performance.</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1359446864"/>
                  </a:ext>
                </a:extLst>
              </a:tr>
              <a:tr h="283137">
                <a:tc>
                  <a:txBody>
                    <a:bodyPr/>
                    <a:lstStyle/>
                    <a:p>
                      <a:pPr marL="0" marR="0" indent="0">
                        <a:lnSpc>
                          <a:spcPct val="103000"/>
                        </a:lnSpc>
                        <a:buNone/>
                      </a:pPr>
                      <a:r>
                        <a:rPr lang="en-US" sz="1100" kern="100">
                          <a:effectLst/>
                        </a:rPr>
                        <a:t>Vent</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Releases gas safely from the system.</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1881610232"/>
                  </a:ext>
                </a:extLst>
              </a:tr>
              <a:tr h="283137">
                <a:tc>
                  <a:txBody>
                    <a:bodyPr/>
                    <a:lstStyle/>
                    <a:p>
                      <a:pPr marL="0" marR="0" indent="0">
                        <a:lnSpc>
                          <a:spcPct val="103000"/>
                        </a:lnSpc>
                        <a:buNone/>
                      </a:pPr>
                      <a:r>
                        <a:rPr lang="en-US" sz="1100" kern="100">
                          <a:effectLst/>
                        </a:rPr>
                        <a:t>Reflux Valve</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Controls the condensed distillate returned to the column.</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26963886"/>
                  </a:ext>
                </a:extLst>
              </a:tr>
              <a:tr h="283137">
                <a:tc>
                  <a:txBody>
                    <a:bodyPr/>
                    <a:lstStyle/>
                    <a:p>
                      <a:pPr marL="0" marR="0" indent="0">
                        <a:lnSpc>
                          <a:spcPct val="103000"/>
                        </a:lnSpc>
                        <a:buNone/>
                      </a:pPr>
                      <a:r>
                        <a:rPr lang="en-US" sz="1100" kern="100">
                          <a:effectLst/>
                        </a:rPr>
                        <a:t>Feed Pump</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a:effectLst/>
                        </a:rPr>
                        <a:t>Delivers the solution from the feed tank to the column at controlled rates.</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1739722535"/>
                  </a:ext>
                </a:extLst>
              </a:tr>
              <a:tr h="283137">
                <a:tc>
                  <a:txBody>
                    <a:bodyPr/>
                    <a:lstStyle/>
                    <a:p>
                      <a:pPr marL="0" marR="0" indent="0">
                        <a:lnSpc>
                          <a:spcPct val="103000"/>
                        </a:lnSpc>
                        <a:buNone/>
                      </a:pPr>
                      <a:r>
                        <a:rPr lang="en-US" sz="1100" kern="100">
                          <a:effectLst/>
                        </a:rPr>
                        <a:t>Cooling Water</a:t>
                      </a:r>
                      <a:endParaRPr lang="en-US" sz="1100" kern="10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tc>
                  <a:txBody>
                    <a:bodyPr/>
                    <a:lstStyle/>
                    <a:p>
                      <a:pPr marL="0" marR="0" indent="0">
                        <a:lnSpc>
                          <a:spcPct val="103000"/>
                        </a:lnSpc>
                        <a:buNone/>
                      </a:pPr>
                      <a:r>
                        <a:rPr lang="en-US" sz="1100" kern="100" dirty="0">
                          <a:effectLst/>
                        </a:rPr>
                        <a:t>Circulates through the condenser and heat exchanger to maintain condensation.</a:t>
                      </a:r>
                      <a:endParaRPr lang="en-US" sz="1100" kern="100" dirty="0">
                        <a:solidFill>
                          <a:srgbClr val="000000"/>
                        </a:solidFill>
                        <a:effectLst/>
                        <a:latin typeface="Times New Roman" panose="02020603050405020304" pitchFamily="18" charset="0"/>
                        <a:ea typeface="Times New Roman" panose="02020603050405020304" pitchFamily="18" charset="0"/>
                      </a:endParaRPr>
                    </a:p>
                  </a:txBody>
                  <a:tcPr marL="36896" marR="36896" marT="36896" marB="36896"/>
                </a:tc>
                <a:extLst>
                  <a:ext uri="{0D108BD9-81ED-4DB2-BD59-A6C34878D82A}">
                    <a16:rowId xmlns:a16="http://schemas.microsoft.com/office/drawing/2014/main" val="4061632332"/>
                  </a:ext>
                </a:extLst>
              </a:tr>
            </a:tbl>
          </a:graphicData>
        </a:graphic>
      </p:graphicFrame>
    </p:spTree>
    <p:extLst>
      <p:ext uri="{BB962C8B-B14F-4D97-AF65-F5344CB8AC3E}">
        <p14:creationId xmlns:p14="http://schemas.microsoft.com/office/powerpoint/2010/main" val="175179244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83A36-6BB2-7D3E-DCD4-23471AFA4D64}"/>
              </a:ext>
            </a:extLst>
          </p:cNvPr>
          <p:cNvSpPr>
            <a:spLocks noGrp="1"/>
          </p:cNvSpPr>
          <p:nvPr>
            <p:ph type="title"/>
          </p:nvPr>
        </p:nvSpPr>
        <p:spPr/>
        <p:txBody>
          <a:bodyPr/>
          <a:lstStyle/>
          <a:p>
            <a:r>
              <a:rPr lang="en-US" altLang="en-US"/>
              <a:t>Material &amp; Supplies</a:t>
            </a:r>
            <a:endParaRPr lang="en-US"/>
          </a:p>
        </p:txBody>
      </p:sp>
      <p:sp>
        <p:nvSpPr>
          <p:cNvPr id="3" name="Content Placeholder 2">
            <a:extLst>
              <a:ext uri="{FF2B5EF4-FFF2-40B4-BE49-F238E27FC236}">
                <a16:creationId xmlns:a16="http://schemas.microsoft.com/office/drawing/2014/main" id="{C045C1CC-7534-0FE1-1F69-50F5D7E7DB2D}"/>
              </a:ext>
            </a:extLst>
          </p:cNvPr>
          <p:cNvSpPr>
            <a:spLocks noGrp="1"/>
          </p:cNvSpPr>
          <p:nvPr>
            <p:ph idx="1"/>
          </p:nvPr>
        </p:nvSpPr>
        <p:spPr/>
        <p:txBody>
          <a:bodyPr vert="horz" lIns="91440" tIns="45720" rIns="91440" bIns="45720" rtlCol="0" anchor="t">
            <a:normAutofit fontScale="92500" lnSpcReduction="10000"/>
          </a:bodyPr>
          <a:lstStyle/>
          <a:p>
            <a:r>
              <a:rPr lang="en-US" sz="1600" dirty="0"/>
              <a:t>180 Proof </a:t>
            </a:r>
            <a:r>
              <a:rPr lang="en-US" sz="1600" dirty="0">
                <a:ea typeface="+mn-lt"/>
                <a:cs typeface="+mn-lt"/>
              </a:rPr>
              <a:t>Ethanol </a:t>
            </a:r>
            <a:r>
              <a:rPr lang="en-US" sz="1600" dirty="0"/>
              <a:t> – </a:t>
            </a:r>
            <a:r>
              <a:rPr lang="en-US" sz="1600" dirty="0">
                <a:ea typeface="+mn-lt"/>
                <a:cs typeface="+mn-lt"/>
              </a:rPr>
              <a:t>Solution that will be separated from water.</a:t>
            </a:r>
            <a:endParaRPr lang="en-US" sz="1600" dirty="0"/>
          </a:p>
          <a:p>
            <a:r>
              <a:rPr lang="en-US" sz="1600" dirty="0"/>
              <a:t>Deionized Water - </a:t>
            </a:r>
            <a:r>
              <a:rPr lang="en-US" sz="1600" dirty="0">
                <a:ea typeface="+mn-lt"/>
                <a:cs typeface="+mn-lt"/>
              </a:rPr>
              <a:t>Solution that will be separated from ethanol.</a:t>
            </a:r>
          </a:p>
          <a:p>
            <a:r>
              <a:rPr lang="en-US" sz="1600" dirty="0"/>
              <a:t>Thermal Gloves - </a:t>
            </a:r>
            <a:r>
              <a:rPr lang="en-US" sz="1600" dirty="0">
                <a:ea typeface="+mn-lt"/>
                <a:cs typeface="+mn-lt"/>
              </a:rPr>
              <a:t>Protects hands when handling hot materials when </a:t>
            </a:r>
            <a:r>
              <a:rPr lang="en-US" sz="1600" dirty="0" err="1">
                <a:ea typeface="+mn-lt"/>
                <a:cs typeface="+mn-lt"/>
              </a:rPr>
              <a:t>extratcing</a:t>
            </a:r>
            <a:r>
              <a:rPr lang="en-US" sz="1600" dirty="0">
                <a:ea typeface="+mn-lt"/>
                <a:cs typeface="+mn-lt"/>
              </a:rPr>
              <a:t>. </a:t>
            </a:r>
          </a:p>
          <a:p>
            <a:r>
              <a:rPr lang="en-US" sz="1600" dirty="0">
                <a:ea typeface="+mn-lt"/>
                <a:cs typeface="+mn-lt"/>
              </a:rPr>
              <a:t>Test tubes  - Used to house and contain the solution distillated.</a:t>
            </a:r>
            <a:endParaRPr lang="en-US" sz="1600" dirty="0"/>
          </a:p>
          <a:p>
            <a:r>
              <a:rPr lang="en-US" sz="1600" dirty="0">
                <a:ea typeface="+mn-lt"/>
                <a:cs typeface="+mn-lt"/>
              </a:rPr>
              <a:t>Ice/ Ice water - Used to cool collected samples.</a:t>
            </a:r>
          </a:p>
          <a:p>
            <a:r>
              <a:rPr lang="en-US" sz="1600" dirty="0"/>
              <a:t>Snap 41 -  Used to read Alcohol content from sample extracted.</a:t>
            </a:r>
          </a:p>
          <a:p>
            <a:r>
              <a:rPr lang="en-US" sz="1600" dirty="0"/>
              <a:t>Graduated Cylinder - </a:t>
            </a:r>
            <a:r>
              <a:rPr lang="en-US" sz="1600" dirty="0">
                <a:ea typeface="+mn-lt"/>
                <a:cs typeface="+mn-lt"/>
              </a:rPr>
              <a:t>Used to collect the extracted distillate and help with measuring the flow rate.</a:t>
            </a:r>
            <a:endParaRPr lang="en-US" sz="1600" dirty="0"/>
          </a:p>
          <a:p>
            <a:r>
              <a:rPr lang="en-US" sz="1600" dirty="0">
                <a:ea typeface="+mn-lt"/>
                <a:cs typeface="+mn-lt"/>
              </a:rPr>
              <a:t>Funnel - Helps the transfer of solutions to the reboiler.</a:t>
            </a:r>
            <a:endParaRPr lang="en-US" sz="1600" dirty="0"/>
          </a:p>
          <a:p>
            <a:r>
              <a:rPr lang="en-US" sz="1600" dirty="0">
                <a:ea typeface="+mn-lt"/>
                <a:cs typeface="+mn-lt"/>
              </a:rPr>
              <a:t>Cooling water - Circulated through condenser to extract distillate.</a:t>
            </a:r>
          </a:p>
          <a:p>
            <a:r>
              <a:rPr lang="en-US" sz="1600" dirty="0"/>
              <a:t>Stopwatch - helped measure the time in the flow rate.</a:t>
            </a:r>
          </a:p>
          <a:p>
            <a:r>
              <a:rPr lang="en-US" sz="1600" dirty="0"/>
              <a:t>Built in operating System – Used to measure temperature at different valves.</a:t>
            </a:r>
          </a:p>
          <a:p>
            <a:r>
              <a:rPr lang="en-US" sz="1600" dirty="0"/>
              <a:t>Control panel - Controls voltage of reboiler and reflux ratio.</a:t>
            </a:r>
          </a:p>
          <a:p>
            <a:r>
              <a:rPr lang="en-US" sz="1600" dirty="0"/>
              <a:t>USB Flach Drive – Transferring data for analysis.</a:t>
            </a:r>
          </a:p>
          <a:p>
            <a:r>
              <a:rPr lang="en-US" sz="1600" dirty="0"/>
              <a:t>Thermocouples – built in to measure the temperature.</a:t>
            </a:r>
          </a:p>
          <a:p>
            <a:endParaRPr lang="en-US" sz="2000" dirty="0"/>
          </a:p>
          <a:p>
            <a:endParaRPr lang="en-US" dirty="0"/>
          </a:p>
        </p:txBody>
      </p:sp>
      <p:pic>
        <p:nvPicPr>
          <p:cNvPr id="4" name="Picture 3" descr="Food Grade Ethanol 200/190 Proof, Organic Alcohol | Lab Alley">
            <a:extLst>
              <a:ext uri="{FF2B5EF4-FFF2-40B4-BE49-F238E27FC236}">
                <a16:creationId xmlns:a16="http://schemas.microsoft.com/office/drawing/2014/main" id="{F1F307B4-1FA5-7A97-2C7E-998DC24C5A73}"/>
              </a:ext>
            </a:extLst>
          </p:cNvPr>
          <p:cNvPicPr>
            <a:picLocks noChangeAspect="1"/>
          </p:cNvPicPr>
          <p:nvPr/>
        </p:nvPicPr>
        <p:blipFill>
          <a:blip r:embed="rId3"/>
          <a:stretch>
            <a:fillRect/>
          </a:stretch>
        </p:blipFill>
        <p:spPr>
          <a:xfrm>
            <a:off x="6757358" y="369497"/>
            <a:ext cx="3033623" cy="1963948"/>
          </a:xfrm>
          <a:prstGeom prst="rect">
            <a:avLst/>
          </a:prstGeom>
        </p:spPr>
      </p:pic>
      <p:pic>
        <p:nvPicPr>
          <p:cNvPr id="5" name="Picture 4" descr="Anton Paar Digital Alcohol Meter |In Stock">
            <a:extLst>
              <a:ext uri="{FF2B5EF4-FFF2-40B4-BE49-F238E27FC236}">
                <a16:creationId xmlns:a16="http://schemas.microsoft.com/office/drawing/2014/main" id="{17EE7E65-4D48-E746-D608-879C64531CFD}"/>
              </a:ext>
            </a:extLst>
          </p:cNvPr>
          <p:cNvPicPr>
            <a:picLocks noChangeAspect="1"/>
          </p:cNvPicPr>
          <p:nvPr/>
        </p:nvPicPr>
        <p:blipFill>
          <a:blip r:embed="rId4"/>
          <a:stretch>
            <a:fillRect/>
          </a:stretch>
        </p:blipFill>
        <p:spPr>
          <a:xfrm>
            <a:off x="8266981" y="4193876"/>
            <a:ext cx="3033623" cy="1992702"/>
          </a:xfrm>
          <a:prstGeom prst="rect">
            <a:avLst/>
          </a:prstGeom>
        </p:spPr>
      </p:pic>
    </p:spTree>
    <p:extLst>
      <p:ext uri="{BB962C8B-B14F-4D97-AF65-F5344CB8AC3E}">
        <p14:creationId xmlns:p14="http://schemas.microsoft.com/office/powerpoint/2010/main" val="3240356837"/>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49C0-6A63-A8C1-F0BF-757194741A3F}"/>
              </a:ext>
            </a:extLst>
          </p:cNvPr>
          <p:cNvSpPr>
            <a:spLocks noGrp="1"/>
          </p:cNvSpPr>
          <p:nvPr>
            <p:ph type="title"/>
          </p:nvPr>
        </p:nvSpPr>
        <p:spPr/>
        <p:txBody>
          <a:bodyPr/>
          <a:lstStyle/>
          <a:p>
            <a:r>
              <a:rPr lang="en-US"/>
              <a:t>Procedure for Part A.</a:t>
            </a:r>
          </a:p>
        </p:txBody>
      </p:sp>
      <p:sp>
        <p:nvSpPr>
          <p:cNvPr id="3" name="Content Placeholder 2">
            <a:extLst>
              <a:ext uri="{FF2B5EF4-FFF2-40B4-BE49-F238E27FC236}">
                <a16:creationId xmlns:a16="http://schemas.microsoft.com/office/drawing/2014/main" id="{F55092D2-7DE8-6EEE-3D03-3C6156B30A79}"/>
              </a:ext>
            </a:extLst>
          </p:cNvPr>
          <p:cNvSpPr>
            <a:spLocks noGrp="1"/>
          </p:cNvSpPr>
          <p:nvPr>
            <p:ph idx="1"/>
          </p:nvPr>
        </p:nvSpPr>
        <p:spPr/>
        <p:txBody>
          <a:bodyPr vert="horz" lIns="91440" tIns="45720" rIns="91440" bIns="45720" rtlCol="0" anchor="t">
            <a:normAutofit/>
          </a:bodyPr>
          <a:lstStyle/>
          <a:p>
            <a:r>
              <a:rPr lang="en-US" sz="2000" dirty="0"/>
              <a:t>Mix 10 L of 10%wt Ethanol to 90%wt water.</a:t>
            </a:r>
          </a:p>
          <a:p>
            <a:r>
              <a:rPr lang="en-US" sz="2000" dirty="0">
                <a:ea typeface="+mn-lt"/>
                <a:cs typeface="+mn-lt"/>
              </a:rPr>
              <a:t>Prepare equipment for the experiment by turning off the reflux ratio timer (on console), ensure all valves are closed, and open valve #10 to allow total reflux.</a:t>
            </a:r>
            <a:endParaRPr lang="en-US" dirty="0"/>
          </a:p>
          <a:p>
            <a:r>
              <a:rPr lang="en-US" sz="2000" dirty="0">
                <a:ea typeface="+mn-lt"/>
                <a:cs typeface="+mn-lt"/>
              </a:rPr>
              <a:t>Set temperature to T9 (reboiler) and open valve #5 to allow cool water to flow to condenser until the flow (F11) is around 3 L/min.</a:t>
            </a:r>
            <a:endParaRPr lang="en-US" dirty="0"/>
          </a:p>
          <a:p>
            <a:r>
              <a:rPr lang="en-US" sz="2000" dirty="0"/>
              <a:t>Inset into the reboiler, turn on constant flow of cooling water and run system at 1.50 KW </a:t>
            </a:r>
            <a:r>
              <a:rPr lang="en-US" sz="2000" dirty="0">
                <a:ea typeface="+mn-lt"/>
                <a:cs typeface="+mn-lt"/>
              </a:rPr>
              <a:t>by flipping switch to ‘power on’ (a red light should come on until</a:t>
            </a:r>
            <a:r>
              <a:rPr lang="en-US" sz="2000" dirty="0"/>
              <a:t> steady state is reached.</a:t>
            </a:r>
          </a:p>
          <a:p>
            <a:r>
              <a:rPr lang="en-US" sz="2000" dirty="0">
                <a:ea typeface="+mn-lt"/>
                <a:cs typeface="+mn-lt"/>
              </a:rPr>
              <a:t>Open valves #6 &amp; #7 and ensure there isn’t a pressure difference in the manometer, then close valves #6 &amp; #7.</a:t>
            </a:r>
            <a:endParaRPr lang="en-US" dirty="0">
              <a:ea typeface="+mn-lt"/>
              <a:cs typeface="+mn-lt"/>
            </a:endParaRPr>
          </a:p>
          <a:p>
            <a:r>
              <a:rPr lang="en-US" sz="2000" dirty="0">
                <a:ea typeface="+mn-lt"/>
                <a:cs typeface="+mn-lt"/>
              </a:rPr>
              <a:t>Wait for vapor to travel up the column and into the condenser. You will know vapor is rising throughout the column by observing changes in temperature for thermocouples T1-T8. Make note of the appearance of the trays throughout operation.</a:t>
            </a:r>
          </a:p>
          <a:p>
            <a:endParaRPr lang="en-US" sz="2000" dirty="0">
              <a:ea typeface="+mn-lt"/>
              <a:cs typeface="+mn-lt"/>
            </a:endParaRPr>
          </a:p>
        </p:txBody>
      </p:sp>
    </p:spTree>
    <p:extLst>
      <p:ext uri="{BB962C8B-B14F-4D97-AF65-F5344CB8AC3E}">
        <p14:creationId xmlns:p14="http://schemas.microsoft.com/office/powerpoint/2010/main" val="3484876347"/>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C0798-FAB5-5FA9-C1D3-B5E8BDC4C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7541D-761A-63EF-9F9D-36DCA86F0DF6}"/>
              </a:ext>
            </a:extLst>
          </p:cNvPr>
          <p:cNvSpPr>
            <a:spLocks noGrp="1"/>
          </p:cNvSpPr>
          <p:nvPr>
            <p:ph type="title"/>
          </p:nvPr>
        </p:nvSpPr>
        <p:spPr/>
        <p:txBody>
          <a:bodyPr/>
          <a:lstStyle/>
          <a:p>
            <a:r>
              <a:rPr lang="en-US"/>
              <a:t>Procedure for Part A. (Continued)</a:t>
            </a:r>
          </a:p>
        </p:txBody>
      </p:sp>
      <p:sp>
        <p:nvSpPr>
          <p:cNvPr id="3" name="Content Placeholder 2">
            <a:extLst>
              <a:ext uri="{FF2B5EF4-FFF2-40B4-BE49-F238E27FC236}">
                <a16:creationId xmlns:a16="http://schemas.microsoft.com/office/drawing/2014/main" id="{F0BE43CC-8FC6-7AAF-ED31-952DB777E247}"/>
              </a:ext>
            </a:extLst>
          </p:cNvPr>
          <p:cNvSpPr>
            <a:spLocks noGrp="1"/>
          </p:cNvSpPr>
          <p:nvPr>
            <p:ph idx="1"/>
          </p:nvPr>
        </p:nvSpPr>
        <p:spPr/>
        <p:txBody>
          <a:bodyPr vert="horz" lIns="91440" tIns="45720" rIns="91440" bIns="45720" rtlCol="0" anchor="t">
            <a:normAutofit/>
          </a:bodyPr>
          <a:lstStyle/>
          <a:p>
            <a:r>
              <a:rPr lang="en-US" sz="2000" dirty="0"/>
              <a:t>Record temperature once steady state and prepare for collecting samples.</a:t>
            </a:r>
          </a:p>
          <a:p>
            <a:r>
              <a:rPr lang="en-US" sz="2000" dirty="0"/>
              <a:t>Collect sample with Graduated cylinder and measure time at Valve 2 for distillate concentration and at Valve 3 for concentration at the reboiler.</a:t>
            </a:r>
          </a:p>
          <a:p>
            <a:r>
              <a:rPr lang="en-US" sz="2000" dirty="0"/>
              <a:t>Cool samples in cool water. Once it is cooled use Snap 41 to measure the density of solution for alcohol content.</a:t>
            </a:r>
          </a:p>
          <a:p>
            <a:r>
              <a:rPr lang="en-US" sz="2000" dirty="0"/>
              <a:t>Repeat at 3 different power values.</a:t>
            </a:r>
          </a:p>
          <a:p>
            <a:endParaRPr lang="en-US" sz="2000" dirty="0"/>
          </a:p>
          <a:p>
            <a:pPr marL="0" indent="0">
              <a:buNone/>
            </a:pPr>
            <a:endParaRPr lang="en-US" dirty="0"/>
          </a:p>
        </p:txBody>
      </p:sp>
    </p:spTree>
    <p:extLst>
      <p:ext uri="{BB962C8B-B14F-4D97-AF65-F5344CB8AC3E}">
        <p14:creationId xmlns:p14="http://schemas.microsoft.com/office/powerpoint/2010/main" val="2223891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A154-26A1-B25C-18DB-5ECC371D3782}"/>
              </a:ext>
            </a:extLst>
          </p:cNvPr>
          <p:cNvSpPr>
            <a:spLocks noGrp="1"/>
          </p:cNvSpPr>
          <p:nvPr>
            <p:ph type="title"/>
          </p:nvPr>
        </p:nvSpPr>
        <p:spPr/>
        <p:txBody>
          <a:bodyPr/>
          <a:lstStyle/>
          <a:p>
            <a:r>
              <a:rPr lang="en-US" sz="4400" baseline="0">
                <a:latin typeface="Aptos Display"/>
              </a:rPr>
              <a:t>Procedure for Part </a:t>
            </a:r>
            <a:r>
              <a:rPr lang="en-US">
                <a:latin typeface="Aptos Display"/>
              </a:rPr>
              <a:t>B</a:t>
            </a:r>
            <a:r>
              <a:rPr lang="en-US" sz="4400" baseline="0">
                <a:latin typeface="Aptos Display"/>
              </a:rPr>
              <a:t>.</a:t>
            </a:r>
            <a:r>
              <a:rPr lang="en-US" sz="4400">
                <a:latin typeface="Aptos Display"/>
                <a:ea typeface="Aptos Display"/>
                <a:cs typeface="Aptos Display"/>
              </a:rPr>
              <a:t>​</a:t>
            </a:r>
            <a:endParaRPr lang="en-US"/>
          </a:p>
        </p:txBody>
      </p:sp>
      <p:sp>
        <p:nvSpPr>
          <p:cNvPr id="3" name="Content Placeholder 2">
            <a:extLst>
              <a:ext uri="{FF2B5EF4-FFF2-40B4-BE49-F238E27FC236}">
                <a16:creationId xmlns:a16="http://schemas.microsoft.com/office/drawing/2014/main" id="{B594C075-32AE-DF72-3FE8-AC26274F734E}"/>
              </a:ext>
            </a:extLst>
          </p:cNvPr>
          <p:cNvSpPr>
            <a:spLocks noGrp="1"/>
          </p:cNvSpPr>
          <p:nvPr>
            <p:ph idx="1"/>
          </p:nvPr>
        </p:nvSpPr>
        <p:spPr/>
        <p:txBody>
          <a:bodyPr vert="horz" lIns="91440" tIns="45720" rIns="91440" bIns="45720" rtlCol="0" anchor="t">
            <a:normAutofit lnSpcReduction="10000"/>
          </a:bodyPr>
          <a:lstStyle/>
          <a:p>
            <a:r>
              <a:rPr lang="en-US" dirty="0"/>
              <a:t>Set the power level at 0.75 KW and run until steady state is achieved. (Do after finishing Part A)</a:t>
            </a:r>
          </a:p>
          <a:p>
            <a:r>
              <a:rPr lang="en-US" dirty="0"/>
              <a:t>Once steady state is achieved turn on reflux ratio 5:1 on the control pad by setting C- to 20 seconds and C+ to 4 seconds. </a:t>
            </a:r>
          </a:p>
          <a:p>
            <a:r>
              <a:rPr lang="en-US" dirty="0"/>
              <a:t> Record temperature at T1 and T8 for average temperature.</a:t>
            </a:r>
          </a:p>
          <a:p>
            <a:r>
              <a:rPr lang="en-US" dirty="0"/>
              <a:t>Next collect three samples from valve and Transfer to chill water.</a:t>
            </a:r>
          </a:p>
          <a:p>
            <a:r>
              <a:rPr lang="en-US" dirty="0"/>
              <a:t>Run sample through SNAP 41 and record density for alcohol concentration.</a:t>
            </a:r>
          </a:p>
          <a:p>
            <a:r>
              <a:rPr lang="en-US" dirty="0"/>
              <a:t>Repeat at different reflux ratio. </a:t>
            </a:r>
          </a:p>
          <a:p>
            <a:r>
              <a:rPr lang="en-US" dirty="0"/>
              <a:t>Compare results. </a:t>
            </a:r>
          </a:p>
        </p:txBody>
      </p:sp>
    </p:spTree>
    <p:extLst>
      <p:ext uri="{BB962C8B-B14F-4D97-AF65-F5344CB8AC3E}">
        <p14:creationId xmlns:p14="http://schemas.microsoft.com/office/powerpoint/2010/main" val="975551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31946-5A0B-2A55-A0E2-2605DF7C10B3}"/>
              </a:ext>
            </a:extLst>
          </p:cNvPr>
          <p:cNvSpPr>
            <a:spLocks noGrp="1"/>
          </p:cNvSpPr>
          <p:nvPr>
            <p:ph type="title"/>
          </p:nvPr>
        </p:nvSpPr>
        <p:spPr>
          <a:xfrm>
            <a:off x="838200" y="557189"/>
            <a:ext cx="3374136" cy="5567891"/>
          </a:xfrm>
        </p:spPr>
        <p:txBody>
          <a:bodyPr>
            <a:normAutofit/>
          </a:bodyPr>
          <a:lstStyle/>
          <a:p>
            <a:r>
              <a:rPr lang="en-US" sz="5200"/>
              <a:t>Safety </a:t>
            </a:r>
          </a:p>
        </p:txBody>
      </p:sp>
      <p:graphicFrame>
        <p:nvGraphicFramePr>
          <p:cNvPr id="5" name="Content Placeholder 2">
            <a:extLst>
              <a:ext uri="{FF2B5EF4-FFF2-40B4-BE49-F238E27FC236}">
                <a16:creationId xmlns:a16="http://schemas.microsoft.com/office/drawing/2014/main" id="{04D4DA36-61ED-2516-BD6B-F9FA9093697C}"/>
              </a:ext>
            </a:extLst>
          </p:cNvPr>
          <p:cNvGraphicFramePr>
            <a:graphicFrameLocks noGrp="1"/>
          </p:cNvGraphicFramePr>
          <p:nvPr>
            <p:ph idx="1"/>
            <p:extLst>
              <p:ext uri="{D42A27DB-BD31-4B8C-83A1-F6EECF244321}">
                <p14:modId xmlns:p14="http://schemas.microsoft.com/office/powerpoint/2010/main" val="2009253360"/>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582585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86A08E-9C37-848B-4206-24BB0AF8FC33}"/>
              </a:ext>
            </a:extLst>
          </p:cNvPr>
          <p:cNvSpPr>
            <a:spLocks noGrp="1"/>
          </p:cNvSpPr>
          <p:nvPr>
            <p:ph type="title"/>
          </p:nvPr>
        </p:nvSpPr>
        <p:spPr>
          <a:xfrm>
            <a:off x="1045029" y="507160"/>
            <a:ext cx="2993571" cy="5438730"/>
          </a:xfrm>
        </p:spPr>
        <p:txBody>
          <a:bodyPr>
            <a:normAutofit/>
          </a:bodyPr>
          <a:lstStyle/>
          <a:p>
            <a:r>
              <a:rPr lang="en-US" sz="2500"/>
              <a:t>Experimental Challenges/Lessons Learned </a:t>
            </a:r>
          </a:p>
        </p:txBody>
      </p:sp>
      <p:sp>
        <p:nvSpPr>
          <p:cNvPr id="13" name="Rectangle 1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6" name="Content Placeholder 2">
            <a:extLst>
              <a:ext uri="{FF2B5EF4-FFF2-40B4-BE49-F238E27FC236}">
                <a16:creationId xmlns:a16="http://schemas.microsoft.com/office/drawing/2014/main" id="{32DDB840-0801-3B6C-9D9C-C641BB951CD9}"/>
              </a:ext>
            </a:extLst>
          </p:cNvPr>
          <p:cNvGraphicFramePr>
            <a:graphicFrameLocks noGrp="1"/>
          </p:cNvGraphicFramePr>
          <p:nvPr>
            <p:ph idx="1"/>
            <p:extLst>
              <p:ext uri="{D42A27DB-BD31-4B8C-83A1-F6EECF244321}">
                <p14:modId xmlns:p14="http://schemas.microsoft.com/office/powerpoint/2010/main" val="791733823"/>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9674797"/>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1244</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Times New Roman</vt:lpstr>
      <vt:lpstr>office theme</vt:lpstr>
      <vt:lpstr>Binary Batch Distilation</vt:lpstr>
      <vt:lpstr>Purpose of lab</vt:lpstr>
      <vt:lpstr>Technical nature of Distillation at different Temperature and Reflux ratios.</vt:lpstr>
      <vt:lpstr>Theory of Binary Batch Distillation</vt:lpstr>
      <vt:lpstr>Apparatus</vt:lpstr>
      <vt:lpstr>Material &amp; Supplies</vt:lpstr>
      <vt:lpstr>Procedure for Part A.</vt:lpstr>
      <vt:lpstr>Procedure for Part A. (Continued)</vt:lpstr>
      <vt:lpstr>Procedure for Part B.​</vt:lpstr>
      <vt:lpstr>Safety </vt:lpstr>
      <vt:lpstr>Experimental Challenges/Lessons Learned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Zdunek, Alan</cp:lastModifiedBy>
  <cp:revision>144</cp:revision>
  <dcterms:created xsi:type="dcterms:W3CDTF">2025-09-30T03:45:47Z</dcterms:created>
  <dcterms:modified xsi:type="dcterms:W3CDTF">2025-10-01T19:38:24Z</dcterms:modified>
</cp:coreProperties>
</file>