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29_0.xml" ContentType="application/vnd.ms-powerpoint.comments+xml"/>
  <Override PartName="/ppt/comments/modernComment_12D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97" r:id="rId3"/>
    <p:sldId id="298" r:id="rId4"/>
    <p:sldId id="299" r:id="rId5"/>
    <p:sldId id="300" r:id="rId6"/>
    <p:sldId id="301" r:id="rId7"/>
    <p:sldId id="302" r:id="rId8"/>
    <p:sldId id="303" r:id="rId9"/>
  </p:sldIdLst>
  <p:sldSz cx="9144000" cy="6858000" type="screen4x3"/>
  <p:notesSz cx="6858000" cy="90773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52CCAC-0B66-CA76-A7A3-D551D844506B}" name="Zdunek, Alan" initials="AZ" userId="S::zdunek@uic.edu::5627838d-8155-4d77-aa14-f1ef87cd6a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CC"/>
    <a:srgbClr val="3366FF"/>
    <a:srgbClr val="CC9900"/>
    <a:srgbClr val="996600"/>
    <a:srgbClr val="99CCFF"/>
    <a:srgbClr val="800000"/>
    <a:srgbClr val="FF0000"/>
    <a:srgbClr val="002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D2E48B-105C-25A4-0EB5-58E20539FFED}" v="37" dt="2025-09-16T14:30:47.560"/>
    <p1510:client id="{41AB0C10-43C7-415F-A696-CBCC66151C42}" v="7" dt="2025-09-16T04:27:53.038"/>
    <p1510:client id="{633E6618-B118-DA84-878C-FC2E5E2960CB}" v="5" dt="2025-09-16T16:37:48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2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B82FB08-1ABE-4C03-8A51-6234D27563AA}" authorId="{DF52CCAC-0B66-CA76-A7A3-D551D844506B}" created="2025-09-17T22:31:48.03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1"/>
      <ac:spMk id="128003" creationId="{9978F6FE-7BD6-1200-C589-5DA210CC5F69}"/>
      <ac:txMk cp="23" len="20">
        <ac:context len="397" hash="2297388853"/>
      </ac:txMk>
    </ac:txMkLst>
    <p188:pos x="7811729" y="277761"/>
    <p188:txBody>
      <a:bodyPr/>
      <a:lstStyle/>
      <a:p>
        <a:r>
          <a:rPr lang="en-US"/>
          <a:t>-1
Measure LPM at a given SCFM</a:t>
        </a:r>
      </a:p>
    </p188:txBody>
  </p188:cm>
  <p188:cm id="{86B1E0DE-408B-4FDB-8FCC-8EDF1746D0C5}" authorId="{DF52CCAC-0B66-CA76-A7A3-D551D844506B}" created="2025-09-17T22:32:09.81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1"/>
      <ac:spMk id="128003" creationId="{9978F6FE-7BD6-1200-C589-5DA210CC5F69}"/>
      <ac:txMk cp="168" len="1">
        <ac:context len="397" hash="2297388853"/>
      </ac:txMk>
    </ac:txMkLst>
    <p188:pos x="7575755" y="1644445"/>
    <p188:txBody>
      <a:bodyPr/>
      <a:lstStyle/>
      <a:p>
        <a:r>
          <a:rPr lang="en-US"/>
          <a:t>Delta P</a:t>
        </a:r>
      </a:p>
    </p188:txBody>
  </p188:cm>
  <p188:cm id="{E65087BB-C6ED-44B5-ACA5-5E6829F85C54}" authorId="{DF52CCAC-0B66-CA76-A7A3-D551D844506B}" created="2025-09-17T22:32:48.77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1"/>
      <ac:spMk id="128003" creationId="{9978F6FE-7BD6-1200-C589-5DA210CC5F69}"/>
      <ac:txMk cp="197" len="18">
        <ac:context len="397" hash="2297388853"/>
      </ac:txMk>
    </ac:txMkLst>
    <p188:pos x="6150077" y="2499852"/>
    <p188:txBody>
      <a:bodyPr/>
      <a:lstStyle/>
      <a:p>
        <a:r>
          <a:rPr lang="en-US"/>
          <a:t>-2
Be more specific here.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15B33B-D3A8-44A3-ADEA-1DAD72018C0C}" authorId="{DF52CCAC-0B66-CA76-A7A3-D551D844506B}" created="2025-09-17T22:33:31.80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051" creationId="{A9E29E0E-3B89-C73A-8447-E3B704B73925}"/>
    </ac:deMkLst>
    <p188:txBody>
      <a:bodyPr/>
      <a:lstStyle/>
      <a:p>
        <a:r>
          <a:rPr lang="en-US"/>
          <a:t>94/100</a:t>
        </a:r>
      </a:p>
    </p188:txBody>
  </p188:cm>
</p188:cmLst>
</file>

<file path=ppt/comments/modernComment_12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DF400C-D660-4B2D-890D-A0DF54ADFEA8}" authorId="{DF52CCAC-0B66-CA76-A7A3-D551D844506B}" created="2025-09-17T22:30:41.09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7"/>
      <ac:spMk id="92163" creationId="{6D022C21-FD19-0E5E-1120-DE55A244CD6C}"/>
    </ac:deMkLst>
    <p188:txBody>
      <a:bodyPr/>
      <a:lstStyle/>
      <a:p>
        <a:r>
          <a:rPr lang="en-US"/>
          <a:t>-3
State what components you are testing- straight pipes, fittings, orifice meter, and mention the apparatus name.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098FC8B-C1F9-9A0B-1302-02437D2096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05FAB3C7-E20A-A7A1-6552-5634D436907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B8918C63-82C9-FCCE-5C1E-789E79E26B9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2A92E399-647F-D005-3F9E-B62885C5FB7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8DC1546-4B35-4560-AF80-C17B82ED55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A16D7448-AA6C-37A8-2B05-C76F195BFE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42E882EA-2AD3-E33B-3655-1C326695353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453FFD25-81A8-ABE7-F040-CF61AE34AF5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0463" y="681038"/>
            <a:ext cx="4538662" cy="340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1029">
            <a:extLst>
              <a:ext uri="{FF2B5EF4-FFF2-40B4-BE49-F238E27FC236}">
                <a16:creationId xmlns:a16="http://schemas.microsoft.com/office/drawing/2014/main" id="{0351700C-9CF7-1934-FD19-81D0D30198B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1650"/>
            <a:ext cx="5486400" cy="408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90" name="Rectangle 1030">
            <a:extLst>
              <a:ext uri="{FF2B5EF4-FFF2-40B4-BE49-F238E27FC236}">
                <a16:creationId xmlns:a16="http://schemas.microsoft.com/office/drawing/2014/main" id="{A3CA61ED-752C-7CE4-8091-27C9E5C590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91" name="Rectangle 1031">
            <a:extLst>
              <a:ext uri="{FF2B5EF4-FFF2-40B4-BE49-F238E27FC236}">
                <a16:creationId xmlns:a16="http://schemas.microsoft.com/office/drawing/2014/main" id="{14067BB8-BE62-A27A-7E95-767ECB5E14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B176486-25B4-4DF5-BEE4-695063F5B50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C8BA6ED6-3A7D-1CDE-8379-DB265570BF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5A8CA4-EE6F-486F-9826-E0EEEF4CCE4C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6CF7A9A2-54FC-CAED-2DBE-59C0B2F0C1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DFE1E4A9-E1D9-CE0F-8F9B-95A5D8A48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39389F2B-F864-57FD-FE19-5F3BB1FF1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9A0ED4-6A43-4E03-909D-49ADF89C36D1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343C1538-7230-B512-DE98-7CDC0B8EB6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55EEFCC4-A0E5-631D-D24B-876E6CE28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25B4743-04E7-4BA7-9097-A86A5C12F0D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A9985D5-AE36-70AE-5CA9-F7C364757A7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6E066BEE-E5A8-B7AC-B5B9-E962DC3516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1AF93FD8-B9CD-5538-B391-CE6825DF82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400800"/>
            <a:ext cx="2378075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853D0-FBB7-C4E3-042E-D1184266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7F643-B29F-6446-7F48-E14B63F51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5546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3EF1-93CC-CF18-4511-CA0A9B5A4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8697-8B12-412E-63F2-890158FD1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318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9892-1C90-7EED-5E77-57089478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B5D7C-C442-7FF4-B0A4-7AD553F62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38AE8-31D5-99C6-FF8F-5B6ABBEE6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202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F014-A496-D0E0-1878-3018481BD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82341-580A-2908-6BA6-A1FE61374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DAD0A-8C03-0D00-896F-1983523C4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0997F-EA2B-C97D-69F6-6CC02B4D3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903DC-41EF-C937-E21B-123EE9125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6340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5AFFE-3B6D-BDF1-4BBD-635C090B0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962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90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2111-C192-CFD9-630A-7752EE44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BBAAB-1578-D397-6DBD-5D29A7B72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D6C61-8AE9-2998-23DC-CDA01CB4D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794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C69FC-4D7F-175B-CA4C-0F52C3034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07ADC-2C3F-7776-A0E6-51678DD07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A6A03-6EBD-C525-3868-D682CB2C2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378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A7A1-3B4E-8B2C-7809-EE76CA7B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0D5D0-6AC7-060D-B27A-A5B8F5E5B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9847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0C30B9-743B-8137-B32D-ADC985D7CE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7E229-C667-2FC3-B7CB-21078720A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32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AD6AA4-D2AF-1326-04C1-FCEE48123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2B9541-5001-1010-D8C8-949C2287C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39992427-8F8E-AB63-6CC2-2F1AE41D096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E12E6EE9-B814-D783-9EEE-82B233CAD6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2362200" cy="3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9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D_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A9E29E0E-3B89-C73A-8447-E3B704B739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23900" y="3810000"/>
            <a:ext cx="7696200" cy="182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/>
              <a:t>Group 3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Hussein Rezk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Adil Feratovic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Anna Cai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Aaron Casas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Chemical Engineering Lab I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Date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5036C71-EE1B-0DE6-F40D-0BF5621961E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581400"/>
          </a:xfrm>
        </p:spPr>
        <p:txBody>
          <a:bodyPr/>
          <a:lstStyle/>
          <a:p>
            <a:br>
              <a:rPr lang="en-US" altLang="en-US" sz="4000" b="1"/>
            </a:br>
            <a:br>
              <a:rPr lang="en-US" altLang="en-US" sz="4000" b="1"/>
            </a:br>
            <a:br>
              <a:rPr lang="en-US" altLang="en-US" sz="4000" b="1"/>
            </a:br>
            <a:r>
              <a:rPr lang="en-US" altLang="en-US" sz="4000" b="1"/>
              <a:t>Fluid Flow in Pipes</a:t>
            </a:r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9506F430-B1F1-C0C5-C7C8-B055C3DEF454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CA60B91B-8607-8299-16F3-42A0AA829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6D022C21-FD19-0E5E-1120-DE55A244C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 b="1" dirty="0"/>
          </a:p>
          <a:p>
            <a:r>
              <a:rPr lang="en-US" altLang="en-US" sz="1600" b="1" dirty="0"/>
              <a:t>Analysis of Flow Systems is an important part of Chemical Engineering</a:t>
            </a:r>
          </a:p>
          <a:p>
            <a:r>
              <a:rPr lang="en-US" altLang="en-US" sz="1600" b="1" dirty="0"/>
              <a:t>It is necessary to calculate the pressure drop to select a pump for a desired flow</a:t>
            </a:r>
          </a:p>
          <a:p>
            <a:r>
              <a:rPr lang="en-US" altLang="en-US" sz="1600" b="1" dirty="0"/>
              <a:t>Most chemical processes involve fluid flow in a pipe in order for materials to be transferred to reactors, separators, storage facilities, etc.</a:t>
            </a:r>
          </a:p>
          <a:p>
            <a:r>
              <a:rPr lang="en-US" altLang="en-US" sz="1600" b="1" dirty="0"/>
              <a:t>The purpose of this lab is to conduct various experiments to calculate energy loss coefficients such as,</a:t>
            </a:r>
          </a:p>
          <a:p>
            <a:pPr lvl="1"/>
            <a:r>
              <a:rPr lang="en-US" altLang="en-US" sz="1600" b="1" dirty="0"/>
              <a:t>Friction Factor, f</a:t>
            </a:r>
          </a:p>
          <a:p>
            <a:pPr lvl="1"/>
            <a:r>
              <a:rPr lang="en-US" altLang="en-US" sz="1600" b="1" dirty="0"/>
              <a:t>Loss Coefficient, K</a:t>
            </a:r>
          </a:p>
          <a:p>
            <a:pPr lvl="1"/>
            <a:r>
              <a:rPr lang="en-US" altLang="en-US" sz="1600" b="1" dirty="0"/>
              <a:t>Flow Coefficient, Cf</a:t>
            </a:r>
          </a:p>
          <a:p>
            <a:r>
              <a:rPr lang="en-US" altLang="en-US" sz="1600" b="1" dirty="0"/>
              <a:t>In order to test available theories and correlations in the study of Fluid Flow and Transport Phenomena</a:t>
            </a:r>
          </a:p>
          <a:p>
            <a:pPr marL="0" indent="0">
              <a:buNone/>
            </a:pPr>
            <a:endParaRPr lang="en-US" altLang="en-US" sz="1600" b="1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7022A608-F4B3-EA04-E297-664E4CD99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31" name="Rectangle 3">
                <a:extLst>
                  <a:ext uri="{FF2B5EF4-FFF2-40B4-BE49-F238E27FC236}">
                    <a16:creationId xmlns:a16="http://schemas.microsoft.com/office/drawing/2014/main" id="{85CCCA7D-BA22-B1B7-DD21-DC519799F34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000"/>
                  <a:t>Flow Coefficient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2∆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</m:e>
                    </m:rad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en-US" sz="2000"/>
              </a:p>
              <a:p>
                <a:r>
                  <a:rPr lang="en-US" altLang="en-US" sz="2000"/>
                  <a:t>Friction Factor and Head Loss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𝑃𝐷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00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𝑅𝑒</m:t>
                        </m:r>
                      </m:den>
                    </m:f>
                  </m:oMath>
                </a14:m>
                <a:endParaRPr lang="en-US" sz="200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𝑢𝐿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endParaRPr lang="en-US" altLang="en-US" sz="2000"/>
              </a:p>
              <a:p>
                <a:r>
                  <a:rPr lang="en-US" altLang="en-US" sz="2000"/>
                  <a:t>Collecting the flow rate of water in LPM, pressure drop, and water temperature we are able to calculate for these properties.</a:t>
                </a:r>
              </a:p>
            </p:txBody>
          </p:sp>
        </mc:Choice>
        <mc:Fallback xmlns="">
          <p:sp>
            <p:nvSpPr>
              <p:cNvPr id="124931" name="Rectangle 3">
                <a:extLst>
                  <a:ext uri="{FF2B5EF4-FFF2-40B4-BE49-F238E27FC236}">
                    <a16:creationId xmlns:a16="http://schemas.microsoft.com/office/drawing/2014/main" id="{85CCCA7D-BA22-B1B7-DD21-DC519799F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67" t="-674" b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5E383060-5BA3-D4C8-F39A-936EDD847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Apparatus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93B9F56F-1B26-3B0A-75E9-37C3EABEC7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352062-1558-1986-AE64-5ACA036852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78" y="1752601"/>
            <a:ext cx="213195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close-up of a pipe&#10;&#10;AI-generated content may be incorrect.">
            <a:extLst>
              <a:ext uri="{FF2B5EF4-FFF2-40B4-BE49-F238E27FC236}">
                <a16:creationId xmlns:a16="http://schemas.microsoft.com/office/drawing/2014/main" id="{5BEAF338-20AC-9C64-124D-FE368F9956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886191" y="2030931"/>
            <a:ext cx="1676400" cy="1258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9D5035-C046-7530-9857-63357AD608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02" y="1933235"/>
            <a:ext cx="1808789" cy="1357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F32EF5-7C2D-511A-8655-263A221A81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56" y="3962400"/>
            <a:ext cx="1990592" cy="1493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group of pipes on a wall&#10;&#10;AI-generated content may be incorrect.">
            <a:extLst>
              <a:ext uri="{FF2B5EF4-FFF2-40B4-BE49-F238E27FC236}">
                <a16:creationId xmlns:a16="http://schemas.microsoft.com/office/drawing/2014/main" id="{1FEF0E65-CC9C-26DD-1846-C2E0FE0D6B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804" y="3831308"/>
            <a:ext cx="2117236" cy="1589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9391E9-5D5D-7F72-2598-25C2EC0E2C7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197" y="3901046"/>
            <a:ext cx="1999965" cy="150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group of pipes on a wall&#10;&#10;AI-generated content may be incorrect.">
            <a:extLst>
              <a:ext uri="{FF2B5EF4-FFF2-40B4-BE49-F238E27FC236}">
                <a16:creationId xmlns:a16="http://schemas.microsoft.com/office/drawing/2014/main" id="{CC7CF692-C6C8-9F95-D544-DF50606F2B9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892" y="1963211"/>
            <a:ext cx="1808790" cy="1357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BE0D5C5B-1BB0-B6D5-1B5B-9247F6FBD2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Material &amp; Supplies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50DA38C1-501C-2199-E4E5-CC33ECFF6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Caliper</a:t>
            </a:r>
          </a:p>
          <a:p>
            <a:r>
              <a:rPr lang="en-US" altLang="en-US"/>
              <a:t>Tape Measure</a:t>
            </a:r>
          </a:p>
          <a:p>
            <a:r>
              <a:rPr lang="en-US" altLang="en-US"/>
              <a:t>Pump</a:t>
            </a:r>
          </a:p>
          <a:p>
            <a:r>
              <a:rPr lang="en-US" altLang="en-US"/>
              <a:t>Water</a:t>
            </a:r>
          </a:p>
          <a:p>
            <a:r>
              <a:rPr lang="en-US" altLang="en-US"/>
              <a:t>Flow meter</a:t>
            </a:r>
          </a:p>
          <a:p>
            <a:r>
              <a:rPr lang="en-US" altLang="en-US"/>
              <a:t>Volumetric Cylinders</a:t>
            </a:r>
          </a:p>
          <a:p>
            <a:r>
              <a:rPr lang="en-US" altLang="en-US"/>
              <a:t>Volumetric Bucket</a:t>
            </a:r>
          </a:p>
          <a:p>
            <a:r>
              <a:rPr lang="en-US" altLang="en-US">
                <a:cs typeface="Arial"/>
              </a:rPr>
              <a:t>Purge Streams Tubes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ACF4DB76-3E3B-2226-5AD4-CFBCC2391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9978F6FE-7BD6-1200-C589-5DA210CC5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800" dirty="0"/>
              <a:t>Rotameter Calibration: Measure SCFM and LPM. Graph it. Slope is conversion</a:t>
            </a:r>
          </a:p>
          <a:p>
            <a:pPr marL="0" indent="0">
              <a:buNone/>
            </a:pPr>
            <a:r>
              <a:rPr lang="en-US" altLang="en-US" sz="2800" dirty="0"/>
              <a:t>Orifice: Connect DPT across orifice taps using tubes. Take 8-10 flow setpoints and record Q, P, and T</a:t>
            </a:r>
          </a:p>
          <a:p>
            <a:pPr marL="0" indent="0">
              <a:buNone/>
            </a:pPr>
            <a:r>
              <a:rPr lang="en-US" altLang="en-US" sz="2800" dirty="0"/>
              <a:t>Friction Head Loss: S/M/L 3 materials and 8-10 points. Connect tubes up/downstream taps for pipe section. Measure P, Q, and T</a:t>
            </a:r>
          </a:p>
          <a:p>
            <a:pPr marL="0" indent="0">
              <a:buNone/>
            </a:pPr>
            <a:r>
              <a:rPr lang="en-US" altLang="en-US" sz="2800" dirty="0"/>
              <a:t>Fitting Head Loss: For different fittings, connect DPT and measure P, Q, and T for 6-8 points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07D6EEBB-F8F7-2EE8-3D2A-9A7E668E6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0FBAF712-73F2-ABFC-4E05-7804E8B78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Purge every time</a:t>
            </a:r>
          </a:p>
          <a:p>
            <a:r>
              <a:rPr lang="en-US" altLang="en-US" dirty="0"/>
              <a:t>When pump is running and water is flowing through the system, make sure at least 1 valve is open</a:t>
            </a:r>
            <a:endParaRPr lang="en-US" altLang="en-US" dirty="0">
              <a:cs typeface="Arial"/>
            </a:endParaRPr>
          </a:p>
          <a:p>
            <a:r>
              <a:rPr lang="en-US" altLang="en-US" dirty="0"/>
              <a:t>Wait for temperature to stop fluctuating</a:t>
            </a:r>
            <a:endParaRPr lang="en-US" altLang="en-US" dirty="0">
              <a:cs typeface="Arial"/>
            </a:endParaRPr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E320C7D8-D6DB-0A48-C7E1-64BE6D1B3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185F5BB3-828B-F371-10A4-8786DE81E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Make sure safety glasses are worn when conducting the experiments</a:t>
            </a:r>
          </a:p>
          <a:p>
            <a:r>
              <a:rPr lang="en-US" altLang="en-US"/>
              <a:t>Water can leak, make sure to allow it to fall into a bucket and not make a mess</a:t>
            </a:r>
          </a:p>
          <a:p>
            <a:r>
              <a:rPr lang="en-US" altLang="en-US"/>
              <a:t>Make sure water is filled in tank to allow the pump to not run dry</a:t>
            </a:r>
          </a:p>
          <a:p>
            <a:r>
              <a:rPr lang="en-US" altLang="en-US"/>
              <a:t>Make sure streams are purged when conducting flow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On-screen Show (4:3)</PresentationFormat>
  <Paragraphs>53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 Math</vt:lpstr>
      <vt:lpstr>Default Design</vt:lpstr>
      <vt:lpstr>   Fluid Flow in Pipes</vt:lpstr>
      <vt:lpstr>Introduction</vt:lpstr>
      <vt:lpstr>Theory</vt:lpstr>
      <vt:lpstr>Apparatus</vt:lpstr>
      <vt:lpstr>Material &amp; Supplies</vt:lpstr>
      <vt:lpstr>Procedure</vt:lpstr>
      <vt:lpstr>Experimental Challenges</vt:lpstr>
      <vt:lpstr>Safety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UIC BRAND </dc:title>
  <dc:creator>Elizabeth Zweigle Yee</dc:creator>
  <cp:lastModifiedBy>Zdunek, Alan</cp:lastModifiedBy>
  <cp:revision>6</cp:revision>
  <dcterms:created xsi:type="dcterms:W3CDTF">2008-04-09T18:55:55Z</dcterms:created>
  <dcterms:modified xsi:type="dcterms:W3CDTF">2025-09-17T22:33:45Z</dcterms:modified>
</cp:coreProperties>
</file>