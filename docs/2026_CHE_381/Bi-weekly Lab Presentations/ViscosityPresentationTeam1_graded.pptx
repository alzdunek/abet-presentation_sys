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2A_0.xml" ContentType="application/vnd.ms-powerpoint.comments+xml"/>
  <Override PartName="/ppt/comments/modernComment_12C_0.xml" ContentType="application/vnd.ms-powerpoint.comments+xml"/>
  <Override PartName="/ppt/comments/modernComment_12D_0.xml" ContentType="application/vnd.ms-powerpoint.comments+xml"/>
  <Override PartName="/ppt/comments/modernComment_12F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97" r:id="rId6"/>
    <p:sldId id="298" r:id="rId7"/>
    <p:sldId id="299" r:id="rId8"/>
    <p:sldId id="300" r:id="rId9"/>
    <p:sldId id="301" r:id="rId10"/>
    <p:sldId id="302" r:id="rId11"/>
    <p:sldId id="303" r:id="rId12"/>
  </p:sldIdLst>
  <p:sldSz cx="9144000" cy="6858000" type="screen4x3"/>
  <p:notesSz cx="6858000" cy="90773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793BA8-C1E5-3ED7-C793-E0E474994A88}" name="Suleiman, Qussay" initials="QS" userId="S::qsule2@uic.edu::2acf93a9-a997-4581-abf7-e9288d2ec4f8" providerId="AD"/>
  <p188:author id="{DF52CCAC-0B66-CA76-A7A3-D551D844506B}" name="Zdunek, Alan" initials="AZ" userId="S::zdunek@uic.edu::5627838d-8155-4d77-aa14-f1ef87cd6a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CC"/>
    <a:srgbClr val="3366FF"/>
    <a:srgbClr val="CC9900"/>
    <a:srgbClr val="996600"/>
    <a:srgbClr val="99CCFF"/>
    <a:srgbClr val="800000"/>
    <a:srgbClr val="FF0000"/>
    <a:srgbClr val="002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BBEE37-A761-8ED8-E35A-F85BD6CA44FE}" v="2" dt="2025-09-15T19:10:52.283"/>
    <p1510:client id="{9CBF899E-4453-42AF-03AD-CC3537458557}" v="234" dt="2025-09-16T00:24:49.586"/>
    <p1510:client id="{FD262C42-E7ED-4D10-96F1-F2D69E7E5697}" v="4" dt="2025-09-16T13:54:24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2" autoAdjust="0"/>
    <p:restoredTop sz="94728" autoAdjust="0"/>
  </p:normalViewPr>
  <p:slideViewPr>
    <p:cSldViewPr>
      <p:cViewPr varScale="1">
        <p:scale>
          <a:sx n="102" d="100"/>
          <a:sy n="102" d="100"/>
        </p:scale>
        <p:origin x="153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omments/modernComment_12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126FB5C-9248-4EE8-BE06-6CD61BEB9E2D}" authorId="{DF52CCAC-0B66-CA76-A7A3-D551D844506B}" created="2025-09-17T22:18:43.9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8"/>
      <ac:spMk id="3" creationId="{4A4EDB78-1998-E148-DEFF-E670BE673431}"/>
    </ac:deMkLst>
    <p188:txBody>
      <a:bodyPr/>
      <a:lstStyle/>
      <a:p>
        <a:r>
          <a:rPr lang="en-US"/>
          <a:t>-1
Also calculate the ‘m’ value which is related to the apparent viscosity.</a:t>
        </a:r>
      </a:p>
    </p188:txBody>
  </p188:cm>
</p188:cmLst>
</file>

<file path=ppt/comments/modernComment_12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78413A-F4D0-4139-91AD-58725D95E7B5}" authorId="{DF52CCAC-0B66-CA76-A7A3-D551D844506B}" created="2025-09-17T22:52:01.90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0"/>
      <ac:spMk id="126978" creationId="{E9CD6447-7434-0FE5-2362-3BC1AB291BB6}"/>
    </ac:deMkLst>
    <p188:txBody>
      <a:bodyPr/>
      <a:lstStyle/>
      <a:p>
        <a:r>
          <a:rPr lang="en-US"/>
          <a:t>-0.5
pH paper</a:t>
        </a:r>
      </a:p>
    </p188:txBody>
  </p188:cm>
</p188:cmLst>
</file>

<file path=ppt/comments/modernComment_12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8BC764-B80E-4144-8762-F11EFC2661B4}" authorId="{DF52CCAC-0B66-CA76-A7A3-D551D844506B}" created="2025-09-17T22:16:48.4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1"/>
      <ac:spMk id="128003" creationId="{882B8EEB-5626-D10E-2BC1-BAF95C4A8B8C}"/>
    </ac:deMkLst>
    <p188:txBody>
      <a:bodyPr/>
      <a:lstStyle/>
      <a:p>
        <a:r>
          <a:rPr lang="en-US"/>
          <a:t>-3
Mention how you converted the mass/time to a volumetric flowrate.</a:t>
        </a:r>
      </a:p>
    </p188:txBody>
  </p188:cm>
</p188:cmLst>
</file>

<file path=ppt/comments/modernComment_12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E0F2059-D94C-406C-A0E6-33BB574E2080}" authorId="{DF52CCAC-0B66-CA76-A7A3-D551D844506B}" created="2025-09-17T22:18:04.2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3"/>
      <ac:spMk id="130051" creationId="{7C7FE12A-B799-1880-252E-2E10B79AC610}"/>
    </ac:deMkLst>
    <p188:txBody>
      <a:bodyPr/>
      <a:lstStyle/>
      <a:p>
        <a:r>
          <a:rPr lang="en-US"/>
          <a:t>-5
Add more detail on the high pressure safety hazard.
The open mixer is a possibel hazard as well.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D8C719A-E1BE-4202-8C7A-D49F92A08C43}" authorId="{DF52CCAC-0B66-CA76-A7A3-D551D844506B}" created="2025-09-17T22:19:06.4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051" creationId="{D640D17D-28CF-4E1F-6861-1926A4C61DE7}"/>
    </ac:deMkLst>
    <p188:txBody>
      <a:bodyPr/>
      <a:lstStyle/>
      <a:p>
        <a:r>
          <a:rPr lang="en-US"/>
          <a:t>90.5/100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433902BE-3452-9A95-A7D0-3A8BBC015B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45758478-463E-5C8F-76C6-4C3F705B701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B0042647-F3BA-F67D-4AD4-03B73EF1535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C1944094-07C7-D03F-0B7F-D9EF75717C5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6527151-07B1-4FFE-8783-41C28B5C3C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BF36741D-7CE3-7103-DF2D-C1B37BEE65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717BB056-E1DF-66A6-ACCA-378C9139FE2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F47F6B44-090F-CB64-7142-A8C58A75FB8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0463" y="681038"/>
            <a:ext cx="4538662" cy="340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1029">
            <a:extLst>
              <a:ext uri="{FF2B5EF4-FFF2-40B4-BE49-F238E27FC236}">
                <a16:creationId xmlns:a16="http://schemas.microsoft.com/office/drawing/2014/main" id="{B68D99F2-1BA0-3126-5705-4A4ADC7CE31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1650"/>
            <a:ext cx="5486400" cy="408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90" name="Rectangle 1030">
            <a:extLst>
              <a:ext uri="{FF2B5EF4-FFF2-40B4-BE49-F238E27FC236}">
                <a16:creationId xmlns:a16="http://schemas.microsoft.com/office/drawing/2014/main" id="{57555843-93C8-FE0E-1F88-F274ED48E83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91" name="Rectangle 1031">
            <a:extLst>
              <a:ext uri="{FF2B5EF4-FFF2-40B4-BE49-F238E27FC236}">
                <a16:creationId xmlns:a16="http://schemas.microsoft.com/office/drawing/2014/main" id="{DF1AB112-1B84-D5E0-2C03-8E17007B6C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5BCC0F1-527D-4EA8-8DDF-2A97590D1BE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3797012A-DACA-B6FE-580E-2E8B7F4AAB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A18B5A-95B0-49FC-B5E5-71ED82032671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CE71E596-1173-99F2-930A-0DF89D0962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D824C8FA-DBFB-69FD-2E41-61375CD48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B7DC8643-2801-5454-E515-0391039874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6E1C57-C2C1-46D3-B4A7-B163B697AB6C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26D7E130-30E8-B504-FA52-5EF03F3852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F2C943F4-6C4D-836B-17CC-9294BBB953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2F5897E-D0F3-6A46-87E5-7820702F7F5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2E25A55-359D-EB71-F78E-420C491E9CC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C3A8826-F480-714A-0AA2-E4615AF1507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FFDCE3C7-51AC-27E8-8112-690E616565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400800"/>
            <a:ext cx="2378075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6C90-A695-024D-7258-52D1A2FD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FF3E-69C3-B997-3130-F0E747E6B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1807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A307-F583-883C-2253-0201BD0F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A39C6-F062-0C7F-41F4-055856C0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107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50FE-6E21-23CA-566B-DF7446E3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4D303-B6A4-1036-6836-EBE6879B3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A6AFE-A3EC-694C-24B0-DABF1B82D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3877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2EF29-D8DA-A01D-BACC-C2BC8FE0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CE267-4375-270B-A5A4-6043C651B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8B0A5-5C81-16B3-7654-D4115AC55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32904-0EB8-A6E1-1A6C-2775A2EA6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0E5C2-C4F6-31E0-C909-F96817E98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912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19F8F-EBE6-D8DD-52C9-BCBE3096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153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06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A7CD6-58F9-285F-B3B9-A9A06971D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5B8F0-BAB1-D8D3-C65E-0969B9605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CA7B1-4A04-730E-B62D-0F33B07D4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9445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F6F9-C6B8-90E1-B1F1-29D9B5EC4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ABBAC-E110-6F1F-A7FB-DABC30B41D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92369-928E-8A2D-ACF5-F6467F10D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913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92250-CBB7-3158-10B5-33CA3E56A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52AED-2D59-FA90-F5CC-17E9E1781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4585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59A52C-A8B5-DC5C-9505-2C620BE8D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CE6D6-B0C3-F115-A400-E81329CA3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743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295E36-AFC4-51FC-C551-99D5D8BB66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B5AFD28-0A09-4C5A-E1AC-173615800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9B7463B9-24A9-A7D1-C39D-0A17B9E9F76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4CC8F209-C1E4-CB21-67B6-D780C43D4B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2362200" cy="3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2A_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C_0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D_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F_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D640D17D-28CF-4E1F-6861-1926A4C61D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23900" y="3962400"/>
            <a:ext cx="7696200" cy="182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Group 1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Joshua </a:t>
            </a:r>
            <a:r>
              <a:rPr lang="en-US" altLang="en-US" sz="2800" dirty="0" err="1"/>
              <a:t>Olusoji</a:t>
            </a:r>
            <a:r>
              <a:rPr lang="en-US" altLang="en-US" sz="2800" dirty="0"/>
              <a:t>, Omar </a:t>
            </a:r>
            <a:r>
              <a:rPr lang="en-US" altLang="en-US" sz="2800" dirty="0" err="1"/>
              <a:t>Zaruk</a:t>
            </a:r>
            <a:r>
              <a:rPr lang="en-US" altLang="en-US" sz="2800" dirty="0"/>
              <a:t>, Sanad Abu </a:t>
            </a:r>
            <a:r>
              <a:rPr lang="en-US" altLang="en-US" sz="2800" dirty="0" err="1"/>
              <a:t>Hweij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Qussay</a:t>
            </a:r>
            <a:r>
              <a:rPr lang="en-US" altLang="en-US" sz="2800" dirty="0"/>
              <a:t> Suleiman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Chemical Engineering Lab I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9/16/2025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71412B71-C345-50D3-EC76-E92F754438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581400"/>
          </a:xfrm>
        </p:spPr>
        <p:txBody>
          <a:bodyPr/>
          <a:lstStyle/>
          <a:p>
            <a:br>
              <a:rPr lang="en-US" altLang="en-US" sz="4000" b="1" dirty="0"/>
            </a:br>
            <a:br>
              <a:rPr lang="en-US" altLang="en-US" sz="4000" b="1" dirty="0"/>
            </a:br>
            <a:br>
              <a:rPr lang="en-US" altLang="en-US" sz="4000" b="1" dirty="0"/>
            </a:br>
            <a:r>
              <a:rPr lang="en-US" altLang="en-US" sz="4000" b="1" dirty="0"/>
              <a:t>Non-Newtonian Viscosity</a:t>
            </a:r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C4D1C278-E3FB-14AE-ACC4-439EC1B74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0BB3B321-696E-2B05-AEDC-B145A530B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5A2CB550-15BF-0D5A-B41A-F8045AEA9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endParaRPr lang="en-US" altLang="en-US" b="1" dirty="0"/>
          </a:p>
          <a:p>
            <a:r>
              <a:rPr lang="en-US" altLang="en-US" sz="2800" dirty="0"/>
              <a:t>The objective of the lab is to determine the non-Newtonian behavior of a 1 </a:t>
            </a:r>
            <a:r>
              <a:rPr lang="en-US" altLang="en-US" sz="2800" dirty="0" err="1"/>
              <a:t>wt</a:t>
            </a:r>
            <a:r>
              <a:rPr lang="en-US" altLang="en-US" sz="2800" dirty="0"/>
              <a:t>% Carbopol solution in water</a:t>
            </a:r>
          </a:p>
          <a:p>
            <a:r>
              <a:rPr lang="en-US" altLang="en-US" sz="2800" dirty="0"/>
              <a:t>A capillary tube viscometer is used to analyze flow behavior (shear-thinning vs. shear-thickening)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74A9719A-F0B2-8AB3-0D8C-917998CB3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31" name="Rectangle 3">
                <a:extLst>
                  <a:ext uri="{FF2B5EF4-FFF2-40B4-BE49-F238E27FC236}">
                    <a16:creationId xmlns:a16="http://schemas.microsoft.com/office/drawing/2014/main" id="{4A64236F-C999-7979-D7C2-F93FDA8B855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302" y="1524000"/>
                <a:ext cx="5181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/>
                  <a:t>Key Theories:</a:t>
                </a:r>
              </a:p>
              <a:p>
                <a:r>
                  <a:rPr lang="en-US" sz="1600" b="1" dirty="0"/>
                  <a:t>Shear stress–strain rate (Newtonian):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J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ar-JO" sz="2000" i="1">
                            <a:latin typeface="Cambria Math" panose="02040503050406030204" pitchFamily="18" charset="0"/>
                          </a:rPr>
                          <m:t>𝑦𝑥</m:t>
                        </m:r>
                      </m:sub>
                    </m:sSub>
                    <m:r>
                      <a:rPr lang="ar-JO" sz="20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JO" sz="2000" i="1">
                        <a:latin typeface="Cambria Math" panose="02040503050406030204" pitchFamily="18" charset="0"/>
                      </a:rPr>
                      <m:t>𝜇</m:t>
                    </m:r>
                    <m:f>
                      <m:fPr>
                        <m:ctrlPr>
                          <a:rPr lang="ar-JO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JO" sz="20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ar-JO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JO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ar-JO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ar-JO" sz="20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</m:oMath>
                </a14:m>
                <a:endParaRPr lang="en-US" sz="2800" dirty="0"/>
              </a:p>
              <a:p>
                <a:r>
                  <a:rPr lang="en-US" sz="1600" b="1" dirty="0"/>
                  <a:t>Non-Newtonian (Power-law model):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J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sz="18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ar-JO" sz="1800" i="1">
                            <a:latin typeface="Cambria Math" panose="02040503050406030204" pitchFamily="18" charset="0"/>
                          </a:rPr>
                          <m:t>𝑦𝑥</m:t>
                        </m:r>
                      </m:sub>
                    </m:sSub>
                    <m:r>
                      <a:rPr lang="ar-JO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JO" sz="1800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ar-JO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∣"/>
                            <m:endChr m:val="∣"/>
                            <m:ctrlPr>
                              <a:rPr lang="ar-JO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JO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JO" sz="1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ar-JO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JO" sz="18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ar-JO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ar-JO" sz="1800" i="1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ar-JO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ar-JO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ar-JO" sz="1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ar-JO" sz="14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JO" sz="1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JO" sz="1400" dirty="0"/>
                  <a:t>: </a:t>
                </a:r>
                <a:r>
                  <a:rPr lang="en-US" sz="1400" dirty="0"/>
                  <a:t>shear-thinning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/>
                  <a:t>: shear-thickening</a:t>
                </a:r>
              </a:p>
              <a:p>
                <a:r>
                  <a:rPr lang="en-US" sz="1600" b="1" dirty="0"/>
                  <a:t>Capillary Tube (Newtonian, Hagen–Poiseuille):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JO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18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l-GR" sz="1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l-GR" sz="1800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ar-JO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JO" sz="1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ar-JO" sz="180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ar-JO" sz="180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ar-JO" sz="18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ar-JO" sz="18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n-US" sz="2800" dirty="0"/>
              </a:p>
              <a:p>
                <a:r>
                  <a:rPr lang="en-US" sz="1600" b="1" dirty="0"/>
                  <a:t>Capillary Tube (Non-Newtonian, Ostwald–de </a:t>
                </a:r>
                <a:r>
                  <a:rPr lang="en-US" sz="1600" b="1" dirty="0" err="1"/>
                  <a:t>Waele</a:t>
                </a:r>
                <a:r>
                  <a:rPr lang="en-US" sz="1600" b="1" dirty="0"/>
                  <a:t>):</a:t>
                </a: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ar-JO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ar-J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JO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JO" sz="18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ar-JO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ar-JO" sz="18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ar-JO" sz="1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ar-JO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ar-JO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ar-JO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ar-JO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J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JO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JO" sz="1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 lang="ar-JO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ar-JO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JO" sz="18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ar-JO" sz="180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ar-JO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ar-JO" sz="1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J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JO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sz="18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l-GR" sz="1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ar-JO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JO" sz="1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r>
                        <a:rPr lang="ar-JO" sz="18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ar-JO" sz="1800" dirty="0"/>
              </a:p>
              <a:p>
                <a:pPr marL="0" indent="0">
                  <a:buNone/>
                </a:pPr>
                <a:br>
                  <a:rPr lang="ar-JO" dirty="0"/>
                </a:br>
                <a:endParaRPr lang="en-US" altLang="en-US" dirty="0"/>
              </a:p>
            </p:txBody>
          </p:sp>
        </mc:Choice>
        <mc:Fallback xmlns="">
          <p:sp>
            <p:nvSpPr>
              <p:cNvPr id="124931" name="Rectangle 3">
                <a:extLst>
                  <a:ext uri="{FF2B5EF4-FFF2-40B4-BE49-F238E27FC236}">
                    <a16:creationId xmlns:a16="http://schemas.microsoft.com/office/drawing/2014/main" id="{4A64236F-C999-7979-D7C2-F93FDA8B85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302" y="1524000"/>
                <a:ext cx="5181600" cy="4525963"/>
              </a:xfrm>
              <a:blipFill>
                <a:blip r:embed="rId3"/>
                <a:stretch>
                  <a:fillRect l="-1059" t="-674" b="-4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4BBCAB4-C21F-0B44-BF0B-09A57992AA5C}"/>
              </a:ext>
            </a:extLst>
          </p:cNvPr>
          <p:cNvSpPr txBox="1"/>
          <p:nvPr/>
        </p:nvSpPr>
        <p:spPr>
          <a:xfrm>
            <a:off x="5343858" y="4114800"/>
            <a:ext cx="3798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</a:rPr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Gravity effects negligible (small elevation head).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ΔP held constant during each run (no drift/leaks).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Tubes are ideal cylinders with no wall slip</a:t>
            </a:r>
          </a:p>
        </p:txBody>
      </p:sp>
      <p:pic>
        <p:nvPicPr>
          <p:cNvPr id="124933" name="Picture 5" descr="Blast Effects of a Shear Thickening Fluid-Based Stemming Material">
            <a:extLst>
              <a:ext uri="{FF2B5EF4-FFF2-40B4-BE49-F238E27FC236}">
                <a16:creationId xmlns:a16="http://schemas.microsoft.com/office/drawing/2014/main" id="{EFDE5C7B-94AB-8B85-C4F9-6F922AC9A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828800"/>
            <a:ext cx="2733675" cy="224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4EDB78-1998-E148-DEFF-E670BE673431}"/>
                  </a:ext>
                </a:extLst>
              </p:cNvPr>
              <p:cNvSpPr txBox="1"/>
              <p:nvPr/>
            </p:nvSpPr>
            <p:spPr>
              <a:xfrm>
                <a:off x="5328660" y="5163158"/>
                <a:ext cx="3815340" cy="16045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002060"/>
                    </a:solidFill>
                  </a:rPr>
                  <a:t>Connection to experiment: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002060"/>
                    </a:solidFill>
                  </a:rPr>
                  <a:t>Flow rate is found using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sz="12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12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1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rgbClr val="002060"/>
                    </a:solidFill>
                  </a:rPr>
                  <a:t>, which is then</a:t>
                </a:r>
              </a:p>
              <a:p>
                <a:r>
                  <a:rPr lang="en-US" sz="1200" dirty="0">
                    <a:solidFill>
                      <a:srgbClr val="002060"/>
                    </a:solidFill>
                  </a:rPr>
                  <a:t>       used to calculate viscosity with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JO" sz="12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JO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l-GR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l-GR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ar-JO" sz="1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JO" sz="1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ar-JO" sz="1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ar-JO" sz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𝑄𝐿</m:t>
                        </m:r>
                      </m:den>
                    </m:f>
                  </m:oMath>
                </a14:m>
                <a:r>
                  <a:rPr lang="en-US" sz="12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002060"/>
                    </a:solidFill>
                  </a:rPr>
                  <a:t>After plugging in all constants,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JO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d>
                          <m:dPr>
                            <m:ctrlPr>
                              <a:rPr lang="ar-JO" sz="1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JO" sz="1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JO" sz="1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num>
                              <m:den>
                                <m:r>
                                  <a:rPr lang="ar-JO" sz="1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ar-JO" sz="12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JO" sz="12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ar-JO" sz="12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>
                    <a:solidFill>
                      <a:srgbClr val="002060"/>
                    </a:solidFill>
                  </a:rPr>
                  <a:t> = x, and</a:t>
                </a:r>
              </a:p>
              <a:p>
                <a:r>
                  <a:rPr lang="en-US" sz="1200" dirty="0"/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ar-JO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JO" sz="1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sz="1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l-GR" sz="1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ar-JO" sz="1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JO" sz="1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e>
                    </m:d>
                    <m:r>
                      <a:rPr lang="ar-JO" sz="1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>
                    <a:solidFill>
                      <a:srgbClr val="002060"/>
                    </a:solidFill>
                  </a:rPr>
                  <a:t> = y, where the slop of this graph is </a:t>
                </a:r>
                <a14:m>
                  <m:oMath xmlns:m="http://schemas.openxmlformats.org/officeDocument/2006/math">
                    <m:r>
                      <a:rPr lang="ar-JO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ar-JO" sz="1400" b="1" dirty="0">
                  <a:solidFill>
                    <a:srgbClr val="002060"/>
                  </a:solidFill>
                </a:endParaRPr>
              </a:p>
              <a:p>
                <a:r>
                  <a:rPr lang="en-US" sz="12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4EDB78-1998-E148-DEFF-E670BE673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660" y="5163158"/>
                <a:ext cx="3815340" cy="1604542"/>
              </a:xfrm>
              <a:prstGeom prst="rect">
                <a:avLst/>
              </a:prstGeom>
              <a:blipFill>
                <a:blip r:embed="rId5"/>
                <a:stretch>
                  <a:fillRect t="-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8BF90437-7D71-4A60-D898-756C8400D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Apparatus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CA6B8E-915C-8972-581C-650CCD13B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00200"/>
            <a:ext cx="5575430" cy="4102489"/>
          </a:xfrm>
          <a:prstGeom prst="rect">
            <a:avLst/>
          </a:prstGeom>
        </p:spPr>
      </p:pic>
      <p:pic>
        <p:nvPicPr>
          <p:cNvPr id="4" name="Picture 3" descr="A wooden block with metal rods in it&#10;&#10;AI-generated content may be incorrect.">
            <a:extLst>
              <a:ext uri="{FF2B5EF4-FFF2-40B4-BE49-F238E27FC236}">
                <a16:creationId xmlns:a16="http://schemas.microsoft.com/office/drawing/2014/main" id="{F2B23C4C-ECED-34AA-D343-E5FEE23DCC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18343" y="2432244"/>
            <a:ext cx="3250914" cy="2438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4BCD71-3CD4-A0DF-AA94-A9E0B072F684}"/>
              </a:ext>
            </a:extLst>
          </p:cNvPr>
          <p:cNvSpPr txBox="1"/>
          <p:nvPr/>
        </p:nvSpPr>
        <p:spPr>
          <a:xfrm>
            <a:off x="6515100" y="5340448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Capillary Tubes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9CD6447-7434-0FE5-2362-3BC1AB291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Material &amp; Supplies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7A74CBFA-13AF-B6D1-E3B7-7B7BCC026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438400"/>
            <a:ext cx="4648200" cy="3505200"/>
          </a:xfrm>
        </p:spPr>
        <p:txBody>
          <a:bodyPr/>
          <a:lstStyle/>
          <a:p>
            <a:r>
              <a:rPr lang="en-US" altLang="en-US" sz="2800" dirty="0"/>
              <a:t>Carbopol 934</a:t>
            </a:r>
          </a:p>
          <a:p>
            <a:r>
              <a:rPr lang="en-US" altLang="en-US" sz="2800" dirty="0"/>
              <a:t>Warm tap water</a:t>
            </a:r>
          </a:p>
          <a:p>
            <a:r>
              <a:rPr lang="en-US" altLang="en-US" sz="2800" dirty="0"/>
              <a:t>1 N NaOH solution</a:t>
            </a:r>
          </a:p>
          <a:p>
            <a:r>
              <a:rPr lang="en-US" altLang="en-US" sz="2800" dirty="0"/>
              <a:t>Beakers (1-4 L capacity)</a:t>
            </a:r>
          </a:p>
          <a:p>
            <a:r>
              <a:rPr lang="en-US" altLang="en-US" sz="2800" dirty="0"/>
              <a:t>Stirring rods</a:t>
            </a:r>
          </a:p>
          <a:p>
            <a:endParaRPr lang="en-US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EBE031-6A64-1FBE-C63D-FFDB7D683129}"/>
              </a:ext>
            </a:extLst>
          </p:cNvPr>
          <p:cNvSpPr txBox="1"/>
          <p:nvPr/>
        </p:nvSpPr>
        <p:spPr>
          <a:xfrm>
            <a:off x="5105400" y="2438400"/>
            <a:ext cx="3581400" cy="259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34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Disposable gloves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34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Mixer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34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Lab jacks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34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Balance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34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Timer device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ADAF4736-8700-BFF8-F4C8-AAB060A49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882B8EEB-5626-D10E-2BC1-BAF95C4A8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400" dirty="0"/>
              <a:t>Prepare 1 </a:t>
            </a:r>
            <a:r>
              <a:rPr lang="en-US" altLang="en-US" sz="2400" dirty="0" err="1"/>
              <a:t>wt</a:t>
            </a:r>
            <a:r>
              <a:rPr lang="en-US" altLang="en-US" sz="2400" dirty="0"/>
              <a:t>% Carbopol in warm water; mix fully, then add NaOH </a:t>
            </a:r>
            <a:r>
              <a:rPr lang="en-US" altLang="en-US" sz="2400" dirty="0" err="1"/>
              <a:t>untill</a:t>
            </a:r>
            <a:r>
              <a:rPr lang="en-US" altLang="en-US" sz="2400" dirty="0"/>
              <a:t> pH 5–7.</a:t>
            </a:r>
            <a:endParaRPr lang="en-US" altLang="en-US" sz="2400" dirty="0">
              <a:cs typeface="Arial"/>
            </a:endParaRPr>
          </a:p>
          <a:p>
            <a:pPr lvl="1"/>
            <a:r>
              <a:rPr lang="en-US" altLang="en-US" sz="2400" dirty="0"/>
              <a:t>Load solution into the pressurized vessel; seal/grease joints and mount the lid.</a:t>
            </a:r>
            <a:endParaRPr lang="en-US" altLang="en-US" sz="2400" dirty="0">
              <a:cs typeface="Arial"/>
            </a:endParaRPr>
          </a:p>
          <a:p>
            <a:pPr lvl="1"/>
            <a:r>
              <a:rPr lang="en-US" altLang="en-US" sz="2400" dirty="0"/>
              <a:t>Connect regulator/gauge; choose a capillary and note length and diameter.</a:t>
            </a:r>
            <a:endParaRPr lang="en-US" altLang="en-US" sz="2400" dirty="0">
              <a:cs typeface="Arial"/>
            </a:endParaRPr>
          </a:p>
          <a:p>
            <a:pPr lvl="1"/>
            <a:r>
              <a:rPr lang="en-US" altLang="en-US" sz="2400" dirty="0"/>
              <a:t>Set a ΔP setpoint, wait for steady flow, collect a set effluent volume, and record collection time and mass.</a:t>
            </a:r>
            <a:endParaRPr lang="en-US" altLang="en-US" sz="2400" dirty="0">
              <a:cs typeface="Arial"/>
            </a:endParaRPr>
          </a:p>
          <a:p>
            <a:pPr lvl="1"/>
            <a:r>
              <a:rPr lang="en-US" altLang="en-US" sz="2400" dirty="0"/>
              <a:t>Repeat for two more ΔP setpoints, repeat the same 3 </a:t>
            </a:r>
            <a:r>
              <a:rPr lang="en-US" sz="2400" dirty="0"/>
              <a:t>ΔP setpoints to the 5 remaining capillaries, varying in length and diameter</a:t>
            </a:r>
            <a:endParaRPr lang="en-US" sz="2400" dirty="0">
              <a:cs typeface="Arial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48DAB8B2-4681-D5A4-2D71-4940D7995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54A25C1A-BE93-8BAE-A2F4-8A2B8C5E0C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525963"/>
          </a:xfrm>
        </p:spPr>
        <p:txBody>
          <a:bodyPr/>
          <a:lstStyle/>
          <a:p>
            <a:r>
              <a:rPr lang="en-US" altLang="en-US" sz="2800" dirty="0"/>
              <a:t>Add Carbopol directly to the mixing bucket—adding to a water beaker wastes powder that sticks to the walls.</a:t>
            </a:r>
          </a:p>
          <a:p>
            <a:r>
              <a:rPr lang="en-US" altLang="en-US" sz="2800" dirty="0"/>
              <a:t>At startup, cover the bucket to prevent Carbopol powder from escaping during mixing.</a:t>
            </a:r>
          </a:p>
          <a:p>
            <a:r>
              <a:rPr lang="en-US" altLang="en-US" sz="2800" dirty="0"/>
              <a:t>Volume is difficult to read accurately, so record flow time and post-trial mass instead.</a:t>
            </a:r>
          </a:p>
          <a:p>
            <a:r>
              <a:rPr lang="en-US" altLang="en-US" sz="2800" dirty="0"/>
              <a:t>Low ΔP won’t sustain steady flow through longer capillaries; begin at higher pressures (≥50 </a:t>
            </a:r>
            <a:r>
              <a:rPr lang="en-US" altLang="en-US" sz="2800" dirty="0" err="1"/>
              <a:t>psig</a:t>
            </a:r>
            <a:r>
              <a:rPr lang="en-US" altLang="en-US" sz="2800" dirty="0"/>
              <a:t>).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19CB5F6-921E-EAD5-A4FA-DE6104D6A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7C7FE12A-B799-1880-252E-2E10B79AC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001000" cy="4373563"/>
          </a:xfrm>
        </p:spPr>
        <p:txBody>
          <a:bodyPr/>
          <a:lstStyle/>
          <a:p>
            <a:r>
              <a:rPr lang="en-US" sz="2800" dirty="0"/>
              <a:t>To stay safe:</a:t>
            </a:r>
          </a:p>
          <a:p>
            <a:pPr lvl="1"/>
            <a:r>
              <a:rPr lang="en-US" sz="2400" dirty="0"/>
              <a:t>Wear gloves when handling Carbopol or NaOH</a:t>
            </a:r>
          </a:p>
          <a:p>
            <a:pPr lvl="1"/>
            <a:r>
              <a:rPr lang="en-US" sz="2400" dirty="0"/>
              <a:t>Use goggles and face protection during mixing</a:t>
            </a:r>
          </a:p>
          <a:p>
            <a:pPr lvl="1"/>
            <a:r>
              <a:rPr lang="en-US" sz="2400" dirty="0"/>
              <a:t>Avoid dust formation when working with Carbopol powder</a:t>
            </a:r>
          </a:p>
          <a:p>
            <a:pPr lvl="1"/>
            <a:r>
              <a:rPr lang="en-US" sz="2400" dirty="0"/>
              <a:t>Regulate and monitor pressure when using pressurized vessels</a:t>
            </a:r>
          </a:p>
          <a:p>
            <a:pPr lvl="1"/>
            <a:r>
              <a:rPr lang="en-US" sz="2400" dirty="0"/>
              <a:t>Keep cords and equipment dry near liquids</a:t>
            </a:r>
            <a:endParaRPr lang="en-US" altLang="en-US" sz="24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D4DB9680548741AF142E25CD163C89" ma:contentTypeVersion="13" ma:contentTypeDescription="Create a new document." ma:contentTypeScope="" ma:versionID="9ba498e175684ea91d55eafe43e998c1">
  <xsd:schema xmlns:xsd="http://www.w3.org/2001/XMLSchema" xmlns:xs="http://www.w3.org/2001/XMLSchema" xmlns:p="http://schemas.microsoft.com/office/2006/metadata/properties" xmlns:ns3="ce0042e0-bc9f-43b7-ada3-1b351bed2e77" xmlns:ns4="d41bf40f-5717-4d64-bbdf-fab2410a53d4" targetNamespace="http://schemas.microsoft.com/office/2006/metadata/properties" ma:root="true" ma:fieldsID="a081e4d60c675e40e7f49c4d11442203" ns3:_="" ns4:_="">
    <xsd:import namespace="ce0042e0-bc9f-43b7-ada3-1b351bed2e77"/>
    <xsd:import namespace="d41bf40f-5717-4d64-bbdf-fab2410a53d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0042e0-bc9f-43b7-ada3-1b351bed2e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1bf40f-5717-4d64-bbdf-fab2410a53d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e0042e0-bc9f-43b7-ada3-1b351bed2e77" xsi:nil="true"/>
  </documentManagement>
</p:properties>
</file>

<file path=customXml/itemProps1.xml><?xml version="1.0" encoding="utf-8"?>
<ds:datastoreItem xmlns:ds="http://schemas.openxmlformats.org/officeDocument/2006/customXml" ds:itemID="{DB702792-AF6A-4BCA-B8EB-493F64DDAC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361B3B-5270-45C7-A24F-F1B4A7706E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0042e0-bc9f-43b7-ada3-1b351bed2e77"/>
    <ds:schemaRef ds:uri="d41bf40f-5717-4d64-bbdf-fab2410a53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F05AD0-7FBE-4332-9E8B-F0B264FB1324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d41bf40f-5717-4d64-bbdf-fab2410a53d4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ce0042e0-bc9f-43b7-ada3-1b351bed2e77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1941</TotalTime>
  <Words>461</Words>
  <Application>Microsoft Office PowerPoint</Application>
  <PresentationFormat>On-screen Show (4:3)</PresentationFormat>
  <Paragraphs>62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 Math</vt:lpstr>
      <vt:lpstr>Default Design</vt:lpstr>
      <vt:lpstr>   Non-Newtonian Viscosity</vt:lpstr>
      <vt:lpstr>Introduction</vt:lpstr>
      <vt:lpstr>Theory</vt:lpstr>
      <vt:lpstr>Apparatus</vt:lpstr>
      <vt:lpstr>Material &amp; Supplies</vt:lpstr>
      <vt:lpstr>Procedure</vt:lpstr>
      <vt:lpstr>Experimental Challenges</vt:lpstr>
      <vt:lpstr>Safety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UIC BRAND</dc:title>
  <dc:creator>Elizabeth Zweigle Yee</dc:creator>
  <cp:lastModifiedBy>Zdunek, Alan</cp:lastModifiedBy>
  <cp:revision>243</cp:revision>
  <dcterms:created xsi:type="dcterms:W3CDTF">2008-04-09T18:55:55Z</dcterms:created>
  <dcterms:modified xsi:type="dcterms:W3CDTF">2025-09-17T22:52:19Z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0x0101007BD4DB9680548741AF142E25CD163C89</vt:lpwstr>
  </property>
</Properties>
</file>