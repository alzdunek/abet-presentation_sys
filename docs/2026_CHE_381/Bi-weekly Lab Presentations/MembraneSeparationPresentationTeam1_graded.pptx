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omments/modernComment_100_0.xml" ContentType="application/vnd.ms-powerpoint.comments+xml"/>
  <Override PartName="/ppt/notesSlides/notesSlide2.xml" ContentType="application/vnd.openxmlformats-officedocument.presentationml.notesSlide+xml"/>
  <Override PartName="/ppt/comments/modernComment_129_0.xml" ContentType="application/vnd.ms-powerpoint.comments+xml"/>
  <Override PartName="/ppt/comments/modernComment_12A_0.xml" ContentType="application/vnd.ms-powerpoint.comments+xml"/>
  <Override PartName="/ppt/comments/modernComment_12B_0.xml" ContentType="application/vnd.ms-powerpoint.comments+xml"/>
  <Override PartName="/ppt/comments/modernComment_12F_0.xml" ContentType="application/vnd.ms-powerpoint.comments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56" r:id="rId2"/>
    <p:sldId id="297" r:id="rId3"/>
    <p:sldId id="298" r:id="rId4"/>
    <p:sldId id="299" r:id="rId5"/>
    <p:sldId id="300" r:id="rId6"/>
    <p:sldId id="301" r:id="rId7"/>
    <p:sldId id="302" r:id="rId8"/>
    <p:sldId id="303" r:id="rId9"/>
  </p:sldIdLst>
  <p:sldSz cx="9144000" cy="6858000" type="screen4x3"/>
  <p:notesSz cx="6858000" cy="9077325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F52CCAC-0B66-CA76-A7A3-D551D844506B}" name="Zdunek, Alan" initials="AZ" userId="S::zdunek@uic.edu::5627838d-8155-4d77-aa14-f1ef87cd6a5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66CC"/>
    <a:srgbClr val="3366FF"/>
    <a:srgbClr val="CC9900"/>
    <a:srgbClr val="996600"/>
    <a:srgbClr val="99CCFF"/>
    <a:srgbClr val="800000"/>
    <a:srgbClr val="FF0000"/>
    <a:srgbClr val="00234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B1BD84F-9796-4524-A204-2075CD50684C}" v="1621" dt="2025-09-27T05:09:52.740"/>
    <p1510:client id="{65255A40-0C31-4821-A72D-C3C203A966B5}" v="402" dt="2025-09-27T05:09:20.9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592" autoAdjust="0"/>
    <p:restoredTop sz="94728" autoAdjust="0"/>
  </p:normalViewPr>
  <p:slideViewPr>
    <p:cSldViewPr>
      <p:cViewPr varScale="1">
        <p:scale>
          <a:sx n="102" d="100"/>
          <a:sy n="102" d="100"/>
        </p:scale>
        <p:origin x="1536" y="1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8/10/relationships/authors" Target="author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omments/modernComment_12A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804B7EE-27CE-4AEC-9174-F592A6B3AC89}" authorId="{DF52CCAC-0B66-CA76-A7A3-D551D844506B}" created="2025-10-01T17:12:36.777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98"/>
      <ac:spMk id="124931" creationId="{165F0D50-313A-7DC2-EC5A-112F7451527F}"/>
    </ac:deMkLst>
    <p188:txBody>
      <a:bodyPr/>
      <a:lstStyle/>
      <a:p>
        <a:r>
          <a:rPr lang="en-US"/>
          <a:t>-3
State the overall phenomena-  solution/diffusion as we discussed.
Also, for better clarity, reorder the equations starting with the mass transfer flux equation and add Henry’s law equation and then show the other equations.</a:t>
        </a:r>
      </a:p>
    </p188:txBody>
  </p188:cm>
</p188:cmLst>
</file>

<file path=ppt/comments/modernComment_12B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F2DCA986-47CA-4949-A2F2-4A22F7A5D241}" authorId="{DF52CCAC-0B66-CA76-A7A3-D551D844506B}" created="2025-10-01T17:13:18.443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99"/>
      <ac:spMk id="125954" creationId="{E207363D-743F-3B60-8D8D-17FA3CC6AB36}"/>
    </ac:deMkLst>
    <p188:txBody>
      <a:bodyPr/>
      <a:lstStyle/>
      <a:p>
        <a:r>
          <a:rPr lang="en-US"/>
          <a:t>-1
Apparatus image is a bit dark.</a:t>
        </a:r>
      </a:p>
    </p188:txBody>
  </p188:cm>
</p188:cmLst>
</file>

<file path=ppt/comments/modernComment_12F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580F6B0-51F2-4693-ACBC-0074E1CA211C}" authorId="{DF52CCAC-0B66-CA76-A7A3-D551D844506B}" created="2025-10-01T17:15:00.034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303"/>
      <ac:spMk id="130051" creationId="{C2BE2BFB-C363-27A3-A531-003FAEC3CB09}"/>
    </ac:deMkLst>
    <p188:txBody>
      <a:bodyPr/>
      <a:lstStyle/>
      <a:p>
        <a:r>
          <a:rPr lang="en-US"/>
          <a:t>-2
Mention that the cylinder must be securely attached to the bench.  Also can mention the max pressure for the membrane modules (300 psig).</a:t>
        </a:r>
      </a:p>
    </p188:txBody>
  </p188:cm>
</p188:cmLst>
</file>

<file path=ppt/comments/modernComment_100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EE3E39E-23A0-4508-A568-358558EFEF9C}" authorId="{DF52CCAC-0B66-CA76-A7A3-D551D844506B}" created="2025-10-01T17:15:27.221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56"/>
      <ac:spMk id="2053" creationId="{AC5DC173-100B-27DE-48DD-174FD8382C02}"/>
    </ac:deMkLst>
    <p188:txBody>
      <a:bodyPr/>
      <a:lstStyle/>
      <a:p>
        <a:r>
          <a:rPr lang="en-US"/>
          <a:t>93/100</a:t>
        </a:r>
      </a:p>
    </p188:txBody>
  </p188:cm>
</p188:cmLst>
</file>

<file path=ppt/comments/modernComment_129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A2498F6-203D-4037-8301-7088665B451A}" authorId="{DF52CCAC-0B66-CA76-A7A3-D551D844506B}" created="2025-10-01T17:10:06.428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97"/>
      <ac:spMk id="92162" creationId="{F67CF337-A8D2-6D4C-3F53-0DC849263EA5}"/>
    </ac:deMkLst>
    <p188:txBody>
      <a:bodyPr/>
      <a:lstStyle/>
      <a:p>
        <a:r>
          <a:rPr lang="en-US"/>
          <a:t>-1
Reorder the bullet items- the purpose or objective of the lab is your 4th bullet item.</a:t>
        </a:r>
      </a:p>
    </p188:txBody>
  </p188:cm>
</p188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>
            <a:extLst>
              <a:ext uri="{FF2B5EF4-FFF2-40B4-BE49-F238E27FC236}">
                <a16:creationId xmlns:a16="http://schemas.microsoft.com/office/drawing/2014/main" id="{ECD862A8-4953-3399-5540-56090F1BE82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en-US"/>
          </a:p>
        </p:txBody>
      </p:sp>
      <p:sp>
        <p:nvSpPr>
          <p:cNvPr id="120835" name="Rectangle 3">
            <a:extLst>
              <a:ext uri="{FF2B5EF4-FFF2-40B4-BE49-F238E27FC236}">
                <a16:creationId xmlns:a16="http://schemas.microsoft.com/office/drawing/2014/main" id="{36834BB4-EA31-29BA-EC30-FF08B7C061A8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en-US"/>
          </a:p>
        </p:txBody>
      </p:sp>
      <p:sp>
        <p:nvSpPr>
          <p:cNvPr id="120836" name="Rectangle 4">
            <a:extLst>
              <a:ext uri="{FF2B5EF4-FFF2-40B4-BE49-F238E27FC236}">
                <a16:creationId xmlns:a16="http://schemas.microsoft.com/office/drawing/2014/main" id="{AF598E2A-A10A-7E32-1542-32D26DEF34E7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21713"/>
            <a:ext cx="2971800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en-US"/>
          </a:p>
        </p:txBody>
      </p:sp>
      <p:sp>
        <p:nvSpPr>
          <p:cNvPr id="120837" name="Rectangle 5">
            <a:extLst>
              <a:ext uri="{FF2B5EF4-FFF2-40B4-BE49-F238E27FC236}">
                <a16:creationId xmlns:a16="http://schemas.microsoft.com/office/drawing/2014/main" id="{4C45B56E-2B5F-CB89-A7C7-E2506146997F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21713"/>
            <a:ext cx="2971800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DB81D79-0910-4409-B8EF-475B7B5A483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1026">
            <a:extLst>
              <a:ext uri="{FF2B5EF4-FFF2-40B4-BE49-F238E27FC236}">
                <a16:creationId xmlns:a16="http://schemas.microsoft.com/office/drawing/2014/main" id="{5E9B3FED-A61E-368F-3927-35C46213653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en-US"/>
          </a:p>
        </p:txBody>
      </p:sp>
      <p:sp>
        <p:nvSpPr>
          <p:cNvPr id="16387" name="Rectangle 1027">
            <a:extLst>
              <a:ext uri="{FF2B5EF4-FFF2-40B4-BE49-F238E27FC236}">
                <a16:creationId xmlns:a16="http://schemas.microsoft.com/office/drawing/2014/main" id="{1CA0589A-3573-513D-63AA-258F08702DCC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en-US"/>
          </a:p>
        </p:txBody>
      </p:sp>
      <p:sp>
        <p:nvSpPr>
          <p:cNvPr id="16388" name="Rectangle 1028">
            <a:extLst>
              <a:ext uri="{FF2B5EF4-FFF2-40B4-BE49-F238E27FC236}">
                <a16:creationId xmlns:a16="http://schemas.microsoft.com/office/drawing/2014/main" id="{ECEDA48F-797B-829F-D188-852FCD4FC457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60463" y="681038"/>
            <a:ext cx="4538662" cy="34036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6389" name="Rectangle 1029">
            <a:extLst>
              <a:ext uri="{FF2B5EF4-FFF2-40B4-BE49-F238E27FC236}">
                <a16:creationId xmlns:a16="http://schemas.microsoft.com/office/drawing/2014/main" id="{D2E5A324-437A-621C-B665-93EB4194E9C2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11650"/>
            <a:ext cx="5486400" cy="408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6390" name="Rectangle 1030">
            <a:extLst>
              <a:ext uri="{FF2B5EF4-FFF2-40B4-BE49-F238E27FC236}">
                <a16:creationId xmlns:a16="http://schemas.microsoft.com/office/drawing/2014/main" id="{F8D06771-25B4-E4A6-6296-AB3B8B846EF1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21713"/>
            <a:ext cx="2971800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en-US"/>
          </a:p>
        </p:txBody>
      </p:sp>
      <p:sp>
        <p:nvSpPr>
          <p:cNvPr id="16391" name="Rectangle 1031">
            <a:extLst>
              <a:ext uri="{FF2B5EF4-FFF2-40B4-BE49-F238E27FC236}">
                <a16:creationId xmlns:a16="http://schemas.microsoft.com/office/drawing/2014/main" id="{0809241B-8834-5A51-5DE7-D6F50EE0BBD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21713"/>
            <a:ext cx="2971800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077AA85B-08DE-41E6-B39D-1F13A169A559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031">
            <a:extLst>
              <a:ext uri="{FF2B5EF4-FFF2-40B4-BE49-F238E27FC236}">
                <a16:creationId xmlns:a16="http://schemas.microsoft.com/office/drawing/2014/main" id="{A6E1ACF6-88A7-5947-5535-214BA60A9F7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E19A72C-6AD0-4214-8D08-64E010E036DD}" type="slidenum">
              <a:rPr lang="en-US" altLang="en-US"/>
              <a:pPr/>
              <a:t>1</a:t>
            </a:fld>
            <a:endParaRPr lang="en-US" altLang="en-US"/>
          </a:p>
        </p:txBody>
      </p:sp>
      <p:sp>
        <p:nvSpPr>
          <p:cNvPr id="17410" name="Rectangle 1026">
            <a:extLst>
              <a:ext uri="{FF2B5EF4-FFF2-40B4-BE49-F238E27FC236}">
                <a16:creationId xmlns:a16="http://schemas.microsoft.com/office/drawing/2014/main" id="{D7B3932F-4F6A-1C74-0FAD-BC4171B5486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1" name="Rectangle 1027">
            <a:extLst>
              <a:ext uri="{FF2B5EF4-FFF2-40B4-BE49-F238E27FC236}">
                <a16:creationId xmlns:a16="http://schemas.microsoft.com/office/drawing/2014/main" id="{B626E3C7-ADC8-2255-B5F9-3AAA812183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031">
            <a:extLst>
              <a:ext uri="{FF2B5EF4-FFF2-40B4-BE49-F238E27FC236}">
                <a16:creationId xmlns:a16="http://schemas.microsoft.com/office/drawing/2014/main" id="{431B2E73-A6F3-22A4-9350-406A12AA22A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5382D6E-9884-41E9-B090-DE3F54337870}" type="slidenum">
              <a:rPr lang="en-US" altLang="en-US"/>
              <a:pPr/>
              <a:t>2</a:t>
            </a:fld>
            <a:endParaRPr lang="en-US" altLang="en-US"/>
          </a:p>
        </p:txBody>
      </p:sp>
      <p:sp>
        <p:nvSpPr>
          <p:cNvPr id="93186" name="Rectangle 2">
            <a:extLst>
              <a:ext uri="{FF2B5EF4-FFF2-40B4-BE49-F238E27FC236}">
                <a16:creationId xmlns:a16="http://schemas.microsoft.com/office/drawing/2014/main" id="{B68B8CC3-5737-4792-DC53-14BFE2B1CD4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7" name="Rectangle 3">
            <a:extLst>
              <a:ext uri="{FF2B5EF4-FFF2-40B4-BE49-F238E27FC236}">
                <a16:creationId xmlns:a16="http://schemas.microsoft.com/office/drawing/2014/main" id="{23744C7C-F54B-82E0-97F9-6499A679C7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C02A9C29-A201-0F8B-340A-09CFDB187867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9144000" cy="3600450"/>
          </a:xfrm>
        </p:spPr>
        <p:txBody>
          <a:bodyPr/>
          <a:lstStyle>
            <a:lvl1pPr>
              <a:defRPr/>
            </a:lvl1pPr>
          </a:lstStyle>
          <a:p>
            <a:pPr lvl="0"/>
            <a:br>
              <a:rPr lang="en-US" altLang="en-US" noProof="0"/>
            </a:br>
            <a:r>
              <a:rPr lang="en-US" altLang="en-US" noProof="0"/>
              <a:t>Click to edit Master title style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F781F392-9353-6C9F-6227-8EE1E7F6093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5124" name="Rectangle 4">
            <a:extLst>
              <a:ext uri="{FF2B5EF4-FFF2-40B4-BE49-F238E27FC236}">
                <a16:creationId xmlns:a16="http://schemas.microsoft.com/office/drawing/2014/main" id="{645319D4-7F51-FD99-1EFD-962207E41C55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en-US"/>
          </a:p>
        </p:txBody>
      </p:sp>
      <p:pic>
        <p:nvPicPr>
          <p:cNvPr id="5127" name="Picture 7">
            <a:extLst>
              <a:ext uri="{FF2B5EF4-FFF2-40B4-BE49-F238E27FC236}">
                <a16:creationId xmlns:a16="http://schemas.microsoft.com/office/drawing/2014/main" id="{A3477FA1-C7D3-2C48-9CA9-4EE5C43105F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6400800"/>
            <a:ext cx="2378075" cy="328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A2633-CF88-7361-C11E-B631BFC53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1AD50F-79EA-A926-288E-0BA46201F5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186591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6787B-ED78-B318-C6C4-7C06300E6B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E95B6C-A3E6-9CF1-8EF9-9E62CAA3FF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697779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4CEC7-EB8E-6F13-5063-999F5E90C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43197B-8912-BB46-2647-0E8582F3D6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E8EDF9-71AF-EB26-1B33-87DE702596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868642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2EFEE-B51B-16A0-0050-925E807CD6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FAF9A2-2C60-717B-49B2-CE3A5EA687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752534-F17D-1559-AE1B-B2B6F173D8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F6DDE2-5D22-4617-7CF4-70B433B90F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CA1D36-6995-6937-9057-A5C4400AF9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813567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00117-0072-D8F0-AC0B-564DAE335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574902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846320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20201-A042-23B0-5FF1-12F8AF3256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03C1CD-4D3F-B2DF-7F04-E1BF33D820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E71398-6749-56D5-E3FA-D81B89C605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85211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7164F-0D68-9A36-5813-60AC0BE364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7DE248-12DB-FFCA-8FE0-4F5E240084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68E53B-AF09-160F-33DB-5A55C5BB22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909609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D2DAA-D960-E9AF-ED57-64A0F9710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03C6E4-0F27-C86B-92B6-EB80BCD5F3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147543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D2530C-E383-A3E2-1F00-F745F537AA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858000" y="0"/>
            <a:ext cx="2286000" cy="61261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6513D0-09F3-1007-74C2-44F81AD1D7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0" y="0"/>
            <a:ext cx="6705600" cy="61261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352914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17DD6BD4-CC14-4D6F-13AA-08F49214BB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9144000" cy="1417638"/>
          </a:xfrm>
          <a:prstGeom prst="rect">
            <a:avLst/>
          </a:prstGeom>
          <a:solidFill>
            <a:srgbClr val="00234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CF4AEB70-068F-D494-B4D0-F4C75A82DF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33" name="Line 9">
            <a:extLst>
              <a:ext uri="{FF2B5EF4-FFF2-40B4-BE49-F238E27FC236}">
                <a16:creationId xmlns:a16="http://schemas.microsoft.com/office/drawing/2014/main" id="{1B5F3720-0B79-AE42-B00E-0E4476C86FC2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0" y="1447800"/>
            <a:ext cx="9144000" cy="0"/>
          </a:xfrm>
          <a:prstGeom prst="line">
            <a:avLst/>
          </a:prstGeom>
          <a:noFill/>
          <a:ln w="127000">
            <a:solidFill>
              <a:srgbClr val="8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1034" name="Picture 10">
            <a:extLst>
              <a:ext uri="{FF2B5EF4-FFF2-40B4-BE49-F238E27FC236}">
                <a16:creationId xmlns:a16="http://schemas.microsoft.com/office/drawing/2014/main" id="{7F0B979F-4012-0B38-C986-93B423F99A8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6400800"/>
            <a:ext cx="2362200" cy="325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rgbClr val="800000"/>
        </a:buClr>
        <a:buChar char="•"/>
        <a:defRPr sz="3200" kern="1200">
          <a:solidFill>
            <a:srgbClr val="00234C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rgbClr val="800000"/>
        </a:buClr>
        <a:buChar char="•"/>
        <a:defRPr sz="2800" kern="1200">
          <a:solidFill>
            <a:srgbClr val="00234C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rgbClr val="800000"/>
        </a:buClr>
        <a:buChar char="•"/>
        <a:defRPr sz="2400" kern="1200">
          <a:solidFill>
            <a:srgbClr val="00234C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rgbClr val="800000"/>
        </a:buClr>
        <a:buChar char="•"/>
        <a:defRPr sz="2000" kern="1200">
          <a:solidFill>
            <a:srgbClr val="00234C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rgbClr val="800000"/>
        </a:buClr>
        <a:buChar char="•"/>
        <a:defRPr sz="2000" kern="1200">
          <a:solidFill>
            <a:srgbClr val="00234C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0_0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29_0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microsoft.com/office/2018/10/relationships/comments" Target="../comments/modernComment_12A_0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microsoft.com/office/2018/10/relationships/comments" Target="../comments/modernComment_12B_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10" Type="http://schemas.openxmlformats.org/officeDocument/2006/relationships/image" Target="../media/image9.jpeg"/><Relationship Id="rId4" Type="http://schemas.openxmlformats.org/officeDocument/2006/relationships/image" Target="../media/image3.jpeg"/><Relationship Id="rId9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2F_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3">
            <a:extLst>
              <a:ext uri="{FF2B5EF4-FFF2-40B4-BE49-F238E27FC236}">
                <a16:creationId xmlns:a16="http://schemas.microsoft.com/office/drawing/2014/main" id="{69B89414-F22E-5A8F-807C-C3EC098CB61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685800" y="4114800"/>
            <a:ext cx="7696200" cy="18288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z="2800" dirty="0"/>
              <a:t>Group 3</a:t>
            </a:r>
          </a:p>
          <a:p>
            <a:pPr>
              <a:lnSpc>
                <a:spcPct val="80000"/>
              </a:lnSpc>
            </a:pPr>
            <a:r>
              <a:rPr lang="en-US" altLang="en-US" sz="2800" dirty="0"/>
              <a:t>Adil Feratovic, Hussein Rezk, Aaron Casas, Anna Cai</a:t>
            </a:r>
          </a:p>
          <a:p>
            <a:pPr>
              <a:lnSpc>
                <a:spcPct val="80000"/>
              </a:lnSpc>
            </a:pPr>
            <a:r>
              <a:rPr lang="en-US" altLang="en-US" sz="2800" dirty="0"/>
              <a:t>Chemical Engineering Lab I</a:t>
            </a:r>
          </a:p>
          <a:p>
            <a:pPr>
              <a:lnSpc>
                <a:spcPct val="80000"/>
              </a:lnSpc>
            </a:pPr>
            <a:r>
              <a:rPr lang="en-US" altLang="en-US" sz="2800" dirty="0"/>
              <a:t>09/30/25</a:t>
            </a:r>
          </a:p>
        </p:txBody>
      </p:sp>
      <p:sp>
        <p:nvSpPr>
          <p:cNvPr id="2053" name="Rectangle 5">
            <a:extLst>
              <a:ext uri="{FF2B5EF4-FFF2-40B4-BE49-F238E27FC236}">
                <a16:creationId xmlns:a16="http://schemas.microsoft.com/office/drawing/2014/main" id="{AC5DC173-100B-27DE-48DD-174FD8382C02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9144000" cy="3581400"/>
          </a:xfrm>
        </p:spPr>
        <p:txBody>
          <a:bodyPr/>
          <a:lstStyle/>
          <a:p>
            <a:r>
              <a:rPr lang="en-US" altLang="en-US" sz="4000" b="1" dirty="0"/>
              <a:t>Membrane Air Separation</a:t>
            </a:r>
          </a:p>
        </p:txBody>
      </p:sp>
      <p:sp>
        <p:nvSpPr>
          <p:cNvPr id="2054" name="Line 6">
            <a:extLst>
              <a:ext uri="{FF2B5EF4-FFF2-40B4-BE49-F238E27FC236}">
                <a16:creationId xmlns:a16="http://schemas.microsoft.com/office/drawing/2014/main" id="{BCFB89B8-4108-705C-01A0-DA35B4ABBDE3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3581400"/>
            <a:ext cx="9144000" cy="0"/>
          </a:xfrm>
          <a:prstGeom prst="line">
            <a:avLst/>
          </a:prstGeom>
          <a:noFill/>
          <a:ln w="127000">
            <a:solidFill>
              <a:srgbClr val="8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>
            <a:extLst>
              <a:ext uri="{FF2B5EF4-FFF2-40B4-BE49-F238E27FC236}">
                <a16:creationId xmlns:a16="http://schemas.microsoft.com/office/drawing/2014/main" id="{F67CF337-A8D2-6D4C-3F53-0DC849263E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 b="1" dirty="0"/>
              <a:t>Introduction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2163" name="Rectangle 3">
                <a:extLst>
                  <a:ext uri="{FF2B5EF4-FFF2-40B4-BE49-F238E27FC236}">
                    <a16:creationId xmlns:a16="http://schemas.microsoft.com/office/drawing/2014/main" id="{CF869043-BFC4-ADB2-D859-495A16D16759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>
                  <a:buFontTx/>
                  <a:buNone/>
                </a:pPr>
                <a:endParaRPr lang="en-US" altLang="en-US" b="1"/>
              </a:p>
              <a:p>
                <a:r>
                  <a:rPr lang="en-US" altLang="en-US" sz="2000" b="1"/>
                  <a:t>The purpose of the lab is to understand the membrane permeation separation process</a:t>
                </a:r>
              </a:p>
              <a:p>
                <a:r>
                  <a:rPr lang="en-US" altLang="en-US" sz="2000" b="1"/>
                  <a:t>Understand membrane air separations’ advantages when compared to comparable alternatives</a:t>
                </a:r>
              </a:p>
              <a:p>
                <a:r>
                  <a:rPr lang="en-US" altLang="en-US" sz="2000" b="1"/>
                  <a:t>Using various pressures and flow rates with different configurations (parallel and series)</a:t>
                </a:r>
              </a:p>
              <a:p>
                <a:r>
                  <a:rPr lang="en-US" altLang="en-US" sz="2000" b="1"/>
                  <a:t>Be able to calculate values such as the overall mass transfer coefficient, K, the separation factor, </a:t>
                </a:r>
                <a14:m>
                  <m:oMath xmlns:m="http://schemas.openxmlformats.org/officeDocument/2006/math">
                    <m:r>
                      <a:rPr lang="en-US" altLang="en-U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𝜶</m:t>
                    </m:r>
                  </m:oMath>
                </a14:m>
                <a:r>
                  <a:rPr lang="en-US" altLang="en-US" sz="2000" b="1"/>
                  <a:t>, percent recovery, and O2:N2 ratio.</a:t>
                </a:r>
              </a:p>
            </p:txBody>
          </p:sp>
        </mc:Choice>
        <mc:Fallback xmlns="">
          <p:sp>
            <p:nvSpPr>
              <p:cNvPr id="92163" name="Rectangle 3">
                <a:extLst>
                  <a:ext uri="{FF2B5EF4-FFF2-40B4-BE49-F238E27FC236}">
                    <a16:creationId xmlns:a16="http://schemas.microsoft.com/office/drawing/2014/main" id="{CF869043-BFC4-ADB2-D859-495A16D1675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4"/>
                <a:stretch>
                  <a:fillRect l="-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>
            <a:extLst>
              <a:ext uri="{FF2B5EF4-FFF2-40B4-BE49-F238E27FC236}">
                <a16:creationId xmlns:a16="http://schemas.microsoft.com/office/drawing/2014/main" id="{739F4B3A-ED72-A3FA-FF69-E3C8ED3DB1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Theory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4931" name="Rectangle 3">
                <a:extLst>
                  <a:ext uri="{FF2B5EF4-FFF2-40B4-BE49-F238E27FC236}">
                    <a16:creationId xmlns:a16="http://schemas.microsoft.com/office/drawing/2014/main" id="{165F0D50-313A-7DC2-EC5A-112F7451527F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en-US" sz="1100" dirty="0"/>
                  <a:t>A membrane is a physical barrier between 2 fluids (feed and product sides) that allows selective passage through</a:t>
                </a:r>
              </a:p>
              <a:p>
                <a:r>
                  <a:rPr lang="en-US" altLang="en-US" sz="1100" dirty="0"/>
                  <a:t>The fluid that passes through the membrane is the permeate, and the retentate is what stays on the feed side</a:t>
                </a:r>
              </a:p>
              <a:p>
                <a:r>
                  <a:rPr lang="en-US" altLang="en-US" sz="1100" dirty="0"/>
                  <a:t>Parallel configuration allows for an increased flow rate while series allows for enhanced purity and boosts the recovery of the gas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1100" i="1">
                            <a:latin typeface="Cambria Math" panose="02040503050406030204" pitchFamily="18" charset="0"/>
                          </a:rPr>
                          <m:t>𝐴𝐵</m:t>
                        </m:r>
                      </m:sub>
                    </m:sSub>
                  </m:oMath>
                </a14:m>
                <a:r>
                  <a:rPr lang="en-US" sz="11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1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1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1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sz="11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11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1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sz="1100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1100" dirty="0"/>
                  <a:t>     [Separation efficiency]</a:t>
                </a:r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sz="11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1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1100" i="1">
                            <a:latin typeface="Cambria Math" panose="02040503050406030204" pitchFamily="18" charset="0"/>
                          </a:rPr>
                          <m:t>𝐴𝐵</m:t>
                        </m:r>
                      </m:sub>
                      <m:sup>
                        <m:r>
                          <a:rPr lang="en-US" sz="11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sz="11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1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en-US" sz="11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11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100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sz="1100" i="1">
                                    <a:latin typeface="Cambria Math" panose="02040503050406030204" pitchFamily="18" charset="0"/>
                                  </a:rPr>
                                  <m:t>𝐴𝑝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sz="11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100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sz="1100" i="1">
                                    <a:latin typeface="Cambria Math" panose="02040503050406030204" pitchFamily="18" charset="0"/>
                                  </a:rPr>
                                  <m:t>𝐵𝑝</m:t>
                                </m:r>
                              </m:sub>
                            </m:sSub>
                          </m:den>
                        </m:f>
                      </m:num>
                      <m:den>
                        <m:f>
                          <m:fPr>
                            <m:ctrlPr>
                              <a:rPr lang="en-US" sz="11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11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100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sz="1100" i="1">
                                    <a:latin typeface="Cambria Math" panose="02040503050406030204" pitchFamily="18" charset="0"/>
                                  </a:rPr>
                                  <m:t>𝐴𝑟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sz="11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100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sz="1100" i="1">
                                    <a:latin typeface="Cambria Math" panose="02040503050406030204" pitchFamily="18" charset="0"/>
                                  </a:rPr>
                                  <m:t>𝐵𝑟</m:t>
                                </m:r>
                              </m:sub>
                            </m:sSub>
                          </m:den>
                        </m:f>
                      </m:den>
                    </m:f>
                  </m:oMath>
                </a14:m>
                <a:r>
                  <a:rPr lang="en-US" sz="1100" dirty="0"/>
                  <a:t>     [Separation factor based on retentate composition]</a:t>
                </a:r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sz="11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1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1100" i="1">
                            <a:latin typeface="Cambria Math" panose="02040503050406030204" pitchFamily="18" charset="0"/>
                          </a:rPr>
                          <m:t>𝐴𝐵</m:t>
                        </m:r>
                      </m:sub>
                      <m:sup>
                        <m:r>
                          <a:rPr lang="en-US" sz="1100" i="1">
                            <a:latin typeface="Cambria Math" panose="02040503050406030204" pitchFamily="18" charset="0"/>
                          </a:rPr>
                          <m:t>′′</m:t>
                        </m:r>
                      </m:sup>
                    </m:sSubSup>
                    <m:r>
                      <a:rPr lang="en-US" sz="11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1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en-US" sz="11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11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100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sz="1100" i="1">
                                    <a:latin typeface="Cambria Math" panose="02040503050406030204" pitchFamily="18" charset="0"/>
                                  </a:rPr>
                                  <m:t>𝐴𝑝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sz="11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100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sz="1100" i="1">
                                    <a:latin typeface="Cambria Math" panose="02040503050406030204" pitchFamily="18" charset="0"/>
                                  </a:rPr>
                                  <m:t>𝐵𝑝</m:t>
                                </m:r>
                              </m:sub>
                            </m:sSub>
                          </m:den>
                        </m:f>
                      </m:num>
                      <m:den>
                        <m:f>
                          <m:fPr>
                            <m:ctrlPr>
                              <a:rPr lang="en-US" sz="11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11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100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sz="1100" i="1">
                                    <a:latin typeface="Cambria Math" panose="02040503050406030204" pitchFamily="18" charset="0"/>
                                  </a:rPr>
                                  <m:t>𝐴𝑓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sz="11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100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sz="1100" i="1">
                                    <a:latin typeface="Cambria Math" panose="02040503050406030204" pitchFamily="18" charset="0"/>
                                  </a:rPr>
                                  <m:t>𝐵𝑓</m:t>
                                </m:r>
                              </m:sub>
                            </m:sSub>
                          </m:den>
                        </m:f>
                      </m:den>
                    </m:f>
                  </m:oMath>
                </a14:m>
                <a:r>
                  <a:rPr lang="en-US" sz="1100" dirty="0"/>
                  <a:t>     [Separation factor based on feed composition]</a:t>
                </a:r>
              </a:p>
              <a:p>
                <a:pPr marL="0" indent="0">
                  <a:buNone/>
                </a:pPr>
                <a:r>
                  <a:rPr lang="en-US" sz="1100" dirty="0"/>
                  <a:t> 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00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sz="1100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sz="11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1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1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1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11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num>
                      <m:den>
                        <m:r>
                          <a:rPr lang="en-US" sz="1100" i="1"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  <m:r>
                      <a:rPr lang="en-US" sz="11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1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1100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11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100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1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1100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11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100" i="1">
                        <a:latin typeface="Cambria Math" panose="02040503050406030204" pitchFamily="18" charset="0"/>
                      </a:rPr>
                      <m:t>)=</m:t>
                    </m:r>
                    <m:sSub>
                      <m:sSubPr>
                        <m:ctrlPr>
                          <a:rPr lang="en-US" sz="1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1100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sz="11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1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1100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11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100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1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1100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11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1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100" dirty="0"/>
              </a:p>
              <a:p>
                <a14:m>
                  <m:oMath xmlns:m="http://schemas.openxmlformats.org/officeDocument/2006/math">
                    <m:r>
                      <a:rPr lang="en-US" sz="1100" i="1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11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00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sz="1100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sz="11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1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1100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11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100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1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1100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11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1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1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00" i="1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sz="11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1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100" i="1">
                        <a:latin typeface="Cambria Math" panose="02040503050406030204" pitchFamily="18" charset="0"/>
                      </a:rPr>
                      <m:t>𝑅𝑒𝑐𝑜𝑣𝑒𝑟𝑦</m:t>
                    </m:r>
                    <m:r>
                      <a:rPr lang="en-US" sz="1100" i="1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sz="11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1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100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11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  <m:r>
                          <a:rPr lang="en-US" sz="1100" i="1">
                            <a:latin typeface="Cambria Math" panose="02040503050406030204" pitchFamily="18" charset="0"/>
                          </a:rPr>
                          <m:t>∗ </m:t>
                        </m:r>
                        <m:sSub>
                          <m:sSubPr>
                            <m:ctrlPr>
                              <a:rPr lang="en-US" sz="11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1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1100" i="1">
                                <a:latin typeface="Cambria Math" panose="02040503050406030204" pitchFamily="18" charset="0"/>
                              </a:rPr>
                              <m:t>𝑂</m:t>
                            </m:r>
                            <m:r>
                              <a:rPr lang="en-US" sz="11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11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11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100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11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  <m:r>
                          <a:rPr lang="en-US" sz="1100" i="1">
                            <a:latin typeface="Cambria Math" panose="02040503050406030204" pitchFamily="18" charset="0"/>
                          </a:rPr>
                          <m:t>∗ </m:t>
                        </m:r>
                        <m:sSub>
                          <m:sSubPr>
                            <m:ctrlPr>
                              <a:rPr lang="en-US" sz="11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1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1100" i="1">
                                <a:latin typeface="Cambria Math" panose="02040503050406030204" pitchFamily="18" charset="0"/>
                              </a:rPr>
                              <m:t>𝑂</m:t>
                            </m:r>
                            <m:r>
                              <a:rPr lang="en-US" sz="11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11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</m:den>
                    </m:f>
                  </m:oMath>
                </a14:m>
                <a:endParaRPr lang="en-US" sz="11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11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1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100" i="1">
                        <a:latin typeface="Cambria Math" panose="02040503050406030204" pitchFamily="18" charset="0"/>
                      </a:rPr>
                      <m:t>𝑅𝑒𝑐𝑜𝑣𝑒𝑟𝑦</m:t>
                    </m:r>
                    <m:r>
                      <a:rPr lang="en-US" sz="1100" i="1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sz="11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1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100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11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  <m:r>
                          <a:rPr lang="en-US" sz="1100" i="1">
                            <a:latin typeface="Cambria Math" panose="02040503050406030204" pitchFamily="18" charset="0"/>
                          </a:rPr>
                          <m:t>∗ </m:t>
                        </m:r>
                        <m:sSub>
                          <m:sSubPr>
                            <m:ctrlPr>
                              <a:rPr lang="en-US" sz="11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1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110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en-US" sz="11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11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11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100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11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  <m:r>
                          <a:rPr lang="en-US" sz="1100" i="1">
                            <a:latin typeface="Cambria Math" panose="02040503050406030204" pitchFamily="18" charset="0"/>
                          </a:rPr>
                          <m:t>∗ </m:t>
                        </m:r>
                        <m:sSub>
                          <m:sSubPr>
                            <m:ctrlPr>
                              <a:rPr lang="en-US" sz="11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1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110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en-US" sz="11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11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1100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sz="1100" i="1">
                        <a:latin typeface="Cambria Math" panose="02040503050406030204" pitchFamily="18" charset="0"/>
                      </a:rPr>
                      <m:t>𝑆𝑇𝐴𝐺𝐸𝐶𝑈𝑇</m:t>
                    </m:r>
                    <m:r>
                      <a:rPr lang="en-US" sz="1100" i="1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sz="11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1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1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sz="11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11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1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sz="11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  <m:r>
                          <a:rPr lang="en-US" sz="1100" i="1">
                            <a:latin typeface="Cambria Math" panose="02040503050406030204" pitchFamily="18" charset="0"/>
                          </a:rPr>
                          <m:t>+ </m:t>
                        </m:r>
                        <m:sSub>
                          <m:sSubPr>
                            <m:ctrlPr>
                              <a:rPr lang="en-US" sz="11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1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sz="11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den>
                    </m:f>
                  </m:oMath>
                </a14:m>
                <a:endParaRPr lang="en-US" sz="1100" dirty="0"/>
              </a:p>
              <a:p>
                <a:endParaRPr lang="en-US" altLang="en-US" sz="1100" dirty="0"/>
              </a:p>
            </p:txBody>
          </p:sp>
        </mc:Choice>
        <mc:Fallback xmlns="">
          <p:sp>
            <p:nvSpPr>
              <p:cNvPr id="124931" name="Rectangle 3">
                <a:extLst>
                  <a:ext uri="{FF2B5EF4-FFF2-40B4-BE49-F238E27FC236}">
                    <a16:creationId xmlns:a16="http://schemas.microsoft.com/office/drawing/2014/main" id="{165F0D50-313A-7DC2-EC5A-112F7451527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3"/>
                <a:stretch>
                  <a:fillRect t="-135" r="-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>
            <a:extLst>
              <a:ext uri="{FF2B5EF4-FFF2-40B4-BE49-F238E27FC236}">
                <a16:creationId xmlns:a16="http://schemas.microsoft.com/office/drawing/2014/main" id="{E207363D-743F-3B60-8D8D-17FA3CC6AB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Apparatus</a:t>
            </a:r>
          </a:p>
        </p:txBody>
      </p:sp>
      <p:sp>
        <p:nvSpPr>
          <p:cNvPr id="125955" name="Rectangle 3">
            <a:extLst>
              <a:ext uri="{FF2B5EF4-FFF2-40B4-BE49-F238E27FC236}">
                <a16:creationId xmlns:a16="http://schemas.microsoft.com/office/drawing/2014/main" id="{CA70CF76-77E5-05ED-220A-FFB59657C0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7C8BB2D-F419-7ABA-F94E-56CA03BC2AF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035" t="5210" r="20953"/>
          <a:stretch>
            <a:fillRect/>
          </a:stretch>
        </p:blipFill>
        <p:spPr bwMode="auto">
          <a:xfrm rot="5400000">
            <a:off x="928514" y="1145817"/>
            <a:ext cx="1664629" cy="2573393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01F39E7-7440-A053-83C1-E266E091739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5212201" y="2004430"/>
            <a:ext cx="2320348" cy="1741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1AC1F26-5DF6-65D3-A125-701101DCCE6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3039116" y="1948993"/>
            <a:ext cx="2514799" cy="1887431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6DBAF7C-8C09-3EFE-6530-1E64E82175E3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404874" y="3674677"/>
            <a:ext cx="2538429" cy="1904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C456BA7-69A1-4682-6889-8F00D0A8C565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2717590" y="4632863"/>
            <a:ext cx="2128438" cy="1597316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4AFF24A-194F-23F5-2CD4-77BA90995593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4791340" y="4667546"/>
            <a:ext cx="2104920" cy="157966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0717A49-5674-8EE1-8502-3FAAB31B5263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6958569" y="4682878"/>
            <a:ext cx="2106222" cy="1579666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26F7971-14E1-FEC2-D507-1669E85E591A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7080376" y="1995309"/>
            <a:ext cx="2219228" cy="16643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2">
            <a:extLst>
              <a:ext uri="{FF2B5EF4-FFF2-40B4-BE49-F238E27FC236}">
                <a16:creationId xmlns:a16="http://schemas.microsoft.com/office/drawing/2014/main" id="{837A50CF-1F77-E22F-6AB4-B1012DBE20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Material &amp; Supplies</a:t>
            </a:r>
          </a:p>
        </p:txBody>
      </p:sp>
      <p:sp>
        <p:nvSpPr>
          <p:cNvPr id="126979" name="Rectangle 3">
            <a:extLst>
              <a:ext uri="{FF2B5EF4-FFF2-40B4-BE49-F238E27FC236}">
                <a16:creationId xmlns:a16="http://schemas.microsoft.com/office/drawing/2014/main" id="{D7AE701B-D91C-B9B5-443D-5FB65DD256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Compressed Air </a:t>
            </a:r>
          </a:p>
          <a:p>
            <a:r>
              <a:rPr lang="en-US" altLang="en-US" dirty="0"/>
              <a:t>Pressure gauge</a:t>
            </a:r>
          </a:p>
          <a:p>
            <a:r>
              <a:rPr lang="en-US" altLang="en-US" dirty="0"/>
              <a:t>O2 Sensor (2x)</a:t>
            </a:r>
          </a:p>
          <a:p>
            <a:r>
              <a:rPr lang="en-US" altLang="en-US" dirty="0"/>
              <a:t>Valves</a:t>
            </a:r>
          </a:p>
          <a:p>
            <a:r>
              <a:rPr lang="en-US" altLang="en-US" dirty="0"/>
              <a:t>Flow rate controllers (2x)</a:t>
            </a:r>
          </a:p>
          <a:p>
            <a:r>
              <a:rPr lang="en-US" altLang="en-US" dirty="0"/>
              <a:t>Pressure regulator and release valves</a:t>
            </a:r>
          </a:p>
          <a:p>
            <a:r>
              <a:rPr lang="en-US" altLang="en-US" dirty="0"/>
              <a:t>Power Source (electrical outlet)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>
            <a:extLst>
              <a:ext uri="{FF2B5EF4-FFF2-40B4-BE49-F238E27FC236}">
                <a16:creationId xmlns:a16="http://schemas.microsoft.com/office/drawing/2014/main" id="{2F1C1F1B-9761-99EC-9FB8-29F5672381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Procedure</a:t>
            </a:r>
          </a:p>
        </p:txBody>
      </p:sp>
      <p:sp>
        <p:nvSpPr>
          <p:cNvPr id="128003" name="Rectangle 3">
            <a:extLst>
              <a:ext uri="{FF2B5EF4-FFF2-40B4-BE49-F238E27FC236}">
                <a16:creationId xmlns:a16="http://schemas.microsoft.com/office/drawing/2014/main" id="{3B59252F-BFB5-56A8-8B78-FF5129D044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400" dirty="0"/>
              <a:t>Turn on both </a:t>
            </a:r>
            <a:r>
              <a:rPr lang="en-US" sz="2400"/>
              <a:t>O2</a:t>
            </a:r>
            <a:r>
              <a:rPr lang="en-US" sz="2400" dirty="0"/>
              <a:t> sensors, wait for 10 minutes. Calibrate to 20.9% O</a:t>
            </a:r>
            <a:r>
              <a:rPr lang="en-US" sz="2400" baseline="-25000" dirty="0"/>
              <a:t>2</a:t>
            </a:r>
            <a:r>
              <a:rPr lang="en-US" sz="2400" dirty="0"/>
              <a:t>. Make sure flow meters and pressure display are on</a:t>
            </a:r>
          </a:p>
          <a:p>
            <a:r>
              <a:rPr lang="en-US" sz="2400" dirty="0"/>
              <a:t>Open the compressed air and take note of cylinder pressure. Use the regulator to set run pressures</a:t>
            </a:r>
          </a:p>
          <a:p>
            <a:r>
              <a:rPr lang="en-US" sz="2400" dirty="0"/>
              <a:t>Set up the parallel test. Series will be done after</a:t>
            </a:r>
          </a:p>
          <a:p>
            <a:r>
              <a:rPr lang="en-US" sz="2400" dirty="0"/>
              <a:t>Adjust the needle valve to the desired tube side effluent flowrate. Recheck pressure changes</a:t>
            </a:r>
          </a:p>
          <a:p>
            <a:r>
              <a:rPr lang="en-US" sz="2400" dirty="0"/>
              <a:t>Once steady, record pressure, flow rates, and O</a:t>
            </a:r>
            <a:r>
              <a:rPr lang="en-US" sz="2400" baseline="-25000" dirty="0"/>
              <a:t>2</a:t>
            </a:r>
            <a:r>
              <a:rPr lang="en-US" sz="2400" dirty="0"/>
              <a:t> %s</a:t>
            </a:r>
          </a:p>
          <a:p>
            <a:r>
              <a:rPr lang="en-US" sz="2400" dirty="0"/>
              <a:t>Around 15 runs done for parallel and series configuration each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>
            <a:extLst>
              <a:ext uri="{FF2B5EF4-FFF2-40B4-BE49-F238E27FC236}">
                <a16:creationId xmlns:a16="http://schemas.microsoft.com/office/drawing/2014/main" id="{604B8C77-ACB2-3B9F-E2A6-DE5183A59E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Experimental Challenges</a:t>
            </a:r>
          </a:p>
        </p:txBody>
      </p:sp>
      <p:sp>
        <p:nvSpPr>
          <p:cNvPr id="129027" name="Rectangle 3">
            <a:extLst>
              <a:ext uri="{FF2B5EF4-FFF2-40B4-BE49-F238E27FC236}">
                <a16:creationId xmlns:a16="http://schemas.microsoft.com/office/drawing/2014/main" id="{747D4BF7-D873-5957-C79C-605B0CAB30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Watch </a:t>
            </a:r>
            <a:r>
              <a:rPr lang="en-US" altLang="en-US" dirty="0"/>
              <a:t>out for pressure control, adjusting valves, </a:t>
            </a:r>
            <a:r>
              <a:rPr lang="en-US" altLang="en-US"/>
              <a:t>and </a:t>
            </a:r>
            <a:r>
              <a:rPr lang="en-US" altLang="en-US" dirty="0"/>
              <a:t>flow rate control</a:t>
            </a:r>
            <a:r>
              <a:rPr lang="en-US" altLang="en-US"/>
              <a:t> during experiment</a:t>
            </a:r>
            <a:endParaRPr lang="en-US" altLang="en-US" dirty="0"/>
          </a:p>
          <a:p>
            <a:r>
              <a:rPr lang="en-US" altLang="en-US" dirty="0"/>
              <a:t>Patiently wait for readings to settle</a:t>
            </a:r>
            <a:endParaRPr lang="en-US" altLang="en-US"/>
          </a:p>
          <a:p>
            <a:r>
              <a:rPr lang="en-US" altLang="en-US"/>
              <a:t>Make sure to calibrate O2 sensor</a:t>
            </a:r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>
            <a:extLst>
              <a:ext uri="{FF2B5EF4-FFF2-40B4-BE49-F238E27FC236}">
                <a16:creationId xmlns:a16="http://schemas.microsoft.com/office/drawing/2014/main" id="{6368A5C9-1E52-2FB0-CEA7-7C379240190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Safety</a:t>
            </a:r>
          </a:p>
        </p:txBody>
      </p:sp>
      <p:sp>
        <p:nvSpPr>
          <p:cNvPr id="130051" name="Rectangle 3">
            <a:extLst>
              <a:ext uri="{FF2B5EF4-FFF2-40B4-BE49-F238E27FC236}">
                <a16:creationId xmlns:a16="http://schemas.microsoft.com/office/drawing/2014/main" id="{C2BE2BFB-C363-27A3-A531-003FAEC3CB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High-pressure compressed air in the tank</a:t>
            </a:r>
          </a:p>
          <a:p>
            <a:r>
              <a:rPr lang="en-US" altLang="en-US" dirty="0"/>
              <a:t>Make sure to properly set up configurations so as not to have both valves closed</a:t>
            </a:r>
          </a:p>
          <a:p>
            <a:r>
              <a:rPr lang="en-US" altLang="en-US" dirty="0"/>
              <a:t>Wear PPE</a:t>
            </a:r>
          </a:p>
          <a:p>
            <a:r>
              <a:rPr lang="en-US" altLang="en-US" dirty="0"/>
              <a:t>Read SDS for compressed air</a:t>
            </a: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202cd47-7a56-4baa-99e3-e3b71a7c77dd}" enabled="0" method="" siteId="{e202cd47-7a56-4baa-99e3-e3b71a7c77dd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1777</TotalTime>
  <Words>401</Words>
  <Application>Microsoft Office PowerPoint</Application>
  <PresentationFormat>On-screen Show (4:3)</PresentationFormat>
  <Paragraphs>51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Cambria Math</vt:lpstr>
      <vt:lpstr>Default Design</vt:lpstr>
      <vt:lpstr>Membrane Air Separation</vt:lpstr>
      <vt:lpstr>Introduction</vt:lpstr>
      <vt:lpstr>Theory</vt:lpstr>
      <vt:lpstr>Apparatus</vt:lpstr>
      <vt:lpstr>Material &amp; Supplies</vt:lpstr>
      <vt:lpstr>Procedure</vt:lpstr>
      <vt:lpstr>Experimental Challenges</vt:lpstr>
      <vt:lpstr>Safety</vt:lpstr>
    </vt:vector>
  </TitlesOfParts>
  <Company>UIC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BUILDING THE UIC BRAND</dc:title>
  <dc:creator>Elizabeth Zweigle Yee</dc:creator>
  <cp:lastModifiedBy>Zdunek, Alan</cp:lastModifiedBy>
  <cp:revision>232</cp:revision>
  <dcterms:created xsi:type="dcterms:W3CDTF">2008-04-09T18:55:55Z</dcterms:created>
  <dcterms:modified xsi:type="dcterms:W3CDTF">2025-10-01T17:15:42Z</dcterms:modified>
</cp:coreProperties>
</file>