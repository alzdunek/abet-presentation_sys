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9_0.xml" ContentType="application/vnd.ms-powerpoint.comments+xml"/>
  <Override PartName="/ppt/comments/modernComment_12A_0.xml" ContentType="application/vnd.ms-powerpoint.comments+xml"/>
  <Override PartName="/ppt/comments/modernComment_12B_0.xml" ContentType="application/vnd.ms-powerpoint.comments+xml"/>
  <Override PartName="/ppt/comments/modernComment_12C_0.xml" ContentType="application/vnd.ms-powerpoint.comments+xml"/>
  <Override PartName="/ppt/comments/modernComment_12E_0.xml" ContentType="application/vnd.ms-powerpoint.comments+xml"/>
  <Override PartName="/ppt/comments/modernComment_12F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7" r:id="rId6"/>
    <p:sldId id="298" r:id="rId7"/>
    <p:sldId id="299" r:id="rId8"/>
    <p:sldId id="300" r:id="rId9"/>
    <p:sldId id="301" r:id="rId10"/>
    <p:sldId id="302" r:id="rId11"/>
    <p:sldId id="303" r:id="rId12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234C"/>
    <a:srgbClr val="0066CC"/>
    <a:srgbClr val="3366FF"/>
    <a:srgbClr val="CC9900"/>
    <a:srgbClr val="996600"/>
    <a:srgbClr val="99CCFF"/>
    <a:srgbClr val="8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EEC390-4F08-47C1-9041-2B35B8D53FD6}" v="89" dt="2025-09-14T17:29:15.831"/>
    <p1510:client id="{C38FBF12-335A-A4FC-E5B6-338D60684B83}" v="203" dt="2025-09-15T04:29:50.784"/>
    <p1510:client id="{ED3B3CEF-C450-C614-56A0-2560FC254787}" v="4" dt="2025-09-15T23:58:1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2" autoAdjust="0"/>
    <p:restoredTop sz="94728" autoAdjust="0"/>
  </p:normalViewPr>
  <p:slideViewPr>
    <p:cSldViewPr>
      <p:cViewPr varScale="1">
        <p:scale>
          <a:sx n="102" d="100"/>
          <a:sy n="102" d="100"/>
        </p:scale>
        <p:origin x="15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omments/modernComment_12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9795AE-DCA3-4F33-8012-BF0AAC77B84A}" authorId="{DF52CCAC-0B66-CA76-A7A3-D551D844506B}" created="2025-09-17T22:36:37.46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8"/>
      <ac:spMk id="124931" creationId="{FDD32F69-982A-D845-8D7B-5D013A7A03AF}"/>
    </ac:deMkLst>
    <p188:txBody>
      <a:bodyPr/>
      <a:lstStyle/>
      <a:p>
        <a:r>
          <a:rPr lang="en-US"/>
          <a:t>Water evaporation?</a:t>
        </a:r>
      </a:p>
    </p188:txBody>
  </p188:cm>
</p188:cmLst>
</file>

<file path=ppt/comments/modernComment_12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B0870D-2D66-4E3B-B0E9-06213F3C4CAC}" authorId="{DF52CCAC-0B66-CA76-A7A3-D551D844506B}" created="2025-09-17T22:38:34.4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9"/>
      <ac:spMk id="125954" creationId="{E6658E0C-5867-9E90-F6B9-0A130C5ED75F}"/>
    </ac:deMkLst>
    <p188:txBody>
      <a:bodyPr/>
      <a:lstStyle/>
      <a:p>
        <a:r>
          <a:rPr lang="en-US"/>
          <a:t>-4
Anemometer and air compressor are not part of the apparatus .
Also, a larger picture of the full apparatus would be useful here.</a:t>
        </a:r>
      </a:p>
    </p188:txBody>
  </p188:cm>
</p188:cmLst>
</file>

<file path=ppt/comments/modernComment_12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A0A33E-042A-4607-AAA3-C5D93CC85A7F}" authorId="{DF52CCAC-0B66-CA76-A7A3-D551D844506B}" created="2025-09-17T22:40:10.7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0"/>
      <ac:spMk id="126978" creationId="{80AC57C2-69F4-6DF2-E74A-71D90E8CAC89}"/>
    </ac:deMkLst>
    <p188:txBody>
      <a:bodyPr/>
      <a:lstStyle/>
      <a:p>
        <a:r>
          <a:rPr lang="en-US"/>
          <a:t>-5
Column, rotameters, pump, tank, weir, heat exchanger, tubing/fittings are part of the apparatus.
</a:t>
        </a:r>
      </a:p>
    </p188:txBody>
  </p188:cm>
</p188:cmLst>
</file>

<file path=ppt/comments/modernComment_12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72D740-FF2C-4361-A38A-076793341213}" authorId="{DF52CCAC-0B66-CA76-A7A3-D551D844506B}" created="2025-09-17T22:40:38.4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2"/>
      <ac:spMk id="129026" creationId="{C980FFC2-9394-030E-85E3-D679230FA39E}"/>
    </ac:deMkLst>
    <p188:txBody>
      <a:bodyPr/>
      <a:lstStyle/>
      <a:p>
        <a:r>
          <a:rPr lang="en-US"/>
          <a:t>Good!</a:t>
        </a:r>
      </a:p>
    </p188:txBody>
  </p188:cm>
</p188:cmLst>
</file>

<file path=ppt/comments/modernComment_12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37E3A4-561A-41BF-8A10-43AA62137812}" authorId="{DF52CCAC-0B66-CA76-A7A3-D551D844506B}" created="2025-09-17T22:41:16.6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3"/>
      <ac:spMk id="130050" creationId="{91D7F930-ADE9-D2F1-854C-74DFF2A374E1}"/>
    </ac:deMkLst>
    <p188:txBody>
      <a:bodyPr/>
      <a:lstStyle/>
      <a:p>
        <a:r>
          <a:rPr lang="en-US"/>
          <a:t>-2
State the high pressure hazard also.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79544D4-F720-46CC-B70A-48E2B2B91C75}" authorId="{DF52CCAC-0B66-CA76-A7A3-D551D844506B}" created="2025-09-17T22:41:43.6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1" creationId="{1AAF6489-4BD7-4903-50AC-A08DF896F442}"/>
    </ac:deMkLst>
    <p188:txBody>
      <a:bodyPr/>
      <a:lstStyle/>
      <a:p>
        <a:r>
          <a:rPr lang="en-US"/>
          <a:t>87/100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D046FE-07C3-429A-AD4C-9362D74DC7B9}" authorId="{DF52CCAC-0B66-CA76-A7A3-D551D844506B}" created="2025-09-17T22:35:30.9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7"/>
      <ac:spMk id="92163" creationId="{A34C690F-7428-8A5C-813E-F8BC07F822E6}"/>
    </ac:deMkLst>
    <p188:txBody>
      <a:bodyPr/>
      <a:lstStyle/>
      <a:p>
        <a:r>
          <a:rPr lang="en-US"/>
          <a:t>-2
State the conditions varied-  air flowrate and air temperature.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19AF1244-1033-83BD-B98A-6E1E38BB93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6C20B5AF-044F-6E8A-7C58-BBD52D4731E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8363AAAF-E122-0F69-6378-A04DB2C284B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34A08679-B36C-7611-D1F0-A08DDA8364B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F7AA202-EF8F-4A76-BF06-5B1FFD7A62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DF1C00C8-3E3C-0840-21E5-1026515D9A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7C277445-5B99-C1C1-4A3C-DA32C4FCFD6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0D35EDE1-CD3F-B779-B266-452466949B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FE4DE8CC-42F8-263F-0385-4C8DA9635F5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681D2B9C-9A80-B326-5223-432C8F3E8A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EF5ECF57-10D0-E8EC-232E-2F634CFD19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744DE48-CDB1-44B6-8EC2-EE528DF7A27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1B23623A-0C14-137C-AB8E-A6B3E17FA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0B6B1F-26A8-4D17-88C9-D94990177441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004F2EC6-7213-2E55-894B-E88455EAF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2857D8CA-D215-472D-8CAF-F28825B84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B20E235D-8980-B827-C410-454A087BD2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6ABF6D-E768-486E-B3AD-2E3C831F09ED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1CFD780C-678A-F38F-9E27-3104EF2E08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C6F0958-D580-1759-C12E-BD119A10B2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EC4D93D-CEDD-17F3-B2D8-49DBA0CA8BA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271A24E-F619-6326-998C-E115AD94F8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2955530-07C3-41C9-F6F8-F145363B25D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A3EBF2C7-791A-ACF5-374D-BEA6CA122C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145D-45D1-9B67-8790-DBC1A279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E7638-2F50-9B7A-C142-06B4C6B03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309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BC21C-80A8-5552-E81F-B7EDFCB6D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1239D-D1BA-1079-8454-04A45D44E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785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99859-C795-53DF-2372-E80B1D91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3440F-057D-4096-DC56-1FEBDC305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4065C-1854-BC36-F042-9091D0B88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057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3BF8-B3FA-D31D-D30C-9A0AA77F2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A9187-54DB-5973-69E9-137DBF98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AEBA8-1AAA-F0EC-440A-C31B4BA7C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AB70B-B7B9-4F10-12D6-6202B9DF9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58D62-E60E-1AD1-348D-618E47709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805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5055-3C69-AA64-D412-0BF5E965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281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63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3127-C04D-6EBA-1839-AE4396A0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87C6-33BE-A3CA-19E5-44431C131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77171-ED9A-4134-0551-F8ABFBEAC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35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115B-83CF-E28D-FF27-C701A42C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B499A-BC9A-975C-281E-1E7AF9228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7B867-D565-125F-AE99-879A33143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0418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2C699-0F9A-F9B0-4326-7D116B0A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ADD9A-3D6E-150D-50EA-860D8F74B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079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DFEC5-437A-EA6B-6914-6056507B7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6C9FC-4462-1E23-FC5C-97D87A797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856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BAE9768-9BD6-2E76-86E1-577EAC7F40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C0DEE7-D113-D4E2-C574-8BF8332812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4FCD1A0A-8D38-C8F7-BC77-6BCB10D1791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4FC6E75E-E07B-8A6C-BD7B-2A13B0B35B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A_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microsoft.com/office/2018/10/relationships/comments" Target="../comments/modernComment_12B_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C_0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E_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F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1AAF6489-4BD7-4903-50AC-A08DF896F44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4114800"/>
            <a:ext cx="76962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Group 4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Rishabh P., Khoa N., Alexis G., Kyle H.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Chemical Engineering Lab I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09/15/25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6BE8D19-C35B-90F3-5FEE-9AD5587E51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 dirty="0"/>
            </a:br>
            <a:br>
              <a:rPr lang="en-US" altLang="en-US" sz="4000" b="1" dirty="0"/>
            </a:br>
            <a:br>
              <a:rPr lang="en-US" altLang="en-US" sz="4000" b="1" dirty="0"/>
            </a:br>
            <a:r>
              <a:rPr lang="en-US" altLang="en-US" sz="4000" b="1" dirty="0"/>
              <a:t>Humidification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EC2989D6-D4DB-A777-C41F-1ED3882D9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A7F8EE77-EC9B-10E5-FAAD-E738F7E15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A34C690F-7428-8A5C-813E-F8BC07F82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70665"/>
            <a:ext cx="8229600" cy="493946"/>
          </a:xfrm>
        </p:spPr>
        <p:txBody>
          <a:bodyPr/>
          <a:lstStyle/>
          <a:p>
            <a:pPr>
              <a:buFontTx/>
              <a:buNone/>
            </a:pPr>
            <a:endParaRPr lang="en-US" altLang="en-US" b="1" dirty="0"/>
          </a:p>
          <a:p>
            <a:r>
              <a:rPr lang="en-US" altLang="en-US" sz="2800" b="1" dirty="0"/>
              <a:t>To study the transport of both mass &amp; heat in a wetted wall column in order to obtain experimental values for the heat &amp; mass transfer coefficients.</a:t>
            </a:r>
          </a:p>
          <a:p>
            <a:pPr marL="0" indent="0">
              <a:buNone/>
            </a:pPr>
            <a:endParaRPr lang="en-US" altLang="en-US" sz="2800" b="1" dirty="0"/>
          </a:p>
          <a:p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EF8F5C-305D-379A-F071-0C4B249FF5B5}"/>
              </a:ext>
            </a:extLst>
          </p:cNvPr>
          <p:cNvSpPr txBox="1"/>
          <p:nvPr/>
        </p:nvSpPr>
        <p:spPr>
          <a:xfrm>
            <a:off x="676507" y="3759743"/>
            <a:ext cx="243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34C"/>
                </a:solidFill>
              </a:rPr>
              <a:t>Heat &amp; Mass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Humidification in a column is based off of the movement of water molecules from the liquid to gas phase.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BF7E8-CE9E-817C-6880-3523B7B49BCB}"/>
              </a:ext>
            </a:extLst>
          </p:cNvPr>
          <p:cNvSpPr txBox="1"/>
          <p:nvPr/>
        </p:nvSpPr>
        <p:spPr>
          <a:xfrm>
            <a:off x="3352800" y="3759744"/>
            <a:ext cx="2438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34C"/>
                </a:solidFill>
              </a:rPr>
              <a:t>Thermodynamics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Governs the maximum extent of humidification possible under certain conditions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AE74F4-CC4E-2867-51B2-FF7F77F001DA}"/>
              </a:ext>
            </a:extLst>
          </p:cNvPr>
          <p:cNvSpPr txBox="1"/>
          <p:nvPr/>
        </p:nvSpPr>
        <p:spPr>
          <a:xfrm>
            <a:off x="6029093" y="3621243"/>
            <a:ext cx="2438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34C"/>
                </a:solidFill>
              </a:rPr>
              <a:t>Performance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Factors such as: gas flow rate, water temperature, column height, etc. Affect the efficiency of the column.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3EA97BD7-5E7C-7627-F67D-B47EC7BE6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DD32F69-982A-D845-8D7B-5D013A7A0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7322" y="1610139"/>
            <a:ext cx="2806147" cy="473433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u="sng" dirty="0"/>
              <a:t>Principles &amp; Equations</a:t>
            </a:r>
          </a:p>
          <a:p>
            <a:r>
              <a:rPr lang="en-US" altLang="en-US" sz="1800" dirty="0"/>
              <a:t>Both heat and mass transfer control humidification. Heat is needed for water </a:t>
            </a:r>
          </a:p>
          <a:p>
            <a:r>
              <a:rPr lang="el-GR" altLang="en-US" sz="1800" dirty="0"/>
              <a:t>𝑞 = ℎ ∙ Δ𝑇 (1)</a:t>
            </a:r>
          </a:p>
          <a:p>
            <a:r>
              <a:rPr lang="el-GR" altLang="en-US" sz="1800" dirty="0"/>
              <a:t>𝑁𝐴 = 𝑘𝐶 ∙ Δ𝑐𝐴</a:t>
            </a:r>
            <a:endParaRPr lang="en-US" altLang="en-US" sz="1800" dirty="0"/>
          </a:p>
          <a:p>
            <a:r>
              <a:rPr lang="en-US" altLang="en-US" sz="1800" dirty="0"/>
              <a:t>𝑆ℎ = 𝑘𝐶 ∙ 𝐿/𝐷𝐴𝐵</a:t>
            </a:r>
          </a:p>
          <a:p>
            <a:r>
              <a:rPr lang="en-US" altLang="en-US" sz="1800" dirty="0"/>
              <a:t>𝑆ℎ = 0.023 ∙ 𝑅𝑒0.83 ∙ 𝑆𝑐0.44</a:t>
            </a:r>
          </a:p>
          <a:p>
            <a:r>
              <a:rPr lang="en-US" sz="1800" dirty="0"/>
              <a:t>GS′​</a:t>
            </a:r>
            <a:r>
              <a:rPr lang="en-US" sz="1800" dirty="0" err="1"/>
              <a:t>dY</a:t>
            </a:r>
            <a:r>
              <a:rPr lang="en-US" sz="1800" dirty="0"/>
              <a:t>′=</a:t>
            </a:r>
            <a:r>
              <a:rPr lang="en-US" sz="1800" dirty="0" err="1"/>
              <a:t>kY</a:t>
            </a:r>
            <a:r>
              <a:rPr lang="en-US" sz="1800" dirty="0"/>
              <a:t>​(Yi′​−Y′)</a:t>
            </a:r>
            <a:r>
              <a:rPr lang="en-US" sz="1800" dirty="0" err="1"/>
              <a:t>Pdz</a:t>
            </a:r>
            <a:endParaRPr lang="en-US" sz="1800" dirty="0"/>
          </a:p>
          <a:p>
            <a:r>
              <a:rPr lang="pt-BR" sz="1800" dirty="0"/>
              <a:t>GS′​CS′​dT=h(Ti​−T)Pdz</a:t>
            </a:r>
            <a:endParaRPr lang="en-US" alt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E76C7F-04A0-271B-238B-A5E8B1D6C62F}"/>
              </a:ext>
            </a:extLst>
          </p:cNvPr>
          <p:cNvSpPr txBox="1"/>
          <p:nvPr/>
        </p:nvSpPr>
        <p:spPr>
          <a:xfrm>
            <a:off x="3238500" y="1605776"/>
            <a:ext cx="30049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34C"/>
                </a:solidFill>
              </a:rPr>
              <a:t>Assumptions/Limitations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Dilute system – Water </a:t>
            </a:r>
            <a:r>
              <a:rPr lang="en-US" dirty="0" err="1">
                <a:solidFill>
                  <a:srgbClr val="00234C"/>
                </a:solidFill>
              </a:rPr>
              <a:t>vapour</a:t>
            </a:r>
            <a:r>
              <a:rPr lang="en-US" dirty="0">
                <a:solidFill>
                  <a:srgbClr val="00234C"/>
                </a:solidFill>
              </a:rPr>
              <a:t> in air assumed to be at low conc.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Thin film assumption – Water forms a uniform film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Negligible Heat Loss – Column is treated as adiabatic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Constant properties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Neglect coupling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Neglect bulk flow correction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585D2-A172-0CD8-0473-65400438F2FF}"/>
              </a:ext>
            </a:extLst>
          </p:cNvPr>
          <p:cNvSpPr txBox="1"/>
          <p:nvPr/>
        </p:nvSpPr>
        <p:spPr>
          <a:xfrm>
            <a:off x="6248400" y="1605776"/>
            <a:ext cx="2667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34C"/>
                </a:solidFill>
              </a:rPr>
              <a:t>Connection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Experimental setup – Wetted-wall column that has countercurrent air and water flow.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Measured data – Air inlet/outlet temp. and humidity, water temp. , air and water flows.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Goal – Determine </a:t>
            </a:r>
            <a:r>
              <a:rPr lang="en-US" dirty="0" err="1">
                <a:solidFill>
                  <a:srgbClr val="00234C"/>
                </a:solidFill>
              </a:rPr>
              <a:t>kY</a:t>
            </a:r>
            <a:r>
              <a:rPr lang="en-US" dirty="0">
                <a:solidFill>
                  <a:srgbClr val="00234C"/>
                </a:solidFill>
              </a:rPr>
              <a:t> (mass transfer coefficient), h (heat transfer coefficient), NTU, HTU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34C"/>
                </a:solidFill>
              </a:rPr>
              <a:t>Validation – Compare experimental values to Sherwood number</a:t>
            </a:r>
            <a:r>
              <a:rPr lang="en-US" dirty="0"/>
              <a:t>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E6658E0C-5867-9E90-F6B9-0A130C5ED7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Apparatus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2A3DD7C2-DF16-E641-8B3A-417792D4E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2872" y="1593269"/>
            <a:ext cx="8462513" cy="5307033"/>
          </a:xfrm>
        </p:spPr>
        <p:txBody>
          <a:bodyPr/>
          <a:lstStyle/>
          <a:p>
            <a:r>
              <a:rPr lang="en-US" altLang="en-US" sz="1200" dirty="0"/>
              <a:t>Anemometer (1)</a:t>
            </a:r>
          </a:p>
          <a:p>
            <a:r>
              <a:rPr lang="en-US" altLang="en-US" sz="1200" dirty="0"/>
              <a:t>Centrifugal Pump (2)</a:t>
            </a:r>
          </a:p>
          <a:p>
            <a:r>
              <a:rPr lang="en-US" altLang="en-US" sz="1200" dirty="0"/>
              <a:t>Compressor (3)</a:t>
            </a:r>
          </a:p>
          <a:p>
            <a:r>
              <a:rPr lang="en-US" altLang="en-US" sz="1200" dirty="0"/>
              <a:t>Heat Exchanger (4)</a:t>
            </a:r>
          </a:p>
          <a:p>
            <a:r>
              <a:rPr lang="en-US" altLang="en-US" sz="1200" dirty="0"/>
              <a:t>Regulator (5)</a:t>
            </a:r>
          </a:p>
          <a:p>
            <a:r>
              <a:rPr lang="en-US" altLang="en-US" sz="1200" dirty="0"/>
              <a:t>Rotameter (6)</a:t>
            </a:r>
          </a:p>
          <a:p>
            <a:r>
              <a:rPr lang="en-US" altLang="en-US" sz="1200" dirty="0"/>
              <a:t>Thermocouple (7)</a:t>
            </a:r>
          </a:p>
          <a:p>
            <a:r>
              <a:rPr lang="en-US" altLang="en-US" sz="1200" dirty="0"/>
              <a:t>Valve (8)</a:t>
            </a:r>
          </a:p>
          <a:p>
            <a:r>
              <a:rPr lang="en-US" altLang="en-US" sz="1200" dirty="0"/>
              <a:t>Wet-Bulb Thermometer (9)</a:t>
            </a:r>
          </a:p>
          <a:p>
            <a:endParaRPr lang="en-US" altLang="en-US" sz="1200" dirty="0"/>
          </a:p>
          <a:p>
            <a:pPr marL="0" indent="0">
              <a:buNone/>
            </a:pPr>
            <a:endParaRPr lang="en-US" altLang="en-US" sz="1200" dirty="0"/>
          </a:p>
        </p:txBody>
      </p:sp>
      <p:pic>
        <p:nvPicPr>
          <p:cNvPr id="125957" name="Picture 5">
            <a:extLst>
              <a:ext uri="{FF2B5EF4-FFF2-40B4-BE49-F238E27FC236}">
                <a16:creationId xmlns:a16="http://schemas.microsoft.com/office/drawing/2014/main" id="{C6559DD7-E59A-8D99-E720-241842C7C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4290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59" name="Picture 7">
            <a:extLst>
              <a:ext uri="{FF2B5EF4-FFF2-40B4-BE49-F238E27FC236}">
                <a16:creationId xmlns:a16="http://schemas.microsoft.com/office/drawing/2014/main" id="{0D1346F9-853B-F534-1EC3-57DC49DDD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322" y="1604961"/>
            <a:ext cx="1967078" cy="262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1" name="Picture 9">
            <a:extLst>
              <a:ext uri="{FF2B5EF4-FFF2-40B4-BE49-F238E27FC236}">
                <a16:creationId xmlns:a16="http://schemas.microsoft.com/office/drawing/2014/main" id="{C13C7268-28E5-AB2D-BF29-B66D27A80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253" y="1559815"/>
            <a:ext cx="2180021" cy="163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3" name="Picture 11">
            <a:extLst>
              <a:ext uri="{FF2B5EF4-FFF2-40B4-BE49-F238E27FC236}">
                <a16:creationId xmlns:a16="http://schemas.microsoft.com/office/drawing/2014/main" id="{F9045A95-00EE-4A9A-B88E-AC40E77F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748" y="1531937"/>
            <a:ext cx="2076224" cy="207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5" name="Picture 13">
            <a:extLst>
              <a:ext uri="{FF2B5EF4-FFF2-40B4-BE49-F238E27FC236}">
                <a16:creationId xmlns:a16="http://schemas.microsoft.com/office/drawing/2014/main" id="{3BFEDBB9-9515-D866-B498-D565BF373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247" y="1531937"/>
            <a:ext cx="1933873" cy="2330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7" name="Picture 15">
            <a:extLst>
              <a:ext uri="{FF2B5EF4-FFF2-40B4-BE49-F238E27FC236}">
                <a16:creationId xmlns:a16="http://schemas.microsoft.com/office/drawing/2014/main" id="{F0CD02C1-1556-32E1-FCA4-040F02E3A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1567" y="3874270"/>
            <a:ext cx="1861767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69" name="Picture 17">
            <a:extLst>
              <a:ext uri="{FF2B5EF4-FFF2-40B4-BE49-F238E27FC236}">
                <a16:creationId xmlns:a16="http://schemas.microsoft.com/office/drawing/2014/main" id="{DE03A407-29C0-C0CE-7CDF-08F6A0CB4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878" y="3874269"/>
            <a:ext cx="1861767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71" name="Picture 19">
            <a:extLst>
              <a:ext uri="{FF2B5EF4-FFF2-40B4-BE49-F238E27FC236}">
                <a16:creationId xmlns:a16="http://schemas.microsoft.com/office/drawing/2014/main" id="{C1987D18-D98D-FBDC-C78D-91047493E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353" y="3874268"/>
            <a:ext cx="1861767" cy="247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73" name="Picture 21">
            <a:extLst>
              <a:ext uri="{FF2B5EF4-FFF2-40B4-BE49-F238E27FC236}">
                <a16:creationId xmlns:a16="http://schemas.microsoft.com/office/drawing/2014/main" id="{2D268576-8BE7-B988-D42A-EEDC2570A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897" y="3689350"/>
            <a:ext cx="2014180" cy="267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75" name="Picture 23">
            <a:extLst>
              <a:ext uri="{FF2B5EF4-FFF2-40B4-BE49-F238E27FC236}">
                <a16:creationId xmlns:a16="http://schemas.microsoft.com/office/drawing/2014/main" id="{0574E540-8D81-06C7-5CAF-BDF3703AD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104" y="3613924"/>
            <a:ext cx="2131919" cy="283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977" name="Picture 25">
            <a:extLst>
              <a:ext uri="{FF2B5EF4-FFF2-40B4-BE49-F238E27FC236}">
                <a16:creationId xmlns:a16="http://schemas.microsoft.com/office/drawing/2014/main" id="{A48FD228-EB6F-7A20-1FF3-079A95D8F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553" y="3549725"/>
            <a:ext cx="2453303" cy="184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80AC57C2-69F4-6DF2-E74A-71D90E8CA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Material &amp; Supplies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709BAA9B-CCAA-CAA0-56CE-9D7E5FE464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Plexiglass wetted-wall column</a:t>
            </a:r>
          </a:p>
          <a:p>
            <a:r>
              <a:rPr lang="en-US" altLang="en-US" sz="2000" dirty="0"/>
              <a:t>Air supply</a:t>
            </a:r>
          </a:p>
          <a:p>
            <a:r>
              <a:rPr lang="en-US" altLang="en-US" sz="2000" dirty="0"/>
              <a:t>Rotameter</a:t>
            </a:r>
          </a:p>
          <a:p>
            <a:r>
              <a:rPr lang="en-US" altLang="en-US" sz="2000" dirty="0"/>
              <a:t>Centrifugal pump</a:t>
            </a:r>
          </a:p>
          <a:p>
            <a:r>
              <a:rPr lang="en-US" altLang="en-US" sz="2000" dirty="0"/>
              <a:t>Water holding tank</a:t>
            </a:r>
          </a:p>
          <a:p>
            <a:r>
              <a:rPr lang="en-US" altLang="en-US" sz="2000" dirty="0"/>
              <a:t>Weir</a:t>
            </a:r>
          </a:p>
          <a:p>
            <a:r>
              <a:rPr lang="en-US" altLang="en-US" sz="2000" dirty="0"/>
              <a:t>Heat exchanger</a:t>
            </a:r>
          </a:p>
          <a:p>
            <a:r>
              <a:rPr lang="en-US" altLang="en-US" sz="2000" dirty="0"/>
              <a:t>Thermocouples</a:t>
            </a:r>
          </a:p>
          <a:p>
            <a:r>
              <a:rPr lang="en-US" altLang="en-US" sz="2000" dirty="0"/>
              <a:t>Wet-bulb thermometer</a:t>
            </a:r>
          </a:p>
          <a:p>
            <a:r>
              <a:rPr lang="en-US" altLang="en-US" sz="2000" dirty="0"/>
              <a:t>Tubing &amp; Fittings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4C8386B6-F5E7-34FC-34F9-78B4976F57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8A385715-A948-AF45-B2DD-38C3578AD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1905000" cy="335280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1600" b="1" u="sng" dirty="0"/>
              <a:t>Pre-lab setup</a:t>
            </a:r>
          </a:p>
          <a:p>
            <a:r>
              <a:rPr lang="en-US" altLang="en-US" sz="1600" dirty="0"/>
              <a:t>Measure humidity &amp; temp. of incoming air.</a:t>
            </a:r>
          </a:p>
          <a:p>
            <a:r>
              <a:rPr lang="en-US" altLang="en-US" sz="1600" dirty="0"/>
              <a:t>Ensure that the water tank is filled and pump is primed.</a:t>
            </a:r>
          </a:p>
          <a:p>
            <a:r>
              <a:rPr lang="en-US" altLang="en-US" sz="1600" dirty="0"/>
              <a:t>Verify apparatus is working.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6AFFACB-22FD-DE86-9930-081FC0A23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566747"/>
            <a:ext cx="19050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32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8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4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1600" b="1" u="sng" dirty="0"/>
              <a:t>Establish Water Film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Start pump and ensure adjust flow until entire wall is wetted.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Allow the system to achieve steady water temp. before introducing air.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C194BAD-E019-B681-B6C7-C815D9EAE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566747"/>
            <a:ext cx="19050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32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8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4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1600" b="1" u="sng" dirty="0"/>
              <a:t>Run Air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Add air to the system at a chosen flowrate.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Allow the system to stabilize, then record the air/water temp., humidity and flow.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AC62A2-7F91-8E70-51DE-A781C0C65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2229" y="1550021"/>
            <a:ext cx="1905000" cy="1828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32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8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4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Char char="•"/>
              <a:defRPr sz="2000" kern="1200">
                <a:solidFill>
                  <a:srgbClr val="0023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altLang="en-US" sz="1600" b="1" u="sng" dirty="0"/>
              <a:t>Collect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Repeat the process for different air flow rates, at different temperatures.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C980FFC2-9394-030E-85E3-D679230FA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8854424C-E289-B890-DFF6-489C80426D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2362200" cy="4525963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1800" b="1" u="sng" dirty="0"/>
              <a:t>Difficulties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Calculations need to be started early. (preferably first day so you can find out what is missing/needed)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Most of the needle valves are highly sensitive and adjustments have to be delicate.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Making sure the entire column gets wetted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BD371-81B7-8333-30A1-F4A962E46A96}"/>
              </a:ext>
            </a:extLst>
          </p:cNvPr>
          <p:cNvSpPr txBox="1"/>
          <p:nvPr/>
        </p:nvSpPr>
        <p:spPr>
          <a:xfrm>
            <a:off x="3200400" y="1600199"/>
            <a:ext cx="2362200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lr>
                <a:srgbClr val="800000"/>
              </a:buClr>
              <a:buFont typeface="Courier New" panose="02070309020205020404" pitchFamily="49" charset="0"/>
              <a:buChar char="o"/>
            </a:pPr>
            <a:r>
              <a:rPr lang="en-US" b="1" u="sng" dirty="0">
                <a:solidFill>
                  <a:srgbClr val="00234C"/>
                </a:solidFill>
              </a:rPr>
              <a:t>Lessons Learned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  <a:latin typeface="Arial"/>
                <a:cs typeface="Arial"/>
              </a:rPr>
              <a:t>Start temperature readings at a lower point. (getting temp. from high to low takes too long a time)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  <a:latin typeface="Arial"/>
                <a:cs typeface="Arial"/>
              </a:rPr>
              <a:t>Getting a stable reading also takes a lot of time, if past 10 mins, take a reading in the next 2 mins.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  <a:latin typeface="Arial"/>
                <a:cs typeface="Arial"/>
              </a:rPr>
              <a:t>*Caution – The airflow does not exceed 6-7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  <a:latin typeface="Arial"/>
                <a:cs typeface="Arial"/>
              </a:rPr>
              <a:t>Column temperature also varies heavily as it is not fully insulated.</a:t>
            </a:r>
            <a:endParaRPr lang="en-US" sz="1600" dirty="0">
              <a:solidFill>
                <a:srgbClr val="00234C"/>
              </a:solidFill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F087D-9DF0-1EFA-874A-5063E03D1F35}"/>
              </a:ext>
            </a:extLst>
          </p:cNvPr>
          <p:cNvSpPr txBox="1"/>
          <p:nvPr/>
        </p:nvSpPr>
        <p:spPr>
          <a:xfrm>
            <a:off x="6172200" y="1600200"/>
            <a:ext cx="2362200" cy="40626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Clr>
                <a:srgbClr val="800000"/>
              </a:buClr>
              <a:buFont typeface="Courier New" panose="02070309020205020404" pitchFamily="49" charset="0"/>
              <a:buChar char="o"/>
            </a:pPr>
            <a:r>
              <a:rPr lang="en-US" b="1" u="sng" dirty="0">
                <a:solidFill>
                  <a:srgbClr val="00234C"/>
                </a:solidFill>
                <a:latin typeface="Arial"/>
                <a:cs typeface="Arial"/>
              </a:rPr>
              <a:t>Look out for: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  <a:latin typeface="Arial"/>
                <a:cs typeface="Arial"/>
              </a:rPr>
              <a:t>The anemometer does turn off after a period of inactivity. 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  <a:latin typeface="Arial"/>
                <a:cs typeface="Arial"/>
              </a:rPr>
              <a:t>Ensure when changing temperature, gloves are worn, even if you do not touch the heat exchanger (e.g. only the valve)</a:t>
            </a:r>
          </a:p>
          <a:p>
            <a:pPr marL="285750" indent="-285750">
              <a:buClr>
                <a:srgbClr val="8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34C"/>
                </a:solidFill>
                <a:latin typeface="Arial"/>
                <a:cs typeface="Arial"/>
              </a:rPr>
              <a:t>Check temp. gauge regularly as sensitive valves can cause irregular increase/decrease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91D7F930-ADE9-D2F1-854C-74DFF2A37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6D79AE98-FC95-C0EA-01DC-4DE2D8EFA1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cs typeface="Arial"/>
              </a:rPr>
              <a:t>Wear gloves/mitts at all times when dealing with the heat exchanger</a:t>
            </a:r>
          </a:p>
          <a:p>
            <a:r>
              <a:rPr lang="en-US" altLang="en-US" dirty="0">
                <a:cs typeface="Arial"/>
              </a:rPr>
              <a:t>Do not touch column when in use.</a:t>
            </a:r>
          </a:p>
          <a:p>
            <a:r>
              <a:rPr lang="en-US" altLang="en-US" dirty="0">
                <a:cs typeface="Arial"/>
              </a:rPr>
              <a:t>Take readings from the anemometer at a distance - although it is water and air, direct flow can be dangerous.</a:t>
            </a:r>
          </a:p>
          <a:p>
            <a:endParaRPr lang="en-US" altLang="en-US" dirty="0">
              <a:cs typeface="Arial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cb4ba3-7a78-4871-8884-8c62c0d2007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4C1CC3E32C5B4788553A114EA95C1F" ma:contentTypeVersion="8" ma:contentTypeDescription="Create a new document." ma:contentTypeScope="" ma:versionID="501aef513f845980a76764bcc1864ad5">
  <xsd:schema xmlns:xsd="http://www.w3.org/2001/XMLSchema" xmlns:xs="http://www.w3.org/2001/XMLSchema" xmlns:p="http://schemas.microsoft.com/office/2006/metadata/properties" xmlns:ns3="4bcb4ba3-7a78-4871-8884-8c62c0d20077" xmlns:ns4="67299442-5f7c-49a5-a40f-85e76bdcdf04" targetNamespace="http://schemas.microsoft.com/office/2006/metadata/properties" ma:root="true" ma:fieldsID="44b3550cadc4e83f462b02c6f19553f1" ns3:_="" ns4:_="">
    <xsd:import namespace="4bcb4ba3-7a78-4871-8884-8c62c0d20077"/>
    <xsd:import namespace="67299442-5f7c-49a5-a40f-85e76bdcdf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cb4ba3-7a78-4871-8884-8c62c0d200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99442-5f7c-49a5-a40f-85e76bdcdf0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9A9AD7-04E8-4247-92CC-9CC03A2A8A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A3B376-53A2-420A-BE6F-EAA49067BE59}">
  <ds:schemaRefs>
    <ds:schemaRef ds:uri="http://schemas.openxmlformats.org/package/2006/metadata/core-properties"/>
    <ds:schemaRef ds:uri="http://purl.org/dc/dcmitype/"/>
    <ds:schemaRef ds:uri="4bcb4ba3-7a78-4871-8884-8c62c0d20077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67299442-5f7c-49a5-a40f-85e76bdcdf04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FB5764-29DB-4D3A-8BB3-4D7A472EF8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cb4ba3-7a78-4871-8884-8c62c0d20077"/>
    <ds:schemaRef ds:uri="67299442-5f7c-49a5-a40f-85e76bdcdf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2402</TotalTime>
  <Words>681</Words>
  <Application>Microsoft Office PowerPoint</Application>
  <PresentationFormat>On-screen Show (4:3)</PresentationFormat>
  <Paragraphs>89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Default Design</vt:lpstr>
      <vt:lpstr>   Humidification</vt:lpstr>
      <vt:lpstr>Introduction</vt:lpstr>
      <vt:lpstr>Theory</vt:lpstr>
      <vt:lpstr>Apparatus</vt:lpstr>
      <vt:lpstr>Material &amp; Supplies</vt:lpstr>
      <vt:lpstr>Procedure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 </dc:title>
  <dc:creator>Elizabeth Zweigle Yee</dc:creator>
  <cp:lastModifiedBy>Zdunek, Alan</cp:lastModifiedBy>
  <cp:revision>264</cp:revision>
  <dcterms:created xsi:type="dcterms:W3CDTF">2008-04-09T18:55:55Z</dcterms:created>
  <dcterms:modified xsi:type="dcterms:W3CDTF">2025-09-17T22:41:59Z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0x010100444C1CC3E32C5B4788553A114EA95C1F</vt:lpwstr>
  </property>
</Properties>
</file>