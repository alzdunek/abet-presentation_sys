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35_D3A5ACBA.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2D_0.xml" ContentType="application/vnd.ms-powerpoint.comments+xml"/>
  <Override PartName="/ppt/notesSlides/notesSlide6.xml" ContentType="application/vnd.openxmlformats-officedocument.presentationml.notesSlide+xml"/>
  <Override PartName="/ppt/comments/modernComment_12F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56" r:id="rId5"/>
    <p:sldId id="297" r:id="rId6"/>
    <p:sldId id="308" r:id="rId7"/>
    <p:sldId id="309" r:id="rId8"/>
    <p:sldId id="310" r:id="rId9"/>
    <p:sldId id="311" r:id="rId10"/>
    <p:sldId id="299" r:id="rId11"/>
    <p:sldId id="300" r:id="rId12"/>
    <p:sldId id="301" r:id="rId13"/>
    <p:sldId id="307" r:id="rId14"/>
    <p:sldId id="302" r:id="rId15"/>
    <p:sldId id="303" r:id="rId16"/>
  </p:sldIdLst>
  <p:sldSz cx="9144000" cy="6858000" type="screen4x3"/>
  <p:notesSz cx="6858000" cy="907732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03A080-B7B9-4E56-1056-98247C78158B}" name="Zaruk, Omar" initials="OZ" userId="S::ozaru2@uic.edu::e3e78486-64b8-4776-9e77-1e5f2b5bc397" providerId="AD"/>
  <p188:author id="{71793BA8-C1E5-3ED7-C793-E0E474994A88}" name="Suleiman, Qussay" initials="SQ" userId="S::qsule2@uic.edu::2acf93a9-a997-4581-abf7-e9288d2ec4f8" providerId="AD"/>
  <p188:author id="{DF52CCAC-0B66-CA76-A7A3-D551D844506B}" name="Zdunek, Alan" initials="AZ" userId="S::zdunek@uic.edu::5627838d-8155-4d77-aa14-f1ef87cd6a5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00000"/>
    <a:srgbClr val="00234C"/>
    <a:srgbClr val="0066CC"/>
    <a:srgbClr val="3366FF"/>
    <a:srgbClr val="CC9900"/>
    <a:srgbClr val="996600"/>
    <a:srgbClr val="99C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748580-56F1-49B9-9890-A5758E87606C}" v="652" dt="2025-11-11T15:02:20.7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11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omments/modernComment_12D_0.xml><?xml version="1.0" encoding="utf-8"?>
<p188:cmLst xmlns:a="http://schemas.openxmlformats.org/drawingml/2006/main" xmlns:r="http://schemas.openxmlformats.org/officeDocument/2006/relationships" xmlns:p188="http://schemas.microsoft.com/office/powerpoint/2018/8/main">
  <p188:cm id="{847AD04B-342A-4418-8061-15E9C2A5780B}" authorId="{DF52CCAC-0B66-CA76-A7A3-D551D844506B}" created="2025-11-12T17:20:54.827">
    <ac:deMkLst xmlns:ac="http://schemas.microsoft.com/office/drawing/2013/main/command">
      <pc:docMk xmlns:pc="http://schemas.microsoft.com/office/powerpoint/2013/main/command"/>
      <pc:sldMk xmlns:pc="http://schemas.microsoft.com/office/powerpoint/2013/main/command" cId="0" sldId="301"/>
      <ac:spMk id="128002" creationId="{7236D3DD-1664-E4EB-6833-5246BDF88123}"/>
    </ac:deMkLst>
    <p188:txBody>
      <a:bodyPr/>
      <a:lstStyle/>
      <a:p>
        <a:r>
          <a:rPr lang="en-US"/>
          <a:t>-2
Take out the valve labels (V3, V5, etc) since you don’t describe them explicitly in your apparatus slides. State as, for example:  “diverting condensate through the reflux valve”</a:t>
        </a:r>
      </a:p>
    </p188:txBody>
  </p188:cm>
</p188:cmLst>
</file>

<file path=ppt/comments/modernComment_12F_0.xml><?xml version="1.0" encoding="utf-8"?>
<p188:cmLst xmlns:a="http://schemas.openxmlformats.org/drawingml/2006/main" xmlns:r="http://schemas.openxmlformats.org/officeDocument/2006/relationships" xmlns:p188="http://schemas.microsoft.com/office/powerpoint/2018/8/main">
  <p188:cm id="{F359F4C1-FA0A-4F62-BFB0-4F995A654594}" authorId="{DF52CCAC-0B66-CA76-A7A3-D551D844506B}" created="2025-11-12T17:23:23.247">
    <ac:deMkLst xmlns:ac="http://schemas.microsoft.com/office/drawing/2013/main/command">
      <pc:docMk xmlns:pc="http://schemas.microsoft.com/office/powerpoint/2013/main/command"/>
      <pc:sldMk xmlns:pc="http://schemas.microsoft.com/office/powerpoint/2013/main/command" cId="0" sldId="303"/>
      <ac:spMk id="130050" creationId="{F46451E3-1C69-13E3-A8D8-BBEA84222F8C}"/>
    </ac:deMkLst>
    <p188:txBody>
      <a:bodyPr/>
      <a:lstStyle/>
      <a:p>
        <a:r>
          <a:rPr lang="en-US"/>
          <a:t>-2
Mention fume hood for ethanol handling, reboiler low-level power shut-off.</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0438FDAB-27BF-4049-A3FF-9143424D3983}" authorId="{DF52CCAC-0B66-CA76-A7A3-D551D844506B}" created="2025-11-12T17:23:39.617">
    <ac:deMkLst xmlns:ac="http://schemas.microsoft.com/office/drawing/2013/main/command">
      <pc:docMk xmlns:pc="http://schemas.microsoft.com/office/powerpoint/2013/main/command"/>
      <pc:sldMk xmlns:pc="http://schemas.microsoft.com/office/powerpoint/2013/main/command" cId="0" sldId="256"/>
      <ac:spMk id="2053" creationId="{177B3EAE-4BF6-7FAA-5ABF-F67506E35031}"/>
    </ac:deMkLst>
    <p188:txBody>
      <a:bodyPr/>
      <a:lstStyle/>
      <a:p>
        <a:r>
          <a:rPr lang="en-US"/>
          <a:t>96/100</a:t>
        </a:r>
      </a:p>
    </p188:txBody>
  </p188:cm>
</p188:cmLst>
</file>

<file path=ppt/comments/modernComment_135_D3A5ACBA.xml><?xml version="1.0" encoding="utf-8"?>
<p188:cmLst xmlns:a="http://schemas.openxmlformats.org/drawingml/2006/main" xmlns:r="http://schemas.openxmlformats.org/officeDocument/2006/relationships" xmlns:p188="http://schemas.microsoft.com/office/powerpoint/2018/8/main">
  <p188:cm id="{48FAF1AF-1DE1-4682-A4F5-8E5DB5CC098F}" authorId="{DF52CCAC-0B66-CA76-A7A3-D551D844506B}" created="2025-11-12T17:17:24.700">
    <ac:deMkLst xmlns:ac="http://schemas.microsoft.com/office/drawing/2013/main/command">
      <pc:docMk xmlns:pc="http://schemas.microsoft.com/office/powerpoint/2013/main/command"/>
      <pc:sldMk xmlns:pc="http://schemas.microsoft.com/office/powerpoint/2013/main/command" cId="3550850234" sldId="309"/>
      <ac:spMk id="2" creationId="{01305224-59D6-EEB8-A199-F4E4E0D952CE}"/>
    </ac:deMkLst>
    <p188:txBody>
      <a:bodyPr/>
      <a:lstStyle/>
      <a:p>
        <a:r>
          <a:rPr lang="en-US"/>
          <a:t>Good!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F5AF44DE-D769-1138-EE22-EB8F9E77163C}"/>
              </a:ext>
            </a:extLst>
          </p:cNvPr>
          <p:cNvSpPr>
            <a:spLocks noGrp="1" noChangeArrowheads="1"/>
          </p:cNvSpPr>
          <p:nvPr>
            <p:ph type="hdr" sz="quarter"/>
          </p:nvPr>
        </p:nvSpPr>
        <p:spPr bwMode="auto">
          <a:xfrm>
            <a:off x="0"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20835" name="Rectangle 3">
            <a:extLst>
              <a:ext uri="{FF2B5EF4-FFF2-40B4-BE49-F238E27FC236}">
                <a16:creationId xmlns:a16="http://schemas.microsoft.com/office/drawing/2014/main" id="{6B6882B3-3D8E-DDAA-C125-80E2F9219940}"/>
              </a:ext>
            </a:extLst>
          </p:cNvPr>
          <p:cNvSpPr>
            <a:spLocks noGrp="1" noChangeArrowheads="1"/>
          </p:cNvSpPr>
          <p:nvPr>
            <p:ph type="dt" sz="quarter" idx="1"/>
          </p:nvPr>
        </p:nvSpPr>
        <p:spPr bwMode="auto">
          <a:xfrm>
            <a:off x="3884613"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20836" name="Rectangle 4">
            <a:extLst>
              <a:ext uri="{FF2B5EF4-FFF2-40B4-BE49-F238E27FC236}">
                <a16:creationId xmlns:a16="http://schemas.microsoft.com/office/drawing/2014/main" id="{9F3B8B01-C3BA-5532-D34F-7E6182AD931E}"/>
              </a:ext>
            </a:extLst>
          </p:cNvPr>
          <p:cNvSpPr>
            <a:spLocks noGrp="1" noChangeArrowheads="1"/>
          </p:cNvSpPr>
          <p:nvPr>
            <p:ph type="ftr" sz="quarter" idx="2"/>
          </p:nvPr>
        </p:nvSpPr>
        <p:spPr bwMode="auto">
          <a:xfrm>
            <a:off x="0"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20837" name="Rectangle 5">
            <a:extLst>
              <a:ext uri="{FF2B5EF4-FFF2-40B4-BE49-F238E27FC236}">
                <a16:creationId xmlns:a16="http://schemas.microsoft.com/office/drawing/2014/main" id="{90552D13-918C-2A40-468A-245148A360DA}"/>
              </a:ext>
            </a:extLst>
          </p:cNvPr>
          <p:cNvSpPr>
            <a:spLocks noGrp="1" noChangeArrowheads="1"/>
          </p:cNvSpPr>
          <p:nvPr>
            <p:ph type="sldNum" sz="quarter" idx="3"/>
          </p:nvPr>
        </p:nvSpPr>
        <p:spPr bwMode="auto">
          <a:xfrm>
            <a:off x="3884613"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4B61743-39E6-4B7A-B4F2-6E1DF84148EA}"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1026">
            <a:extLst>
              <a:ext uri="{FF2B5EF4-FFF2-40B4-BE49-F238E27FC236}">
                <a16:creationId xmlns:a16="http://schemas.microsoft.com/office/drawing/2014/main" id="{75AF4237-C2DE-DC0D-AD1B-C62EC89418A1}"/>
              </a:ext>
            </a:extLst>
          </p:cNvPr>
          <p:cNvSpPr>
            <a:spLocks noGrp="1" noChangeArrowheads="1"/>
          </p:cNvSpPr>
          <p:nvPr>
            <p:ph type="hdr" sz="quarter"/>
          </p:nvPr>
        </p:nvSpPr>
        <p:spPr bwMode="auto">
          <a:xfrm>
            <a:off x="0"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6387" name="Rectangle 1027">
            <a:extLst>
              <a:ext uri="{FF2B5EF4-FFF2-40B4-BE49-F238E27FC236}">
                <a16:creationId xmlns:a16="http://schemas.microsoft.com/office/drawing/2014/main" id="{3DDC258F-5F49-0416-1145-E7BAD283F641}"/>
              </a:ext>
            </a:extLst>
          </p:cNvPr>
          <p:cNvSpPr>
            <a:spLocks noGrp="1" noChangeArrowheads="1"/>
          </p:cNvSpPr>
          <p:nvPr>
            <p:ph type="dt" idx="1"/>
          </p:nvPr>
        </p:nvSpPr>
        <p:spPr bwMode="auto">
          <a:xfrm>
            <a:off x="3884613" y="0"/>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6388" name="Rectangle 1028">
            <a:extLst>
              <a:ext uri="{FF2B5EF4-FFF2-40B4-BE49-F238E27FC236}">
                <a16:creationId xmlns:a16="http://schemas.microsoft.com/office/drawing/2014/main" id="{A9122348-3F55-17C1-B77D-0ACE32165B3A}"/>
              </a:ext>
            </a:extLst>
          </p:cNvPr>
          <p:cNvSpPr>
            <a:spLocks noGrp="1" noRot="1" noChangeAspect="1" noChangeArrowheads="1" noTextEdit="1"/>
          </p:cNvSpPr>
          <p:nvPr>
            <p:ph type="sldImg" idx="2"/>
          </p:nvPr>
        </p:nvSpPr>
        <p:spPr bwMode="auto">
          <a:xfrm>
            <a:off x="1160463" y="681038"/>
            <a:ext cx="4538662" cy="34036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1029">
            <a:extLst>
              <a:ext uri="{FF2B5EF4-FFF2-40B4-BE49-F238E27FC236}">
                <a16:creationId xmlns:a16="http://schemas.microsoft.com/office/drawing/2014/main" id="{2E30AE0F-05B8-ACAF-8DF9-04CCB6528176}"/>
              </a:ext>
            </a:extLst>
          </p:cNvPr>
          <p:cNvSpPr>
            <a:spLocks noGrp="1" noChangeArrowheads="1"/>
          </p:cNvSpPr>
          <p:nvPr>
            <p:ph type="body" sz="quarter" idx="3"/>
          </p:nvPr>
        </p:nvSpPr>
        <p:spPr bwMode="auto">
          <a:xfrm>
            <a:off x="685800" y="4311650"/>
            <a:ext cx="5486400" cy="408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6390" name="Rectangle 1030">
            <a:extLst>
              <a:ext uri="{FF2B5EF4-FFF2-40B4-BE49-F238E27FC236}">
                <a16:creationId xmlns:a16="http://schemas.microsoft.com/office/drawing/2014/main" id="{E103602D-8D6A-F334-7621-9CFEA8370F10}"/>
              </a:ext>
            </a:extLst>
          </p:cNvPr>
          <p:cNvSpPr>
            <a:spLocks noGrp="1" noChangeArrowheads="1"/>
          </p:cNvSpPr>
          <p:nvPr>
            <p:ph type="ftr" sz="quarter" idx="4"/>
          </p:nvPr>
        </p:nvSpPr>
        <p:spPr bwMode="auto">
          <a:xfrm>
            <a:off x="0"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6391" name="Rectangle 1031">
            <a:extLst>
              <a:ext uri="{FF2B5EF4-FFF2-40B4-BE49-F238E27FC236}">
                <a16:creationId xmlns:a16="http://schemas.microsoft.com/office/drawing/2014/main" id="{76FC812C-07F5-C291-8613-B75657D1C1D3}"/>
              </a:ext>
            </a:extLst>
          </p:cNvPr>
          <p:cNvSpPr>
            <a:spLocks noGrp="1" noChangeArrowheads="1"/>
          </p:cNvSpPr>
          <p:nvPr>
            <p:ph type="sldNum" sz="quarter" idx="5"/>
          </p:nvPr>
        </p:nvSpPr>
        <p:spPr bwMode="auto">
          <a:xfrm>
            <a:off x="3884613" y="8621713"/>
            <a:ext cx="29718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D0D2558-5D1F-4C93-B3EB-529F41E2768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1">
            <a:extLst>
              <a:ext uri="{FF2B5EF4-FFF2-40B4-BE49-F238E27FC236}">
                <a16:creationId xmlns:a16="http://schemas.microsoft.com/office/drawing/2014/main" id="{77A5A71D-A4FC-29A8-BDB0-E39F8F28565E}"/>
              </a:ext>
            </a:extLst>
          </p:cNvPr>
          <p:cNvSpPr>
            <a:spLocks noGrp="1" noChangeArrowheads="1"/>
          </p:cNvSpPr>
          <p:nvPr>
            <p:ph type="sldNum" sz="quarter" idx="5"/>
          </p:nvPr>
        </p:nvSpPr>
        <p:spPr>
          <a:ln/>
        </p:spPr>
        <p:txBody>
          <a:bodyPr/>
          <a:lstStyle/>
          <a:p>
            <a:fld id="{1EB3F2B3-6D0A-4BC8-908E-B21AA54E56F6}" type="slidenum">
              <a:rPr lang="en-US" altLang="en-US"/>
              <a:pPr/>
              <a:t>1</a:t>
            </a:fld>
            <a:endParaRPr lang="en-US" altLang="en-US"/>
          </a:p>
        </p:txBody>
      </p:sp>
      <p:sp>
        <p:nvSpPr>
          <p:cNvPr id="17410" name="Rectangle 1026">
            <a:extLst>
              <a:ext uri="{FF2B5EF4-FFF2-40B4-BE49-F238E27FC236}">
                <a16:creationId xmlns:a16="http://schemas.microsoft.com/office/drawing/2014/main" id="{73304438-68BE-6DF8-767A-20A3A73ABF45}"/>
              </a:ext>
            </a:extLst>
          </p:cNvPr>
          <p:cNvSpPr>
            <a:spLocks noGrp="1" noRot="1" noChangeAspect="1" noChangeArrowheads="1" noTextEdit="1"/>
          </p:cNvSpPr>
          <p:nvPr>
            <p:ph type="sldImg"/>
          </p:nvPr>
        </p:nvSpPr>
        <p:spPr>
          <a:ln/>
        </p:spPr>
      </p:sp>
      <p:sp>
        <p:nvSpPr>
          <p:cNvPr id="17411" name="Rectangle 1027">
            <a:extLst>
              <a:ext uri="{FF2B5EF4-FFF2-40B4-BE49-F238E27FC236}">
                <a16:creationId xmlns:a16="http://schemas.microsoft.com/office/drawing/2014/main" id="{D9A9FDA4-CA61-7FAA-8FA3-30B2A649781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1">
            <a:extLst>
              <a:ext uri="{FF2B5EF4-FFF2-40B4-BE49-F238E27FC236}">
                <a16:creationId xmlns:a16="http://schemas.microsoft.com/office/drawing/2014/main" id="{CAD9D954-C983-1D8B-D7ED-A5DF790C0552}"/>
              </a:ext>
            </a:extLst>
          </p:cNvPr>
          <p:cNvSpPr>
            <a:spLocks noGrp="1" noChangeArrowheads="1"/>
          </p:cNvSpPr>
          <p:nvPr>
            <p:ph type="sldNum" sz="quarter" idx="5"/>
          </p:nvPr>
        </p:nvSpPr>
        <p:spPr>
          <a:ln/>
        </p:spPr>
        <p:txBody>
          <a:bodyPr/>
          <a:lstStyle/>
          <a:p>
            <a:fld id="{E8BAEDFC-B970-4173-88C1-98CA4D3707D8}" type="slidenum">
              <a:rPr lang="en-US" altLang="en-US"/>
              <a:pPr/>
              <a:t>2</a:t>
            </a:fld>
            <a:endParaRPr lang="en-US" altLang="en-US"/>
          </a:p>
        </p:txBody>
      </p:sp>
      <p:sp>
        <p:nvSpPr>
          <p:cNvPr id="93186" name="Rectangle 2">
            <a:extLst>
              <a:ext uri="{FF2B5EF4-FFF2-40B4-BE49-F238E27FC236}">
                <a16:creationId xmlns:a16="http://schemas.microsoft.com/office/drawing/2014/main" id="{095439EF-754C-D29E-EB68-ACCD6DB7E4D2}"/>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4219B46A-A4FB-F4C4-B05A-D2BB461DA2B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0D2558-5D1F-4C93-B3EB-529F41E27680}" type="slidenum">
              <a:rPr lang="en-US" altLang="en-US" smtClean="0"/>
              <a:pPr/>
              <a:t>4</a:t>
            </a:fld>
            <a:endParaRPr lang="en-US" altLang="en-US"/>
          </a:p>
        </p:txBody>
      </p:sp>
    </p:spTree>
    <p:extLst>
      <p:ext uri="{BB962C8B-B14F-4D97-AF65-F5344CB8AC3E}">
        <p14:creationId xmlns:p14="http://schemas.microsoft.com/office/powerpoint/2010/main" val="3149723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0D2558-5D1F-4C93-B3EB-529F41E27680}" type="slidenum">
              <a:rPr lang="en-US" altLang="en-US" smtClean="0"/>
              <a:pPr/>
              <a:t>8</a:t>
            </a:fld>
            <a:endParaRPr lang="en-US" altLang="en-US"/>
          </a:p>
        </p:txBody>
      </p:sp>
    </p:spTree>
    <p:extLst>
      <p:ext uri="{BB962C8B-B14F-4D97-AF65-F5344CB8AC3E}">
        <p14:creationId xmlns:p14="http://schemas.microsoft.com/office/powerpoint/2010/main" val="2511696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0D2558-5D1F-4C93-B3EB-529F41E27680}" type="slidenum">
              <a:rPr lang="en-US" altLang="en-US" smtClean="0"/>
              <a:pPr/>
              <a:t>9</a:t>
            </a:fld>
            <a:endParaRPr lang="en-US" altLang="en-US"/>
          </a:p>
        </p:txBody>
      </p:sp>
    </p:spTree>
    <p:extLst>
      <p:ext uri="{BB962C8B-B14F-4D97-AF65-F5344CB8AC3E}">
        <p14:creationId xmlns:p14="http://schemas.microsoft.com/office/powerpoint/2010/main" val="372146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13724-88B2-6893-50F6-B6573E074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EBFC2-217F-6B3B-8F91-A620439AC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F92F8-3575-6CFE-8B6D-45377A32AE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40EF02-C328-1D21-A7E1-BCCB15FDAE66}"/>
              </a:ext>
            </a:extLst>
          </p:cNvPr>
          <p:cNvSpPr>
            <a:spLocks noGrp="1"/>
          </p:cNvSpPr>
          <p:nvPr>
            <p:ph type="sldNum" sz="quarter" idx="5"/>
          </p:nvPr>
        </p:nvSpPr>
        <p:spPr/>
        <p:txBody>
          <a:bodyPr/>
          <a:lstStyle/>
          <a:p>
            <a:fld id="{AD0D2558-5D1F-4C93-B3EB-529F41E27680}" type="slidenum">
              <a:rPr lang="en-US" altLang="en-US" smtClean="0"/>
              <a:pPr/>
              <a:t>10</a:t>
            </a:fld>
            <a:endParaRPr lang="en-US" altLang="en-US"/>
          </a:p>
        </p:txBody>
      </p:sp>
    </p:spTree>
    <p:extLst>
      <p:ext uri="{BB962C8B-B14F-4D97-AF65-F5344CB8AC3E}">
        <p14:creationId xmlns:p14="http://schemas.microsoft.com/office/powerpoint/2010/main" val="38354570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5A8977C-B3AA-5B87-0680-BCCF9AE75615}"/>
              </a:ext>
            </a:extLst>
          </p:cNvPr>
          <p:cNvSpPr>
            <a:spLocks noGrp="1" noChangeArrowheads="1"/>
          </p:cNvSpPr>
          <p:nvPr>
            <p:ph type="ctrTitle"/>
          </p:nvPr>
        </p:nvSpPr>
        <p:spPr>
          <a:xfrm>
            <a:off x="0" y="0"/>
            <a:ext cx="9144000" cy="3600450"/>
          </a:xfrm>
        </p:spPr>
        <p:txBody>
          <a:bodyPr/>
          <a:lstStyle>
            <a:lvl1pPr>
              <a:defRPr/>
            </a:lvl1pPr>
          </a:lstStyle>
          <a:p>
            <a:pPr lvl="0"/>
            <a:br>
              <a:rPr lang="en-US" altLang="en-US" noProof="0"/>
            </a:br>
            <a:r>
              <a:rPr lang="en-US" altLang="en-US" noProof="0"/>
              <a:t>Click to edit Master title style</a:t>
            </a:r>
          </a:p>
        </p:txBody>
      </p:sp>
      <p:sp>
        <p:nvSpPr>
          <p:cNvPr id="5123" name="Rectangle 3">
            <a:extLst>
              <a:ext uri="{FF2B5EF4-FFF2-40B4-BE49-F238E27FC236}">
                <a16:creationId xmlns:a16="http://schemas.microsoft.com/office/drawing/2014/main" id="{3EC58C4D-2EDE-3C8F-C5BD-E782986956B9}"/>
              </a:ext>
            </a:extLst>
          </p:cNvPr>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altLang="en-US" noProof="0"/>
              <a:t>Click to edit Master subtitle style</a:t>
            </a:r>
          </a:p>
        </p:txBody>
      </p:sp>
      <p:sp>
        <p:nvSpPr>
          <p:cNvPr id="5124" name="Rectangle 4">
            <a:extLst>
              <a:ext uri="{FF2B5EF4-FFF2-40B4-BE49-F238E27FC236}">
                <a16:creationId xmlns:a16="http://schemas.microsoft.com/office/drawing/2014/main" id="{56ECA910-1B3E-A577-C38A-4CEC8062380E}"/>
              </a:ext>
            </a:extLst>
          </p:cNvPr>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pic>
        <p:nvPicPr>
          <p:cNvPr id="5127" name="Picture 7">
            <a:extLst>
              <a:ext uri="{FF2B5EF4-FFF2-40B4-BE49-F238E27FC236}">
                <a16:creationId xmlns:a16="http://schemas.microsoft.com/office/drawing/2014/main" id="{93B0F608-8424-7118-BC21-CF2CE307605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53200" y="6400800"/>
            <a:ext cx="2378075" cy="3286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7C06-A45D-064A-84BA-6DDF62119F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5B9F19-D8AA-CE49-E2DA-03892C1781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118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61B4A-BDE0-303D-0C72-38AB77000626}"/>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FCFF16-349E-9A6D-DEE2-F70DDF3AF36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965999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AC26D-011B-08D2-06B4-4A2E73E9B9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40D600-116A-DD9E-41D8-3CFF33C87E77}"/>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CED01F-DF8D-4B33-1768-7A5ACD549395}"/>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786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1CBF9-94E7-881C-8E2A-C5EAD776ACB4}"/>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11428A-2015-E93A-4CCE-25367E6CEDF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8AE8F6-A37F-ECAB-E90D-9BF55FBACC9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A9AE7A-C9FF-E39E-A052-E6D544D523B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10EDD6-CCF6-BD2D-346D-D9AAE73EEB15}"/>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4004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74FE9-D70D-3828-89FC-AD379FE0D38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4611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6589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BC7F1-3DF9-E25C-AB20-A13015536689}"/>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22AD7C-A1FA-7E1F-B3B8-4AB7BF1C7D6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796948-E616-4B4F-EBA2-A10CA5DFE17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747930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BF4A-7817-8687-7514-83FA8D7EAC1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EDA7DF-8A9A-E131-2CB8-C2298213073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21FDE8-215F-1599-0031-DC24B47AB96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382927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97BB-4F3B-8245-A5E2-C5D4C6C921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F642C8-1C0B-2888-2393-3A5B4E9DC8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9435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945C84-11B8-9C6B-14F5-F381C1FA4697}"/>
              </a:ext>
            </a:extLst>
          </p:cNvPr>
          <p:cNvSpPr>
            <a:spLocks noGrp="1"/>
          </p:cNvSpPr>
          <p:nvPr>
            <p:ph type="title" orient="vert"/>
          </p:nvPr>
        </p:nvSpPr>
        <p:spPr>
          <a:xfrm>
            <a:off x="6858000" y="0"/>
            <a:ext cx="2286000" cy="61261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EEBFCA-73C2-6016-145D-CB079643F132}"/>
              </a:ext>
            </a:extLst>
          </p:cNvPr>
          <p:cNvSpPr>
            <a:spLocks noGrp="1"/>
          </p:cNvSpPr>
          <p:nvPr>
            <p:ph type="body" orient="vert" idx="1"/>
          </p:nvPr>
        </p:nvSpPr>
        <p:spPr>
          <a:xfrm>
            <a:off x="0" y="0"/>
            <a:ext cx="6705600" cy="6126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8853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7AB4678-31E1-864A-791B-91A670D002ED}"/>
              </a:ext>
            </a:extLst>
          </p:cNvPr>
          <p:cNvSpPr>
            <a:spLocks noGrp="1" noChangeArrowheads="1"/>
          </p:cNvSpPr>
          <p:nvPr>
            <p:ph type="title"/>
          </p:nvPr>
        </p:nvSpPr>
        <p:spPr bwMode="auto">
          <a:xfrm>
            <a:off x="0" y="0"/>
            <a:ext cx="9144000" cy="1417638"/>
          </a:xfrm>
          <a:prstGeom prst="rect">
            <a:avLst/>
          </a:prstGeom>
          <a:solidFill>
            <a:srgbClr val="00234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2635C53-5342-4C7C-F927-87C0585B47B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3" name="Line 9">
            <a:extLst>
              <a:ext uri="{FF2B5EF4-FFF2-40B4-BE49-F238E27FC236}">
                <a16:creationId xmlns:a16="http://schemas.microsoft.com/office/drawing/2014/main" id="{319B77AC-3A5E-3DAE-F4F3-22B0442B891D}"/>
              </a:ext>
            </a:extLst>
          </p:cNvPr>
          <p:cNvSpPr>
            <a:spLocks noChangeShapeType="1"/>
          </p:cNvSpPr>
          <p:nvPr userDrawn="1"/>
        </p:nvSpPr>
        <p:spPr bwMode="auto">
          <a:xfrm>
            <a:off x="0" y="1447800"/>
            <a:ext cx="9144000" cy="0"/>
          </a:xfrm>
          <a:prstGeom prst="line">
            <a:avLst/>
          </a:prstGeom>
          <a:noFill/>
          <a:ln w="1270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4" name="Picture 10">
            <a:extLst>
              <a:ext uri="{FF2B5EF4-FFF2-40B4-BE49-F238E27FC236}">
                <a16:creationId xmlns:a16="http://schemas.microsoft.com/office/drawing/2014/main" id="{E21867C5-7B35-5757-6A7C-87C89CE10C3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400800"/>
            <a:ext cx="2362200" cy="32543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bg1"/>
          </a:solidFill>
          <a:latin typeface="+mj-lt"/>
          <a:ea typeface="+mj-ea"/>
          <a:cs typeface="+mj-cs"/>
        </a:defRPr>
      </a:lvl1pPr>
      <a:lvl2pPr algn="ctr" rtl="0" fontAlgn="base">
        <a:spcBef>
          <a:spcPct val="0"/>
        </a:spcBef>
        <a:spcAft>
          <a:spcPct val="0"/>
        </a:spcAft>
        <a:defRPr sz="4400">
          <a:solidFill>
            <a:schemeClr val="bg1"/>
          </a:solidFill>
          <a:latin typeface="Arial" panose="020B0604020202020204" pitchFamily="34" charset="0"/>
        </a:defRPr>
      </a:lvl2pPr>
      <a:lvl3pPr algn="ctr" rtl="0" fontAlgn="base">
        <a:spcBef>
          <a:spcPct val="0"/>
        </a:spcBef>
        <a:spcAft>
          <a:spcPct val="0"/>
        </a:spcAft>
        <a:defRPr sz="4400">
          <a:solidFill>
            <a:schemeClr val="bg1"/>
          </a:solidFill>
          <a:latin typeface="Arial" panose="020B0604020202020204" pitchFamily="34" charset="0"/>
        </a:defRPr>
      </a:lvl3pPr>
      <a:lvl4pPr algn="ctr" rtl="0" fontAlgn="base">
        <a:spcBef>
          <a:spcPct val="0"/>
        </a:spcBef>
        <a:spcAft>
          <a:spcPct val="0"/>
        </a:spcAft>
        <a:defRPr sz="4400">
          <a:solidFill>
            <a:schemeClr val="bg1"/>
          </a:solidFill>
          <a:latin typeface="Arial" panose="020B0604020202020204" pitchFamily="34" charset="0"/>
        </a:defRPr>
      </a:lvl4pPr>
      <a:lvl5pPr algn="ctr" rtl="0" fontAlgn="base">
        <a:spcBef>
          <a:spcPct val="0"/>
        </a:spcBef>
        <a:spcAft>
          <a:spcPct val="0"/>
        </a:spcAft>
        <a:defRPr sz="4400">
          <a:solidFill>
            <a:schemeClr val="bg1"/>
          </a:solidFill>
          <a:latin typeface="Arial" panose="020B0604020202020204" pitchFamily="34" charset="0"/>
        </a:defRPr>
      </a:lvl5pPr>
      <a:lvl6pPr marL="457200" algn="ctr" rtl="0" fontAlgn="base">
        <a:spcBef>
          <a:spcPct val="0"/>
        </a:spcBef>
        <a:spcAft>
          <a:spcPct val="0"/>
        </a:spcAft>
        <a:defRPr sz="4400">
          <a:solidFill>
            <a:schemeClr val="bg1"/>
          </a:solidFill>
          <a:latin typeface="Arial" panose="020B0604020202020204" pitchFamily="34" charset="0"/>
        </a:defRPr>
      </a:lvl6pPr>
      <a:lvl7pPr marL="914400" algn="ctr" rtl="0" fontAlgn="base">
        <a:spcBef>
          <a:spcPct val="0"/>
        </a:spcBef>
        <a:spcAft>
          <a:spcPct val="0"/>
        </a:spcAft>
        <a:defRPr sz="4400">
          <a:solidFill>
            <a:schemeClr val="bg1"/>
          </a:solidFill>
          <a:latin typeface="Arial" panose="020B0604020202020204" pitchFamily="34" charset="0"/>
        </a:defRPr>
      </a:lvl7pPr>
      <a:lvl8pPr marL="1371600" algn="ctr" rtl="0" fontAlgn="base">
        <a:spcBef>
          <a:spcPct val="0"/>
        </a:spcBef>
        <a:spcAft>
          <a:spcPct val="0"/>
        </a:spcAft>
        <a:defRPr sz="4400">
          <a:solidFill>
            <a:schemeClr val="bg1"/>
          </a:solidFill>
          <a:latin typeface="Arial" panose="020B0604020202020204" pitchFamily="34" charset="0"/>
        </a:defRPr>
      </a:lvl8pPr>
      <a:lvl9pPr marL="1828800" algn="ctr" rtl="0" fontAlgn="base">
        <a:spcBef>
          <a:spcPct val="0"/>
        </a:spcBef>
        <a:spcAft>
          <a:spcPct val="0"/>
        </a:spcAft>
        <a:defRPr sz="4400">
          <a:solidFill>
            <a:schemeClr val="bg1"/>
          </a:solidFill>
          <a:latin typeface="Arial" panose="020B0604020202020204" pitchFamily="34" charset="0"/>
        </a:defRPr>
      </a:lvl9pPr>
    </p:titleStyle>
    <p:bodyStyle>
      <a:lvl1pPr marL="342900" indent="-342900" algn="l" rtl="0" fontAlgn="base">
        <a:spcBef>
          <a:spcPct val="20000"/>
        </a:spcBef>
        <a:spcAft>
          <a:spcPct val="0"/>
        </a:spcAft>
        <a:buClr>
          <a:srgbClr val="800000"/>
        </a:buClr>
        <a:buChar char="•"/>
        <a:defRPr sz="3200" kern="1200">
          <a:solidFill>
            <a:srgbClr val="00234C"/>
          </a:solidFill>
          <a:latin typeface="+mn-lt"/>
          <a:ea typeface="+mn-ea"/>
          <a:cs typeface="+mn-cs"/>
        </a:defRPr>
      </a:lvl1pPr>
      <a:lvl2pPr marL="742950" indent="-285750" algn="l" rtl="0" fontAlgn="base">
        <a:spcBef>
          <a:spcPct val="20000"/>
        </a:spcBef>
        <a:spcAft>
          <a:spcPct val="0"/>
        </a:spcAft>
        <a:buClr>
          <a:srgbClr val="800000"/>
        </a:buClr>
        <a:buChar char="•"/>
        <a:defRPr sz="2800" kern="1200">
          <a:solidFill>
            <a:srgbClr val="00234C"/>
          </a:solidFill>
          <a:latin typeface="+mn-lt"/>
          <a:ea typeface="+mn-ea"/>
          <a:cs typeface="+mn-cs"/>
        </a:defRPr>
      </a:lvl2pPr>
      <a:lvl3pPr marL="1143000" indent="-228600" algn="l" rtl="0" fontAlgn="base">
        <a:spcBef>
          <a:spcPct val="20000"/>
        </a:spcBef>
        <a:spcAft>
          <a:spcPct val="0"/>
        </a:spcAft>
        <a:buClr>
          <a:srgbClr val="800000"/>
        </a:buClr>
        <a:buChar char="•"/>
        <a:defRPr sz="2400" kern="1200">
          <a:solidFill>
            <a:srgbClr val="00234C"/>
          </a:solidFill>
          <a:latin typeface="+mn-lt"/>
          <a:ea typeface="+mn-ea"/>
          <a:cs typeface="+mn-cs"/>
        </a:defRPr>
      </a:lvl3pPr>
      <a:lvl4pPr marL="1600200" indent="-228600" algn="l" rtl="0" fontAlgn="base">
        <a:spcBef>
          <a:spcPct val="20000"/>
        </a:spcBef>
        <a:spcAft>
          <a:spcPct val="0"/>
        </a:spcAft>
        <a:buClr>
          <a:srgbClr val="800000"/>
        </a:buClr>
        <a:buChar char="•"/>
        <a:defRPr sz="2000" kern="1200">
          <a:solidFill>
            <a:srgbClr val="00234C"/>
          </a:solidFill>
          <a:latin typeface="+mn-lt"/>
          <a:ea typeface="+mn-ea"/>
          <a:cs typeface="+mn-cs"/>
        </a:defRPr>
      </a:lvl4pPr>
      <a:lvl5pPr marL="2057400" indent="-228600" algn="l" rtl="0" fontAlgn="base">
        <a:spcBef>
          <a:spcPct val="20000"/>
        </a:spcBef>
        <a:spcAft>
          <a:spcPct val="0"/>
        </a:spcAft>
        <a:buClr>
          <a:srgbClr val="800000"/>
        </a:buClr>
        <a:buChar char="•"/>
        <a:defRPr sz="2000" kern="1200">
          <a:solidFill>
            <a:srgbClr val="00234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35_D3A5ACBA.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D_0.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2F_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72077EE1-D498-B3A4-99E4-1DF7B93F58A4}"/>
              </a:ext>
            </a:extLst>
          </p:cNvPr>
          <p:cNvSpPr>
            <a:spLocks noGrp="1" noChangeArrowheads="1"/>
          </p:cNvSpPr>
          <p:nvPr>
            <p:ph type="subTitle" idx="1"/>
          </p:nvPr>
        </p:nvSpPr>
        <p:spPr>
          <a:xfrm>
            <a:off x="410183" y="3985098"/>
            <a:ext cx="8320391" cy="1828800"/>
          </a:xfrm>
        </p:spPr>
        <p:txBody>
          <a:bodyPr/>
          <a:lstStyle/>
          <a:p>
            <a:pPr>
              <a:lnSpc>
                <a:spcPct val="80000"/>
              </a:lnSpc>
            </a:pPr>
            <a:r>
              <a:rPr lang="en-US" altLang="en-US" sz="2800" dirty="0"/>
              <a:t>Group 1</a:t>
            </a:r>
            <a:endParaRPr lang="en-US" altLang="en-US" sz="2800" dirty="0">
              <a:cs typeface="Arial"/>
            </a:endParaRPr>
          </a:p>
          <a:p>
            <a:pPr>
              <a:lnSpc>
                <a:spcPct val="80000"/>
              </a:lnSpc>
            </a:pPr>
            <a:r>
              <a:rPr lang="en-US" altLang="en-US" sz="2800" dirty="0"/>
              <a:t>Joshua </a:t>
            </a:r>
            <a:r>
              <a:rPr lang="en-US" altLang="en-US" sz="2800" dirty="0" err="1"/>
              <a:t>Olusoji</a:t>
            </a:r>
            <a:r>
              <a:rPr lang="en-US" altLang="en-US" sz="2800" dirty="0"/>
              <a:t>, Omar </a:t>
            </a:r>
            <a:r>
              <a:rPr lang="en-US" altLang="en-US" sz="2800" dirty="0" err="1"/>
              <a:t>Zaruk</a:t>
            </a:r>
            <a:r>
              <a:rPr lang="en-US" altLang="en-US" sz="2800" dirty="0"/>
              <a:t>, Sanad Abu </a:t>
            </a:r>
            <a:r>
              <a:rPr lang="en-US" altLang="en-US" sz="2800" dirty="0" err="1"/>
              <a:t>Hweij</a:t>
            </a:r>
            <a:r>
              <a:rPr lang="en-US" altLang="en-US" sz="2800" dirty="0"/>
              <a:t>, Qussay Suleiman</a:t>
            </a:r>
            <a:endParaRPr lang="en-US" altLang="en-US" sz="2800" dirty="0">
              <a:cs typeface="Arial"/>
            </a:endParaRPr>
          </a:p>
          <a:p>
            <a:pPr>
              <a:lnSpc>
                <a:spcPct val="80000"/>
              </a:lnSpc>
            </a:pPr>
            <a:r>
              <a:rPr lang="en-US" altLang="en-US" sz="2800" dirty="0"/>
              <a:t>Chemical Engineering Lab I</a:t>
            </a:r>
          </a:p>
          <a:p>
            <a:pPr>
              <a:lnSpc>
                <a:spcPct val="80000"/>
              </a:lnSpc>
            </a:pPr>
            <a:r>
              <a:rPr lang="en-US" altLang="en-US" sz="2800" dirty="0">
                <a:cs typeface="Arial"/>
              </a:rPr>
              <a:t>11/11/2025</a:t>
            </a:r>
          </a:p>
        </p:txBody>
      </p:sp>
      <p:sp>
        <p:nvSpPr>
          <p:cNvPr id="2053" name="Rectangle 5">
            <a:extLst>
              <a:ext uri="{FF2B5EF4-FFF2-40B4-BE49-F238E27FC236}">
                <a16:creationId xmlns:a16="http://schemas.microsoft.com/office/drawing/2014/main" id="{177B3EAE-4BF6-7FAA-5ABF-F67506E35031}"/>
              </a:ext>
            </a:extLst>
          </p:cNvPr>
          <p:cNvSpPr>
            <a:spLocks noGrp="1" noChangeArrowheads="1"/>
          </p:cNvSpPr>
          <p:nvPr>
            <p:ph type="ctrTitle"/>
          </p:nvPr>
        </p:nvSpPr>
        <p:spPr>
          <a:xfrm>
            <a:off x="0" y="0"/>
            <a:ext cx="9144000" cy="3581400"/>
          </a:xfrm>
        </p:spPr>
        <p:txBody>
          <a:bodyPr/>
          <a:lstStyle/>
          <a:p>
            <a:br>
              <a:rPr lang="en-US" altLang="en-US" sz="4000" b="1" dirty="0"/>
            </a:br>
            <a:br>
              <a:rPr lang="en-US" altLang="en-US" sz="4000" b="1" dirty="0"/>
            </a:br>
            <a:r>
              <a:rPr lang="en-US" altLang="en-US" sz="4000" b="1" dirty="0"/>
              <a:t>Binary Batch Distillation</a:t>
            </a:r>
          </a:p>
        </p:txBody>
      </p:sp>
      <p:sp>
        <p:nvSpPr>
          <p:cNvPr id="2054" name="Line 6">
            <a:extLst>
              <a:ext uri="{FF2B5EF4-FFF2-40B4-BE49-F238E27FC236}">
                <a16:creationId xmlns:a16="http://schemas.microsoft.com/office/drawing/2014/main" id="{9B324F58-C193-380D-8D31-2E03C0290791}"/>
              </a:ext>
            </a:extLst>
          </p:cNvPr>
          <p:cNvSpPr>
            <a:spLocks noChangeShapeType="1"/>
          </p:cNvSpPr>
          <p:nvPr/>
        </p:nvSpPr>
        <p:spPr bwMode="auto">
          <a:xfrm>
            <a:off x="0" y="3581400"/>
            <a:ext cx="9144000" cy="0"/>
          </a:xfrm>
          <a:prstGeom prst="line">
            <a:avLst/>
          </a:prstGeom>
          <a:noFill/>
          <a:ln w="1270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6AE7BA42-EE99-68AC-692F-225D6E7CB027}"/>
              </a:ext>
            </a:extLst>
          </p:cNvPr>
          <p:cNvSpPr>
            <a:spLocks noGrp="1" noChangeArrowheads="1"/>
          </p:cNvSpPr>
          <p:nvPr>
            <p:ph type="title"/>
          </p:nvPr>
        </p:nvSpPr>
        <p:spPr/>
        <p:txBody>
          <a:bodyPr/>
          <a:lstStyle/>
          <a:p>
            <a:r>
              <a:rPr lang="en-US" altLang="en-US" sz="4000" b="1"/>
              <a:t>Introduction</a:t>
            </a:r>
          </a:p>
        </p:txBody>
      </p:sp>
      <p:sp>
        <p:nvSpPr>
          <p:cNvPr id="92163" name="Rectangle 3">
            <a:extLst>
              <a:ext uri="{FF2B5EF4-FFF2-40B4-BE49-F238E27FC236}">
                <a16:creationId xmlns:a16="http://schemas.microsoft.com/office/drawing/2014/main" id="{F494A156-74DF-37EC-356E-B64557E66B32}"/>
              </a:ext>
            </a:extLst>
          </p:cNvPr>
          <p:cNvSpPr>
            <a:spLocks noGrp="1" noChangeArrowheads="1"/>
          </p:cNvSpPr>
          <p:nvPr>
            <p:ph sz="half" idx="1"/>
          </p:nvPr>
        </p:nvSpPr>
        <p:spPr/>
        <p:txBody>
          <a:bodyPr/>
          <a:lstStyle/>
          <a:p>
            <a:pPr>
              <a:buFontTx/>
              <a:buNone/>
            </a:pPr>
            <a:endParaRPr lang="en-US" altLang="en-US" b="1"/>
          </a:p>
          <a:p>
            <a:endParaRPr lang="en-US" sz="2800">
              <a:cs typeface="Arial"/>
            </a:endParaRPr>
          </a:p>
          <a:p>
            <a:endParaRPr lang="en-US" altLang="en-US" sz="2800">
              <a:cs typeface="Arial"/>
            </a:endParaRPr>
          </a:p>
        </p:txBody>
      </p:sp>
      <p:sp>
        <p:nvSpPr>
          <p:cNvPr id="8" name="Content Placeholder 7">
            <a:extLst>
              <a:ext uri="{FF2B5EF4-FFF2-40B4-BE49-F238E27FC236}">
                <a16:creationId xmlns:a16="http://schemas.microsoft.com/office/drawing/2014/main" id="{7C5AA598-CF13-1E2B-E621-81591CC41068}"/>
              </a:ext>
            </a:extLst>
          </p:cNvPr>
          <p:cNvSpPr txBox="1">
            <a:spLocks noGrp="1"/>
          </p:cNvSpPr>
          <p:nvPr>
            <p:ph sz="half" idx="2"/>
          </p:nvPr>
        </p:nvSpPr>
        <p:spPr>
          <a:xfrm>
            <a:off x="131612" y="1791844"/>
            <a:ext cx="9012387" cy="5053691"/>
          </a:xfrm>
          <a:prstGeom prst="rect">
            <a:avLst/>
          </a:prstGeom>
          <a:noFill/>
        </p:spPr>
        <p:txBody>
          <a:bodyPr wrap="square" rtlCol="0">
            <a:spAutoFit/>
          </a:bodyPr>
          <a:lstStyle/>
          <a:p>
            <a:r>
              <a:rPr lang="en-US" sz="2600" dirty="0"/>
              <a:t>The objective of this experiment is to study the separation of an ethanol–water mixture using a batch distillation column by analyzing how reboiler duty and reflux ratio affect product composition, column efficiency, and overall separation performance.</a:t>
            </a:r>
          </a:p>
          <a:p>
            <a:r>
              <a:rPr lang="en-US" sz="2600" dirty="0"/>
              <a:t>The experiment determines the number of theoretical plates and column efficiency at various operating conditions by measuring pressure drops, collecting distillate and bottoms samples, and using vapor–liquid equilibrium data with the Fenske equation to evaluate column behavior.</a:t>
            </a:r>
          </a:p>
          <a:p>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7E289-8092-87F7-2B0F-3EE670698D48}"/>
              </a:ext>
            </a:extLst>
          </p:cNvPr>
          <p:cNvSpPr>
            <a:spLocks noGrp="1"/>
          </p:cNvSpPr>
          <p:nvPr>
            <p:ph type="title"/>
          </p:nvPr>
        </p:nvSpPr>
        <p:spPr/>
        <p:txBody>
          <a:bodyPr/>
          <a:lstStyle/>
          <a:p>
            <a:r>
              <a:rPr lang="en-US" dirty="0"/>
              <a:t>Theory</a:t>
            </a:r>
          </a:p>
        </p:txBody>
      </p:sp>
      <p:pic>
        <p:nvPicPr>
          <p:cNvPr id="1026" name="Picture 2" descr="Continuous distillation - Citizendium">
            <a:extLst>
              <a:ext uri="{FF2B5EF4-FFF2-40B4-BE49-F238E27FC236}">
                <a16:creationId xmlns:a16="http://schemas.microsoft.com/office/drawing/2014/main" id="{EA0B125F-A2EC-1AAA-4F28-79EDC7C2B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6" y="1939322"/>
            <a:ext cx="2000250" cy="29432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48E4F8C-CB62-04CF-B035-B9F3A0EEB50D}"/>
              </a:ext>
            </a:extLst>
          </p:cNvPr>
          <p:cNvSpPr txBox="1"/>
          <p:nvPr/>
        </p:nvSpPr>
        <p:spPr>
          <a:xfrm>
            <a:off x="2866644" y="994344"/>
            <a:ext cx="3611880" cy="492443"/>
          </a:xfrm>
          <a:prstGeom prst="rect">
            <a:avLst/>
          </a:prstGeom>
          <a:noFill/>
        </p:spPr>
        <p:txBody>
          <a:bodyPr wrap="square" rtlCol="0">
            <a:spAutoFit/>
          </a:bodyPr>
          <a:lstStyle/>
          <a:p>
            <a:r>
              <a:rPr lang="en-US" sz="2600" b="1" dirty="0">
                <a:solidFill>
                  <a:schemeClr val="bg1"/>
                </a:solidFill>
              </a:rPr>
              <a:t>Types of Distillation</a:t>
            </a:r>
          </a:p>
        </p:txBody>
      </p:sp>
      <p:sp>
        <p:nvSpPr>
          <p:cNvPr id="5" name="TextBox 4">
            <a:extLst>
              <a:ext uri="{FF2B5EF4-FFF2-40B4-BE49-F238E27FC236}">
                <a16:creationId xmlns:a16="http://schemas.microsoft.com/office/drawing/2014/main" id="{B6CCAA97-121F-E2ED-E194-92CF865D244D}"/>
              </a:ext>
            </a:extLst>
          </p:cNvPr>
          <p:cNvSpPr txBox="1"/>
          <p:nvPr/>
        </p:nvSpPr>
        <p:spPr>
          <a:xfrm>
            <a:off x="-55242" y="1609148"/>
            <a:ext cx="2591182" cy="338554"/>
          </a:xfrm>
          <a:prstGeom prst="rect">
            <a:avLst/>
          </a:prstGeom>
          <a:noFill/>
        </p:spPr>
        <p:txBody>
          <a:bodyPr wrap="square" rtlCol="0">
            <a:spAutoFit/>
          </a:bodyPr>
          <a:lstStyle/>
          <a:p>
            <a:r>
              <a:rPr lang="en-US" sz="1600" dirty="0"/>
              <a:t>Continuous Distillation</a:t>
            </a:r>
          </a:p>
        </p:txBody>
      </p:sp>
      <p:sp>
        <p:nvSpPr>
          <p:cNvPr id="6" name="TextBox 5">
            <a:extLst>
              <a:ext uri="{FF2B5EF4-FFF2-40B4-BE49-F238E27FC236}">
                <a16:creationId xmlns:a16="http://schemas.microsoft.com/office/drawing/2014/main" id="{E2B7773E-D375-8D89-D123-EE73C6659216}"/>
              </a:ext>
            </a:extLst>
          </p:cNvPr>
          <p:cNvSpPr txBox="1"/>
          <p:nvPr/>
        </p:nvSpPr>
        <p:spPr>
          <a:xfrm>
            <a:off x="-55242" y="4882547"/>
            <a:ext cx="3304413" cy="276999"/>
          </a:xfrm>
          <a:prstGeom prst="rect">
            <a:avLst/>
          </a:prstGeom>
          <a:noFill/>
        </p:spPr>
        <p:txBody>
          <a:bodyPr wrap="square" rtlCol="0">
            <a:spAutoFit/>
          </a:bodyPr>
          <a:lstStyle/>
          <a:p>
            <a:r>
              <a:rPr lang="en-US" sz="1200" i="1" dirty="0"/>
              <a:t>Obtained from </a:t>
            </a:r>
            <a:r>
              <a:rPr lang="en-US" sz="1200" i="1" dirty="0" err="1"/>
              <a:t>Citizendium</a:t>
            </a:r>
            <a:endParaRPr lang="en-US" sz="1200" i="1" dirty="0"/>
          </a:p>
        </p:txBody>
      </p:sp>
      <p:pic>
        <p:nvPicPr>
          <p:cNvPr id="1028" name="Picture 4" descr="Batch Distillation with Rectifying Column | Download Scientific Diagram">
            <a:extLst>
              <a:ext uri="{FF2B5EF4-FFF2-40B4-BE49-F238E27FC236}">
                <a16:creationId xmlns:a16="http://schemas.microsoft.com/office/drawing/2014/main" id="{52F29D92-34E4-4077-C2AF-E3FFC3F947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325" y="1939322"/>
            <a:ext cx="2285328" cy="29432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7A42FCB-73ED-26C9-DE6F-A96AB51F22F8}"/>
              </a:ext>
            </a:extLst>
          </p:cNvPr>
          <p:cNvSpPr txBox="1"/>
          <p:nvPr/>
        </p:nvSpPr>
        <p:spPr>
          <a:xfrm>
            <a:off x="2342577" y="1609148"/>
            <a:ext cx="2020824" cy="338554"/>
          </a:xfrm>
          <a:prstGeom prst="rect">
            <a:avLst/>
          </a:prstGeom>
          <a:noFill/>
        </p:spPr>
        <p:txBody>
          <a:bodyPr wrap="square" rtlCol="0">
            <a:spAutoFit/>
          </a:bodyPr>
          <a:lstStyle/>
          <a:p>
            <a:r>
              <a:rPr lang="en-US" sz="1600" dirty="0"/>
              <a:t>Batch Distillation</a:t>
            </a:r>
          </a:p>
        </p:txBody>
      </p:sp>
      <p:sp>
        <p:nvSpPr>
          <p:cNvPr id="8" name="TextBox 7">
            <a:extLst>
              <a:ext uri="{FF2B5EF4-FFF2-40B4-BE49-F238E27FC236}">
                <a16:creationId xmlns:a16="http://schemas.microsoft.com/office/drawing/2014/main" id="{E66994EE-D32B-6BEB-8338-B03987FBAF61}"/>
              </a:ext>
            </a:extLst>
          </p:cNvPr>
          <p:cNvSpPr txBox="1"/>
          <p:nvPr/>
        </p:nvSpPr>
        <p:spPr>
          <a:xfrm>
            <a:off x="2210325" y="4915992"/>
            <a:ext cx="3304413" cy="276999"/>
          </a:xfrm>
          <a:prstGeom prst="rect">
            <a:avLst/>
          </a:prstGeom>
          <a:noFill/>
        </p:spPr>
        <p:txBody>
          <a:bodyPr wrap="square" rtlCol="0">
            <a:spAutoFit/>
          </a:bodyPr>
          <a:lstStyle/>
          <a:p>
            <a:r>
              <a:rPr lang="en-US" sz="1200" i="1" dirty="0"/>
              <a:t>Obtained from ResearchGate</a:t>
            </a:r>
          </a:p>
        </p:txBody>
      </p:sp>
      <p:sp>
        <p:nvSpPr>
          <p:cNvPr id="9" name="TextBox 8">
            <a:extLst>
              <a:ext uri="{FF2B5EF4-FFF2-40B4-BE49-F238E27FC236}">
                <a16:creationId xmlns:a16="http://schemas.microsoft.com/office/drawing/2014/main" id="{6BEBBB38-3A40-047B-647B-80F90CB4BC52}"/>
              </a:ext>
            </a:extLst>
          </p:cNvPr>
          <p:cNvSpPr txBox="1"/>
          <p:nvPr/>
        </p:nvSpPr>
        <p:spPr>
          <a:xfrm>
            <a:off x="4780601" y="1596476"/>
            <a:ext cx="2688807" cy="338554"/>
          </a:xfrm>
          <a:prstGeom prst="rect">
            <a:avLst/>
          </a:prstGeom>
          <a:noFill/>
        </p:spPr>
        <p:txBody>
          <a:bodyPr wrap="square" rtlCol="0">
            <a:spAutoFit/>
          </a:bodyPr>
          <a:lstStyle/>
          <a:p>
            <a:r>
              <a:rPr lang="en-US" sz="1600" dirty="0"/>
              <a:t>Fractional Distillation</a:t>
            </a:r>
          </a:p>
        </p:txBody>
      </p:sp>
      <p:pic>
        <p:nvPicPr>
          <p:cNvPr id="1034" name="Picture 10" descr="Fractional Distillation | oilandgasinfo.ca">
            <a:extLst>
              <a:ext uri="{FF2B5EF4-FFF2-40B4-BE49-F238E27FC236}">
                <a16:creationId xmlns:a16="http://schemas.microsoft.com/office/drawing/2014/main" id="{754786E1-298F-0669-7FC6-3B3797736D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2584" y="1935030"/>
            <a:ext cx="2285328" cy="29712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2BAD27F-F317-A10E-9FA0-DFC38FFD41D4}"/>
              </a:ext>
            </a:extLst>
          </p:cNvPr>
          <p:cNvSpPr txBox="1"/>
          <p:nvPr/>
        </p:nvSpPr>
        <p:spPr>
          <a:xfrm>
            <a:off x="4552705" y="4915992"/>
            <a:ext cx="3304413" cy="276999"/>
          </a:xfrm>
          <a:prstGeom prst="rect">
            <a:avLst/>
          </a:prstGeom>
          <a:noFill/>
        </p:spPr>
        <p:txBody>
          <a:bodyPr wrap="square" rtlCol="0">
            <a:spAutoFit/>
          </a:bodyPr>
          <a:lstStyle/>
          <a:p>
            <a:r>
              <a:rPr lang="en-US" sz="1200" i="1" dirty="0"/>
              <a:t>Obtained from oilandgasinfo.ca</a:t>
            </a:r>
          </a:p>
        </p:txBody>
      </p:sp>
      <p:pic>
        <p:nvPicPr>
          <p:cNvPr id="1038" name="Picture 14" descr="Steam Distillation Method for Component Separation - ChemEnggHelp">
            <a:extLst>
              <a:ext uri="{FF2B5EF4-FFF2-40B4-BE49-F238E27FC236}">
                <a16:creationId xmlns:a16="http://schemas.microsoft.com/office/drawing/2014/main" id="{7F716F5F-629F-4600-13D4-D9C3CBEA00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4877" y="1982940"/>
            <a:ext cx="2040547" cy="294003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F5DEF1B-904B-1599-7127-C4962F1F30AA}"/>
              </a:ext>
            </a:extLst>
          </p:cNvPr>
          <p:cNvSpPr txBox="1"/>
          <p:nvPr/>
        </p:nvSpPr>
        <p:spPr>
          <a:xfrm>
            <a:off x="6957912" y="1620431"/>
            <a:ext cx="2688807" cy="338554"/>
          </a:xfrm>
          <a:prstGeom prst="rect">
            <a:avLst/>
          </a:prstGeom>
          <a:noFill/>
        </p:spPr>
        <p:txBody>
          <a:bodyPr wrap="square" rtlCol="0">
            <a:spAutoFit/>
          </a:bodyPr>
          <a:lstStyle/>
          <a:p>
            <a:r>
              <a:rPr lang="en-US" sz="1600" dirty="0"/>
              <a:t>Steam Distillation</a:t>
            </a:r>
          </a:p>
        </p:txBody>
      </p:sp>
      <p:sp>
        <p:nvSpPr>
          <p:cNvPr id="13" name="TextBox 12">
            <a:extLst>
              <a:ext uri="{FF2B5EF4-FFF2-40B4-BE49-F238E27FC236}">
                <a16:creationId xmlns:a16="http://schemas.microsoft.com/office/drawing/2014/main" id="{ABD75CBF-DB0F-AD61-1182-2CA485F51A8A}"/>
              </a:ext>
            </a:extLst>
          </p:cNvPr>
          <p:cNvSpPr txBox="1"/>
          <p:nvPr/>
        </p:nvSpPr>
        <p:spPr>
          <a:xfrm>
            <a:off x="6869113" y="4943848"/>
            <a:ext cx="3304413" cy="276999"/>
          </a:xfrm>
          <a:prstGeom prst="rect">
            <a:avLst/>
          </a:prstGeom>
          <a:noFill/>
        </p:spPr>
        <p:txBody>
          <a:bodyPr wrap="square" rtlCol="0">
            <a:spAutoFit/>
          </a:bodyPr>
          <a:lstStyle/>
          <a:p>
            <a:r>
              <a:rPr lang="en-US" sz="1200" i="1" dirty="0"/>
              <a:t>Obtained from </a:t>
            </a:r>
            <a:r>
              <a:rPr lang="en-US" sz="1200" i="1" dirty="0" err="1"/>
              <a:t>ChemEnggHelp</a:t>
            </a:r>
            <a:endParaRPr lang="en-US" sz="1200" i="1" dirty="0"/>
          </a:p>
        </p:txBody>
      </p:sp>
    </p:spTree>
    <p:extLst>
      <p:ext uri="{BB962C8B-B14F-4D97-AF65-F5344CB8AC3E}">
        <p14:creationId xmlns:p14="http://schemas.microsoft.com/office/powerpoint/2010/main" val="4073401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5224-59D6-EEB8-A199-F4E4E0D952CE}"/>
              </a:ext>
            </a:extLst>
          </p:cNvPr>
          <p:cNvSpPr>
            <a:spLocks noGrp="1"/>
          </p:cNvSpPr>
          <p:nvPr>
            <p:ph type="title"/>
          </p:nvPr>
        </p:nvSpPr>
        <p:spPr/>
        <p:txBody>
          <a:bodyPr/>
          <a:lstStyle/>
          <a:p>
            <a:r>
              <a:rPr lang="en-US" dirty="0"/>
              <a:t>Theory</a:t>
            </a:r>
          </a:p>
        </p:txBody>
      </p:sp>
      <p:sp>
        <p:nvSpPr>
          <p:cNvPr id="3" name="TextBox 2">
            <a:extLst>
              <a:ext uri="{FF2B5EF4-FFF2-40B4-BE49-F238E27FC236}">
                <a16:creationId xmlns:a16="http://schemas.microsoft.com/office/drawing/2014/main" id="{3C1EBD5A-40E2-AE80-BA5F-456874E6A338}"/>
              </a:ext>
            </a:extLst>
          </p:cNvPr>
          <p:cNvSpPr txBox="1"/>
          <p:nvPr/>
        </p:nvSpPr>
        <p:spPr>
          <a:xfrm>
            <a:off x="64008" y="1520785"/>
            <a:ext cx="3730752" cy="430887"/>
          </a:xfrm>
          <a:prstGeom prst="rect">
            <a:avLst/>
          </a:prstGeom>
          <a:noFill/>
        </p:spPr>
        <p:txBody>
          <a:bodyPr wrap="square" rtlCol="0">
            <a:spAutoFit/>
          </a:bodyPr>
          <a:lstStyle/>
          <a:p>
            <a:r>
              <a:rPr lang="en-US" sz="2200" b="1" dirty="0"/>
              <a:t>Conditions</a:t>
            </a:r>
          </a:p>
        </p:txBody>
      </p:sp>
      <p:sp>
        <p:nvSpPr>
          <p:cNvPr id="5" name="TextBox 4">
            <a:extLst>
              <a:ext uri="{FF2B5EF4-FFF2-40B4-BE49-F238E27FC236}">
                <a16:creationId xmlns:a16="http://schemas.microsoft.com/office/drawing/2014/main" id="{CCE4A3AE-17DD-3891-41AC-4E5CC8683A09}"/>
              </a:ext>
            </a:extLst>
          </p:cNvPr>
          <p:cNvSpPr txBox="1"/>
          <p:nvPr/>
        </p:nvSpPr>
        <p:spPr>
          <a:xfrm>
            <a:off x="0" y="2038172"/>
            <a:ext cx="4636008" cy="3693319"/>
          </a:xfrm>
          <a:prstGeom prst="rect">
            <a:avLst/>
          </a:prstGeom>
          <a:noFill/>
        </p:spPr>
        <p:txBody>
          <a:bodyPr wrap="square">
            <a:spAutoFit/>
          </a:bodyPr>
          <a:lstStyle/>
          <a:p>
            <a:pPr>
              <a:buNone/>
            </a:pPr>
            <a:r>
              <a:rPr lang="en-US" b="1" dirty="0"/>
              <a:t>Experiment A – </a:t>
            </a:r>
            <a:r>
              <a:rPr lang="en-US" b="1" i="1" dirty="0"/>
              <a:t>Total Reflux Operation</a:t>
            </a:r>
          </a:p>
          <a:p>
            <a:pPr>
              <a:buNone/>
            </a:pPr>
            <a:endParaRPr lang="en-US" dirty="0"/>
          </a:p>
          <a:p>
            <a:pPr>
              <a:buFont typeface="Arial" panose="020B0604020202020204" pitchFamily="34" charset="0"/>
              <a:buChar char="•"/>
            </a:pPr>
            <a:r>
              <a:rPr lang="en-US" dirty="0"/>
              <a:t>Column operated at </a:t>
            </a:r>
            <a:r>
              <a:rPr lang="en-US" b="1" dirty="0"/>
              <a:t>total reflux</a:t>
            </a:r>
            <a:r>
              <a:rPr lang="en-US" dirty="0"/>
              <a:t> → no distillate withdrawn</a:t>
            </a:r>
          </a:p>
          <a:p>
            <a:pPr>
              <a:buFont typeface="Arial" panose="020B0604020202020204" pitchFamily="34" charset="0"/>
              <a:buChar char="•"/>
            </a:pPr>
            <a:r>
              <a:rPr lang="en-US" b="1" dirty="0"/>
              <a:t>Increasing boil-up rate</a:t>
            </a:r>
            <a:r>
              <a:rPr lang="en-US" dirty="0"/>
              <a:t> enhances vapor–liquid contact → higher separation efficiency</a:t>
            </a:r>
          </a:p>
          <a:p>
            <a:pPr>
              <a:buFont typeface="Arial" panose="020B0604020202020204" pitchFamily="34" charset="0"/>
              <a:buChar char="•"/>
            </a:pPr>
            <a:r>
              <a:rPr lang="en-US" dirty="0"/>
              <a:t>However, </a:t>
            </a:r>
            <a:r>
              <a:rPr lang="en-US" b="1" dirty="0"/>
              <a:t>higher boil-up increases column pressure</a:t>
            </a:r>
            <a:r>
              <a:rPr lang="en-US" dirty="0"/>
              <a:t>, which increases tray pressure drop</a:t>
            </a:r>
          </a:p>
          <a:p>
            <a:pPr>
              <a:buFont typeface="Arial" panose="020B0604020202020204" pitchFamily="34" charset="0"/>
              <a:buChar char="•"/>
            </a:pPr>
            <a:r>
              <a:rPr lang="en-US" b="1" dirty="0"/>
              <a:t>Excess pressure reduces efficiency</a:t>
            </a:r>
            <a:r>
              <a:rPr lang="en-US" dirty="0"/>
              <a:t>, so there is an </a:t>
            </a:r>
            <a:r>
              <a:rPr lang="en-US" b="1" dirty="0"/>
              <a:t>optimal boil-up rate</a:t>
            </a:r>
            <a:r>
              <a:rPr lang="en-US" dirty="0"/>
              <a:t> for best performance</a:t>
            </a:r>
          </a:p>
        </p:txBody>
      </p:sp>
      <p:sp>
        <p:nvSpPr>
          <p:cNvPr id="7" name="TextBox 6">
            <a:extLst>
              <a:ext uri="{FF2B5EF4-FFF2-40B4-BE49-F238E27FC236}">
                <a16:creationId xmlns:a16="http://schemas.microsoft.com/office/drawing/2014/main" id="{7F532AA9-CD43-0AED-DD90-D378CA294838}"/>
              </a:ext>
            </a:extLst>
          </p:cNvPr>
          <p:cNvSpPr txBox="1"/>
          <p:nvPr/>
        </p:nvSpPr>
        <p:spPr>
          <a:xfrm>
            <a:off x="4624578" y="2038172"/>
            <a:ext cx="4519422" cy="2308324"/>
          </a:xfrm>
          <a:prstGeom prst="rect">
            <a:avLst/>
          </a:prstGeom>
          <a:noFill/>
        </p:spPr>
        <p:txBody>
          <a:bodyPr wrap="square">
            <a:spAutoFit/>
          </a:bodyPr>
          <a:lstStyle/>
          <a:p>
            <a:pPr>
              <a:buNone/>
            </a:pPr>
            <a:r>
              <a:rPr lang="en-US" b="1" dirty="0"/>
              <a:t>Experiment B – </a:t>
            </a:r>
            <a:r>
              <a:rPr lang="en-US" b="1" i="1" dirty="0"/>
              <a:t>Partial Reflux Operation</a:t>
            </a:r>
          </a:p>
          <a:p>
            <a:pPr>
              <a:buNone/>
            </a:pPr>
            <a:endParaRPr lang="en-US" dirty="0"/>
          </a:p>
          <a:p>
            <a:pPr>
              <a:buFont typeface="Arial" panose="020B0604020202020204" pitchFamily="34" charset="0"/>
              <a:buChar char="•"/>
            </a:pPr>
            <a:r>
              <a:rPr lang="en-US" dirty="0"/>
              <a:t>Distillate is withdrawn while maintaining a </a:t>
            </a:r>
            <a:r>
              <a:rPr lang="en-US" b="1" dirty="0"/>
              <a:t>controlled reflux ratio</a:t>
            </a:r>
            <a:endParaRPr lang="en-US" dirty="0"/>
          </a:p>
          <a:p>
            <a:pPr>
              <a:buFont typeface="Arial" panose="020B0604020202020204" pitchFamily="34" charset="0"/>
              <a:buChar char="•"/>
            </a:pPr>
            <a:r>
              <a:rPr lang="en-US" b="1" dirty="0"/>
              <a:t>Higher reflux ratio</a:t>
            </a:r>
            <a:r>
              <a:rPr lang="en-US" dirty="0"/>
              <a:t> → increased internal liquid recycle → </a:t>
            </a:r>
            <a:r>
              <a:rPr lang="en-US" b="1" dirty="0"/>
              <a:t>higher distillate purity</a:t>
            </a:r>
            <a:endParaRPr lang="en-US" dirty="0"/>
          </a:p>
          <a:p>
            <a:pPr>
              <a:buFont typeface="Arial" panose="020B0604020202020204" pitchFamily="34" charset="0"/>
              <a:buChar char="•"/>
            </a:pPr>
            <a:r>
              <a:rPr lang="en-US" dirty="0"/>
              <a:t>Trade-off: higher reflux ratio requires </a:t>
            </a:r>
            <a:r>
              <a:rPr lang="en-US" b="1" dirty="0"/>
              <a:t>more energy</a:t>
            </a:r>
            <a:r>
              <a:rPr lang="en-US" dirty="0"/>
              <a:t> and </a:t>
            </a:r>
            <a:r>
              <a:rPr lang="en-US" b="1" dirty="0"/>
              <a:t>longer operating time</a:t>
            </a:r>
            <a:endParaRPr lang="en-US" dirty="0"/>
          </a:p>
        </p:txBody>
      </p:sp>
    </p:spTree>
    <p:extLst>
      <p:ext uri="{BB962C8B-B14F-4D97-AF65-F5344CB8AC3E}">
        <p14:creationId xmlns:p14="http://schemas.microsoft.com/office/powerpoint/2010/main" val="355085023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1C6CF-094D-6C87-80CD-7199C4648917}"/>
              </a:ext>
            </a:extLst>
          </p:cNvPr>
          <p:cNvSpPr>
            <a:spLocks noGrp="1"/>
          </p:cNvSpPr>
          <p:nvPr>
            <p:ph type="title"/>
          </p:nvPr>
        </p:nvSpPr>
        <p:spPr/>
        <p:txBody>
          <a:bodyPr/>
          <a:lstStyle/>
          <a:p>
            <a:r>
              <a:rPr lang="en-US" dirty="0"/>
              <a:t>Theory</a:t>
            </a:r>
          </a:p>
        </p:txBody>
      </p:sp>
      <p:sp>
        <p:nvSpPr>
          <p:cNvPr id="3" name="TextBox 2">
            <a:extLst>
              <a:ext uri="{FF2B5EF4-FFF2-40B4-BE49-F238E27FC236}">
                <a16:creationId xmlns:a16="http://schemas.microsoft.com/office/drawing/2014/main" id="{436C44BA-D2B9-6A52-5FC7-64F4FE98011B}"/>
              </a:ext>
            </a:extLst>
          </p:cNvPr>
          <p:cNvSpPr txBox="1"/>
          <p:nvPr/>
        </p:nvSpPr>
        <p:spPr>
          <a:xfrm>
            <a:off x="118872" y="1600200"/>
            <a:ext cx="2386584" cy="400110"/>
          </a:xfrm>
          <a:prstGeom prst="rect">
            <a:avLst/>
          </a:prstGeom>
          <a:noFill/>
        </p:spPr>
        <p:txBody>
          <a:bodyPr wrap="square" rtlCol="0">
            <a:spAutoFit/>
          </a:bodyPr>
          <a:lstStyle/>
          <a:p>
            <a:r>
              <a:rPr lang="en-US" sz="2000" b="1" dirty="0"/>
              <a:t>Equations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2E75097-D3DE-7BEF-0984-8C54314AA4B5}"/>
                  </a:ext>
                </a:extLst>
              </p:cNvPr>
              <p:cNvSpPr txBox="1"/>
              <p:nvPr/>
            </p:nvSpPr>
            <p:spPr>
              <a:xfrm>
                <a:off x="-514350" y="2361144"/>
                <a:ext cx="4604004" cy="1070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𝑛</m:t>
                      </m:r>
                      <m:r>
                        <a:rPr lang="en-US" i="0">
                          <a:latin typeface="Cambria Math" panose="02040503050406030204" pitchFamily="18" charset="0"/>
                        </a:rPr>
                        <m:t>+1=</m:t>
                      </m:r>
                      <m:f>
                        <m:fPr>
                          <m:ctrlPr>
                            <a:rPr lang="en-US" i="1">
                              <a:latin typeface="Cambria Math" panose="02040503050406030204" pitchFamily="18" charset="0"/>
                            </a:rPr>
                          </m:ctrlPr>
                        </m:fPr>
                        <m:num>
                          <m:func>
                            <m:funcPr>
                              <m:ctrlPr>
                                <a:rPr lang="en-US" i="1">
                                  <a:latin typeface="Cambria Math" panose="02040503050406030204" pitchFamily="18" charset="0"/>
                                </a:rPr>
                              </m:ctrlPr>
                            </m:funcPr>
                            <m:fName>
                              <m:r>
                                <m:rPr>
                                  <m:sty m:val="p"/>
                                </m:rPr>
                                <a:rPr lang="en-US" i="0">
                                  <a:latin typeface="Cambria Math" panose="02040503050406030204" pitchFamily="18" charset="0"/>
                                </a:rPr>
                                <m:t>log</m:t>
                              </m:r>
                            </m:fName>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𝐸𝑡𝑂𝐻</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𝐻</m:t>
                                                  </m:r>
                                                  <m:r>
                                                    <a:rPr lang="en-US" i="0">
                                                      <a:latin typeface="Cambria Math" panose="02040503050406030204" pitchFamily="18" charset="0"/>
                                                    </a:rPr>
                                                    <m:t>2</m:t>
                                                  </m:r>
                                                  <m:r>
                                                    <a:rPr lang="en-US" i="1">
                                                      <a:latin typeface="Cambria Math" panose="02040503050406030204" pitchFamily="18" charset="0"/>
                                                    </a:rPr>
                                                    <m:t>𝑂</m:t>
                                                  </m:r>
                                                </m:sub>
                                              </m:sSub>
                                            </m:den>
                                          </m:f>
                                        </m:e>
                                      </m:d>
                                    </m:e>
                                    <m:sub>
                                      <m:r>
                                        <a:rPr lang="en-US" i="1">
                                          <a:latin typeface="Cambria Math" panose="02040503050406030204" pitchFamily="18" charset="0"/>
                                        </a:rPr>
                                        <m:t>𝑑</m:t>
                                      </m:r>
                                    </m:sub>
                                  </m:sSub>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𝐻</m:t>
                                                  </m:r>
                                                  <m:r>
                                                    <a:rPr lang="en-US" i="0">
                                                      <a:latin typeface="Cambria Math" panose="02040503050406030204" pitchFamily="18" charset="0"/>
                                                    </a:rPr>
                                                    <m:t>2</m:t>
                                                  </m:r>
                                                  <m:r>
                                                    <a:rPr lang="en-US" i="1">
                                                      <a:latin typeface="Cambria Math" panose="02040503050406030204" pitchFamily="18" charset="0"/>
                                                    </a:rPr>
                                                    <m:t>𝑂</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𝐸𝑡𝑂𝐻</m:t>
                                                  </m:r>
                                                </m:sub>
                                              </m:sSub>
                                            </m:den>
                                          </m:f>
                                        </m:e>
                                      </m:d>
                                    </m:e>
                                    <m:sub>
                                      <m:r>
                                        <a:rPr lang="en-US" i="1">
                                          <a:latin typeface="Cambria Math" panose="02040503050406030204" pitchFamily="18" charset="0"/>
                                        </a:rPr>
                                        <m:t>𝑏</m:t>
                                      </m:r>
                                    </m:sub>
                                  </m:sSub>
                                </m:e>
                              </m:d>
                            </m:e>
                          </m:func>
                        </m:num>
                        <m:den>
                          <m:func>
                            <m:funcPr>
                              <m:ctrlPr>
                                <a:rPr lang="en-US" i="1">
                                  <a:latin typeface="Cambria Math" panose="02040503050406030204" pitchFamily="18" charset="0"/>
                                </a:rPr>
                              </m:ctrlPr>
                            </m:funcPr>
                            <m:fName>
                              <m:r>
                                <m:rPr>
                                  <m:sty m:val="p"/>
                                </m:rPr>
                                <a:rPr lang="en-US" i="0">
                                  <a:latin typeface="Cambria Math" panose="02040503050406030204" pitchFamily="18" charset="0"/>
                                </a:rPr>
                                <m:t>log</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𝐸𝑡𝑂𝐻</m:t>
                                      </m:r>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2</m:t>
                                      </m:r>
                                      <m:r>
                                        <a:rPr lang="en-US" b="0" i="1" smtClean="0">
                                          <a:latin typeface="Cambria Math" panose="02040503050406030204" pitchFamily="18" charset="0"/>
                                        </a:rPr>
                                        <m:t>𝑂</m:t>
                                      </m:r>
                                    </m:sub>
                                  </m:sSub>
                                </m:e>
                              </m:d>
                            </m:e>
                          </m:func>
                        </m:den>
                      </m:f>
                    </m:oMath>
                  </m:oMathPara>
                </a14:m>
                <a:endParaRPr lang="en-US" dirty="0"/>
              </a:p>
            </p:txBody>
          </p:sp>
        </mc:Choice>
        <mc:Fallback xmlns="">
          <p:sp>
            <p:nvSpPr>
              <p:cNvPr id="5" name="TextBox 4">
                <a:extLst>
                  <a:ext uri="{FF2B5EF4-FFF2-40B4-BE49-F238E27FC236}">
                    <a16:creationId xmlns:a16="http://schemas.microsoft.com/office/drawing/2014/main" id="{E2E75097-D3DE-7BEF-0984-8C54314AA4B5}"/>
                  </a:ext>
                </a:extLst>
              </p:cNvPr>
              <p:cNvSpPr txBox="1">
                <a:spLocks noRot="1" noChangeAspect="1" noMove="1" noResize="1" noEditPoints="1" noAdjustHandles="1" noChangeArrowheads="1" noChangeShapeType="1" noTextEdit="1"/>
              </p:cNvSpPr>
              <p:nvPr/>
            </p:nvSpPr>
            <p:spPr>
              <a:xfrm>
                <a:off x="-514350" y="2361144"/>
                <a:ext cx="4604004" cy="1070165"/>
              </a:xfrm>
              <a:prstGeom prst="rect">
                <a:avLst/>
              </a:prstGeom>
              <a:blipFill>
                <a:blip r:embed="rId2"/>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54D13A7-8C99-C8D5-AE76-56C364D382B7}"/>
              </a:ext>
            </a:extLst>
          </p:cNvPr>
          <p:cNvSpPr txBox="1"/>
          <p:nvPr/>
        </p:nvSpPr>
        <p:spPr>
          <a:xfrm>
            <a:off x="352044" y="2173728"/>
            <a:ext cx="960120" cy="369332"/>
          </a:xfrm>
          <a:prstGeom prst="rect">
            <a:avLst/>
          </a:prstGeom>
          <a:noFill/>
        </p:spPr>
        <p:txBody>
          <a:bodyPr wrap="square" rtlCol="0">
            <a:spAutoFit/>
          </a:bodyPr>
          <a:lstStyle/>
          <a:p>
            <a:r>
              <a:rPr lang="en-US" dirty="0"/>
              <a:t>Fenske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1726743-E299-19B0-0AF0-0AB82674DF7C}"/>
                  </a:ext>
                </a:extLst>
              </p:cNvPr>
              <p:cNvSpPr txBox="1"/>
              <p:nvPr/>
            </p:nvSpPr>
            <p:spPr>
              <a:xfrm>
                <a:off x="75438" y="3429000"/>
                <a:ext cx="4860036" cy="1499898"/>
              </a:xfrm>
              <a:prstGeom prst="rect">
                <a:avLst/>
              </a:prstGeom>
              <a:noFill/>
            </p:spPr>
            <p:txBody>
              <a:bodyPr wrap="square">
                <a:spAutoFit/>
              </a:bodyPr>
              <a:lstStyle/>
              <a:p>
                <a:r>
                  <a:rPr lang="en-US" dirty="0"/>
                  <a:t>n = Number of plates</a:t>
                </a:r>
              </a:p>
              <a:p>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𝐸𝑡𝑂𝐻</m:t>
                        </m:r>
                      </m:sub>
                    </m:sSub>
                    <m:r>
                      <a:rPr lang="en-US" i="1">
                        <a:latin typeface="Cambria Math" panose="02040503050406030204" pitchFamily="18" charset="0"/>
                      </a:rPr>
                      <m:t> </m:t>
                    </m:r>
                  </m:oMath>
                </a14:m>
                <a:r>
                  <a:rPr lang="en-US" dirty="0"/>
                  <a:t>= liquid composition of the light key </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𝐻</m:t>
                        </m:r>
                        <m:r>
                          <a:rPr lang="en-US">
                            <a:latin typeface="Cambria Math" panose="02040503050406030204" pitchFamily="18" charset="0"/>
                          </a:rPr>
                          <m:t>2</m:t>
                        </m:r>
                        <m:r>
                          <a:rPr lang="en-US" i="1">
                            <a:latin typeface="Cambria Math" panose="02040503050406030204" pitchFamily="18" charset="0"/>
                          </a:rPr>
                          <m:t>𝑂</m:t>
                        </m:r>
                      </m:sub>
                    </m:sSub>
                    <m:r>
                      <a:rPr lang="en-US" i="1">
                        <a:latin typeface="Cambria Math" panose="02040503050406030204" pitchFamily="18" charset="0"/>
                      </a:rPr>
                      <m:t> </m:t>
                    </m:r>
                  </m:oMath>
                </a14:m>
                <a:r>
                  <a:rPr lang="en-US" dirty="0"/>
                  <a:t>= liquid composition of the heavy key </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𝑎𝑣𝑔</m:t>
                        </m:r>
                      </m:sub>
                    </m:sSub>
                    <m:r>
                      <a:rPr lang="en-US" i="1">
                        <a:latin typeface="Cambria Math" panose="02040503050406030204" pitchFamily="18" charset="0"/>
                      </a:rPr>
                      <m:t> </m:t>
                    </m:r>
                  </m:oMath>
                </a14:m>
                <a:r>
                  <a:rPr lang="en-US" dirty="0"/>
                  <a:t>= relative volitivity of the light key to heavy key</a:t>
                </a:r>
              </a:p>
            </p:txBody>
          </p:sp>
        </mc:Choice>
        <mc:Fallback xmlns="">
          <p:sp>
            <p:nvSpPr>
              <p:cNvPr id="8" name="TextBox 7">
                <a:extLst>
                  <a:ext uri="{FF2B5EF4-FFF2-40B4-BE49-F238E27FC236}">
                    <a16:creationId xmlns:a16="http://schemas.microsoft.com/office/drawing/2014/main" id="{11726743-E299-19B0-0AF0-0AB82674DF7C}"/>
                  </a:ext>
                </a:extLst>
              </p:cNvPr>
              <p:cNvSpPr txBox="1">
                <a:spLocks noRot="1" noChangeAspect="1" noMove="1" noResize="1" noEditPoints="1" noAdjustHandles="1" noChangeArrowheads="1" noChangeShapeType="1" noTextEdit="1"/>
              </p:cNvSpPr>
              <p:nvPr/>
            </p:nvSpPr>
            <p:spPr>
              <a:xfrm>
                <a:off x="75438" y="3429000"/>
                <a:ext cx="4860036" cy="1499898"/>
              </a:xfrm>
              <a:prstGeom prst="rect">
                <a:avLst/>
              </a:prstGeom>
              <a:blipFill>
                <a:blip r:embed="rId3"/>
                <a:stretch>
                  <a:fillRect l="-1003" t="-2439" b="-52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E188294-9AE6-2640-0305-2DB8D5B289D3}"/>
                  </a:ext>
                </a:extLst>
              </p:cNvPr>
              <p:cNvSpPr txBox="1"/>
              <p:nvPr/>
            </p:nvSpPr>
            <p:spPr>
              <a:xfrm>
                <a:off x="4441698" y="2626560"/>
                <a:ext cx="4860036" cy="614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𝜂</m:t>
                      </m:r>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r>
                                <a:rPr lang="en-US" i="0">
                                  <a:latin typeface="Cambria Math" panose="02040503050406030204" pitchFamily="18" charset="0"/>
                                </a:rPr>
                                <m:t>+1</m:t>
                              </m:r>
                            </m:sub>
                          </m:sSub>
                        </m:num>
                        <m:den>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𝑛</m:t>
                              </m:r>
                            </m:sub>
                            <m:sup>
                              <m:r>
                                <a:rPr lang="en-US" i="0">
                                  <a:latin typeface="Cambria Math" panose="02040503050406030204" pitchFamily="18" charset="0"/>
                                </a:rPr>
                                <m:t>∗</m:t>
                              </m:r>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r>
                                <a:rPr lang="en-US" i="0">
                                  <a:latin typeface="Cambria Math" panose="02040503050406030204" pitchFamily="18" charset="0"/>
                                </a:rPr>
                                <m:t>+1</m:t>
                              </m:r>
                            </m:sub>
                          </m:sSub>
                        </m:den>
                      </m:f>
                    </m:oMath>
                  </m:oMathPara>
                </a14:m>
                <a:endParaRPr lang="en-US" dirty="0"/>
              </a:p>
            </p:txBody>
          </p:sp>
        </mc:Choice>
        <mc:Fallback xmlns="">
          <p:sp>
            <p:nvSpPr>
              <p:cNvPr id="10" name="TextBox 9">
                <a:extLst>
                  <a:ext uri="{FF2B5EF4-FFF2-40B4-BE49-F238E27FC236}">
                    <a16:creationId xmlns:a16="http://schemas.microsoft.com/office/drawing/2014/main" id="{8E188294-9AE6-2640-0305-2DB8D5B289D3}"/>
                  </a:ext>
                </a:extLst>
              </p:cNvPr>
              <p:cNvSpPr txBox="1">
                <a:spLocks noRot="1" noChangeAspect="1" noMove="1" noResize="1" noEditPoints="1" noAdjustHandles="1" noChangeArrowheads="1" noChangeShapeType="1" noTextEdit="1"/>
              </p:cNvSpPr>
              <p:nvPr/>
            </p:nvSpPr>
            <p:spPr>
              <a:xfrm>
                <a:off x="4441698" y="2626560"/>
                <a:ext cx="4860036" cy="614142"/>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7C245F4-ADD4-8AA4-CEF7-CA01217308E7}"/>
              </a:ext>
            </a:extLst>
          </p:cNvPr>
          <p:cNvSpPr txBox="1"/>
          <p:nvPr/>
        </p:nvSpPr>
        <p:spPr>
          <a:xfrm>
            <a:off x="5852160" y="2173728"/>
            <a:ext cx="2752344" cy="369332"/>
          </a:xfrm>
          <a:prstGeom prst="rect">
            <a:avLst/>
          </a:prstGeom>
          <a:noFill/>
        </p:spPr>
        <p:txBody>
          <a:bodyPr wrap="square" rtlCol="0">
            <a:spAutoFit/>
          </a:bodyPr>
          <a:lstStyle/>
          <a:p>
            <a:r>
              <a:rPr lang="en-US" dirty="0"/>
              <a:t>Murphey Efficiency</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8F589A7-F476-824D-3616-C7AFFCBF5F83}"/>
                  </a:ext>
                </a:extLst>
              </p:cNvPr>
              <p:cNvSpPr txBox="1"/>
              <p:nvPr/>
            </p:nvSpPr>
            <p:spPr>
              <a:xfrm>
                <a:off x="4848606" y="3354093"/>
                <a:ext cx="4924044" cy="1200329"/>
              </a:xfrm>
              <a:prstGeom prst="rect">
                <a:avLst/>
              </a:prstGeom>
              <a:noFill/>
            </p:spPr>
            <p:txBody>
              <a:bodyPr wrap="square">
                <a:spAutoFit/>
              </a:bodyPr>
              <a:lstStyle/>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sub>
                    </m:sSub>
                  </m:oMath>
                </a14:m>
                <a:r>
                  <a:rPr lang="en-US" dirty="0"/>
                  <a:t> = Actual vapor composition at plates n</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sub>
                    </m:sSub>
                    <m:r>
                      <a:rPr lang="en-US" i="1">
                        <a:latin typeface="Cambria Math" panose="02040503050406030204" pitchFamily="18" charset="0"/>
                      </a:rPr>
                      <m:t> </m:t>
                    </m:r>
                  </m:oMath>
                </a14:m>
                <a:r>
                  <a:rPr lang="en-US" dirty="0"/>
                  <a:t>= Equilibrium vapor composition at</a:t>
                </a:r>
              </a:p>
              <a:p>
                <a:r>
                  <a:rPr lang="en-US" dirty="0"/>
                  <a:t>plate n</a:t>
                </a:r>
              </a:p>
              <a:p>
                <a:endParaRPr lang="en-US" dirty="0"/>
              </a:p>
            </p:txBody>
          </p:sp>
        </mc:Choice>
        <mc:Fallback xmlns="">
          <p:sp>
            <p:nvSpPr>
              <p:cNvPr id="13" name="TextBox 12">
                <a:extLst>
                  <a:ext uri="{FF2B5EF4-FFF2-40B4-BE49-F238E27FC236}">
                    <a16:creationId xmlns:a16="http://schemas.microsoft.com/office/drawing/2014/main" id="{F8F589A7-F476-824D-3616-C7AFFCBF5F83}"/>
                  </a:ext>
                </a:extLst>
              </p:cNvPr>
              <p:cNvSpPr txBox="1">
                <a:spLocks noRot="1" noChangeAspect="1" noMove="1" noResize="1" noEditPoints="1" noAdjustHandles="1" noChangeArrowheads="1" noChangeShapeType="1" noTextEdit="1"/>
              </p:cNvSpPr>
              <p:nvPr/>
            </p:nvSpPr>
            <p:spPr>
              <a:xfrm>
                <a:off x="4848606" y="3354093"/>
                <a:ext cx="4924044" cy="1200329"/>
              </a:xfrm>
              <a:prstGeom prst="rect">
                <a:avLst/>
              </a:prstGeom>
              <a:blipFill>
                <a:blip r:embed="rId5"/>
                <a:stretch>
                  <a:fillRect l="-990" t="-2538"/>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17BB6C51-3BC9-8F66-6228-234AB566FA31}"/>
              </a:ext>
            </a:extLst>
          </p:cNvPr>
          <p:cNvSpPr txBox="1"/>
          <p:nvPr/>
        </p:nvSpPr>
        <p:spPr>
          <a:xfrm>
            <a:off x="118872" y="5117196"/>
            <a:ext cx="2450592" cy="646331"/>
          </a:xfrm>
          <a:prstGeom prst="rect">
            <a:avLst/>
          </a:prstGeom>
          <a:noFill/>
        </p:spPr>
        <p:txBody>
          <a:bodyPr wrap="square" rtlCol="0">
            <a:spAutoFit/>
          </a:bodyPr>
          <a:lstStyle/>
          <a:p>
            <a:r>
              <a:rPr lang="en-US" dirty="0"/>
              <a:t>Relative Volatility:</a:t>
            </a:r>
          </a:p>
          <a:p>
            <a:endParaRPr lang="en-US"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50EC383-AAEC-A893-F780-93D49605D116}"/>
                  </a:ext>
                </a:extLst>
              </p:cNvPr>
              <p:cNvSpPr txBox="1"/>
              <p:nvPr/>
            </p:nvSpPr>
            <p:spPr>
              <a:xfrm>
                <a:off x="-1485900" y="5622824"/>
                <a:ext cx="5143500" cy="6580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𝐸𝑡𝑂</m:t>
                          </m:r>
                          <m:f>
                            <m:fPr>
                              <m:type m:val="lin"/>
                              <m:ctrlPr>
                                <a:rPr lang="en-US" i="1">
                                  <a:latin typeface="Cambria Math" panose="02040503050406030204" pitchFamily="18" charset="0"/>
                                </a:rPr>
                              </m:ctrlPr>
                            </m:fPr>
                            <m:num>
                              <m:r>
                                <a:rPr lang="en-US" i="1">
                                  <a:latin typeface="Cambria Math" panose="02040503050406030204" pitchFamily="18" charset="0"/>
                                </a:rPr>
                                <m:t>𝐻</m:t>
                              </m:r>
                            </m:num>
                            <m:den>
                              <m:r>
                                <a:rPr lang="en-US" i="1">
                                  <a:latin typeface="Cambria Math" panose="02040503050406030204" pitchFamily="18" charset="0"/>
                                </a:rPr>
                                <m:t>𝐻</m:t>
                              </m:r>
                            </m:den>
                          </m:f>
                          <m:r>
                            <a:rPr lang="en-US" i="0">
                              <a:latin typeface="Cambria Math" panose="02040503050406030204" pitchFamily="18" charset="0"/>
                            </a:rPr>
                            <m:t>2</m:t>
                          </m:r>
                          <m:r>
                            <a:rPr lang="en-US" i="1">
                              <a:latin typeface="Cambria Math" panose="02040503050406030204" pitchFamily="18" charset="0"/>
                            </a:rPr>
                            <m:t>𝑂</m:t>
                          </m:r>
                        </m:sub>
                      </m:sSub>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𝐸𝑡𝑂𝐻</m:t>
                              </m:r>
                            </m:sub>
                          </m:sSub>
                        </m:num>
                        <m:den>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𝐻</m:t>
                              </m:r>
                              <m:r>
                                <a:rPr lang="en-US" i="0">
                                  <a:latin typeface="Cambria Math" panose="02040503050406030204" pitchFamily="18" charset="0"/>
                                </a:rPr>
                                <m:t>2</m:t>
                              </m:r>
                              <m:r>
                                <a:rPr lang="en-US" i="1">
                                  <a:latin typeface="Cambria Math" panose="02040503050406030204" pitchFamily="18" charset="0"/>
                                </a:rPr>
                                <m:t>𝑂</m:t>
                              </m:r>
                            </m:sub>
                          </m:sSub>
                        </m:den>
                      </m:f>
                    </m:oMath>
                  </m:oMathPara>
                </a14:m>
                <a:endParaRPr lang="en-US" dirty="0"/>
              </a:p>
            </p:txBody>
          </p:sp>
        </mc:Choice>
        <mc:Fallback xmlns="">
          <p:sp>
            <p:nvSpPr>
              <p:cNvPr id="18" name="TextBox 17">
                <a:extLst>
                  <a:ext uri="{FF2B5EF4-FFF2-40B4-BE49-F238E27FC236}">
                    <a16:creationId xmlns:a16="http://schemas.microsoft.com/office/drawing/2014/main" id="{350EC383-AAEC-A893-F780-93D49605D116}"/>
                  </a:ext>
                </a:extLst>
              </p:cNvPr>
              <p:cNvSpPr txBox="1">
                <a:spLocks noRot="1" noChangeAspect="1" noMove="1" noResize="1" noEditPoints="1" noAdjustHandles="1" noChangeArrowheads="1" noChangeShapeType="1" noTextEdit="1"/>
              </p:cNvSpPr>
              <p:nvPr/>
            </p:nvSpPr>
            <p:spPr>
              <a:xfrm>
                <a:off x="-1485900" y="5622824"/>
                <a:ext cx="5143500" cy="658001"/>
              </a:xfrm>
              <a:prstGeom prst="rect">
                <a:avLst/>
              </a:prstGeom>
              <a:blipFill>
                <a:blip r:embed="rId6"/>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01F06D6A-1E64-AEE1-523C-0E0BC5AF7370}"/>
              </a:ext>
            </a:extLst>
          </p:cNvPr>
          <p:cNvSpPr txBox="1"/>
          <p:nvPr/>
        </p:nvSpPr>
        <p:spPr>
          <a:xfrm>
            <a:off x="2610612" y="5117196"/>
            <a:ext cx="2946654" cy="369332"/>
          </a:xfrm>
          <a:prstGeom prst="rect">
            <a:avLst/>
          </a:prstGeom>
          <a:noFill/>
        </p:spPr>
        <p:txBody>
          <a:bodyPr wrap="square" rtlCol="0">
            <a:spAutoFit/>
          </a:bodyPr>
          <a:lstStyle/>
          <a:p>
            <a:r>
              <a:rPr lang="en-US" dirty="0"/>
              <a:t>Vapor-Liquid Ratio:</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95FFA32-9455-3885-BB51-63B720EADA6D}"/>
                  </a:ext>
                </a:extLst>
              </p:cNvPr>
              <p:cNvSpPr txBox="1"/>
              <p:nvPr/>
            </p:nvSpPr>
            <p:spPr>
              <a:xfrm>
                <a:off x="3163824" y="5763527"/>
                <a:ext cx="5632704" cy="499176"/>
              </a:xfrm>
              <a:prstGeom prst="rect">
                <a:avLst/>
              </a:prstGeom>
              <a:noFill/>
            </p:spPr>
            <p:txBody>
              <a:bodyPr wrap="square">
                <a:spAutoFit/>
              </a:bodyPr>
              <a:lstStyle/>
              <a:p>
                <a14:m>
                  <m:oMath xmlns:m="http://schemas.openxmlformats.org/officeDocument/2006/math">
                    <m:sSub>
                      <m:sSubPr>
                        <m:ctrlPr>
                          <a:rPr lang="en-US" i="1" smtClean="0">
                            <a:effectLst/>
                            <a:latin typeface="Cambria Math" panose="020405030504060302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𝐾</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effectLst/>
                            <a:latin typeface="Cambria Math" panose="02040503050406030204" pitchFamily="18" charset="0"/>
                          </a:rPr>
                        </m:ctrlPr>
                      </m:fPr>
                      <m:num>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num>
                      <m:den>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den>
                    </m:f>
                  </m:oMath>
                </a14:m>
                <a:r>
                  <a:rPr lang="en-US" sz="1800" dirty="0">
                    <a:effectLst/>
                    <a:latin typeface="Times New Roman" panose="02020603050405020304" pitchFamily="18" charset="0"/>
                    <a:ea typeface="Times New Roman" panose="02020603050405020304" pitchFamily="18" charset="0"/>
                  </a:rPr>
                  <a:t> </a:t>
                </a:r>
                <a:endParaRPr lang="en-US" dirty="0"/>
              </a:p>
            </p:txBody>
          </p:sp>
        </mc:Choice>
        <mc:Fallback xmlns="">
          <p:sp>
            <p:nvSpPr>
              <p:cNvPr id="21" name="TextBox 20">
                <a:extLst>
                  <a:ext uri="{FF2B5EF4-FFF2-40B4-BE49-F238E27FC236}">
                    <a16:creationId xmlns:a16="http://schemas.microsoft.com/office/drawing/2014/main" id="{195FFA32-9455-3885-BB51-63B720EADA6D}"/>
                  </a:ext>
                </a:extLst>
              </p:cNvPr>
              <p:cNvSpPr txBox="1">
                <a:spLocks noRot="1" noChangeAspect="1" noMove="1" noResize="1" noEditPoints="1" noAdjustHandles="1" noChangeArrowheads="1" noChangeShapeType="1" noTextEdit="1"/>
              </p:cNvSpPr>
              <p:nvPr/>
            </p:nvSpPr>
            <p:spPr>
              <a:xfrm>
                <a:off x="3163824" y="5763527"/>
                <a:ext cx="5632704" cy="499176"/>
              </a:xfrm>
              <a:prstGeom prst="rect">
                <a:avLst/>
              </a:prstGeom>
              <a:blipFill>
                <a:blip r:embed="rId7"/>
                <a:stretch>
                  <a:fillRect b="-12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6C89ED6-9FA2-4D6A-6E7F-AE42B9B6F836}"/>
                  </a:ext>
                </a:extLst>
              </p:cNvPr>
              <p:cNvSpPr txBox="1"/>
              <p:nvPr/>
            </p:nvSpPr>
            <p:spPr>
              <a:xfrm>
                <a:off x="2700909" y="6262703"/>
                <a:ext cx="3099816" cy="646331"/>
              </a:xfrm>
              <a:prstGeom prst="rect">
                <a:avLst/>
              </a:prstGeom>
              <a:noFill/>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i="1">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b="0" i="0" smtClean="0">
                        <a:latin typeface="Cambria Math" panose="02040503050406030204" pitchFamily="18" charset="0"/>
                        <a:ea typeface="Times New Roman" panose="02020603050405020304" pitchFamily="18" charset="0"/>
                        <a:cs typeface="Times New Roman" panose="02020603050405020304" pitchFamily="18" charset="0"/>
                      </a:rPr>
                      <m:t>and</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ea typeface="Times New Roman" panose="02020603050405020304" pitchFamily="18" charset="0"/>
                            <a:cs typeface="Times New Roman" panose="02020603050405020304" pitchFamily="18" charset="0"/>
                          </a:rPr>
                          <m:t>𝑦</m:t>
                        </m:r>
                      </m:e>
                      <m:sub>
                        <m:r>
                          <a:rPr lang="en-US" i="1">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dirty="0"/>
                  <a:t> are the VLE mole fractions</a:t>
                </a:r>
              </a:p>
            </p:txBody>
          </p:sp>
        </mc:Choice>
        <mc:Fallback xmlns="">
          <p:sp>
            <p:nvSpPr>
              <p:cNvPr id="22" name="TextBox 21">
                <a:extLst>
                  <a:ext uri="{FF2B5EF4-FFF2-40B4-BE49-F238E27FC236}">
                    <a16:creationId xmlns:a16="http://schemas.microsoft.com/office/drawing/2014/main" id="{36C89ED6-9FA2-4D6A-6E7F-AE42B9B6F836}"/>
                  </a:ext>
                </a:extLst>
              </p:cNvPr>
              <p:cNvSpPr txBox="1">
                <a:spLocks noRot="1" noChangeAspect="1" noMove="1" noResize="1" noEditPoints="1" noAdjustHandles="1" noChangeArrowheads="1" noChangeShapeType="1" noTextEdit="1"/>
              </p:cNvSpPr>
              <p:nvPr/>
            </p:nvSpPr>
            <p:spPr>
              <a:xfrm>
                <a:off x="2700909" y="6262703"/>
                <a:ext cx="3099816" cy="646331"/>
              </a:xfrm>
              <a:prstGeom prst="rect">
                <a:avLst/>
              </a:prstGeom>
              <a:blipFill>
                <a:blip r:embed="rId8"/>
                <a:stretch>
                  <a:fillRect l="-1572"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998ADB3-2720-D509-E726-0CCFFA22DA27}"/>
                  </a:ext>
                </a:extLst>
              </p:cNvPr>
              <p:cNvSpPr txBox="1"/>
              <p:nvPr/>
            </p:nvSpPr>
            <p:spPr>
              <a:xfrm>
                <a:off x="4250817" y="5563901"/>
                <a:ext cx="5632704" cy="6668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𝐸</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𝑇h𝑒𝑜𝑟𝑒𝑡𝑖𝑐𝑎𝑙</m:t>
                          </m:r>
                          <m:r>
                            <a:rPr lang="en-US" i="0">
                              <a:latin typeface="Cambria Math" panose="02040503050406030204" pitchFamily="18" charset="0"/>
                            </a:rPr>
                            <m:t> </m:t>
                          </m:r>
                          <m:r>
                            <a:rPr lang="en-US" i="1">
                              <a:latin typeface="Cambria Math" panose="02040503050406030204" pitchFamily="18" charset="0"/>
                            </a:rPr>
                            <m:t>𝑆𝑡𝑎𝑔𝑒𝑠</m:t>
                          </m:r>
                        </m:num>
                        <m:den>
                          <m:r>
                            <a:rPr lang="en-US" i="1">
                              <a:latin typeface="Cambria Math" panose="02040503050406030204" pitchFamily="18" charset="0"/>
                            </a:rPr>
                            <m:t>𝐴𝑐𝑡𝑢𝑎𝑙</m:t>
                          </m:r>
                          <m:r>
                            <a:rPr lang="en-US" i="0">
                              <a:latin typeface="Cambria Math" panose="02040503050406030204" pitchFamily="18" charset="0"/>
                            </a:rPr>
                            <m:t> </m:t>
                          </m:r>
                          <m:r>
                            <a:rPr lang="en-US" i="1">
                              <a:latin typeface="Cambria Math" panose="02040503050406030204" pitchFamily="18" charset="0"/>
                            </a:rPr>
                            <m:t>𝑁𝑢𝑚𝑏𝑒𝑟</m:t>
                          </m:r>
                          <m:r>
                            <a:rPr lang="en-US" i="0">
                              <a:latin typeface="Cambria Math" panose="02040503050406030204" pitchFamily="18" charset="0"/>
                            </a:rPr>
                            <m:t> </m:t>
                          </m:r>
                          <m:r>
                            <a:rPr lang="en-US" i="1">
                              <a:latin typeface="Cambria Math" panose="02040503050406030204" pitchFamily="18" charset="0"/>
                            </a:rPr>
                            <m:t>𝑜𝑓</m:t>
                          </m:r>
                          <m:r>
                            <a:rPr lang="en-US" i="0">
                              <a:latin typeface="Cambria Math" panose="02040503050406030204" pitchFamily="18" charset="0"/>
                            </a:rPr>
                            <m:t> </m:t>
                          </m:r>
                          <m:r>
                            <a:rPr lang="en-US" i="1">
                              <a:latin typeface="Cambria Math" panose="02040503050406030204" pitchFamily="18" charset="0"/>
                            </a:rPr>
                            <m:t>𝑇𝑟𝑎𝑦𝑠</m:t>
                          </m:r>
                        </m:den>
                      </m:f>
                      <m:r>
                        <a:rPr lang="en-US" i="0">
                          <a:latin typeface="Cambria Math" panose="02040503050406030204" pitchFamily="18" charset="0"/>
                        </a:rPr>
                        <m:t>∗100%</m:t>
                      </m:r>
                    </m:oMath>
                  </m:oMathPara>
                </a14:m>
                <a:endParaRPr lang="en-US" dirty="0"/>
              </a:p>
            </p:txBody>
          </p:sp>
        </mc:Choice>
        <mc:Fallback xmlns="">
          <p:sp>
            <p:nvSpPr>
              <p:cNvPr id="24" name="TextBox 23">
                <a:extLst>
                  <a:ext uri="{FF2B5EF4-FFF2-40B4-BE49-F238E27FC236}">
                    <a16:creationId xmlns:a16="http://schemas.microsoft.com/office/drawing/2014/main" id="{9998ADB3-2720-D509-E726-0CCFFA22DA27}"/>
                  </a:ext>
                </a:extLst>
              </p:cNvPr>
              <p:cNvSpPr txBox="1">
                <a:spLocks noRot="1" noChangeAspect="1" noMove="1" noResize="1" noEditPoints="1" noAdjustHandles="1" noChangeArrowheads="1" noChangeShapeType="1" noTextEdit="1"/>
              </p:cNvSpPr>
              <p:nvPr/>
            </p:nvSpPr>
            <p:spPr>
              <a:xfrm>
                <a:off x="4250817" y="5563901"/>
                <a:ext cx="5632704" cy="666849"/>
              </a:xfrm>
              <a:prstGeom prst="rect">
                <a:avLst/>
              </a:prstGeom>
              <a:blipFill>
                <a:blip r:embed="rId9"/>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C685BC36-6402-889F-9190-A65776A0B573}"/>
              </a:ext>
            </a:extLst>
          </p:cNvPr>
          <p:cNvSpPr txBox="1"/>
          <p:nvPr/>
        </p:nvSpPr>
        <p:spPr>
          <a:xfrm>
            <a:off x="5614416" y="5117196"/>
            <a:ext cx="2350008" cy="369332"/>
          </a:xfrm>
          <a:prstGeom prst="rect">
            <a:avLst/>
          </a:prstGeom>
          <a:noFill/>
        </p:spPr>
        <p:txBody>
          <a:bodyPr wrap="square" rtlCol="0">
            <a:spAutoFit/>
          </a:bodyPr>
          <a:lstStyle/>
          <a:p>
            <a:r>
              <a:rPr lang="en-US" dirty="0"/>
              <a:t>Efficiency: </a:t>
            </a:r>
          </a:p>
        </p:txBody>
      </p:sp>
    </p:spTree>
    <p:extLst>
      <p:ext uri="{BB962C8B-B14F-4D97-AF65-F5344CB8AC3E}">
        <p14:creationId xmlns:p14="http://schemas.microsoft.com/office/powerpoint/2010/main" val="4221432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E4E20-F48C-E82F-8F90-CEC9946F6953}"/>
              </a:ext>
            </a:extLst>
          </p:cNvPr>
          <p:cNvSpPr>
            <a:spLocks noGrp="1"/>
          </p:cNvSpPr>
          <p:nvPr>
            <p:ph type="title"/>
          </p:nvPr>
        </p:nvSpPr>
        <p:spPr/>
        <p:txBody>
          <a:bodyPr/>
          <a:lstStyle/>
          <a:p>
            <a:r>
              <a:rPr lang="en-US" dirty="0"/>
              <a:t>Theory</a:t>
            </a:r>
          </a:p>
        </p:txBody>
      </p:sp>
      <p:pic>
        <p:nvPicPr>
          <p:cNvPr id="3" name="Picture 2" descr="A diagram of a function&#10;&#10;AI-generated content may be incorrect.">
            <a:extLst>
              <a:ext uri="{FF2B5EF4-FFF2-40B4-BE49-F238E27FC236}">
                <a16:creationId xmlns:a16="http://schemas.microsoft.com/office/drawing/2014/main" id="{0BD8A886-7D11-BC1C-1E65-ADD6DCF4BF1A}"/>
              </a:ext>
            </a:extLst>
          </p:cNvPr>
          <p:cNvPicPr>
            <a:picLocks noChangeAspect="1"/>
          </p:cNvPicPr>
          <p:nvPr/>
        </p:nvPicPr>
        <p:blipFill>
          <a:blip r:embed="rId2"/>
          <a:srcRect l="4833" t="10334" r="5000"/>
          <a:stretch>
            <a:fillRect/>
          </a:stretch>
        </p:blipFill>
        <p:spPr>
          <a:xfrm>
            <a:off x="4197096" y="1545336"/>
            <a:ext cx="4946904" cy="4754880"/>
          </a:xfrm>
          <a:prstGeom prst="rect">
            <a:avLst/>
          </a:prstGeom>
        </p:spPr>
      </p:pic>
      <p:sp>
        <p:nvSpPr>
          <p:cNvPr id="4" name="TextBox 3">
            <a:extLst>
              <a:ext uri="{FF2B5EF4-FFF2-40B4-BE49-F238E27FC236}">
                <a16:creationId xmlns:a16="http://schemas.microsoft.com/office/drawing/2014/main" id="{F4A30B24-B360-0210-410B-F522D65273EB}"/>
              </a:ext>
            </a:extLst>
          </p:cNvPr>
          <p:cNvSpPr txBox="1"/>
          <p:nvPr/>
        </p:nvSpPr>
        <p:spPr>
          <a:xfrm>
            <a:off x="4096512" y="6300216"/>
            <a:ext cx="5148072" cy="461665"/>
          </a:xfrm>
          <a:prstGeom prst="rect">
            <a:avLst/>
          </a:prstGeom>
          <a:noFill/>
        </p:spPr>
        <p:txBody>
          <a:bodyPr wrap="square" rtlCol="0">
            <a:spAutoFit/>
          </a:bodyPr>
          <a:lstStyle/>
          <a:p>
            <a:r>
              <a:rPr lang="en-US" sz="1200" dirty="0"/>
              <a:t>McCabe–Thiele Diagram obtained from P. C. </a:t>
            </a:r>
            <a:r>
              <a:rPr lang="en-US" sz="1200" dirty="0" err="1"/>
              <a:t>Wankat</a:t>
            </a:r>
            <a:r>
              <a:rPr lang="en-US" sz="1200" dirty="0"/>
              <a:t>, </a:t>
            </a:r>
            <a:r>
              <a:rPr lang="en-US" sz="1200" i="1" dirty="0"/>
              <a:t>Equilibrium-Staged Separations</a:t>
            </a:r>
            <a:endParaRPr lang="en-US" sz="1200" dirty="0"/>
          </a:p>
        </p:txBody>
      </p:sp>
      <p:sp>
        <p:nvSpPr>
          <p:cNvPr id="5" name="TextBox 4">
            <a:extLst>
              <a:ext uri="{FF2B5EF4-FFF2-40B4-BE49-F238E27FC236}">
                <a16:creationId xmlns:a16="http://schemas.microsoft.com/office/drawing/2014/main" id="{6F04D249-2ABE-5C86-C394-5BDA889DD994}"/>
              </a:ext>
            </a:extLst>
          </p:cNvPr>
          <p:cNvSpPr txBox="1"/>
          <p:nvPr/>
        </p:nvSpPr>
        <p:spPr>
          <a:xfrm>
            <a:off x="5193792" y="1764792"/>
            <a:ext cx="1362456" cy="923330"/>
          </a:xfrm>
          <a:prstGeom prst="rect">
            <a:avLst/>
          </a:prstGeom>
          <a:noFill/>
        </p:spPr>
        <p:txBody>
          <a:bodyPr wrap="square" rtlCol="0">
            <a:spAutoFit/>
          </a:bodyPr>
          <a:lstStyle/>
          <a:p>
            <a:r>
              <a:rPr lang="en-US" dirty="0"/>
              <a:t>For Continuous Distillation</a:t>
            </a:r>
          </a:p>
        </p:txBody>
      </p:sp>
      <p:sp>
        <p:nvSpPr>
          <p:cNvPr id="11" name="TextBox 10">
            <a:extLst>
              <a:ext uri="{FF2B5EF4-FFF2-40B4-BE49-F238E27FC236}">
                <a16:creationId xmlns:a16="http://schemas.microsoft.com/office/drawing/2014/main" id="{38980924-CA16-E7BA-3B9E-59D34B658FE9}"/>
              </a:ext>
            </a:extLst>
          </p:cNvPr>
          <p:cNvSpPr txBox="1"/>
          <p:nvPr/>
        </p:nvSpPr>
        <p:spPr>
          <a:xfrm>
            <a:off x="0" y="1545336"/>
            <a:ext cx="4525818" cy="4524315"/>
          </a:xfrm>
          <a:prstGeom prst="rect">
            <a:avLst/>
          </a:prstGeom>
          <a:noFill/>
        </p:spPr>
        <p:txBody>
          <a:bodyPr wrap="square" rtlCol="0">
            <a:spAutoFit/>
          </a:bodyPr>
          <a:lstStyle/>
          <a:p>
            <a:pPr lvl="0" eaLnBrk="0" hangingPunct="0">
              <a:buFontTx/>
              <a:buChar char="•"/>
            </a:pPr>
            <a:r>
              <a:rPr lang="en-US" altLang="en-US" dirty="0"/>
              <a:t>Graphical method used to determine the number of theoretical stages required for a desired separation</a:t>
            </a:r>
          </a:p>
          <a:p>
            <a:pPr lvl="0" eaLnBrk="0" hangingPunct="0">
              <a:buFontTx/>
              <a:buChar char="•"/>
            </a:pPr>
            <a:r>
              <a:rPr lang="en-US" altLang="en-US" dirty="0"/>
              <a:t>Based on vapor–liquid equilibrium (VLE) and mass balance relationships</a:t>
            </a:r>
          </a:p>
          <a:p>
            <a:pPr lvl="0" eaLnBrk="0" hangingPunct="0">
              <a:buFontTx/>
              <a:buChar char="•"/>
            </a:pPr>
            <a:r>
              <a:rPr lang="en-US" altLang="en-US" dirty="0"/>
              <a:t>The operating lines (rectifying + stripping) represent internal liquid/vapor flows in the column</a:t>
            </a:r>
          </a:p>
          <a:p>
            <a:pPr lvl="0" eaLnBrk="0" hangingPunct="0">
              <a:buFontTx/>
              <a:buChar char="•"/>
            </a:pPr>
            <a:r>
              <a:rPr lang="en-US" altLang="en-US" dirty="0"/>
              <a:t>Intersection with the equilibrium curve and stepping off stages gives the number of plates</a:t>
            </a:r>
          </a:p>
          <a:p>
            <a:pPr lvl="0" eaLnBrk="0" hangingPunct="0">
              <a:buFontTx/>
              <a:buChar char="•"/>
            </a:pPr>
            <a:r>
              <a:rPr lang="en-US" altLang="en-US" dirty="0"/>
              <a:t>Reflux ratio changes the slope of the rectifying operating line → higher reflux = fewer stages, higher energy</a:t>
            </a:r>
          </a:p>
          <a:p>
            <a:endParaRPr lang="en-US" dirty="0"/>
          </a:p>
          <a:p>
            <a:endParaRPr lang="en-US" dirty="0"/>
          </a:p>
        </p:txBody>
      </p:sp>
      <p:sp>
        <p:nvSpPr>
          <p:cNvPr id="15" name="TextBox 14">
            <a:extLst>
              <a:ext uri="{FF2B5EF4-FFF2-40B4-BE49-F238E27FC236}">
                <a16:creationId xmlns:a16="http://schemas.microsoft.com/office/drawing/2014/main" id="{F4C91815-6FFC-A0BD-E99C-962963C8935F}"/>
              </a:ext>
            </a:extLst>
          </p:cNvPr>
          <p:cNvSpPr txBox="1"/>
          <p:nvPr/>
        </p:nvSpPr>
        <p:spPr>
          <a:xfrm>
            <a:off x="49969" y="5460157"/>
            <a:ext cx="5148072" cy="923330"/>
          </a:xfrm>
          <a:prstGeom prst="rect">
            <a:avLst/>
          </a:prstGeom>
          <a:noFill/>
        </p:spPr>
        <p:txBody>
          <a:bodyPr wrap="square">
            <a:spAutoFit/>
          </a:bodyPr>
          <a:lstStyle/>
          <a:p>
            <a:r>
              <a:rPr lang="en-US" dirty="0"/>
              <a:t>VLE is important in distillation because it governs how vapor and liquid compositions equilibrate at each stage, enabling separation.</a:t>
            </a:r>
          </a:p>
        </p:txBody>
      </p:sp>
      <p:sp>
        <p:nvSpPr>
          <p:cNvPr id="17" name="TextBox 16">
            <a:extLst>
              <a:ext uri="{FF2B5EF4-FFF2-40B4-BE49-F238E27FC236}">
                <a16:creationId xmlns:a16="http://schemas.microsoft.com/office/drawing/2014/main" id="{D87F8E72-4F66-010F-667F-D22CA0C72D6F}"/>
              </a:ext>
            </a:extLst>
          </p:cNvPr>
          <p:cNvSpPr txBox="1"/>
          <p:nvPr/>
        </p:nvSpPr>
        <p:spPr>
          <a:xfrm>
            <a:off x="3105728" y="1060722"/>
            <a:ext cx="4659744" cy="400110"/>
          </a:xfrm>
          <a:prstGeom prst="rect">
            <a:avLst/>
          </a:prstGeom>
          <a:noFill/>
        </p:spPr>
        <p:txBody>
          <a:bodyPr wrap="square">
            <a:spAutoFit/>
          </a:bodyPr>
          <a:lstStyle/>
          <a:p>
            <a:r>
              <a:rPr lang="en-US" sz="2000" dirty="0">
                <a:solidFill>
                  <a:schemeClr val="bg1"/>
                </a:solidFill>
              </a:rPr>
              <a:t>McCabe–Thiele Diagram </a:t>
            </a:r>
          </a:p>
        </p:txBody>
      </p:sp>
    </p:spTree>
    <p:extLst>
      <p:ext uri="{BB962C8B-B14F-4D97-AF65-F5344CB8AC3E}">
        <p14:creationId xmlns:p14="http://schemas.microsoft.com/office/powerpoint/2010/main" val="796837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42199E74-8958-3C2B-6E6E-8B369B01504B}"/>
              </a:ext>
            </a:extLst>
          </p:cNvPr>
          <p:cNvSpPr>
            <a:spLocks noGrp="1" noChangeArrowheads="1"/>
          </p:cNvSpPr>
          <p:nvPr>
            <p:ph type="title"/>
          </p:nvPr>
        </p:nvSpPr>
        <p:spPr/>
        <p:txBody>
          <a:bodyPr vert="horz" lIns="91440" tIns="45720" rIns="91440" bIns="45720" rtlCol="0" anchor="ctr">
            <a:normAutofit/>
          </a:bodyPr>
          <a:lstStyle/>
          <a:p>
            <a:pPr algn="l">
              <a:lnSpc>
                <a:spcPct val="90000"/>
              </a:lnSpc>
            </a:pPr>
            <a:r>
              <a:rPr lang="en-US" altLang="en-US" sz="2800" dirty="0">
                <a:solidFill>
                  <a:srgbClr val="FFFFFF"/>
                </a:solidFill>
              </a:rPr>
              <a:t>                         A</a:t>
            </a:r>
            <a:r>
              <a:rPr lang="en-US" altLang="en-US" sz="2800" kern="1200" dirty="0">
                <a:solidFill>
                  <a:srgbClr val="FFFFFF"/>
                </a:solidFill>
                <a:latin typeface="+mj-lt"/>
                <a:ea typeface="+mj-ea"/>
                <a:cs typeface="+mj-cs"/>
              </a:rPr>
              <a:t>pparatus</a:t>
            </a:r>
            <a:endParaRPr lang="en-US" dirty="0">
              <a:ea typeface="+mj-ea"/>
              <a:cs typeface="+mj-cs"/>
            </a:endParaRPr>
          </a:p>
        </p:txBody>
      </p:sp>
      <p:pic>
        <p:nvPicPr>
          <p:cNvPr id="17" name="Picture 16">
            <a:extLst>
              <a:ext uri="{FF2B5EF4-FFF2-40B4-BE49-F238E27FC236}">
                <a16:creationId xmlns:a16="http://schemas.microsoft.com/office/drawing/2014/main" id="{11C96E44-3DFE-3597-158D-C0E5A1B1654B}"/>
              </a:ext>
            </a:extLst>
          </p:cNvPr>
          <p:cNvPicPr>
            <a:picLocks noChangeAspect="1"/>
          </p:cNvPicPr>
          <p:nvPr/>
        </p:nvPicPr>
        <p:blipFill>
          <a:blip r:embed="rId2"/>
          <a:stretch>
            <a:fillRect/>
          </a:stretch>
        </p:blipFill>
        <p:spPr>
          <a:xfrm>
            <a:off x="6230795" y="0"/>
            <a:ext cx="2913205" cy="6858000"/>
          </a:xfrm>
          <a:prstGeom prst="rect">
            <a:avLst/>
          </a:prstGeom>
        </p:spPr>
      </p:pic>
      <p:sp>
        <p:nvSpPr>
          <p:cNvPr id="18" name="Rectangle: Rounded Corners 17">
            <a:extLst>
              <a:ext uri="{FF2B5EF4-FFF2-40B4-BE49-F238E27FC236}">
                <a16:creationId xmlns:a16="http://schemas.microsoft.com/office/drawing/2014/main" id="{84DEC742-523C-5F8B-5FDD-6670E0190D75}"/>
              </a:ext>
            </a:extLst>
          </p:cNvPr>
          <p:cNvSpPr/>
          <p:nvPr/>
        </p:nvSpPr>
        <p:spPr>
          <a:xfrm>
            <a:off x="8477155" y="664035"/>
            <a:ext cx="403757" cy="3363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T1</a:t>
            </a:r>
          </a:p>
        </p:txBody>
      </p:sp>
      <p:sp>
        <p:nvSpPr>
          <p:cNvPr id="19" name="Rectangle: Rounded Corners 18">
            <a:extLst>
              <a:ext uri="{FF2B5EF4-FFF2-40B4-BE49-F238E27FC236}">
                <a16:creationId xmlns:a16="http://schemas.microsoft.com/office/drawing/2014/main" id="{B4F6F8B6-5170-4C4E-A50F-3B89DBFAA0F5}"/>
              </a:ext>
            </a:extLst>
          </p:cNvPr>
          <p:cNvSpPr/>
          <p:nvPr/>
        </p:nvSpPr>
        <p:spPr>
          <a:xfrm>
            <a:off x="8236536" y="1137436"/>
            <a:ext cx="403757" cy="3363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T2</a:t>
            </a:r>
          </a:p>
        </p:txBody>
      </p:sp>
      <p:sp>
        <p:nvSpPr>
          <p:cNvPr id="20" name="Rectangle: Rounded Corners 19">
            <a:extLst>
              <a:ext uri="{FF2B5EF4-FFF2-40B4-BE49-F238E27FC236}">
                <a16:creationId xmlns:a16="http://schemas.microsoft.com/office/drawing/2014/main" id="{2A377AB6-CB25-FA83-F793-26DCA0268420}"/>
              </a:ext>
            </a:extLst>
          </p:cNvPr>
          <p:cNvSpPr/>
          <p:nvPr/>
        </p:nvSpPr>
        <p:spPr>
          <a:xfrm>
            <a:off x="8438414" y="1826263"/>
            <a:ext cx="403757" cy="3363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T3</a:t>
            </a:r>
          </a:p>
        </p:txBody>
      </p:sp>
      <p:sp>
        <p:nvSpPr>
          <p:cNvPr id="21" name="Rectangle: Rounded Corners 20">
            <a:extLst>
              <a:ext uri="{FF2B5EF4-FFF2-40B4-BE49-F238E27FC236}">
                <a16:creationId xmlns:a16="http://schemas.microsoft.com/office/drawing/2014/main" id="{48CFE94B-D9D1-9E8C-E6D9-E1304CF77A18}"/>
              </a:ext>
            </a:extLst>
          </p:cNvPr>
          <p:cNvSpPr/>
          <p:nvPr/>
        </p:nvSpPr>
        <p:spPr>
          <a:xfrm>
            <a:off x="8275277" y="2555074"/>
            <a:ext cx="403757" cy="3363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T4</a:t>
            </a:r>
          </a:p>
        </p:txBody>
      </p:sp>
      <p:sp>
        <p:nvSpPr>
          <p:cNvPr id="22" name="Rectangle: Rounded Corners 21">
            <a:extLst>
              <a:ext uri="{FF2B5EF4-FFF2-40B4-BE49-F238E27FC236}">
                <a16:creationId xmlns:a16="http://schemas.microsoft.com/office/drawing/2014/main" id="{FC25CD85-B182-F054-8421-2C8D37E21A8A}"/>
              </a:ext>
            </a:extLst>
          </p:cNvPr>
          <p:cNvSpPr/>
          <p:nvPr/>
        </p:nvSpPr>
        <p:spPr>
          <a:xfrm>
            <a:off x="8236532" y="4230097"/>
            <a:ext cx="403757" cy="3363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T5</a:t>
            </a:r>
          </a:p>
        </p:txBody>
      </p:sp>
      <p:sp>
        <p:nvSpPr>
          <p:cNvPr id="23" name="Rectangle: Rounded Corners 22">
            <a:extLst>
              <a:ext uri="{FF2B5EF4-FFF2-40B4-BE49-F238E27FC236}">
                <a16:creationId xmlns:a16="http://schemas.microsoft.com/office/drawing/2014/main" id="{6844EEA5-403F-E6BA-1620-56F9AE9A6290}"/>
              </a:ext>
            </a:extLst>
          </p:cNvPr>
          <p:cNvSpPr/>
          <p:nvPr/>
        </p:nvSpPr>
        <p:spPr>
          <a:xfrm>
            <a:off x="8236534" y="4702906"/>
            <a:ext cx="403757" cy="3363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T6</a:t>
            </a:r>
          </a:p>
        </p:txBody>
      </p:sp>
      <p:sp>
        <p:nvSpPr>
          <p:cNvPr id="24" name="Rectangle: Rounded Corners 23">
            <a:extLst>
              <a:ext uri="{FF2B5EF4-FFF2-40B4-BE49-F238E27FC236}">
                <a16:creationId xmlns:a16="http://schemas.microsoft.com/office/drawing/2014/main" id="{5B54EC8F-0824-016D-73B2-D5E10AB1388F}"/>
              </a:ext>
            </a:extLst>
          </p:cNvPr>
          <p:cNvSpPr/>
          <p:nvPr/>
        </p:nvSpPr>
        <p:spPr>
          <a:xfrm>
            <a:off x="8236535" y="5193561"/>
            <a:ext cx="403757" cy="3363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T7</a:t>
            </a:r>
          </a:p>
        </p:txBody>
      </p:sp>
      <p:sp>
        <p:nvSpPr>
          <p:cNvPr id="25" name="Rectangle: Rounded Corners 24">
            <a:extLst>
              <a:ext uri="{FF2B5EF4-FFF2-40B4-BE49-F238E27FC236}">
                <a16:creationId xmlns:a16="http://schemas.microsoft.com/office/drawing/2014/main" id="{A4F032B0-9992-861D-A0FF-CF5B4B2E11E3}"/>
              </a:ext>
            </a:extLst>
          </p:cNvPr>
          <p:cNvSpPr/>
          <p:nvPr/>
        </p:nvSpPr>
        <p:spPr>
          <a:xfrm>
            <a:off x="8236533" y="5689411"/>
            <a:ext cx="403757" cy="3363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T8</a:t>
            </a:r>
          </a:p>
        </p:txBody>
      </p:sp>
      <p:pic>
        <p:nvPicPr>
          <p:cNvPr id="27" name="Picture 26">
            <a:extLst>
              <a:ext uri="{FF2B5EF4-FFF2-40B4-BE49-F238E27FC236}">
                <a16:creationId xmlns:a16="http://schemas.microsoft.com/office/drawing/2014/main" id="{8053F9EC-76F7-5EC4-C560-490C4C0420DB}"/>
              </a:ext>
            </a:extLst>
          </p:cNvPr>
          <p:cNvPicPr>
            <a:picLocks noChangeAspect="1"/>
          </p:cNvPicPr>
          <p:nvPr/>
        </p:nvPicPr>
        <p:blipFill>
          <a:blip r:embed="rId3"/>
          <a:stretch>
            <a:fillRect/>
          </a:stretch>
        </p:blipFill>
        <p:spPr>
          <a:xfrm>
            <a:off x="221354" y="1644650"/>
            <a:ext cx="5793442" cy="46630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341EC3B-1BC7-B761-40A9-EDE1970F4270}"/>
              </a:ext>
            </a:extLst>
          </p:cNvPr>
          <p:cNvSpPr>
            <a:spLocks noGrp="1" noChangeArrowheads="1"/>
          </p:cNvSpPr>
          <p:nvPr>
            <p:ph type="title"/>
          </p:nvPr>
        </p:nvSpPr>
        <p:spPr/>
        <p:txBody>
          <a:bodyPr/>
          <a:lstStyle/>
          <a:p>
            <a:r>
              <a:rPr lang="en-US" altLang="en-US"/>
              <a:t>Material &amp; Supplies</a:t>
            </a:r>
          </a:p>
        </p:txBody>
      </p:sp>
      <p:sp>
        <p:nvSpPr>
          <p:cNvPr id="2" name="Content Placeholder 1">
            <a:extLst>
              <a:ext uri="{FF2B5EF4-FFF2-40B4-BE49-F238E27FC236}">
                <a16:creationId xmlns:a16="http://schemas.microsoft.com/office/drawing/2014/main" id="{BBC41E94-2B2D-953E-468A-E9E11478AB3B}"/>
              </a:ext>
            </a:extLst>
          </p:cNvPr>
          <p:cNvSpPr>
            <a:spLocks noGrp="1"/>
          </p:cNvSpPr>
          <p:nvPr>
            <p:ph sz="half" idx="1"/>
          </p:nvPr>
        </p:nvSpPr>
        <p:spPr>
          <a:xfrm>
            <a:off x="335280" y="1965960"/>
            <a:ext cx="4038600" cy="4525963"/>
          </a:xfrm>
        </p:spPr>
        <p:txBody>
          <a:bodyPr/>
          <a:lstStyle/>
          <a:p>
            <a:r>
              <a:rPr lang="en-US" dirty="0"/>
              <a:t>Stopwatch</a:t>
            </a:r>
          </a:p>
          <a:p>
            <a:r>
              <a:rPr lang="en-US" dirty="0"/>
              <a:t>4L Beaker</a:t>
            </a:r>
          </a:p>
          <a:p>
            <a:r>
              <a:rPr lang="en-US" dirty="0"/>
              <a:t>Snap-41 Densitometer</a:t>
            </a:r>
          </a:p>
          <a:p>
            <a:r>
              <a:rPr lang="en-US" dirty="0"/>
              <a:t>Test Tube Rack</a:t>
            </a:r>
          </a:p>
          <a:p>
            <a:r>
              <a:rPr lang="en-US" dirty="0"/>
              <a:t>Parafilm</a:t>
            </a:r>
          </a:p>
        </p:txBody>
      </p:sp>
      <p:sp>
        <p:nvSpPr>
          <p:cNvPr id="17" name="Content Placeholder 16">
            <a:extLst>
              <a:ext uri="{FF2B5EF4-FFF2-40B4-BE49-F238E27FC236}">
                <a16:creationId xmlns:a16="http://schemas.microsoft.com/office/drawing/2014/main" id="{F7CE85BB-AB28-1B77-2440-CD8BBA90460F}"/>
              </a:ext>
            </a:extLst>
          </p:cNvPr>
          <p:cNvSpPr>
            <a:spLocks noGrp="1"/>
          </p:cNvSpPr>
          <p:nvPr>
            <p:ph sz="half" idx="2"/>
          </p:nvPr>
        </p:nvSpPr>
        <p:spPr>
          <a:xfrm>
            <a:off x="4474464" y="1965959"/>
            <a:ext cx="4038600" cy="4525963"/>
          </a:xfrm>
        </p:spPr>
        <p:txBody>
          <a:bodyPr/>
          <a:lstStyle/>
          <a:p>
            <a:r>
              <a:rPr lang="en-US" dirty="0"/>
              <a:t>Plastic Funnel</a:t>
            </a:r>
          </a:p>
          <a:p>
            <a:r>
              <a:rPr lang="en-US" dirty="0"/>
              <a:t>Heat resistant gloves</a:t>
            </a:r>
          </a:p>
          <a:p>
            <a:r>
              <a:rPr lang="en-US" dirty="0"/>
              <a:t>200-proof ethanol</a:t>
            </a:r>
          </a:p>
          <a:p>
            <a:r>
              <a:rPr lang="en-US" dirty="0"/>
              <a:t> Deionized Water</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7236D3DD-1664-E4EB-6833-5246BDF88123}"/>
              </a:ext>
            </a:extLst>
          </p:cNvPr>
          <p:cNvSpPr>
            <a:spLocks noGrp="1" noChangeArrowheads="1"/>
          </p:cNvSpPr>
          <p:nvPr>
            <p:ph type="title"/>
          </p:nvPr>
        </p:nvSpPr>
        <p:spPr/>
        <p:txBody>
          <a:bodyPr/>
          <a:lstStyle/>
          <a:p>
            <a:r>
              <a:rPr lang="en-US" altLang="en-US" dirty="0"/>
              <a:t>Procedure</a:t>
            </a:r>
          </a:p>
        </p:txBody>
      </p:sp>
      <p:sp>
        <p:nvSpPr>
          <p:cNvPr id="2" name="Text Placeholder 1">
            <a:extLst>
              <a:ext uri="{FF2B5EF4-FFF2-40B4-BE49-F238E27FC236}">
                <a16:creationId xmlns:a16="http://schemas.microsoft.com/office/drawing/2014/main" id="{6B1A56CA-1F7A-5AD0-2514-0405428537CF}"/>
              </a:ext>
            </a:extLst>
          </p:cNvPr>
          <p:cNvSpPr>
            <a:spLocks noGrp="1" noChangeArrowheads="1"/>
          </p:cNvSpPr>
          <p:nvPr>
            <p:ph type="body" idx="1"/>
          </p:nvPr>
        </p:nvSpPr>
        <p:spPr bwMode="auto">
          <a:xfrm>
            <a:off x="76200" y="1532897"/>
            <a:ext cx="9067800" cy="497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hangingPunct="0">
              <a:lnSpc>
                <a:spcPct val="200000"/>
              </a:lnSpc>
              <a:spcBef>
                <a:spcPct val="0"/>
              </a:spcBef>
              <a:buClrTx/>
              <a:buNone/>
            </a:pPr>
            <a:r>
              <a:rPr lang="en-US" altLang="en-US" sz="1600" b="1" dirty="0">
                <a:solidFill>
                  <a:srgbClr val="002060"/>
                </a:solidFill>
                <a:latin typeface="Arial" panose="020B0604020202020204" pitchFamily="34" charset="0"/>
              </a:rPr>
              <a:t>Experiment A</a:t>
            </a:r>
          </a:p>
          <a:p>
            <a:pPr eaLnBrk="0" hangingPunct="0">
              <a:lnSpc>
                <a:spcPct val="150000"/>
              </a:lnSpc>
              <a:spcBef>
                <a:spcPct val="0"/>
              </a:spcBef>
              <a:buClrTx/>
            </a:pPr>
            <a:r>
              <a:rPr lang="en-US" sz="1600" dirty="0"/>
              <a:t>Prepare a 10 L 10 </a:t>
            </a:r>
            <a:r>
              <a:rPr lang="en-US" sz="1600" dirty="0" err="1"/>
              <a:t>wt</a:t>
            </a:r>
            <a:r>
              <a:rPr lang="en-US" sz="1600" dirty="0"/>
              <a:t>% ethanol–water mixture (1.23 L EtOH + 8.77 L H₂O) and load it into the reboiler securely.</a:t>
            </a:r>
          </a:p>
          <a:p>
            <a:pPr eaLnBrk="0" hangingPunct="0">
              <a:lnSpc>
                <a:spcPct val="150000"/>
              </a:lnSpc>
              <a:spcBef>
                <a:spcPct val="0"/>
              </a:spcBef>
              <a:buClrTx/>
            </a:pPr>
            <a:r>
              <a:rPr lang="en-US" sz="1600" dirty="0"/>
              <a:t>Start condenser cooling water at ~3 L/min (V5) and power on the control panel with the selector on T9 (Reboiler).</a:t>
            </a:r>
          </a:p>
          <a:p>
            <a:pPr eaLnBrk="0" hangingPunct="0">
              <a:lnSpc>
                <a:spcPct val="150000"/>
              </a:lnSpc>
              <a:spcBef>
                <a:spcPct val="0"/>
              </a:spcBef>
              <a:buClrTx/>
            </a:pPr>
            <a:r>
              <a:rPr lang="en-US" sz="1600" dirty="0"/>
              <a:t>Begin heating at ~1.50 kW until the column floods, then reduce to ~0.75 kW once vapor flow stabilizes. Allow all tray temperatures (T1–T8) to reach steady state.</a:t>
            </a:r>
          </a:p>
          <a:p>
            <a:pPr eaLnBrk="0" hangingPunct="0">
              <a:lnSpc>
                <a:spcPct val="150000"/>
              </a:lnSpc>
              <a:spcBef>
                <a:spcPct val="0"/>
              </a:spcBef>
              <a:buClrTx/>
            </a:pPr>
            <a:r>
              <a:rPr lang="en-US" sz="1600" dirty="0"/>
              <a:t>Measure the boil-up rate by diverting condensate through V3 (e.g., 8.2 mL in 7.84 s ≈ 3.75 L/</a:t>
            </a:r>
            <a:r>
              <a:rPr lang="en-US" sz="1600" dirty="0" err="1"/>
              <a:t>hr</a:t>
            </a:r>
            <a:r>
              <a:rPr lang="en-US" sz="1600" dirty="0"/>
              <a:t>) and record the manometer ΔP (open/close V6 &amp; V7 briefly).</a:t>
            </a:r>
          </a:p>
          <a:p>
            <a:pPr eaLnBrk="0" hangingPunct="0">
              <a:lnSpc>
                <a:spcPct val="150000"/>
              </a:lnSpc>
              <a:spcBef>
                <a:spcPct val="0"/>
              </a:spcBef>
              <a:buClrTx/>
            </a:pPr>
            <a:r>
              <a:rPr lang="en-US" sz="1600" dirty="0"/>
              <a:t>At 0.75 kW, 1.00 kW, and 1.25 kW, collect three sets of distillate and bottoms samples, then measure their compositions with the Snap 41 Densitometer and seal each with parafilm to minimize evaporation.</a:t>
            </a:r>
          </a:p>
          <a:p>
            <a:pPr eaLnBrk="0" hangingPunct="0">
              <a:lnSpc>
                <a:spcPct val="150000"/>
              </a:lnSpc>
              <a:spcBef>
                <a:spcPct val="0"/>
              </a:spcBef>
              <a:buClrTx/>
            </a:pPr>
            <a:endParaRPr lang="en-US" sz="1600" dirty="0"/>
          </a:p>
        </p:txBody>
      </p:sp>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12FCC-FCBA-CFCA-CE46-B5D5C15F047E}"/>
            </a:ext>
          </a:extLst>
        </p:cNvPr>
        <p:cNvGrpSpPr/>
        <p:nvPr/>
      </p:nvGrpSpPr>
      <p:grpSpPr>
        <a:xfrm>
          <a:off x="0" y="0"/>
          <a:ext cx="0" cy="0"/>
          <a:chOff x="0" y="0"/>
          <a:chExt cx="0" cy="0"/>
        </a:xfrm>
      </p:grpSpPr>
      <p:sp>
        <p:nvSpPr>
          <p:cNvPr id="128002" name="Rectangle 2">
            <a:extLst>
              <a:ext uri="{FF2B5EF4-FFF2-40B4-BE49-F238E27FC236}">
                <a16:creationId xmlns:a16="http://schemas.microsoft.com/office/drawing/2014/main" id="{A3D7E19D-5A13-5509-AAD6-5DA2CA28E135}"/>
              </a:ext>
            </a:extLst>
          </p:cNvPr>
          <p:cNvSpPr>
            <a:spLocks noGrp="1" noChangeArrowheads="1"/>
          </p:cNvSpPr>
          <p:nvPr>
            <p:ph type="title"/>
          </p:nvPr>
        </p:nvSpPr>
        <p:spPr/>
        <p:txBody>
          <a:bodyPr/>
          <a:lstStyle/>
          <a:p>
            <a:r>
              <a:rPr lang="en-US" altLang="en-US"/>
              <a:t>Procedure</a:t>
            </a:r>
          </a:p>
        </p:txBody>
      </p:sp>
      <p:sp>
        <p:nvSpPr>
          <p:cNvPr id="2" name="Text Placeholder 1">
            <a:extLst>
              <a:ext uri="{FF2B5EF4-FFF2-40B4-BE49-F238E27FC236}">
                <a16:creationId xmlns:a16="http://schemas.microsoft.com/office/drawing/2014/main" id="{600DE14E-A51B-32D9-6774-AB79E74A95DF}"/>
              </a:ext>
            </a:extLst>
          </p:cNvPr>
          <p:cNvSpPr>
            <a:spLocks noGrp="1" noChangeArrowheads="1"/>
          </p:cNvSpPr>
          <p:nvPr>
            <p:ph type="body" idx="1"/>
          </p:nvPr>
        </p:nvSpPr>
        <p:spPr bwMode="auto">
          <a:xfrm>
            <a:off x="114300" y="1548343"/>
            <a:ext cx="8915399" cy="497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hangingPunct="0">
              <a:lnSpc>
                <a:spcPct val="200000"/>
              </a:lnSpc>
              <a:spcBef>
                <a:spcPct val="0"/>
              </a:spcBef>
              <a:buClrTx/>
              <a:buNone/>
            </a:pPr>
            <a:r>
              <a:rPr lang="en-US" altLang="en-US" sz="1600" b="1" dirty="0">
                <a:solidFill>
                  <a:srgbClr val="002060"/>
                </a:solidFill>
                <a:latin typeface="Arial" panose="020B0604020202020204" pitchFamily="34" charset="0"/>
              </a:rPr>
              <a:t>Experiment B</a:t>
            </a:r>
          </a:p>
          <a:p>
            <a:pPr eaLnBrk="0" hangingPunct="0">
              <a:lnSpc>
                <a:spcPct val="150000"/>
              </a:lnSpc>
              <a:spcBef>
                <a:spcPct val="0"/>
              </a:spcBef>
              <a:buClrTx/>
            </a:pPr>
            <a:r>
              <a:rPr lang="en-US" sz="1600" dirty="0"/>
              <a:t>Use the same ethanol–water charge and set the reboiler to ~0.75 kW under total reflux until bubbling is steady on all trays.</a:t>
            </a:r>
          </a:p>
          <a:p>
            <a:pPr eaLnBrk="0" hangingPunct="0">
              <a:lnSpc>
                <a:spcPct val="150000"/>
              </a:lnSpc>
              <a:spcBef>
                <a:spcPct val="0"/>
              </a:spcBef>
              <a:buClrTx/>
            </a:pPr>
            <a:r>
              <a:rPr lang="en-US" sz="1600" dirty="0"/>
              <a:t>Program the reflux ratio on the control panel (e.g., 5:1) and switch the reflux valve ON to direct condensate between the receiver and column.</a:t>
            </a:r>
          </a:p>
          <a:p>
            <a:pPr eaLnBrk="0" hangingPunct="0">
              <a:lnSpc>
                <a:spcPct val="150000"/>
              </a:lnSpc>
              <a:spcBef>
                <a:spcPct val="0"/>
              </a:spcBef>
              <a:buClrTx/>
            </a:pPr>
            <a:r>
              <a:rPr lang="en-US" sz="1600" dirty="0"/>
              <a:t>Measure the boil-up rate as before and take paired distillate (V3) and bottoms (V2) samples at steady state.</a:t>
            </a:r>
          </a:p>
          <a:p>
            <a:pPr eaLnBrk="0" hangingPunct="0">
              <a:lnSpc>
                <a:spcPct val="150000"/>
              </a:lnSpc>
              <a:spcBef>
                <a:spcPct val="0"/>
              </a:spcBef>
              <a:buClrTx/>
            </a:pPr>
            <a:r>
              <a:rPr lang="en-US" sz="1600" dirty="0"/>
              <a:t>Repeat sampling every 5 minutes to collect three sets of data for each reflux ratio (e.g., 5:1 and 12:1). Record T1 and T8 for each run; cover samples with parafilm to prevent evaporation.</a:t>
            </a:r>
          </a:p>
          <a:p>
            <a:pPr eaLnBrk="0" hangingPunct="0">
              <a:lnSpc>
                <a:spcPct val="150000"/>
              </a:lnSpc>
              <a:spcBef>
                <a:spcPct val="0"/>
              </a:spcBef>
              <a:buClrTx/>
            </a:pPr>
            <a:r>
              <a:rPr lang="en-US" sz="1600" dirty="0"/>
              <a:t>After completing both reflux-ratio runs, return to total reflux, allow steady state to re-establish, then power down and stop cooling water.</a:t>
            </a:r>
          </a:p>
          <a:p>
            <a:pPr eaLnBrk="0" hangingPunct="0">
              <a:lnSpc>
                <a:spcPct val="150000"/>
              </a:lnSpc>
              <a:spcBef>
                <a:spcPct val="0"/>
              </a:spcBef>
              <a:buClrTx/>
            </a:pPr>
            <a:endParaRPr lang="en-US" sz="1600" dirty="0"/>
          </a:p>
        </p:txBody>
      </p:sp>
    </p:spTree>
    <p:extLst>
      <p:ext uri="{BB962C8B-B14F-4D97-AF65-F5344CB8AC3E}">
        <p14:creationId xmlns:p14="http://schemas.microsoft.com/office/powerpoint/2010/main" val="77984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58CA63FC-0D2C-F013-B6D1-279CAEDF43E7}"/>
              </a:ext>
            </a:extLst>
          </p:cNvPr>
          <p:cNvSpPr>
            <a:spLocks noGrp="1" noChangeArrowheads="1"/>
          </p:cNvSpPr>
          <p:nvPr>
            <p:ph type="title"/>
          </p:nvPr>
        </p:nvSpPr>
        <p:spPr/>
        <p:txBody>
          <a:bodyPr/>
          <a:lstStyle/>
          <a:p>
            <a:r>
              <a:rPr lang="en-US" altLang="en-US"/>
              <a:t>Experimental Challenges</a:t>
            </a:r>
          </a:p>
        </p:txBody>
      </p:sp>
      <p:sp>
        <p:nvSpPr>
          <p:cNvPr id="129027" name="Rectangle 3">
            <a:extLst>
              <a:ext uri="{FF2B5EF4-FFF2-40B4-BE49-F238E27FC236}">
                <a16:creationId xmlns:a16="http://schemas.microsoft.com/office/drawing/2014/main" id="{EED8F538-2CD0-AB5F-CEAA-08553068F040}"/>
              </a:ext>
            </a:extLst>
          </p:cNvPr>
          <p:cNvSpPr>
            <a:spLocks noGrp="1" noChangeArrowheads="1"/>
          </p:cNvSpPr>
          <p:nvPr>
            <p:ph type="body" idx="1"/>
          </p:nvPr>
        </p:nvSpPr>
        <p:spPr/>
        <p:txBody>
          <a:bodyPr/>
          <a:lstStyle/>
          <a:p>
            <a:endParaRPr lang="en-US" altLang="en-US">
              <a:cs typeface="Arial"/>
            </a:endParaRPr>
          </a:p>
          <a:p>
            <a:endParaRPr lang="en-US" altLang="en-US"/>
          </a:p>
        </p:txBody>
      </p:sp>
      <p:sp>
        <p:nvSpPr>
          <p:cNvPr id="5" name="Rectangle 3">
            <a:extLst>
              <a:ext uri="{FF2B5EF4-FFF2-40B4-BE49-F238E27FC236}">
                <a16:creationId xmlns:a16="http://schemas.microsoft.com/office/drawing/2014/main" id="{DED14142-E7D8-EEA9-2D75-24D9BC77F0F9}"/>
              </a:ext>
            </a:extLst>
          </p:cNvPr>
          <p:cNvSpPr txBox="1">
            <a:spLocks noChangeArrowheads="1"/>
          </p:cNvSpPr>
          <p:nvPr/>
        </p:nvSpPr>
        <p:spPr bwMode="auto">
          <a:xfrm>
            <a:off x="106341" y="1702858"/>
            <a:ext cx="867359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rgbClr val="800000"/>
              </a:buClr>
              <a:buChar char="•"/>
              <a:defRPr sz="3200" kern="1200">
                <a:solidFill>
                  <a:srgbClr val="00234C"/>
                </a:solidFill>
                <a:latin typeface="+mn-lt"/>
                <a:ea typeface="+mn-ea"/>
                <a:cs typeface="+mn-cs"/>
              </a:defRPr>
            </a:lvl1pPr>
            <a:lvl2pPr marL="742950" indent="-285750" algn="l" rtl="0" fontAlgn="base">
              <a:spcBef>
                <a:spcPct val="20000"/>
              </a:spcBef>
              <a:spcAft>
                <a:spcPct val="0"/>
              </a:spcAft>
              <a:buClr>
                <a:srgbClr val="800000"/>
              </a:buClr>
              <a:buChar char="•"/>
              <a:defRPr sz="2800" kern="1200">
                <a:solidFill>
                  <a:srgbClr val="00234C"/>
                </a:solidFill>
                <a:latin typeface="+mn-lt"/>
                <a:ea typeface="+mn-ea"/>
                <a:cs typeface="+mn-cs"/>
              </a:defRPr>
            </a:lvl2pPr>
            <a:lvl3pPr marL="1143000" indent="-228600" algn="l" rtl="0" fontAlgn="base">
              <a:spcBef>
                <a:spcPct val="20000"/>
              </a:spcBef>
              <a:spcAft>
                <a:spcPct val="0"/>
              </a:spcAft>
              <a:buClr>
                <a:srgbClr val="800000"/>
              </a:buClr>
              <a:buChar char="•"/>
              <a:defRPr sz="2400" kern="1200">
                <a:solidFill>
                  <a:srgbClr val="00234C"/>
                </a:solidFill>
                <a:latin typeface="+mn-lt"/>
                <a:ea typeface="+mn-ea"/>
                <a:cs typeface="+mn-cs"/>
              </a:defRPr>
            </a:lvl3pPr>
            <a:lvl4pPr marL="1600200" indent="-228600" algn="l" rtl="0" fontAlgn="base">
              <a:spcBef>
                <a:spcPct val="20000"/>
              </a:spcBef>
              <a:spcAft>
                <a:spcPct val="0"/>
              </a:spcAft>
              <a:buClr>
                <a:srgbClr val="800000"/>
              </a:buClr>
              <a:buChar char="•"/>
              <a:defRPr sz="2000" kern="1200">
                <a:solidFill>
                  <a:srgbClr val="00234C"/>
                </a:solidFill>
                <a:latin typeface="+mn-lt"/>
                <a:ea typeface="+mn-ea"/>
                <a:cs typeface="+mn-cs"/>
              </a:defRPr>
            </a:lvl4pPr>
            <a:lvl5pPr marL="2057400" indent="-228600" algn="l" rtl="0" fontAlgn="base">
              <a:spcBef>
                <a:spcPct val="20000"/>
              </a:spcBef>
              <a:spcAft>
                <a:spcPct val="0"/>
              </a:spcAft>
              <a:buClr>
                <a:srgbClr val="800000"/>
              </a:buClr>
              <a:buChar char="•"/>
              <a:defRPr sz="2000" kern="1200">
                <a:solidFill>
                  <a:srgbClr val="00234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300" dirty="0"/>
              <a:t>The column took a long time to reach steady-state boiling, reducing available lab time and leaving little margin for error.</a:t>
            </a:r>
          </a:p>
          <a:p>
            <a:r>
              <a:rPr lang="en-US" sz="2300" dirty="0"/>
              <a:t>The thermocouple display (T1–T8) was initially unsynchronized, showing zero readings until the wires were reconnected and the program restarted.</a:t>
            </a:r>
          </a:p>
          <a:p>
            <a:r>
              <a:rPr lang="en-US" altLang="en-US" sz="2300" dirty="0">
                <a:cs typeface="Arial"/>
              </a:rPr>
              <a:t>Collecting top (distillate) and bottom samples required multiple operators for timing and valve control. With only two members, coordination delays caused small timing gaps between samples.</a:t>
            </a:r>
          </a:p>
          <a:p>
            <a:r>
              <a:rPr lang="en-US" altLang="en-US" sz="2300" dirty="0">
                <a:cs typeface="Arial"/>
              </a:rPr>
              <a:t>The Snap 41 densitometer occasionally failed to read due to bubbles or fast injection, causing slight evaporation losses.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F46451E3-1C69-13E3-A8D8-BBEA84222F8C}"/>
              </a:ext>
            </a:extLst>
          </p:cNvPr>
          <p:cNvSpPr>
            <a:spLocks noGrp="1" noChangeArrowheads="1"/>
          </p:cNvSpPr>
          <p:nvPr>
            <p:ph type="title"/>
          </p:nvPr>
        </p:nvSpPr>
        <p:spPr/>
        <p:txBody>
          <a:bodyPr/>
          <a:lstStyle/>
          <a:p>
            <a:r>
              <a:rPr lang="en-US" altLang="en-US" dirty="0"/>
              <a:t>Safety</a:t>
            </a:r>
          </a:p>
        </p:txBody>
      </p:sp>
      <p:sp>
        <p:nvSpPr>
          <p:cNvPr id="130051" name="Rectangle 3">
            <a:extLst>
              <a:ext uri="{FF2B5EF4-FFF2-40B4-BE49-F238E27FC236}">
                <a16:creationId xmlns:a16="http://schemas.microsoft.com/office/drawing/2014/main" id="{E3D9AC5B-E9CE-AB5F-EF21-8778CC99D28D}"/>
              </a:ext>
            </a:extLst>
          </p:cNvPr>
          <p:cNvSpPr>
            <a:spLocks noGrp="1" noChangeArrowheads="1"/>
          </p:cNvSpPr>
          <p:nvPr>
            <p:ph type="body" idx="1"/>
          </p:nvPr>
        </p:nvSpPr>
        <p:spPr>
          <a:xfrm>
            <a:off x="97971" y="1583871"/>
            <a:ext cx="8825896" cy="4525963"/>
          </a:xfrm>
        </p:spPr>
        <p:txBody>
          <a:bodyPr/>
          <a:lstStyle/>
          <a:p>
            <a:r>
              <a:rPr lang="en-US" sz="2800" dirty="0">
                <a:cs typeface="Arial"/>
              </a:rPr>
              <a:t>To stay safe</a:t>
            </a:r>
            <a:r>
              <a:rPr lang="en-US" sz="2400" dirty="0">
                <a:cs typeface="Arial"/>
              </a:rPr>
              <a:t>:</a:t>
            </a:r>
            <a:endParaRPr lang="en-US" altLang="en-US" sz="2800" dirty="0">
              <a:cs typeface="Arial"/>
            </a:endParaRPr>
          </a:p>
          <a:p>
            <a:pPr lvl="1">
              <a:buFont typeface="Courier New"/>
              <a:buChar char="o"/>
            </a:pPr>
            <a:r>
              <a:rPr lang="en-US" sz="2400" dirty="0"/>
              <a:t>Wear nitrile gloves when handling ethanol to avoid skin contact and minimize exposure to vapors.</a:t>
            </a:r>
          </a:p>
          <a:p>
            <a:pPr lvl="1">
              <a:buFont typeface="Courier New"/>
              <a:buChar char="o"/>
            </a:pPr>
            <a:r>
              <a:rPr lang="en-US" sz="2400" dirty="0"/>
              <a:t>Use heat-resistant gloves when touching the reboiler, glass column, or valves to prevent burns from hot surfaces.</a:t>
            </a:r>
          </a:p>
          <a:p>
            <a:pPr lvl="1">
              <a:buFont typeface="Courier New"/>
              <a:buChar char="o"/>
            </a:pPr>
            <a:r>
              <a:rPr lang="en-US" sz="2400" dirty="0"/>
              <a:t>Avoid electrical hazards by keeping liquids away from the control console and computer; ensure cords and surfaces remain dry during operation.</a:t>
            </a:r>
          </a:p>
          <a:p>
            <a:pPr lvl="1">
              <a:buFont typeface="Courier New"/>
              <a:buChar char="o"/>
            </a:pPr>
            <a:r>
              <a:rPr lang="en-US" sz="2400" dirty="0"/>
              <a:t>Open manometer valves slowly and in the correct order to prevent vapor release or </a:t>
            </a:r>
            <a:r>
              <a:rPr lang="en-US" sz="2400" dirty="0" err="1"/>
              <a:t>overpressurization</a:t>
            </a:r>
            <a:r>
              <a:rPr lang="en-US" sz="2400" dirty="0"/>
              <a:t> of the column.</a:t>
            </a:r>
          </a:p>
          <a:p>
            <a:pPr lvl="1">
              <a:buFont typeface="Courier New"/>
              <a:buChar char="o"/>
            </a:pPr>
            <a:endParaRPr lang="en-US" altLang="en-US" sz="2600" dirty="0">
              <a:cs typeface="Arial"/>
            </a:endParaRPr>
          </a:p>
        </p:txBody>
      </p:sp>
    </p:spTree>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BD4DB9680548741AF142E25CD163C89" ma:contentTypeVersion="13" ma:contentTypeDescription="Create a new document." ma:contentTypeScope="" ma:versionID="9ba498e175684ea91d55eafe43e998c1">
  <xsd:schema xmlns:xsd="http://www.w3.org/2001/XMLSchema" xmlns:xs="http://www.w3.org/2001/XMLSchema" xmlns:p="http://schemas.microsoft.com/office/2006/metadata/properties" xmlns:ns3="ce0042e0-bc9f-43b7-ada3-1b351bed2e77" xmlns:ns4="d41bf40f-5717-4d64-bbdf-fab2410a53d4" targetNamespace="http://schemas.microsoft.com/office/2006/metadata/properties" ma:root="true" ma:fieldsID="a081e4d60c675e40e7f49c4d11442203" ns3:_="" ns4:_="">
    <xsd:import namespace="ce0042e0-bc9f-43b7-ada3-1b351bed2e77"/>
    <xsd:import namespace="d41bf40f-5717-4d64-bbdf-fab2410a53d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DateTaken" minOccurs="0"/>
                <xsd:element ref="ns3:MediaServiceGenerationTime" minOccurs="0"/>
                <xsd:element ref="ns3:MediaServiceEventHashCode"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0042e0-bc9f-43b7-ada3-1b351bed2e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41bf40f-5717-4d64-bbdf-fab2410a53d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e0042e0-bc9f-43b7-ada3-1b351bed2e7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ED5535-828A-4359-B922-C923513C4F1F}">
  <ds:schemaRefs>
    <ds:schemaRef ds:uri="ce0042e0-bc9f-43b7-ada3-1b351bed2e77"/>
    <ds:schemaRef ds:uri="d41bf40f-5717-4d64-bbdf-fab2410a53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E8DB255-D0CC-4FFD-B98C-5E7459B6BEAB}">
  <ds:schemaRefs>
    <ds:schemaRef ds:uri="http://schemas.openxmlformats.org/package/2006/metadata/core-properties"/>
    <ds:schemaRef ds:uri="http://schemas.microsoft.com/office/2006/documentManagement/types"/>
    <ds:schemaRef ds:uri="d41bf40f-5717-4d64-bbdf-fab2410a53d4"/>
    <ds:schemaRef ds:uri="http://purl.org/dc/elements/1.1/"/>
    <ds:schemaRef ds:uri="http://schemas.microsoft.com/office/2006/metadata/properties"/>
    <ds:schemaRef ds:uri="http://schemas.microsoft.com/office/infopath/2007/PartnerControls"/>
    <ds:schemaRef ds:uri="http://purl.org/dc/terms/"/>
    <ds:schemaRef ds:uri="ce0042e0-bc9f-43b7-ada3-1b351bed2e77"/>
    <ds:schemaRef ds:uri="http://www.w3.org/XML/1998/namespace"/>
    <ds:schemaRef ds:uri="http://purl.org/dc/dcmitype/"/>
  </ds:schemaRefs>
</ds:datastoreItem>
</file>

<file path=customXml/itemProps3.xml><?xml version="1.0" encoding="utf-8"?>
<ds:datastoreItem xmlns:ds="http://schemas.openxmlformats.org/officeDocument/2006/customXml" ds:itemID="{3CB1BB7A-3A53-4FB2-BA89-8D477CCF4D9A}">
  <ds:schemaRefs>
    <ds:schemaRef ds:uri="http://schemas.microsoft.com/sharepoint/v3/contenttype/forms"/>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otalTime>113</TotalTime>
  <Words>982</Words>
  <Application>Microsoft Office PowerPoint</Application>
  <PresentationFormat>On-screen Show (4:3)</PresentationFormat>
  <Paragraphs>112</Paragraphs>
  <Slides>12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 Math</vt:lpstr>
      <vt:lpstr>Courier New</vt:lpstr>
      <vt:lpstr>Times New Roman</vt:lpstr>
      <vt:lpstr>Default Design</vt:lpstr>
      <vt:lpstr>  Binary Batch Distillation</vt:lpstr>
      <vt:lpstr>Introduction</vt:lpstr>
      <vt:lpstr>Theory</vt:lpstr>
      <vt:lpstr>Theory</vt:lpstr>
      <vt:lpstr>Theory</vt:lpstr>
      <vt:lpstr>Theory</vt:lpstr>
      <vt:lpstr>                         Apparatus</vt:lpstr>
      <vt:lpstr>Material &amp; Supplies</vt:lpstr>
      <vt:lpstr>Procedure</vt:lpstr>
      <vt:lpstr>Procedure</vt:lpstr>
      <vt:lpstr>Experimental Challenges</vt:lpstr>
      <vt:lpstr>Safety</vt:lpstr>
    </vt:vector>
  </TitlesOfParts>
  <Company>UIC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UIC BRAND</dc:title>
  <dc:creator>Elizabeth Zweigle Yee</dc:creator>
  <cp:lastModifiedBy>Zdunek, Alan</cp:lastModifiedBy>
  <cp:revision>3</cp:revision>
  <dcterms:created xsi:type="dcterms:W3CDTF">2008-04-09T18:55:55Z</dcterms:created>
  <dcterms:modified xsi:type="dcterms:W3CDTF">2025-11-12T17:23:58Z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0x0101007BD4DB9680548741AF142E25CD163C89</vt:lpwstr>
  </property>
</Properties>
</file>