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29_0.xml" ContentType="application/vnd.ms-powerpoint.comments+xml"/>
  <Override PartName="/ppt/notesSlides/notesSlide3.xml" ContentType="application/vnd.openxmlformats-officedocument.presentationml.notesSlide+xml"/>
  <Override PartName="/ppt/comments/modernComment_133_2A51428.xml" ContentType="application/vnd.ms-powerpoint.comments+xml"/>
  <Override PartName="/ppt/comments/modernComment_12A_0.xml" ContentType="application/vnd.ms-powerpoint.comments+xml"/>
  <Override PartName="/ppt/comments/modernComment_12B_0.xml" ContentType="application/vnd.ms-powerpoint.comments+xml"/>
  <Override PartName="/ppt/comments/modernComment_12C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97" r:id="rId6"/>
    <p:sldId id="307" r:id="rId7"/>
    <p:sldId id="298" r:id="rId8"/>
    <p:sldId id="306" r:id="rId9"/>
    <p:sldId id="299" r:id="rId10"/>
    <p:sldId id="300" r:id="rId11"/>
    <p:sldId id="301" r:id="rId12"/>
    <p:sldId id="304" r:id="rId13"/>
    <p:sldId id="305" r:id="rId14"/>
    <p:sldId id="302" r:id="rId15"/>
    <p:sldId id="303" r:id="rId16"/>
  </p:sldIdLst>
  <p:sldSz cx="9144000" cy="6858000" type="screen4x3"/>
  <p:notesSz cx="6858000" cy="90773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52CCAC-0B66-CA76-A7A3-D551D844506B}" name="Zdunek, Alan" initials="AZ" userId="S::zdunek@uic.edu::5627838d-8155-4d77-aa14-f1ef87cd6a5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CC"/>
    <a:srgbClr val="3366FF"/>
    <a:srgbClr val="CC9900"/>
    <a:srgbClr val="996600"/>
    <a:srgbClr val="99CCFF"/>
    <a:srgbClr val="800000"/>
    <a:srgbClr val="FF0000"/>
    <a:srgbClr val="0023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90B54F-B644-EB1D-21BA-A6B280139E9D}" v="854" dt="2025-09-16T03:18:53.995"/>
    <p1510:client id="{9AF880B7-E1D7-4DE7-843C-1C76FFAA46DE}" v="432" dt="2025-09-16T19:04:28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16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omments/modernComment_12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D1B6E87-C799-4B59-8034-CF1D6B0BC096}" authorId="{DF52CCAC-0B66-CA76-A7A3-D551D844506B}" created="2025-09-17T23:05:57.52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8"/>
      <ac:picMk id="5" creationId="{49C78678-E9F0-8714-97A7-DF017D42EDD6}"/>
    </ac:deMkLst>
    <p188:txBody>
      <a:bodyPr/>
      <a:lstStyle/>
      <a:p>
        <a:r>
          <a:rPr lang="en-US"/>
          <a:t>-1
The empirical correlation that you will be comparing with the experimental data</a:t>
        </a:r>
      </a:p>
    </p188:txBody>
  </p188:cm>
</p188:cmLst>
</file>

<file path=ppt/comments/modernComment_12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8587DA-B477-40D0-9EAF-A38AB598CC98}" authorId="{DF52CCAC-0B66-CA76-A7A3-D551D844506B}" created="2025-09-17T23:07:10.23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9"/>
      <ac:spMk id="125955" creationId="{99C29B86-D3F6-DD82-06F9-01BEED00C47A}"/>
      <ac:txMk cp="87" len="10">
        <ac:context len="117" hash="2079076860"/>
      </ac:txMk>
    </ac:txMkLst>
    <p188:pos x="2905432" y="2519516"/>
    <p188:txBody>
      <a:bodyPr/>
      <a:lstStyle/>
      <a:p>
        <a:r>
          <a:rPr lang="en-US"/>
          <a:t>-1
Material/supplies</a:t>
        </a:r>
      </a:p>
    </p188:txBody>
  </p188:cm>
  <p188:cm id="{C5976CFE-0B2B-4326-B07E-C9BEA6F07C01}" authorId="{DF52CCAC-0B66-CA76-A7A3-D551D844506B}" created="2025-09-17T23:07:43.95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9"/>
      <ac:spMk id="125955" creationId="{99C29B86-D3F6-DD82-06F9-01BEED00C47A}"/>
    </ac:deMkLst>
    <p188:txBody>
      <a:bodyPr/>
      <a:lstStyle/>
      <a:p>
        <a:r>
          <a:rPr lang="en-US"/>
          <a:t>-1
Inlet/outlet is Vague what this describes in the system.</a:t>
        </a:r>
      </a:p>
    </p188:txBody>
  </p188:cm>
  <p188:cm id="{BB563EB4-FE8F-42B1-945B-2C7E9CB29F95}" authorId="{DF52CCAC-0B66-CA76-A7A3-D551D844506B}" created="2025-09-17T23:07:56.89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9"/>
      <ac:spMk id="125955" creationId="{99C29B86-D3F6-DD82-06F9-01BEED00C47A}"/>
    </ac:deMkLst>
    <p188:txBody>
      <a:bodyPr/>
      <a:lstStyle/>
      <a:p>
        <a:r>
          <a:rPr lang="en-US"/>
          <a:t>-2
And reservoir tank, pressure regulator, various valves</a:t>
        </a:r>
      </a:p>
    </p188:txBody>
  </p188:cm>
</p188:cmLst>
</file>

<file path=ppt/comments/modernComment_12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09AAEDD-9B5D-4848-8257-578FDD834E3F}" authorId="{DF52CCAC-0B66-CA76-A7A3-D551D844506B}" created="2025-09-17T23:10:02.57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300"/>
      <ac:spMk id="126978" creationId="{573D4445-4D7C-5918-777D-1BF68875CEBC}"/>
    </ac:deMkLst>
    <p188:txBody>
      <a:bodyPr/>
      <a:lstStyle/>
      <a:p>
        <a:r>
          <a:rPr lang="en-US"/>
          <a:t>-2
Thermocouples and thermocouple reader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CD84B2D-1299-4678-A7B1-29F0F3F73DB4}" authorId="{DF52CCAC-0B66-CA76-A7A3-D551D844506B}" created="2025-09-17T23:10:54.9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2053" creationId="{B7AAFE46-B545-D33E-AA39-E64363C47F45}"/>
    </ac:deMkLst>
    <p188:txBody>
      <a:bodyPr/>
      <a:lstStyle/>
      <a:p>
        <a:r>
          <a:rPr lang="en-US"/>
          <a:t>88/100</a:t>
        </a:r>
      </a:p>
    </p188:txBody>
  </p188:cm>
</p188:cmLst>
</file>

<file path=ppt/comments/modernComment_12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A3BBD0-9B75-4EF8-B45B-829A3FB5DAF3}" authorId="{DF52CCAC-0B66-CA76-A7A3-D551D844506B}" created="2025-09-17T23:03:28.84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97"/>
      <ac:spMk id="92163" creationId="{46E5AC51-70EC-7E66-F700-EBA0F326D4FA}"/>
      <ac:txMk cp="64" len="82">
        <ac:context len="147" hash="3358807840"/>
      </ac:txMk>
    </ac:txMkLst>
    <p188:pos x="7388942" y="1841090"/>
    <p188:txBody>
      <a:bodyPr/>
      <a:lstStyle/>
      <a:p>
        <a:r>
          <a:rPr lang="en-US"/>
          <a:t>-1
Say this more concisely-  ‘to humidify compressed dry air using DI water’</a:t>
        </a:r>
      </a:p>
    </p188:txBody>
  </p188:cm>
</p188:cmLst>
</file>

<file path=ppt/comments/modernComment_133_2A5142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6D21307-146F-4ED1-A9D1-5608F3253C60}" authorId="{DF52CCAC-0B66-CA76-A7A3-D551D844506B}" created="2025-09-17T23:04:40.49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4373032" sldId="307"/>
      <ac:spMk id="92163" creationId="{46E5AC51-70EC-7E66-F700-EBA0F326D4FA}"/>
      <ac:txMk cp="37" len="45">
        <ac:context len="166" hash="3798635864"/>
      </ac:txMk>
    </ac:txMkLst>
    <p188:pos x="6936658" y="1939413"/>
    <p188:txBody>
      <a:bodyPr/>
      <a:lstStyle/>
      <a:p>
        <a:r>
          <a:rPr lang="en-US"/>
          <a:t>-3
Under what conditions? (different air flowrates and air temperatures)
Be specific when describing the objective.</a:t>
        </a:r>
      </a:p>
    </p188:txBody>
  </p188:cm>
  <p188:cm id="{57BF47D9-2664-41B5-87D2-15DE179D4FED}" authorId="{DF52CCAC-0B66-CA76-A7A3-D551D844506B}" created="2025-09-17T23:05:06.25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4373032" sldId="307"/>
      <ac:spMk id="92163" creationId="{46E5AC51-70EC-7E66-F700-EBA0F326D4FA}"/>
      <ac:txMk cp="83" len="82">
        <ac:context len="166" hash="3798635864"/>
      </ac:txMk>
    </ac:txMkLst>
    <p188:pos x="7703574" y="3011129"/>
    <p188:txBody>
      <a:bodyPr/>
      <a:lstStyle/>
      <a:p>
        <a:r>
          <a:rPr lang="en-US"/>
          <a:t>-1
A bit vague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5387152F-E221-9155-E091-D113E68C87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4C30AADD-823C-1BE2-41C9-7DBAC3164F2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20836" name="Rectangle 4">
            <a:extLst>
              <a:ext uri="{FF2B5EF4-FFF2-40B4-BE49-F238E27FC236}">
                <a16:creationId xmlns:a16="http://schemas.microsoft.com/office/drawing/2014/main" id="{8B02DE1C-6EE3-1651-DEBF-5CB668A77C7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20837" name="Rectangle 5">
            <a:extLst>
              <a:ext uri="{FF2B5EF4-FFF2-40B4-BE49-F238E27FC236}">
                <a16:creationId xmlns:a16="http://schemas.microsoft.com/office/drawing/2014/main" id="{69E13F63-FC22-387F-618C-800EEEAA244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CC12DFC-3489-4537-B69D-B2B35ED522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6">
            <a:extLst>
              <a:ext uri="{FF2B5EF4-FFF2-40B4-BE49-F238E27FC236}">
                <a16:creationId xmlns:a16="http://schemas.microsoft.com/office/drawing/2014/main" id="{50B989B0-608F-5052-F43E-BEE7E7B72D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BE209D9E-FB26-2895-4EBA-DC5DDAAEA2A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6388" name="Rectangle 1028">
            <a:extLst>
              <a:ext uri="{FF2B5EF4-FFF2-40B4-BE49-F238E27FC236}">
                <a16:creationId xmlns:a16="http://schemas.microsoft.com/office/drawing/2014/main" id="{FCACACBC-C3E3-B0F0-448E-C7B9E505FA6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0463" y="681038"/>
            <a:ext cx="4538662" cy="3403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6389" name="Rectangle 1029">
            <a:extLst>
              <a:ext uri="{FF2B5EF4-FFF2-40B4-BE49-F238E27FC236}">
                <a16:creationId xmlns:a16="http://schemas.microsoft.com/office/drawing/2014/main" id="{361BEDA0-74F7-A65B-874E-9EE6A8D279B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11650"/>
            <a:ext cx="5486400" cy="408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390" name="Rectangle 1030">
            <a:extLst>
              <a:ext uri="{FF2B5EF4-FFF2-40B4-BE49-F238E27FC236}">
                <a16:creationId xmlns:a16="http://schemas.microsoft.com/office/drawing/2014/main" id="{02981AF6-F4C6-F24E-17A4-D4AA71EC535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6391" name="Rectangle 1031">
            <a:extLst>
              <a:ext uri="{FF2B5EF4-FFF2-40B4-BE49-F238E27FC236}">
                <a16:creationId xmlns:a16="http://schemas.microsoft.com/office/drawing/2014/main" id="{99C85096-A335-A9B5-879F-DF1E336366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21713"/>
            <a:ext cx="29718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4E025B1-A823-46A7-88E3-8D05F0ADCE9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5798CC31-8632-E607-1F44-A35FF1D003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5C93AEF-222E-462D-BBEE-522D93D126EA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17410" name="Rectangle 1026">
            <a:extLst>
              <a:ext uri="{FF2B5EF4-FFF2-40B4-BE49-F238E27FC236}">
                <a16:creationId xmlns:a16="http://schemas.microsoft.com/office/drawing/2014/main" id="{64B7BA31-A455-DCC6-879D-1384D3153C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18F52ADD-FEF9-FA91-92E4-D94C49F782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6C394E11-9940-7599-D444-0C58FF9BA7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03A0AC-5015-4C3C-BE1E-0A9E8CD7C701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3D692C08-55A9-9A56-2080-EA7B45580C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ACDD9E83-CAAE-40CE-58D0-CD84C383BB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31">
            <a:extLst>
              <a:ext uri="{FF2B5EF4-FFF2-40B4-BE49-F238E27FC236}">
                <a16:creationId xmlns:a16="http://schemas.microsoft.com/office/drawing/2014/main" id="{6C394E11-9940-7599-D444-0C58FF9BA7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03A0AC-5015-4C3C-BE1E-0A9E8CD7C701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3D692C08-55A9-9A56-2080-EA7B45580C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ACDD9E83-CAAE-40CE-58D0-CD84C383BB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6079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180B76A-1C94-F90E-2F15-F0A7019B8DD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600450"/>
          </a:xfrm>
        </p:spPr>
        <p:txBody>
          <a:bodyPr/>
          <a:lstStyle>
            <a:lvl1pPr>
              <a:defRPr/>
            </a:lvl1pPr>
          </a:lstStyle>
          <a:p>
            <a:pPr lvl="0"/>
            <a:br>
              <a:rPr lang="en-US" altLang="en-US" noProof="0"/>
            </a:br>
            <a:r>
              <a:rPr lang="en-US" altLang="en-US" noProof="0"/>
              <a:t>Click to edit Master title style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BCD122F-DFDE-BFA4-9C31-D73081BB942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71CA033B-5FD1-D70C-CB15-F7FF164CF97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pic>
        <p:nvPicPr>
          <p:cNvPr id="5127" name="Picture 7">
            <a:extLst>
              <a:ext uri="{FF2B5EF4-FFF2-40B4-BE49-F238E27FC236}">
                <a16:creationId xmlns:a16="http://schemas.microsoft.com/office/drawing/2014/main" id="{D20DB4FA-283D-758F-ABB2-CD2D86ECD3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6400800"/>
            <a:ext cx="2378075" cy="32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C00A-352C-3AB0-673E-58297E08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B007F-4243-783E-DA83-D18F86A65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4873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36C1E-C812-560B-2E23-14CEB1604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C14C5-0B49-67A0-9E4A-92AA57EB3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3403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EFA6F-E8A4-921C-403D-24C35942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F93E3-04C9-83F4-CA30-39C402BEE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F4ED7-67AA-CDD8-7721-622D9B180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4171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6B0C0-8E29-0F3F-46C5-F93A98396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0CC49-4353-F2CE-25C1-39AB73DB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718005-18A3-A82C-7DBC-6601099C0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F77BD-708A-EA34-C5E3-43949B2C7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AF0387-7227-EA3F-7B27-61D94DDAF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7558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9B840-8564-D206-A23F-B6542A710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40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80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978CD-62DC-29DB-A9D6-E165D0207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D562C-E11F-69E6-C4EF-8B93ADFBE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F3542F-33E3-AEE7-2314-8ED04320B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2360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BCC3-0623-6522-FC94-DE493DDFB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176DD9-09D2-AEED-3F3C-D41EBEDA7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E6AA3-1E2A-DD78-C6B4-E27269A96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5106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3591E-8C64-DB25-BD56-E4262D32E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B8884E-217F-C64B-0C9E-569752D52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08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6BC7FA-D15F-D99E-0AA7-36E6E168BD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5FCF79-9B24-F076-AAFB-B6D82548D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9394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54B8915-DB83-E8CB-1C5F-D1D7EE43A8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417638"/>
          </a:xfrm>
          <a:prstGeom prst="rect">
            <a:avLst/>
          </a:prstGeom>
          <a:solidFill>
            <a:srgbClr val="00234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01A0746-2895-CC46-D9BA-E87216B69F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772F0630-760C-67E1-7419-06FE8E13554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14478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035A900F-9C46-AA6F-9597-7A6020DBA3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00800"/>
            <a:ext cx="2362200" cy="325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3200" kern="1200">
          <a:solidFill>
            <a:srgbClr val="00234C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800" kern="1200">
          <a:solidFill>
            <a:srgbClr val="00234C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400" kern="1200">
          <a:solidFill>
            <a:srgbClr val="00234C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800000"/>
        </a:buClr>
        <a:buChar char="•"/>
        <a:defRPr sz="2000" kern="1200">
          <a:solidFill>
            <a:srgbClr val="0023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9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33_2A5142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8/10/relationships/comments" Target="../comments/modernComment_12A_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B_0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C_0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1DEC838F-8FDD-9E30-B1F1-35ED311EACD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67629" y="4114800"/>
            <a:ext cx="8610600" cy="18288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800"/>
              <a:t>Group #3</a:t>
            </a:r>
          </a:p>
          <a:p>
            <a:pPr>
              <a:lnSpc>
                <a:spcPct val="80000"/>
              </a:lnSpc>
            </a:pPr>
            <a:r>
              <a:rPr lang="en-US" altLang="en-US" sz="2800">
                <a:cs typeface="Arial"/>
              </a:rPr>
              <a:t>Basil Hashim, Lindsey Meisch, Kendall Johnson</a:t>
            </a:r>
          </a:p>
          <a:p>
            <a:pPr>
              <a:lnSpc>
                <a:spcPct val="80000"/>
              </a:lnSpc>
            </a:pPr>
            <a:r>
              <a:rPr lang="en-US" altLang="en-US" sz="2800"/>
              <a:t>Chemical Engineering Lab I</a:t>
            </a:r>
            <a:endParaRPr lang="en-US" altLang="en-US" sz="2800">
              <a:cs typeface="Arial"/>
            </a:endParaRPr>
          </a:p>
          <a:p>
            <a:pPr>
              <a:lnSpc>
                <a:spcPct val="80000"/>
              </a:lnSpc>
            </a:pPr>
            <a:r>
              <a:rPr lang="en-US" altLang="en-US" sz="2800"/>
              <a:t>Date 9/16/25</a:t>
            </a:r>
            <a:endParaRPr lang="en-US" altLang="en-US" sz="2800">
              <a:cs typeface="Arial"/>
            </a:endParaRP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B7AAFE46-B545-D33E-AA39-E64363C47F4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3581400"/>
          </a:xfrm>
        </p:spPr>
        <p:txBody>
          <a:bodyPr/>
          <a:lstStyle/>
          <a:p>
            <a:br>
              <a:rPr lang="en-US" altLang="en-US" sz="4000" b="1"/>
            </a:br>
            <a:br>
              <a:rPr lang="en-US" altLang="en-US" sz="4000" b="1"/>
            </a:br>
            <a:br>
              <a:rPr lang="en-US" altLang="en-US" sz="4000" b="1"/>
            </a:br>
            <a:r>
              <a:rPr lang="en-US" altLang="en-US" sz="4000" b="1"/>
              <a:t>Humidification</a:t>
            </a:r>
          </a:p>
        </p:txBody>
      </p:sp>
      <p:sp>
        <p:nvSpPr>
          <p:cNvPr id="2054" name="Line 6">
            <a:extLst>
              <a:ext uri="{FF2B5EF4-FFF2-40B4-BE49-F238E27FC236}">
                <a16:creationId xmlns:a16="http://schemas.microsoft.com/office/drawing/2014/main" id="{7073D76E-C24A-48A6-6454-895D98966F8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581400"/>
            <a:ext cx="9144000" cy="0"/>
          </a:xfrm>
          <a:prstGeom prst="line">
            <a:avLst/>
          </a:prstGeom>
          <a:noFill/>
          <a:ln w="127000">
            <a:solidFill>
              <a:srgbClr val="8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1798F219-0137-33D6-5FE7-CDECB71A2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/>
              <a:t>Introduction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46E5AC51-70EC-7E66-F700-EBA0F326D4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 b="1" dirty="0"/>
          </a:p>
          <a:p>
            <a:r>
              <a:rPr lang="en-US" altLang="en-US" b="1" dirty="0"/>
              <a:t>Make</a:t>
            </a:r>
            <a:r>
              <a:rPr lang="en-US" altLang="en-US" b="1" dirty="0">
                <a:cs typeface="Arial"/>
              </a:rPr>
              <a:t> air damp via counter current flows</a:t>
            </a:r>
          </a:p>
          <a:p>
            <a:pPr lvl="1">
              <a:buFont typeface="Courier New"/>
              <a:buChar char="o"/>
            </a:pPr>
            <a:r>
              <a:rPr lang="en-US" sz="3200" dirty="0">
                <a:cs typeface="Arial"/>
              </a:rPr>
              <a:t>Use a wetted column to complete a counter current vapor exchange between compressed dry air and DI water.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1798F219-0137-33D6-5FE7-CDECB71A2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b="1"/>
              <a:t>Introduction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46E5AC51-70EC-7E66-F700-EBA0F326D4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endParaRPr lang="en-US" altLang="en-US" b="1" dirty="0"/>
          </a:p>
          <a:p>
            <a:r>
              <a:rPr lang="en-US" altLang="en-US" b="1" dirty="0">
                <a:cs typeface="Arial"/>
              </a:rPr>
              <a:t>Objective</a:t>
            </a:r>
          </a:p>
          <a:p>
            <a:pPr lvl="1">
              <a:buFont typeface="Courier New"/>
              <a:buChar char="o"/>
            </a:pPr>
            <a:r>
              <a:rPr lang="en-US" sz="3200" dirty="0">
                <a:cs typeface="Arial"/>
              </a:rPr>
              <a:t>Determine Y’ and enthalpy</a:t>
            </a:r>
          </a:p>
          <a:p>
            <a:pPr lvl="1">
              <a:buFont typeface="Courier New"/>
              <a:buChar char="o"/>
            </a:pPr>
            <a:r>
              <a:rPr lang="en-US" sz="3200" dirty="0">
                <a:cs typeface="Arial"/>
              </a:rPr>
              <a:t>Calculate heat and mass transfer coefficients</a:t>
            </a:r>
          </a:p>
          <a:p>
            <a:pPr lvl="1">
              <a:buFont typeface="Courier New"/>
              <a:buChar char="o"/>
            </a:pPr>
            <a:r>
              <a:rPr lang="en-US" sz="3200" dirty="0">
                <a:cs typeface="Arial"/>
              </a:rPr>
              <a:t>Use comparison to theoretical data to test how well the models apply to our system</a:t>
            </a:r>
          </a:p>
        </p:txBody>
      </p:sp>
    </p:spTree>
    <p:extLst>
      <p:ext uri="{BB962C8B-B14F-4D97-AF65-F5344CB8AC3E}">
        <p14:creationId xmlns:p14="http://schemas.microsoft.com/office/powerpoint/2010/main" val="443730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0DC1DA40-7B94-543B-3887-6B0B4C677A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Theory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121668CF-3CCA-E192-BECA-CDA9D09C99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Underlying physical principle: Simultaneous heat &amp; mass transfer between air &amp; water</a:t>
            </a:r>
          </a:p>
          <a:p>
            <a:r>
              <a:rPr lang="en-US" altLang="en-US"/>
              <a:t>Governing equations: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5F760D-1D58-30D0-78E3-FC6B6678E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48" y="4117848"/>
            <a:ext cx="3045460" cy="1661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C78678-E9F0-8714-97A7-DF017D42E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032" y="4338447"/>
            <a:ext cx="4285644" cy="760857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0DC1DA40-7B94-543B-3887-6B0B4C677A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Theory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121668CF-3CCA-E192-BECA-CDA9D09C99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/>
              <a:t>Assumptions/limitations:</a:t>
            </a:r>
          </a:p>
          <a:p>
            <a:pPr lvl="1"/>
            <a:r>
              <a:rPr lang="en-US" altLang="en-US" sz="2400"/>
              <a:t>Dilute vapor concentration</a:t>
            </a:r>
          </a:p>
          <a:p>
            <a:pPr lvl="1"/>
            <a:r>
              <a:rPr lang="en-US" altLang="en-US" sz="2400"/>
              <a:t>Steady-state operation</a:t>
            </a:r>
          </a:p>
          <a:p>
            <a:pPr lvl="1"/>
            <a:r>
              <a:rPr lang="en-US" altLang="en-US" sz="2400"/>
              <a:t>Weak coupling of heat &amp; mass fluxes</a:t>
            </a:r>
          </a:p>
          <a:p>
            <a:r>
              <a:rPr lang="en-US" altLang="en-US" sz="2800"/>
              <a:t>Connection to experiment:</a:t>
            </a:r>
          </a:p>
          <a:p>
            <a:pPr lvl="1"/>
            <a:r>
              <a:rPr lang="en-US" altLang="en-US" sz="2400"/>
              <a:t>Measure T and humidity at inlet/outlet</a:t>
            </a:r>
          </a:p>
          <a:p>
            <a:pPr lvl="1"/>
            <a:r>
              <a:rPr lang="en-US" altLang="en-US" sz="2400"/>
              <a:t>Use psychrometric chart to determine Y’ &amp; enthalpy</a:t>
            </a:r>
          </a:p>
          <a:p>
            <a:pPr lvl="1"/>
            <a:r>
              <a:rPr lang="en-US" altLang="en-US" sz="2400"/>
              <a:t>Calculate transfer coefficients</a:t>
            </a:r>
          </a:p>
          <a:p>
            <a:pPr lvl="1"/>
            <a:r>
              <a:rPr lang="en-US" altLang="en-US" sz="2400"/>
              <a:t>Compare experimental vs theoretical correlations</a:t>
            </a:r>
          </a:p>
        </p:txBody>
      </p:sp>
    </p:spTree>
    <p:extLst>
      <p:ext uri="{BB962C8B-B14F-4D97-AF65-F5344CB8AC3E}">
        <p14:creationId xmlns:p14="http://schemas.microsoft.com/office/powerpoint/2010/main" val="771595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5C10AB65-B915-6B15-D1B1-FAC8EA4341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Apparatus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99C29B86-D3F6-DD82-06F9-01BEED00C4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cs typeface="Arial"/>
              </a:rPr>
              <a:t>Air Rotameter</a:t>
            </a:r>
          </a:p>
          <a:p>
            <a:r>
              <a:rPr lang="en-US" altLang="en-US" dirty="0">
                <a:cs typeface="Arial"/>
              </a:rPr>
              <a:t>Water Rotameter</a:t>
            </a:r>
          </a:p>
          <a:p>
            <a:r>
              <a:rPr lang="en-US" altLang="en-US" dirty="0">
                <a:cs typeface="Arial"/>
              </a:rPr>
              <a:t>Wetted Column/Weir</a:t>
            </a:r>
          </a:p>
          <a:p>
            <a:r>
              <a:rPr lang="en-US" altLang="en-US" dirty="0">
                <a:cs typeface="Arial"/>
              </a:rPr>
              <a:t>Thermocouples 1-6/Thermocouple reader</a:t>
            </a:r>
          </a:p>
          <a:p>
            <a:r>
              <a:rPr lang="en-US" altLang="en-US" dirty="0">
                <a:cs typeface="Arial"/>
              </a:rPr>
              <a:t>Anemometer</a:t>
            </a:r>
          </a:p>
          <a:p>
            <a:r>
              <a:rPr lang="en-US" altLang="en-US" dirty="0">
                <a:cs typeface="Arial"/>
              </a:rPr>
              <a:t>Pump</a:t>
            </a:r>
          </a:p>
          <a:p>
            <a:r>
              <a:rPr lang="en-US" altLang="en-US" dirty="0">
                <a:cs typeface="Arial"/>
              </a:rPr>
              <a:t>Inlet/outlet</a:t>
            </a:r>
          </a:p>
          <a:p>
            <a:endParaRPr lang="en-US" altLang="en-US" dirty="0">
              <a:cs typeface="Arial"/>
            </a:endParaRP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573D4445-4D7C-5918-777D-1BF68875CE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Material &amp; Supplies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981E4CD6-E0B2-3E71-AEB3-123932CCB3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cs typeface="Arial"/>
              </a:rPr>
              <a:t>DI Water (approx. ¾ of reservoir)</a:t>
            </a:r>
          </a:p>
          <a:p>
            <a:r>
              <a:rPr lang="en-US" altLang="en-US" dirty="0">
                <a:cs typeface="Arial"/>
              </a:rPr>
              <a:t>Funnel/Beaker</a:t>
            </a:r>
          </a:p>
          <a:p>
            <a:r>
              <a:rPr lang="en-US" altLang="en-US" dirty="0">
                <a:cs typeface="Arial"/>
              </a:rPr>
              <a:t>Compressed air – Caution</a:t>
            </a:r>
          </a:p>
          <a:p>
            <a:r>
              <a:rPr lang="en-US" altLang="en-US" dirty="0">
                <a:cs typeface="Arial"/>
              </a:rPr>
              <a:t>Steam – Caution</a:t>
            </a:r>
          </a:p>
          <a:p>
            <a:r>
              <a:rPr lang="en-US" altLang="en-US" dirty="0">
                <a:cs typeface="Arial"/>
              </a:rPr>
              <a:t>Anemometer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8C9E42A6-9A63-64D3-5B34-E7076AC116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Procedure – Set Up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B4781A5C-6636-6357-5D32-D516C1A5FE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cs typeface="Arial"/>
              </a:rPr>
              <a:t>Set up</a:t>
            </a:r>
          </a:p>
          <a:p>
            <a:pPr lvl="1"/>
            <a:r>
              <a:rPr lang="en-US" altLang="en-US">
                <a:cs typeface="Arial"/>
              </a:rPr>
              <a:t>Fill water reservoir with DI water</a:t>
            </a:r>
          </a:p>
          <a:p>
            <a:pPr lvl="1"/>
            <a:r>
              <a:rPr lang="en-US" altLang="en-US">
                <a:cs typeface="Arial"/>
              </a:rPr>
              <a:t>Open water flow valve</a:t>
            </a:r>
          </a:p>
          <a:p>
            <a:pPr lvl="1"/>
            <a:r>
              <a:rPr lang="en-US" altLang="en-US">
                <a:cs typeface="Arial"/>
              </a:rPr>
              <a:t>Start pump – adjust water flow upwards until column walls are fully wetted, then decrease</a:t>
            </a:r>
          </a:p>
          <a:p>
            <a:pPr lvl="1"/>
            <a:r>
              <a:rPr lang="en-US" altLang="en-US">
                <a:cs typeface="Arial"/>
              </a:rPr>
              <a:t>Turn on thermocouple reader</a:t>
            </a:r>
          </a:p>
          <a:p>
            <a:pPr lvl="1"/>
            <a:r>
              <a:rPr lang="en-US" altLang="en-US">
                <a:cs typeface="Arial"/>
              </a:rPr>
              <a:t>Adjust air flow as needed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99EDE-4BE6-C102-4D74-6C3C84502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Procedure – Experiment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4A25C-7888-97F4-E2B5-03FD3D442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cs typeface="Arial"/>
              </a:rPr>
              <a:t>Operate the wetted column until steady state for:</a:t>
            </a:r>
          </a:p>
          <a:p>
            <a:pPr lvl="1">
              <a:buFont typeface="Courier New"/>
              <a:buChar char="o"/>
            </a:pPr>
            <a:r>
              <a:rPr lang="en-US">
                <a:cs typeface="Arial"/>
              </a:rPr>
              <a:t>Three temperatures, with three air flows per temperature</a:t>
            </a:r>
          </a:p>
        </p:txBody>
      </p:sp>
    </p:spTree>
    <p:extLst>
      <p:ext uri="{BB962C8B-B14F-4D97-AF65-F5344CB8AC3E}">
        <p14:creationId xmlns:p14="http://schemas.microsoft.com/office/powerpoint/2010/main" val="2144742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2C3C4-9DF3-FFAA-955F-FEBA4CAE4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Procedure – Clean Up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9F0F7-60CE-9A74-0EBB-4BB851551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cs typeface="Arial"/>
              </a:rPr>
              <a:t>Turn off steam if on</a:t>
            </a:r>
          </a:p>
          <a:p>
            <a:r>
              <a:rPr lang="en-US">
                <a:cs typeface="Arial"/>
              </a:rPr>
              <a:t>Allow water to pump out into drain – do not run the pump dry</a:t>
            </a:r>
          </a:p>
          <a:p>
            <a:r>
              <a:rPr lang="en-US">
                <a:cs typeface="Arial"/>
              </a:rPr>
              <a:t>Keep compressed air running at approx. 3 SCFD to dry the column. </a:t>
            </a:r>
          </a:p>
          <a:p>
            <a:r>
              <a:rPr lang="en-US">
                <a:cs typeface="Arial"/>
              </a:rPr>
              <a:t>Turn off thermocouple reader</a:t>
            </a:r>
          </a:p>
        </p:txBody>
      </p:sp>
    </p:spTree>
    <p:extLst>
      <p:ext uri="{BB962C8B-B14F-4D97-AF65-F5344CB8AC3E}">
        <p14:creationId xmlns:p14="http://schemas.microsoft.com/office/powerpoint/2010/main" val="763027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EA1A8C57-DFDC-174D-AA61-A07B648383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Experimental Challenges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1F9BF321-53FB-2350-E351-261B940143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cs typeface="Arial"/>
              </a:rPr>
              <a:t>Temperature and humidity take a long time to reach steady state –</a:t>
            </a:r>
            <a:r>
              <a:rPr lang="en-US" altLang="en-US" b="1">
                <a:cs typeface="Arial"/>
              </a:rPr>
              <a:t> Be Patient</a:t>
            </a:r>
          </a:p>
          <a:p>
            <a:r>
              <a:rPr lang="en-US" altLang="en-US">
                <a:cs typeface="Arial"/>
              </a:rPr>
              <a:t>The calculations for this lab are robust – </a:t>
            </a:r>
            <a:r>
              <a:rPr lang="en-US" altLang="en-US" b="1">
                <a:cs typeface="Arial"/>
              </a:rPr>
              <a:t>Start Early</a:t>
            </a:r>
            <a:endParaRPr lang="en-US" altLang="en-US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EE6E2449-5647-1E32-6FF3-EF240AC8E9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Safety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27B29DBA-FD52-402F-65A8-31AAFB5ADD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cs typeface="Arial"/>
              </a:rPr>
              <a:t>Water is close to electric components</a:t>
            </a:r>
          </a:p>
          <a:p>
            <a:r>
              <a:rPr lang="en-US" altLang="en-US">
                <a:cs typeface="Arial"/>
              </a:rPr>
              <a:t>Compressed air is used (134.7 psia) – rated down</a:t>
            </a:r>
          </a:p>
          <a:p>
            <a:r>
              <a:rPr lang="en-US" altLang="en-US">
                <a:cs typeface="Arial"/>
              </a:rPr>
              <a:t>Steam is used (133 deg C) – also rated down</a:t>
            </a:r>
          </a:p>
          <a:p>
            <a:r>
              <a:rPr lang="en-US" altLang="en-US">
                <a:cs typeface="Arial"/>
              </a:rPr>
              <a:t>Heat exchanger (used with steam)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db3b595-033b-4aec-87ee-d015b347bf7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11CB912D68D647B0AD5C173471DE14" ma:contentTypeVersion="6" ma:contentTypeDescription="Create a new document." ma:contentTypeScope="" ma:versionID="b5c8a6dca3a3bea653a7fe9b1d2c2ecb">
  <xsd:schema xmlns:xsd="http://www.w3.org/2001/XMLSchema" xmlns:xs="http://www.w3.org/2001/XMLSchema" xmlns:p="http://schemas.microsoft.com/office/2006/metadata/properties" xmlns:ns3="cdb3b595-033b-4aec-87ee-d015b347bf7f" targetNamespace="http://schemas.microsoft.com/office/2006/metadata/properties" ma:root="true" ma:fieldsID="8b898a859731f3f0ab1cff32d2eacc5e" ns3:_="">
    <xsd:import namespace="cdb3b595-033b-4aec-87ee-d015b347bf7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b3b595-033b-4aec-87ee-d015b347bf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2231F7-BC2F-4BCC-817F-894F6227D1DF}">
  <ds:schemaRefs>
    <ds:schemaRef ds:uri="http://www.w3.org/XML/1998/namespace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cdb3b595-033b-4aec-87ee-d015b347bf7f"/>
  </ds:schemaRefs>
</ds:datastoreItem>
</file>

<file path=customXml/itemProps2.xml><?xml version="1.0" encoding="utf-8"?>
<ds:datastoreItem xmlns:ds="http://schemas.openxmlformats.org/officeDocument/2006/customXml" ds:itemID="{81B25ADC-C429-4608-A3BE-2E926A56B2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54F636-EF55-4B5D-9D08-9EC73D020E5D}">
  <ds:schemaRefs>
    <ds:schemaRef ds:uri="cdb3b595-033b-4aec-87ee-d015b347bf7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350</Words>
  <Application>Microsoft Office PowerPoint</Application>
  <PresentationFormat>On-screen Show (4:3)</PresentationFormat>
  <Paragraphs>68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Courier New</vt:lpstr>
      <vt:lpstr>Default Design</vt:lpstr>
      <vt:lpstr>   Humidification</vt:lpstr>
      <vt:lpstr>Introduction</vt:lpstr>
      <vt:lpstr>Introduction</vt:lpstr>
      <vt:lpstr>Theory</vt:lpstr>
      <vt:lpstr>Theory</vt:lpstr>
      <vt:lpstr>Apparatus</vt:lpstr>
      <vt:lpstr>Material &amp; Supplies</vt:lpstr>
      <vt:lpstr>Procedure – Set Up</vt:lpstr>
      <vt:lpstr>Procedure – Experiment </vt:lpstr>
      <vt:lpstr>Procedure – Clean Up</vt:lpstr>
      <vt:lpstr>Experimental Challenges</vt:lpstr>
      <vt:lpstr>Safety</vt:lpstr>
    </vt:vector>
  </TitlesOfParts>
  <Company>UIC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UIC BRAND</dc:title>
  <dc:creator>Elizabeth Zweigle Yee</dc:creator>
  <cp:lastModifiedBy>Zdunek, Alan</cp:lastModifiedBy>
  <cp:revision>3</cp:revision>
  <dcterms:created xsi:type="dcterms:W3CDTF">2008-04-09T18:55:55Z</dcterms:created>
  <dcterms:modified xsi:type="dcterms:W3CDTF">2025-09-17T23:11:04Z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0x0101002C11CB912D68D647B0AD5C173471DE14</vt:lpwstr>
  </property>
</Properties>
</file>