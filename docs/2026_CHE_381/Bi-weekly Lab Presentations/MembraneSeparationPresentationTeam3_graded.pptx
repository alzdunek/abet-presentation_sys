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A_0.xml" ContentType="application/vnd.ms-powerpoint.comments+xml"/>
  <Override PartName="/ppt/comments/modernComment_12B_0.xml" ContentType="application/vnd.ms-powerpoint.comments+xml"/>
  <Override PartName="/ppt/comments/modernComment_12E_0.xml" ContentType="application/vnd.ms-powerpoint.comments+xml"/>
  <Override PartName="/ppt/comments/modernComment_12F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7" r:id="rId6"/>
    <p:sldId id="298" r:id="rId7"/>
    <p:sldId id="299" r:id="rId8"/>
    <p:sldId id="300" r:id="rId9"/>
    <p:sldId id="301" r:id="rId10"/>
    <p:sldId id="302" r:id="rId11"/>
    <p:sldId id="303" r:id="rId12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34C"/>
    <a:srgbClr val="0066CC"/>
    <a:srgbClr val="3366FF"/>
    <a:srgbClr val="CC9900"/>
    <a:srgbClr val="996600"/>
    <a:srgbClr val="99CCFF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2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536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93D00F-382F-411F-8962-C071B0633725}" authorId="{DF52CCAC-0B66-CA76-A7A3-D551D844506B}" created="2025-11-12T17:47:09.9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spMk id="3" creationId="{69F0AB47-CCE5-3C05-20DC-8431C37E44EA}"/>
      <ac:txMk cp="82" len="10">
        <ac:context len="517" hash="3582770358"/>
      </ac:txMk>
    </ac:txMkLst>
    <p188:pos x="1696825" y="908115"/>
    <p188:txBody>
      <a:bodyPr/>
      <a:lstStyle/>
      <a:p>
        <a:r>
          <a:rPr lang="en-US"/>
          <a:t>absorption</a:t>
        </a:r>
      </a:p>
    </p188:txBody>
  </p188:cm>
</p188:cmLst>
</file>

<file path=ppt/comments/modernComment_12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0F7368-A605-4599-BC5D-8CDAD6505D2D}" authorId="{DF52CCAC-0B66-CA76-A7A3-D551D844506B}" created="2025-11-12T17:48:38.779">
    <pc:sldMkLst xmlns:pc="http://schemas.microsoft.com/office/powerpoint/2013/main/command">
      <pc:docMk/>
      <pc:sldMk cId="0" sldId="299"/>
    </pc:sldMkLst>
    <p188:txBody>
      <a:bodyPr/>
      <a:lstStyle/>
      <a:p>
        <a:r>
          <a:rPr lang="en-US"/>
          <a:t>-2
Images are hard to see.</a:t>
        </a:r>
      </a:p>
    </p188:txBody>
  </p188:cm>
</p188:cmLst>
</file>

<file path=ppt/comments/modernComment_12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2D62CE-818E-4272-877E-054602CEF9E9}" authorId="{DF52CCAC-0B66-CA76-A7A3-D551D844506B}" created="2025-11-12T17:50:13.0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2"/>
      <ac:spMk id="129027" creationId="{6019A908-8BD2-E94A-C8CE-B0B45DAE9332}"/>
    </ac:deMkLst>
    <p188:txBody>
      <a:bodyPr/>
      <a:lstStyle/>
      <a:p>
        <a:r>
          <a:rPr lang="en-US"/>
          <a:t>Where were the small leaks?  I don’t think this apparatus has any leaks.</a:t>
        </a:r>
      </a:p>
    </p188:txBody>
  </p188:cm>
</p188:cmLst>
</file>

<file path=ppt/comments/modernComment_12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4D9D08-21E3-4DF8-815D-F9E9D034A2E3}" authorId="{DF52CCAC-0B66-CA76-A7A3-D551D844506B}" created="2025-11-12T17:51:01.9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3"/>
      <ac:spMk id="130051" creationId="{210F1ABD-DA28-D8B3-69A4-A94AAD9D5C32}"/>
    </ac:deMkLst>
    <p188:txBody>
      <a:bodyPr/>
      <a:lstStyle/>
      <a:p>
        <a:r>
          <a:rPr lang="en-US"/>
          <a:t>-2
Mention the high pressure in the cylinder and the experimental pressure range used.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25281D-8DBB-4B87-A903-C751ED286949}" authorId="{DF52CCAC-0B66-CA76-A7A3-D551D844506B}" created="2025-11-12T17:51:27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3" creationId="{540B9A39-7C8E-DFA0-105E-8A323407D109}"/>
    </ac:deMkLst>
    <p188:txBody>
      <a:bodyPr/>
      <a:lstStyle/>
      <a:p>
        <a:r>
          <a:rPr lang="en-US"/>
          <a:t>96/100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FC2F20FA-D590-AA86-3E4F-82CDBCBCE1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8E34053A-EE24-0D94-816C-B458CAB61F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1FD5EEAF-9BD2-3B99-D075-2BF7417936C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EE65C489-6617-3393-9FA1-9E204C94B27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C30608C-09FC-40E2-912A-7C5CF9D2B5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33B68E09-1C4F-3B6F-5B73-9B10DA9CD3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36A9B291-5860-5845-9C8E-6FA7156B369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809786FD-B506-5D03-891D-D7F65610E3A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D8E17800-81F6-5761-1806-C4EF234064C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6966C1E0-6EDA-4551-FC03-867F9A6414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C14CFC1C-A9D8-C5C5-CE7E-A8FD24467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166184E-F0D8-44BE-AA0B-501B16E3B28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318D536D-0222-58A5-4661-1E4680FF65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7928BC-0E37-47B4-B36B-3B887DB3523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2B29BB52-1604-1C86-8A8F-DA1186BBC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CA2C961A-810F-4AA3-5E8F-4D599A1416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A1849082-A172-5FD0-0F67-0138ADC43C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04C5AE-E266-476B-BF0A-61530B967114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23D0EF9C-B3F4-68A4-B638-B19B43BB90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E826FBA7-310F-435D-6EB2-3A323E508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5DA698F-8C87-E604-B9D0-6525510532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390FDCD-9FB9-7D3A-0795-B814698CF7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EDFB7CB-814B-5924-7895-A1426C19FF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E08151A2-5451-91FF-274C-710BDAE4A8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CD5D-2727-A0CA-6CA9-DD85CDF8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8676F-8452-418C-5B5E-0E26A6293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210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A80E-8F17-0FE0-8D5B-627FB555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64577-E0EA-5CDC-59AE-71C6FC885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727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2CB3-61FF-2590-4330-11A091B07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C00AD-C787-A073-0F37-6681F237F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C42BB-6005-C8FE-61D2-548DF8434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147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715A-BA6F-7870-C370-8851C51F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0827E-5213-E254-B9F7-8CE81DE51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2F219-FF62-E046-BC4E-AA509F8A8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4813E-8DC9-9468-0F47-430BB5D41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209B2-579C-130D-998D-94582B715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598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AE4B-8477-F354-82BF-CD5A513D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685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63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C387-6488-FF8B-60E6-40BFC722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4D74-9DA4-C060-355D-9F1F296E6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7F41F-501D-2316-567E-31ED6FAD7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659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C658-A0E9-8C80-9AA5-8A9E4CDD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FA7DD6-5BEC-9AC4-8AE7-77FAD301C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BB0D4-2489-42FC-6D44-98AED86CD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34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FD4E-6083-99F8-2723-1F98DCF8F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759ED-C2BD-C47C-904E-11C59AB13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E16F3-FEAB-0A38-4DBF-99A905108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0836B-7BA8-900E-E447-2116F048D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1689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7CCBA3-EA72-CC37-8D01-DA8B767F0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893A364-C0AB-968A-02CB-CD061D7BE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469EBA23-1CC9-71D0-8060-79FC5FBCF2D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C236C069-4CA2-8467-7608-9AEF87AE46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microsoft.com/office/2018/10/relationships/comments" Target="../comments/modernComment_12B_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E_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F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83C806EA-1655-869A-89DF-D997412CF9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41148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4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Rishabh S. Patel, Kyle </a:t>
            </a:r>
            <a:r>
              <a:rPr lang="en-US" altLang="en-US" sz="2800" dirty="0" err="1"/>
              <a:t>Hankosky</a:t>
            </a:r>
            <a:r>
              <a:rPr lang="en-US" altLang="en-US" sz="2800" dirty="0"/>
              <a:t>, Khoa Nguyen, Alexis Guillen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V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11/11/25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40B9A39-7C8E-DFA0-105E-8A323407D1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 dirty="0"/>
            </a:br>
            <a:br>
              <a:rPr lang="en-US" altLang="en-US" sz="4000" b="1" dirty="0"/>
            </a:br>
            <a:br>
              <a:rPr lang="en-US" altLang="en-US" sz="4000" b="1" dirty="0"/>
            </a:br>
            <a:r>
              <a:rPr lang="en-US" altLang="en-US" sz="4000" b="1" dirty="0"/>
              <a:t>Membrane Air Separation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063F960F-8362-36A4-08E1-4832045CF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E20B1ACC-23F1-D632-AC8A-2E1A8E756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4A9877A2-AA08-2BE6-D7F7-4511F696C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133599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 b="1" dirty="0"/>
              <a:t>The main purpose of this lab is to study gas separation using nonporous polymeric membranes &amp; evaluate how the differences in diffusivity &amp; solubility affect gas transport through this membrane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507F6F2-31F9-0A69-A56F-F6428D972815}"/>
                  </a:ext>
                </a:extLst>
              </p:cNvPr>
              <p:cNvSpPr txBox="1"/>
              <p:nvPr/>
            </p:nvSpPr>
            <p:spPr>
              <a:xfrm>
                <a:off x="-46351" y="3122342"/>
                <a:ext cx="3200400" cy="2211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234C"/>
                    </a:solidFill>
                  </a:rPr>
                  <a:t>Membrane Transport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234C"/>
                    </a:solidFill>
                  </a:rPr>
                  <a:t>Gas permeation occurs via solution-diffusion process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234C"/>
                    </a:solidFill>
                  </a:rPr>
                  <a:t>Governed by Fick’s Law &amp; Henry’s Law</a:t>
                </a:r>
              </a:p>
              <a:p>
                <a:pPr marL="742950" lvl="1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d>
                      <m:dPr>
                        <m:ctrlP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𝑓𝑒𝑒𝑑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𝑝𝑒𝑟𝑚𝑒𝑎𝑡𝑒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solidFill>
                    <a:srgbClr val="00234C"/>
                  </a:solidFill>
                </a:endParaRPr>
              </a:p>
              <a:p>
                <a:pPr marL="285750" indent="-285750" algn="ctr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507F6F2-31F9-0A69-A56F-F6428D972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351" y="3122342"/>
                <a:ext cx="3200400" cy="2211439"/>
              </a:xfrm>
              <a:prstGeom prst="rect">
                <a:avLst/>
              </a:prstGeom>
              <a:blipFill>
                <a:blip r:embed="rId3"/>
                <a:stretch>
                  <a:fillRect l="-952" t="-826" b="-23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4802767-22A6-5D23-1ABF-DB5A591A39D4}"/>
              </a:ext>
            </a:extLst>
          </p:cNvPr>
          <p:cNvSpPr txBox="1"/>
          <p:nvPr/>
        </p:nvSpPr>
        <p:spPr>
          <a:xfrm>
            <a:off x="2895600" y="3072178"/>
            <a:ext cx="32004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800000"/>
              </a:buClr>
            </a:pPr>
            <a:r>
              <a:rPr lang="en-US" sz="1600" b="1" dirty="0">
                <a:solidFill>
                  <a:srgbClr val="00234C"/>
                </a:solidFill>
              </a:rPr>
              <a:t>Apparatus &amp; Experimental Setup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Two Prism™ membrane modules containing </a:t>
            </a:r>
            <a:r>
              <a:rPr lang="en-US" sz="1600" dirty="0" err="1">
                <a:solidFill>
                  <a:srgbClr val="00234C"/>
                </a:solidFill>
              </a:rPr>
              <a:t>polysulphone</a:t>
            </a:r>
            <a:r>
              <a:rPr lang="en-US" sz="1600" dirty="0">
                <a:solidFill>
                  <a:srgbClr val="00234C"/>
                </a:solidFill>
              </a:rPr>
              <a:t> hollow </a:t>
            </a:r>
            <a:r>
              <a:rPr lang="en-US" sz="1600" dirty="0" err="1">
                <a:solidFill>
                  <a:srgbClr val="00234C"/>
                </a:solidFill>
              </a:rPr>
              <a:t>fibres</a:t>
            </a:r>
            <a:r>
              <a:rPr lang="en-US" sz="1600" dirty="0">
                <a:solidFill>
                  <a:srgbClr val="00234C"/>
                </a:solidFill>
              </a:rPr>
              <a:t> (~2.7m^2 per module)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Can be operated in series or parallel to compare separation efficiency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Compressed air flows through </a:t>
            </a:r>
            <a:r>
              <a:rPr lang="en-US" sz="1600" dirty="0" err="1">
                <a:solidFill>
                  <a:srgbClr val="00234C"/>
                </a:solidFill>
              </a:rPr>
              <a:t>fibre</a:t>
            </a:r>
            <a:r>
              <a:rPr lang="en-US" sz="1600" dirty="0">
                <a:solidFill>
                  <a:srgbClr val="00234C"/>
                </a:solidFill>
              </a:rPr>
              <a:t> lumens and oxygen-enriched gas permeates into shell side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081855-F482-F1B2-EE62-BD1328744969}"/>
                  </a:ext>
                </a:extLst>
              </p:cNvPr>
              <p:cNvSpPr txBox="1"/>
              <p:nvPr/>
            </p:nvSpPr>
            <p:spPr>
              <a:xfrm>
                <a:off x="5989951" y="3072178"/>
                <a:ext cx="3200400" cy="3068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234C"/>
                    </a:solidFill>
                  </a:rPr>
                  <a:t>Data Analysis &amp; Evaluation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234C"/>
                    </a:solidFill>
                  </a:rPr>
                  <a:t>Calculate:</a:t>
                </a:r>
              </a:p>
              <a:p>
                <a:pPr marL="742950" lvl="1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234C"/>
                    </a:solidFill>
                  </a:rPr>
                  <a:t>Overall mass-transfer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US" sz="160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1600" b="0" i="1" smtClean="0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US" sz="160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solidFill>
                      <a:srgbClr val="00234C"/>
                    </a:solidFill>
                  </a:rPr>
                  <a:t>	Selectivity parameters: </a:t>
                </a:r>
                <a:r>
                  <a:rPr lang="el-GR" sz="1600" dirty="0">
                    <a:solidFill>
                      <a:srgbClr val="00234C"/>
                    </a:solidFill>
                  </a:rPr>
                  <a:t>α</a:t>
                </a:r>
                <a:r>
                  <a:rPr lang="en-US" sz="1600" dirty="0">
                    <a:solidFill>
                      <a:srgbClr val="00234C"/>
                    </a:solidFill>
                  </a:rPr>
                  <a:t>, </a:t>
                </a:r>
                <a:r>
                  <a:rPr lang="el-GR" sz="1600" dirty="0">
                    <a:solidFill>
                      <a:srgbClr val="00234C"/>
                    </a:solidFill>
                  </a:rPr>
                  <a:t>α</a:t>
                </a:r>
                <a:r>
                  <a:rPr lang="en-US" sz="1600" dirty="0">
                    <a:solidFill>
                      <a:srgbClr val="00234C"/>
                    </a:solidFill>
                  </a:rPr>
                  <a:t>’, </a:t>
                </a:r>
                <a:r>
                  <a:rPr lang="el-GR" sz="1600" dirty="0">
                    <a:solidFill>
                      <a:srgbClr val="00234C"/>
                    </a:solidFill>
                  </a:rPr>
                  <a:t>α</a:t>
                </a:r>
                <a:r>
                  <a:rPr lang="en-US" sz="1600" dirty="0">
                    <a:solidFill>
                      <a:srgbClr val="00234C"/>
                    </a:solidFill>
                  </a:rPr>
                  <a:t>”</a:t>
                </a:r>
              </a:p>
              <a:p>
                <a:pPr marL="742950" lvl="1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234C"/>
                    </a:solidFill>
                  </a:rPr>
                  <a:t>Recovery and Stage Cut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234C"/>
                    </a:solidFill>
                  </a:rPr>
                  <a:t>Analyze effects of pressure and flowrate on transport performance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0234C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234C"/>
                    </a:solidFill>
                  </a:rPr>
                  <a:t> versus operating pressure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081855-F482-F1B2-EE62-BD1328744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951" y="3072178"/>
                <a:ext cx="3200400" cy="3068148"/>
              </a:xfrm>
              <a:prstGeom prst="rect">
                <a:avLst/>
              </a:prstGeom>
              <a:blipFill>
                <a:blip r:embed="rId4"/>
                <a:stretch>
                  <a:fillRect l="-1143" t="-596" r="-1333" b="-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FD9137D3-E7A5-3CED-155C-5F153F6D7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0AB47-CCE5-3C05-20DC-8431C37E44EA}"/>
                  </a:ext>
                </a:extLst>
              </p:cNvPr>
              <p:cNvSpPr txBox="1"/>
              <p:nvPr/>
            </p:nvSpPr>
            <p:spPr>
              <a:xfrm>
                <a:off x="0" y="1524000"/>
                <a:ext cx="3200400" cy="4390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234C"/>
                    </a:solidFill>
                  </a:rPr>
                  <a:t>Underlying physical principles &amp; Governing equations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Solution-diffusion mechanism</a:t>
                </a:r>
              </a:p>
              <a:p>
                <a:pPr marL="742950" lvl="1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rgbClr val="00234C"/>
                    </a:solidFill>
                  </a:rPr>
                  <a:t>adsorption</a:t>
                </a:r>
                <a:r>
                  <a:rPr lang="en-US" sz="1400" dirty="0" err="1">
                    <a:solidFill>
                      <a:srgbClr val="00234C"/>
                    </a:solidFill>
                    <a:sym typeface="Wingdings" panose="05000000000000000000" pitchFamily="2" charset="2"/>
                  </a:rPr>
                  <a:t>dissolution</a:t>
                </a:r>
                <a:r>
                  <a:rPr lang="en-US" sz="1400" dirty="0">
                    <a:solidFill>
                      <a:srgbClr val="00234C"/>
                    </a:solidFill>
                    <a:sym typeface="Wingdings" panose="05000000000000000000" pitchFamily="2" charset="2"/>
                  </a:rPr>
                  <a:t> in </a:t>
                </a:r>
                <a:r>
                  <a:rPr lang="en-US" sz="1400" dirty="0" err="1">
                    <a:solidFill>
                      <a:srgbClr val="00234C"/>
                    </a:solidFill>
                    <a:sym typeface="Wingdings" panose="05000000000000000000" pitchFamily="2" charset="2"/>
                  </a:rPr>
                  <a:t>polymerdiffusion</a:t>
                </a:r>
                <a:r>
                  <a:rPr lang="en-US" sz="1400" dirty="0">
                    <a:solidFill>
                      <a:srgbClr val="00234C"/>
                    </a:solidFill>
                    <a:sym typeface="Wingdings" panose="05000000000000000000" pitchFamily="2" charset="2"/>
                  </a:rPr>
                  <a:t> across </a:t>
                </a:r>
                <a:r>
                  <a:rPr lang="en-US" sz="1400" dirty="0" err="1">
                    <a:solidFill>
                      <a:srgbClr val="00234C"/>
                    </a:solidFill>
                    <a:sym typeface="Wingdings" panose="05000000000000000000" pitchFamily="2" charset="2"/>
                  </a:rPr>
                  <a:t>membranedesorption</a:t>
                </a:r>
                <a:endParaRPr lang="en-US" sz="1400" dirty="0">
                  <a:solidFill>
                    <a:srgbClr val="00234C"/>
                  </a:solidFill>
                  <a:sym typeface="Wingdings" panose="05000000000000000000" pitchFamily="2" charset="2"/>
                </a:endParaRP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Partial pressure difference across each membrane drives gas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Permeation equation (from Fick &amp; Henry’s Law)</a:t>
                </a:r>
              </a:p>
              <a:p>
                <a:pPr marL="742950" lvl="1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d>
                      <m:d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𝑓𝑒𝑒𝑑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𝑝𝑒𝑟𝑚𝑒𝑎𝑡𝑒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>
                  <a:solidFill>
                    <a:srgbClr val="00234C"/>
                  </a:solidFill>
                </a:endParaRPr>
              </a:p>
              <a:p>
                <a:pPr marL="285750" indent="-285750" algn="ctr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234C"/>
                    </a:solidFill>
                  </a:rPr>
                  <a:t>	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Ideal </a:t>
                </a:r>
                <a:r>
                  <a:rPr lang="en-US" sz="1400" dirty="0" err="1">
                    <a:solidFill>
                      <a:srgbClr val="00234C"/>
                    </a:solidFill>
                  </a:rPr>
                  <a:t>Selctivity</a:t>
                </a:r>
                <a:r>
                  <a:rPr lang="en-US" sz="1400" dirty="0">
                    <a:solidFill>
                      <a:srgbClr val="00234C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>
                  <a:solidFill>
                    <a:srgbClr val="00234C"/>
                  </a:solidFill>
                </a:endParaRP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Overall mass transfer coefficient</a:t>
                </a:r>
              </a:p>
              <a:p>
                <a:pPr marL="742950" lvl="1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𝑓𝑒𝑒𝑑</m:t>
                            </m:r>
                          </m:sub>
                        </m:sSub>
                        <m: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𝑝𝑒𝑟𝑚𝑒𝑎𝑡𝑒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>
                  <a:solidFill>
                    <a:srgbClr val="00234C"/>
                  </a:solidFill>
                </a:endParaRP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𝑆𝑡𝑎𝑔𝑒</m:t>
                    </m:r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𝐶𝑢𝑡</m:t>
                    </m:r>
                    <m:r>
                      <a:rPr lang="en-US" sz="1400" i="1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endParaRPr lang="en-US" sz="1400" dirty="0">
                  <a:solidFill>
                    <a:srgbClr val="00234C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0AB47-CCE5-3C05-20DC-8431C37E4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000"/>
                <a:ext cx="3200400" cy="4390946"/>
              </a:xfrm>
              <a:prstGeom prst="rect">
                <a:avLst/>
              </a:prstGeom>
              <a:blipFill>
                <a:blip r:embed="rId3"/>
                <a:stretch>
                  <a:fillRect l="-571" t="-278" b="-6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AA1ED06-C924-C494-006E-0D9339BD7FF2}"/>
              </a:ext>
            </a:extLst>
          </p:cNvPr>
          <p:cNvSpPr txBox="1"/>
          <p:nvPr/>
        </p:nvSpPr>
        <p:spPr>
          <a:xfrm>
            <a:off x="3068541" y="1523998"/>
            <a:ext cx="32004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34C"/>
                </a:solidFill>
              </a:rPr>
              <a:t>Assumptions &amp; Limitations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</a:rPr>
              <a:t>Membranes are treated as nonporous, dense and </a:t>
            </a:r>
            <a:r>
              <a:rPr lang="en-US" sz="1400" dirty="0" err="1">
                <a:solidFill>
                  <a:srgbClr val="00234C"/>
                </a:solidFill>
              </a:rPr>
              <a:t>uniform</a:t>
            </a:r>
            <a:r>
              <a:rPr lang="en-US" sz="1400" dirty="0" err="1">
                <a:solidFill>
                  <a:srgbClr val="00234C"/>
                </a:solidFill>
                <a:sym typeface="Wingdings" panose="05000000000000000000" pitchFamily="2" charset="2"/>
              </a:rPr>
              <a:t>const</a:t>
            </a: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. thickness, Z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Steady-State: transient </a:t>
            </a:r>
            <a:r>
              <a:rPr lang="en-US" sz="1400" dirty="0" err="1">
                <a:solidFill>
                  <a:srgbClr val="00234C"/>
                </a:solidFill>
                <a:sym typeface="Wingdings" panose="05000000000000000000" pitchFamily="2" charset="2"/>
              </a:rPr>
              <a:t>behaviour</a:t>
            </a: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 neglected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Isothermal conditions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Gas phase is ideal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Negligible external mass-transfer resistance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Negligible pressure drop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System treated mainly as a binary mixture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34C"/>
                </a:solidFill>
                <a:sym typeface="Wingdings" panose="05000000000000000000" pitchFamily="2" charset="2"/>
              </a:rPr>
              <a:t>Permeation described only by solution-diffusion</a:t>
            </a:r>
            <a:endParaRPr lang="en-US" sz="1400" dirty="0">
              <a:solidFill>
                <a:srgbClr val="00234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FBB4B8-1E27-9595-6CA0-C8ADBC5A0AFF}"/>
                  </a:ext>
                </a:extLst>
              </p:cNvPr>
              <p:cNvSpPr txBox="1"/>
              <p:nvPr/>
            </p:nvSpPr>
            <p:spPr>
              <a:xfrm>
                <a:off x="6096000" y="1513394"/>
                <a:ext cx="3048000" cy="5281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234C"/>
                    </a:solidFill>
                  </a:rPr>
                  <a:t>Connection to experiment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Two hollow </a:t>
                </a:r>
                <a:r>
                  <a:rPr lang="en-US" sz="1400" dirty="0" err="1">
                    <a:solidFill>
                      <a:srgbClr val="00234C"/>
                    </a:solidFill>
                  </a:rPr>
                  <a:t>fibre</a:t>
                </a:r>
                <a:r>
                  <a:rPr lang="en-US" sz="1400" dirty="0">
                    <a:solidFill>
                      <a:srgbClr val="00234C"/>
                    </a:solidFill>
                  </a:rPr>
                  <a:t> Prism™ modules are operated either in series or parallel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Measured values: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	feed pressure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	tube and shell-side 	flowrates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234C"/>
                    </a:solidFill>
                  </a:rPr>
                  <a:t> mole fractions in each 	stream at ~1atm outlet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Use the measurements to: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	Compute fluxes &amp; overall transfer coefficients </a:t>
                </a:r>
                <a:r>
                  <a:rPr lang="en-US" sz="1400" dirty="0">
                    <a:solidFill>
                      <a:srgbClr val="00234C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1400" b="0" i="1" smtClean="0">
                        <a:solidFill>
                          <a:srgbClr val="00234C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sz="14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234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endParaRPr lang="en-US" sz="1400" b="0" dirty="0">
                  <a:solidFill>
                    <a:srgbClr val="00234C"/>
                  </a:solidFill>
                </a:endParaRP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	Determine selectivity and experimental separation factors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234C"/>
                    </a:solidFill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234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234C"/>
                    </a:solidFill>
                  </a:rPr>
                  <a:t> 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	Evaluate recovery and stage cut, to compare performance for series vs. parallel</a:t>
                </a:r>
              </a:p>
              <a:p>
                <a:pPr marL="285750" indent="-285750">
                  <a:buClr>
                    <a:srgbClr val="800000"/>
                  </a:buClr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34C"/>
                    </a:solidFill>
                  </a:rPr>
                  <a:t>Directly tests how the equations and assumptions predict real membrane </a:t>
                </a:r>
                <a:r>
                  <a:rPr lang="en-US" sz="1400" dirty="0" err="1">
                    <a:solidFill>
                      <a:srgbClr val="00234C"/>
                    </a:solidFill>
                  </a:rPr>
                  <a:t>behaviour</a:t>
                </a:r>
                <a:endParaRPr lang="en-US" sz="1400" dirty="0">
                  <a:solidFill>
                    <a:srgbClr val="00234C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FBB4B8-1E27-9595-6CA0-C8ADBC5A0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13394"/>
                <a:ext cx="3048000" cy="5281446"/>
              </a:xfrm>
              <a:prstGeom prst="rect">
                <a:avLst/>
              </a:prstGeom>
              <a:blipFill>
                <a:blip r:embed="rId4"/>
                <a:stretch>
                  <a:fillRect l="-600" t="-115" b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F94B8440-8545-969C-BCDA-910E58F97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Apparatus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4F2C85-F6B7-3519-BDDF-51120E80C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248241"/>
              </p:ext>
            </p:extLst>
          </p:nvPr>
        </p:nvGraphicFramePr>
        <p:xfrm>
          <a:off x="0" y="1524000"/>
          <a:ext cx="9144000" cy="4800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4038375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4703529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06364684"/>
                    </a:ext>
                  </a:extLst>
                </a:gridCol>
              </a:tblGrid>
              <a:tr h="12394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70732"/>
                  </a:ext>
                </a:extLst>
              </a:tr>
              <a:tr h="1239499">
                <a:tc>
                  <a:txBody>
                    <a:bodyPr/>
                    <a:lstStyle/>
                    <a:p>
                      <a:r>
                        <a:rPr lang="en-US" dirty="0"/>
                        <a:t>Membrane Separator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Strain-gauge Transducer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3-Way Directional Valves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820515"/>
                  </a:ext>
                </a:extLst>
              </a:tr>
              <a:tr h="12394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861402"/>
                  </a:ext>
                </a:extLst>
              </a:tr>
              <a:tr h="1082102">
                <a:tc>
                  <a:txBody>
                    <a:bodyPr/>
                    <a:lstStyle/>
                    <a:p>
                      <a:r>
                        <a:rPr lang="en-US" dirty="0"/>
                        <a:t>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Oxygen Analyzers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Volumetric flowmeters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56920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84C68B-AE70-2166-CABF-4362E2F9D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2378075" cy="589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806E6-87C7-1A39-CA6B-52B5BBE0C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90540"/>
            <a:ext cx="2404110" cy="463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D1F720-A73D-8B2D-E069-EB111D941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0481" y="1521777"/>
            <a:ext cx="1542817" cy="1184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59D707-C4F5-C4E4-EECA-4A498ED6D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544079"/>
            <a:ext cx="952890" cy="614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91240B-A158-3870-22BD-C5035B449F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9876" y="1517885"/>
            <a:ext cx="1354123" cy="589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62943-CCEB-3128-FD50-A78404BDBB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4191" y="2107800"/>
            <a:ext cx="1485900" cy="771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2ED0C8-5B07-C001-4DB5-B406F8392F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3984520"/>
            <a:ext cx="2434590" cy="1009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F23C02-A507-95BA-BD5F-315DC8AAA9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9474" y="3513602"/>
            <a:ext cx="862013" cy="14991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15EBAF-7FBA-FD83-8B85-7D607D3A24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1285" y="3652125"/>
            <a:ext cx="940861" cy="13606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C7A134-FCFA-18C6-CDE0-26F543AF52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536" y="3800989"/>
            <a:ext cx="1158063" cy="13742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F48B3D-4B73-4A15-BA9E-0645723E0B4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96477" y="3749474"/>
            <a:ext cx="1354123" cy="1411745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F2C90D4C-CE58-131E-1EAF-75AA8322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D4F082-8FED-A4C0-33EA-F11ED3F43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040881"/>
              </p:ext>
            </p:extLst>
          </p:nvPr>
        </p:nvGraphicFramePr>
        <p:xfrm>
          <a:off x="0" y="1524000"/>
          <a:ext cx="9144000" cy="4800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75176014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32716668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19836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Compressed Air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  <a:p>
                      <a:pPr algn="r"/>
                      <a:endParaRPr lang="en-US" dirty="0"/>
                    </a:p>
                    <a:p>
                      <a:pPr algn="r"/>
                      <a:endParaRPr lang="en-US" dirty="0"/>
                    </a:p>
                    <a:p>
                      <a:pPr algn="r"/>
                      <a:r>
                        <a:rPr lang="en-US" dirty="0"/>
                        <a:t>Two-stage Pressure Regulator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6057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597199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17663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1AE8974-501F-6CD5-4FC4-1B2C9140F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1295400" cy="22694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FA19D3-18AA-976A-6242-83C80F39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24000"/>
            <a:ext cx="1958340" cy="1837088"/>
          </a:xfrm>
          <a:prstGeom prst="rect">
            <a:avLst/>
          </a:prstGeom>
        </p:spPr>
      </p:pic>
      <p:pic>
        <p:nvPicPr>
          <p:cNvPr id="2" name="Picture 1" descr="A red cylinder with a blue hose&#10;&#10;AI-generated content may be incorrect.">
            <a:extLst>
              <a:ext uri="{FF2B5EF4-FFF2-40B4-BE49-F238E27FC236}">
                <a16:creationId xmlns:a16="http://schemas.microsoft.com/office/drawing/2014/main" id="{732EAD46-9D63-3040-41CE-E43E7949B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63" y="4065062"/>
            <a:ext cx="2611206" cy="1951231"/>
          </a:xfrm>
          <a:prstGeom prst="rect">
            <a:avLst/>
          </a:prstGeom>
        </p:spPr>
      </p:pic>
      <p:pic>
        <p:nvPicPr>
          <p:cNvPr id="6" name="Picture 5" descr="A metal clamp attached to a wood surface&#10;&#10;AI-generated content may be incorrect.">
            <a:extLst>
              <a:ext uri="{FF2B5EF4-FFF2-40B4-BE49-F238E27FC236}">
                <a16:creationId xmlns:a16="http://schemas.microsoft.com/office/drawing/2014/main" id="{DAAAB9FC-2D6C-9C11-5BE5-15C69B1C7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622" y="4065062"/>
            <a:ext cx="1747977" cy="2333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B50B4B-3D21-592F-B2AE-FE0334301BA5}"/>
              </a:ext>
            </a:extLst>
          </p:cNvPr>
          <p:cNvSpPr txBox="1"/>
          <p:nvPr/>
        </p:nvSpPr>
        <p:spPr>
          <a:xfrm>
            <a:off x="3217022" y="4735840"/>
            <a:ext cx="12557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"/>
                <a:cs typeface="Arial"/>
              </a:rPr>
              <a:t>Hose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A5D6C-D372-B1E5-8A36-275E09ED3F84}"/>
              </a:ext>
            </a:extLst>
          </p:cNvPr>
          <p:cNvSpPr txBox="1"/>
          <p:nvPr/>
        </p:nvSpPr>
        <p:spPr>
          <a:xfrm>
            <a:off x="6532289" y="4850706"/>
            <a:ext cx="17101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"/>
                <a:cs typeface="Arial"/>
              </a:rPr>
              <a:t>Clamp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2A95FD7B-EBD4-2E11-A1F3-B4B35ABD2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1F9B27-22C5-FE95-AEB5-C70C2BCE42C7}"/>
              </a:ext>
            </a:extLst>
          </p:cNvPr>
          <p:cNvSpPr txBox="1"/>
          <p:nvPr/>
        </p:nvSpPr>
        <p:spPr>
          <a:xfrm>
            <a:off x="0" y="1524000"/>
            <a:ext cx="25908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00234C"/>
                </a:solidFill>
              </a:rPr>
              <a:t>Preparation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Turn on and calibrate both oxygen analyzers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Plug in the mass flow meters &amp; pressure transducer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Open the high-pressure air cylinder valve and record cylinder pressure (&gt;2000 </a:t>
            </a:r>
            <a:r>
              <a:rPr lang="en-US" sz="1600" dirty="0" err="1">
                <a:solidFill>
                  <a:srgbClr val="00234C"/>
                </a:solidFill>
              </a:rPr>
              <a:t>psig</a:t>
            </a:r>
            <a:r>
              <a:rPr lang="en-US" sz="1600" dirty="0">
                <a:solidFill>
                  <a:srgbClr val="00234C"/>
                </a:solidFill>
              </a:rPr>
              <a:t>)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Adjust the regulator to desired feed pressure (30-40 </a:t>
            </a:r>
            <a:r>
              <a:rPr lang="en-US" sz="1600" dirty="0" err="1">
                <a:solidFill>
                  <a:srgbClr val="00234C"/>
                </a:solidFill>
              </a:rPr>
              <a:t>psig</a:t>
            </a:r>
            <a:r>
              <a:rPr lang="en-US" sz="1600" dirty="0">
                <a:solidFill>
                  <a:srgbClr val="00234C"/>
                </a:solidFill>
              </a:rPr>
              <a:t>, for the initial run)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67318-62D6-1E2E-2B2E-B4366A539832}"/>
              </a:ext>
            </a:extLst>
          </p:cNvPr>
          <p:cNvSpPr txBox="1"/>
          <p:nvPr/>
        </p:nvSpPr>
        <p:spPr>
          <a:xfrm>
            <a:off x="2819400" y="1524000"/>
            <a:ext cx="2590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34C"/>
                </a:solidFill>
              </a:rPr>
              <a:t>2. Setup Configuration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For Parallel: 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A, left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B, up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C, down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D, up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For Series: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A, right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B, up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C, up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Valve D, 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16DF2-BFD6-809B-8376-141971428D1E}"/>
              </a:ext>
            </a:extLst>
          </p:cNvPr>
          <p:cNvSpPr txBox="1"/>
          <p:nvPr/>
        </p:nvSpPr>
        <p:spPr>
          <a:xfrm>
            <a:off x="5943600" y="1524000"/>
            <a:ext cx="25908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34C"/>
                </a:solidFill>
              </a:rPr>
              <a:t>3. Operation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Set desired tube-side flowrate using needle valve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Allow readings to stabilize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Record: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Operating pressure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Tube and Shell side flowrates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O2 conc. for each module</a:t>
            </a:r>
          </a:p>
          <a:p>
            <a:pPr marL="742950" lvl="1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Ambient temp.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56FE0-D1F3-6B29-7317-2B4B98C121D3}"/>
              </a:ext>
            </a:extLst>
          </p:cNvPr>
          <p:cNvSpPr txBox="1"/>
          <p:nvPr/>
        </p:nvSpPr>
        <p:spPr>
          <a:xfrm>
            <a:off x="2586162" y="4953000"/>
            <a:ext cx="35814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34C"/>
                </a:solidFill>
              </a:rPr>
              <a:t>4. Data Collection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Perform </a:t>
            </a:r>
            <a:r>
              <a:rPr lang="en-US" sz="1600" dirty="0" err="1">
                <a:solidFill>
                  <a:srgbClr val="00234C"/>
                </a:solidFill>
              </a:rPr>
              <a:t>atleast</a:t>
            </a:r>
            <a:r>
              <a:rPr lang="en-US" sz="1600" dirty="0">
                <a:solidFill>
                  <a:srgbClr val="00234C"/>
                </a:solidFill>
              </a:rPr>
              <a:t> 15 runs across different pressures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And flowrates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</a:rPr>
              <a:t>Repeat for both configurations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5BD1FC0C-F539-F10B-D8E0-397F1AA0F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6019A908-8BD2-E94A-C8CE-B0B45DAE93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2514600" cy="4419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b="1" dirty="0">
                <a:cs typeface="Times New Roman" panose="02020603050405020304" pitchFamily="18" charset="0"/>
              </a:rPr>
              <a:t>Difficulties</a:t>
            </a:r>
          </a:p>
          <a:p>
            <a:r>
              <a:rPr lang="en-US" altLang="en-US" sz="1600" dirty="0">
                <a:cs typeface="Times New Roman" panose="02020603050405020304" pitchFamily="18" charset="0"/>
              </a:rPr>
              <a:t>Maintaining steady pressure while adjusting needle valve</a:t>
            </a:r>
          </a:p>
          <a:p>
            <a:r>
              <a:rPr lang="en-US" altLang="en-US" sz="1600" dirty="0">
                <a:cs typeface="Times New Roman" panose="02020603050405020304" pitchFamily="18" charset="0"/>
              </a:rPr>
              <a:t>Recalibrating Oxygen analyzer to ensure accurate readings</a:t>
            </a:r>
          </a:p>
          <a:p>
            <a:r>
              <a:rPr lang="en-US" altLang="en-US" sz="1600" dirty="0">
                <a:cs typeface="Times New Roman" panose="02020603050405020304" pitchFamily="18" charset="0"/>
              </a:rPr>
              <a:t>Small leaks/valve misalignment which impacted flowrates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D8EDD59-AB76-07B3-3814-ED7AEEB44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0" y="1600201"/>
            <a:ext cx="2514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32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8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4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600" b="1" dirty="0"/>
              <a:t>Things to watch</a:t>
            </a:r>
          </a:p>
          <a:p>
            <a:r>
              <a:rPr lang="en-US" altLang="en-US" sz="1600" dirty="0"/>
              <a:t>Do not leave valves in middle position – causes pressure buildup</a:t>
            </a:r>
          </a:p>
          <a:p>
            <a:r>
              <a:rPr lang="en-US" altLang="en-US" sz="1600" dirty="0"/>
              <a:t>Allow analyzers to run for a while before recording data – let readings settle</a:t>
            </a:r>
          </a:p>
          <a:p>
            <a:r>
              <a:rPr lang="en-US" altLang="en-US" sz="1600" dirty="0"/>
              <a:t>Ensure each valve position before a run</a:t>
            </a:r>
          </a:p>
          <a:p>
            <a:r>
              <a:rPr lang="en-US" altLang="en-US" sz="1600" dirty="0"/>
              <a:t>Recheck flow and pressure after an adjustment</a:t>
            </a:r>
          </a:p>
          <a:p>
            <a:endParaRPr lang="en-US" altLang="en-US" sz="16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FF0E025-EBF7-9062-97C3-20D39A031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600201"/>
            <a:ext cx="2514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32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8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4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600" b="1" dirty="0"/>
              <a:t>Lessons Learned</a:t>
            </a:r>
          </a:p>
          <a:p>
            <a:r>
              <a:rPr lang="en-US" altLang="en-US" sz="1600" dirty="0"/>
              <a:t>Letting readings stabilize before recording can ensure more accurate/consistent data</a:t>
            </a:r>
          </a:p>
          <a:p>
            <a:endParaRPr lang="en-US" altLang="en-US" sz="16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ACF06730-DBC9-AEEE-E0AC-0D38BCD1C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210F1ABD-DA28-D8B3-69A4-A94AAD9D5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cs typeface="Times New Roman" panose="02020603050405020304" pitchFamily="18" charset="0"/>
              </a:rPr>
              <a:t>Pressurized gas cylinder </a:t>
            </a:r>
            <a:r>
              <a:rPr lang="en-US" altLang="en-US" sz="2600" dirty="0">
                <a:cs typeface="Times New Roman" panose="02020603050405020304" pitchFamily="18" charset="0"/>
              </a:rPr>
              <a:t>– Ensure it stays secured in position, open the valve slowly to prevent pressure shock</a:t>
            </a:r>
          </a:p>
          <a:p>
            <a:r>
              <a:rPr lang="en-US" altLang="en-US" sz="2600" b="1" dirty="0">
                <a:cs typeface="Times New Roman" panose="02020603050405020304" pitchFamily="18" charset="0"/>
              </a:rPr>
              <a:t>Valves</a:t>
            </a:r>
            <a:r>
              <a:rPr lang="en-US" altLang="en-US" sz="2600" dirty="0">
                <a:cs typeface="Times New Roman" panose="02020603050405020304" pitchFamily="18" charset="0"/>
              </a:rPr>
              <a:t> – Do not leave valves in middle position, otherwise this can trap pressure and rupture fittings</a:t>
            </a:r>
          </a:p>
          <a:p>
            <a:r>
              <a:rPr lang="en-US" altLang="en-US" sz="2600" b="1" dirty="0">
                <a:cs typeface="Times New Roman" panose="02020603050405020304" pitchFamily="18" charset="0"/>
              </a:rPr>
              <a:t>Leaks</a:t>
            </a:r>
            <a:r>
              <a:rPr lang="en-US" altLang="en-US" sz="2600" dirty="0">
                <a:cs typeface="Times New Roman" panose="02020603050405020304" pitchFamily="18" charset="0"/>
              </a:rPr>
              <a:t> – Check fittings for leaks before pressurizing the system</a:t>
            </a:r>
          </a:p>
          <a:p>
            <a:pPr marL="0" indent="0">
              <a:buNone/>
            </a:pPr>
            <a:endParaRPr lang="en-US" altLang="en-US" sz="26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cb4ba3-7a78-4871-8884-8c62c0d2007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4C1CC3E32C5B4788553A114EA95C1F" ma:contentTypeVersion="13" ma:contentTypeDescription="Create a new document." ma:contentTypeScope="" ma:versionID="feea03a011e35254dcfd96d41365f903">
  <xsd:schema xmlns:xsd="http://www.w3.org/2001/XMLSchema" xmlns:xs="http://www.w3.org/2001/XMLSchema" xmlns:p="http://schemas.microsoft.com/office/2006/metadata/properties" xmlns:ns3="4bcb4ba3-7a78-4871-8884-8c62c0d20077" xmlns:ns4="67299442-5f7c-49a5-a40f-85e76bdcdf04" targetNamespace="http://schemas.microsoft.com/office/2006/metadata/properties" ma:root="true" ma:fieldsID="755f3b59958b6f1ec9a1193b70cfb994" ns3:_="" ns4:_="">
    <xsd:import namespace="4bcb4ba3-7a78-4871-8884-8c62c0d20077"/>
    <xsd:import namespace="67299442-5f7c-49a5-a40f-85e76bdcdf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cb4ba3-7a78-4871-8884-8c62c0d200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99442-5f7c-49a5-a40f-85e76bdcdf0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4DEBA2-061B-4302-995C-CDF82A9044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D7DE7B-9E10-4C95-B1A1-27B81429D6CB}">
  <ds:schemaRefs>
    <ds:schemaRef ds:uri="http://purl.org/dc/terms/"/>
    <ds:schemaRef ds:uri="http://schemas.microsoft.com/office/2006/documentManagement/types"/>
    <ds:schemaRef ds:uri="4bcb4ba3-7a78-4871-8884-8c62c0d20077"/>
    <ds:schemaRef ds:uri="http://purl.org/dc/elements/1.1/"/>
    <ds:schemaRef ds:uri="http://schemas.microsoft.com/office/2006/metadata/properties"/>
    <ds:schemaRef ds:uri="67299442-5f7c-49a5-a40f-85e76bdcdf04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434CD16-8ED1-4211-94CB-2440DDD510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cb4ba3-7a78-4871-8884-8c62c0d20077"/>
    <ds:schemaRef ds:uri="67299442-5f7c-49a5-a40f-85e76bdcdf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3547</TotalTime>
  <Words>665</Words>
  <Application>Microsoft Office PowerPoint</Application>
  <PresentationFormat>On-screen Show (4:3)</PresentationFormat>
  <Paragraphs>117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Times New Roman</vt:lpstr>
      <vt:lpstr>Wingdings</vt:lpstr>
      <vt:lpstr>Default Design</vt:lpstr>
      <vt:lpstr>   Membrane Air Separation</vt:lpstr>
      <vt:lpstr>Introduction</vt:lpstr>
      <vt:lpstr>Theory</vt:lpstr>
      <vt:lpstr>Apparatus</vt:lpstr>
      <vt:lpstr>Material &amp; Supplies</vt:lpstr>
      <vt:lpstr>Procedure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232</cp:revision>
  <dcterms:created xsi:type="dcterms:W3CDTF">2008-04-09T18:55:55Z</dcterms:created>
  <dcterms:modified xsi:type="dcterms:W3CDTF">2025-11-12T17:51:35Z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0x010100444C1CC3E32C5B4788553A114EA95C1F</vt:lpwstr>
  </property>
</Properties>
</file>