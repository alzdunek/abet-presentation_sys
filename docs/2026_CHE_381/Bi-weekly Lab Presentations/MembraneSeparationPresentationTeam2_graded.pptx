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68C49C6.xml" ContentType="application/vnd.ms-powerpoint.comments+xml"/>
  <Override PartName="/ppt/comments/modernComment_101_31BF9E8B.xml" ContentType="application/vnd.ms-powerpoint.comments+xml"/>
  <Override PartName="/ppt/comments/modernComment_102_2F24C4D0.xml" ContentType="application/vnd.ms-powerpoint.comments+xml"/>
  <Override PartName="/ppt/comments/modernComment_103_CAB49437.xml" ContentType="application/vnd.ms-powerpoint.comments+xml"/>
  <Override PartName="/ppt/comments/modernComment_104_67EA6723.xml" ContentType="application/vnd.ms-powerpoint.comments+xml"/>
  <Override PartName="/ppt/comments/modernComment_105_EE92E3A4.xml" ContentType="application/vnd.ms-powerpoint.comments+xml"/>
  <Override PartName="/ppt/comments/modernComment_106_99B538D3.xml" ContentType="application/vnd.ms-powerpoint.comments+xml"/>
  <Override PartName="/ppt/comments/modernComment_107_559AFDFC.xml" ContentType="application/vnd.ms-powerpoint.comments+xml"/>
  <Override PartName="/ppt/comments/modernComment_108_66AAB528.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52CCAC-0B66-CA76-A7A3-D551D844506B}" name="Zdunek, Alan" initials="AZ" userId="S::zdunek@uic.edu::5627838d-8155-4d77-aa14-f1ef87cd6a5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995569-F790-438E-B2DF-1D6E68CB76C1}" v="1937" dt="2025-10-14T16:31:32.760"/>
    <p1510:client id="{43C0E010-5AB6-906C-B621-01D9E9ABC23B}" v="2134" dt="2025-10-14T16:46:35.850"/>
    <p1510:client id="{7994A598-2680-789F-8D97-17BF7D9033B0}" v="1052" dt="2025-10-14T16:26:40.1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144"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omments/modernComment_100_68C49C6.xml><?xml version="1.0" encoding="utf-8"?>
<p188:cmLst xmlns:a="http://schemas.openxmlformats.org/drawingml/2006/main" xmlns:r="http://schemas.openxmlformats.org/officeDocument/2006/relationships" xmlns:p188="http://schemas.microsoft.com/office/powerpoint/2018/8/main">
  <p188:cm id="{B01F9F3E-9A6A-42FF-9F32-420F87862878}" authorId="{DF52CCAC-0B66-CA76-A7A3-D551D844506B}" created="2025-10-21T22:05:04.994">
    <pc:sldMkLst xmlns:pc="http://schemas.microsoft.com/office/powerpoint/2013/main/command">
      <pc:docMk/>
      <pc:sldMk cId="109857222" sldId="256"/>
    </pc:sldMkLst>
    <p188:txBody>
      <a:bodyPr/>
      <a:lstStyle/>
      <a:p>
        <a:r>
          <a:rPr lang="en-US"/>
          <a:t>89/100</a:t>
        </a:r>
      </a:p>
    </p188:txBody>
  </p188:cm>
</p188:cmLst>
</file>

<file path=ppt/comments/modernComment_101_31BF9E8B.xml><?xml version="1.0" encoding="utf-8"?>
<p188:cmLst xmlns:a="http://schemas.openxmlformats.org/drawingml/2006/main" xmlns:r="http://schemas.openxmlformats.org/officeDocument/2006/relationships" xmlns:p188="http://schemas.microsoft.com/office/powerpoint/2018/8/main">
  <p188:cm id="{AD160CA8-38AF-4421-8943-682F653FCAE8}" authorId="{DF52CCAC-0B66-CA76-A7A3-D551D844506B}" created="2025-10-21T21:53:48.488">
    <ac:deMkLst xmlns:ac="http://schemas.microsoft.com/office/drawing/2013/main/command">
      <pc:docMk xmlns:pc="http://schemas.microsoft.com/office/powerpoint/2013/main/command"/>
      <pc:sldMk xmlns:pc="http://schemas.microsoft.com/office/powerpoint/2013/main/command" cId="834641547" sldId="257"/>
      <ac:spMk id="3" creationId="{C1F73D3C-3381-E9CE-9ABD-8C3404F2F04D}"/>
    </ac:deMkLst>
    <p188:txBody>
      <a:bodyPr/>
      <a:lstStyle/>
      <a:p>
        <a:r>
          <a:rPr lang="en-US"/>
          <a:t>-2
Include as an objective the determination of the mass transfer coefficients, or permeability.</a:t>
        </a:r>
      </a:p>
    </p188:txBody>
  </p188:cm>
  <p188:cm id="{0E9A15E6-E9D9-4610-85AF-7B3821D356F4}" authorId="{DF52CCAC-0B66-CA76-A7A3-D551D844506B}" created="2025-10-21T21:55:09.608">
    <pc:sldMkLst xmlns:pc="http://schemas.microsoft.com/office/powerpoint/2013/main/command">
      <pc:docMk/>
      <pc:sldMk cId="834641547" sldId="257"/>
    </pc:sldMkLst>
    <p188:txBody>
      <a:bodyPr/>
      <a:lstStyle/>
      <a:p>
        <a:r>
          <a:rPr lang="en-US"/>
          <a:t>-1
Mention on this slide briefly the apparatus used-  two membrane module separation unit and the gas (air) </a:t>
        </a:r>
      </a:p>
    </p188:txBody>
  </p188:cm>
</p188:cmLst>
</file>

<file path=ppt/comments/modernComment_102_2F24C4D0.xml><?xml version="1.0" encoding="utf-8"?>
<p188:cmLst xmlns:a="http://schemas.openxmlformats.org/drawingml/2006/main" xmlns:r="http://schemas.openxmlformats.org/officeDocument/2006/relationships" xmlns:p188="http://schemas.microsoft.com/office/powerpoint/2018/8/main">
  <p188:cm id="{18B996E6-7BE6-4D3D-8311-C7FFAC2459E4}" authorId="{DF52CCAC-0B66-CA76-A7A3-D551D844506B}" created="2025-10-21T21:56:12.442">
    <ac:deMkLst xmlns:ac="http://schemas.microsoft.com/office/drawing/2013/main/command">
      <pc:docMk xmlns:pc="http://schemas.microsoft.com/office/powerpoint/2013/main/command"/>
      <pc:sldMk xmlns:pc="http://schemas.microsoft.com/office/powerpoint/2013/main/command" cId="790938832" sldId="258"/>
      <ac:spMk id="3" creationId="{805BED02-EE84-858A-AFD4-8C67C81826CC}"/>
    </ac:deMkLst>
    <p188:txBody>
      <a:bodyPr/>
      <a:lstStyle/>
      <a:p>
        <a:r>
          <a:rPr lang="en-US"/>
          <a:t>-2
Yes, but it also is based on Henry’s Law (solubility).</a:t>
        </a:r>
      </a:p>
    </p188:txBody>
  </p188:cm>
</p188:cmLst>
</file>

<file path=ppt/comments/modernComment_103_CAB49437.xml><?xml version="1.0" encoding="utf-8"?>
<p188:cmLst xmlns:a="http://schemas.openxmlformats.org/drawingml/2006/main" xmlns:r="http://schemas.openxmlformats.org/officeDocument/2006/relationships" xmlns:p188="http://schemas.microsoft.com/office/powerpoint/2018/8/main">
  <p188:cm id="{889CC8A1-293B-41B8-8B61-8AAA5EDBC267}" authorId="{DF52CCAC-0B66-CA76-A7A3-D551D844506B}" created="2025-10-21T21:57:20.583">
    <ac:deMkLst xmlns:ac="http://schemas.microsoft.com/office/drawing/2013/main/command">
      <pc:docMk xmlns:pc="http://schemas.microsoft.com/office/powerpoint/2013/main/command"/>
      <pc:sldMk xmlns:pc="http://schemas.microsoft.com/office/powerpoint/2013/main/command" cId="3400832055" sldId="259"/>
      <ac:spMk id="2" creationId="{ED329CB7-2B22-591F-0638-723B5E1A9FCC}"/>
    </ac:deMkLst>
    <p188:txBody>
      <a:bodyPr/>
      <a:lstStyle/>
      <a:p>
        <a:r>
          <a:rPr lang="en-US"/>
          <a:t>-2
Don’t just cut/paste text from the report.  You must summarize into bullet items for a presentation slide.</a:t>
        </a:r>
      </a:p>
    </p188:txBody>
  </p188:cm>
</p188:cmLst>
</file>

<file path=ppt/comments/modernComment_104_67EA6723.xml><?xml version="1.0" encoding="utf-8"?>
<p188:cmLst xmlns:a="http://schemas.openxmlformats.org/drawingml/2006/main" xmlns:r="http://schemas.openxmlformats.org/officeDocument/2006/relationships" xmlns:p188="http://schemas.microsoft.com/office/powerpoint/2018/8/main">
  <p188:cm id="{B539F6A5-B362-4090-B451-5A4C4AE361DD}" authorId="{DF52CCAC-0B66-CA76-A7A3-D551D844506B}" created="2025-10-21T21:59:39.784">
    <ac:deMkLst xmlns:ac="http://schemas.microsoft.com/office/drawing/2013/main/command">
      <pc:docMk xmlns:pc="http://schemas.microsoft.com/office/powerpoint/2013/main/command"/>
      <pc:sldMk xmlns:pc="http://schemas.microsoft.com/office/powerpoint/2013/main/command" cId="1743415075" sldId="260"/>
      <ac:spMk id="2" creationId="{E8EBB97E-6F91-AE4F-E66D-A383BFEDDAEB}"/>
    </ac:deMkLst>
    <p188:txBody>
      <a:bodyPr/>
      <a:lstStyle/>
      <a:p>
        <a:r>
          <a:rPr lang="en-US"/>
          <a:t>-2
Mixing the apparatus components and materials/supplies-  pressure regulator and air cylinder are supplies
Membrane should be membrane modules</a:t>
        </a:r>
      </a:p>
    </p188:txBody>
  </p188:cm>
  <p188:cm id="{1192F93F-FEB0-4398-A66F-4578F52A8E34}" authorId="{DF52CCAC-0B66-CA76-A7A3-D551D844506B}" created="2025-10-21T22:01:48.289">
    <ac:deMkLst xmlns:ac="http://schemas.microsoft.com/office/drawing/2013/main/command">
      <pc:docMk xmlns:pc="http://schemas.microsoft.com/office/powerpoint/2013/main/command"/>
      <pc:sldMk xmlns:pc="http://schemas.microsoft.com/office/powerpoint/2013/main/command" cId="1743415075" sldId="260"/>
      <ac:graphicFrameMk id="4" creationId="{EE19845C-3777-6347-264D-B4336FBEE774}"/>
    </ac:deMkLst>
    <p188:txBody>
      <a:bodyPr/>
      <a:lstStyle/>
      <a:p>
        <a:r>
          <a:rPr lang="en-US"/>
          <a:t>A better description is Oxygen sensors and Mass air flow meters instead of readers.</a:t>
        </a:r>
      </a:p>
    </p188:txBody>
  </p188:cm>
</p188:cmLst>
</file>

<file path=ppt/comments/modernComment_105_EE92E3A4.xml><?xml version="1.0" encoding="utf-8"?>
<p188:cmLst xmlns:a="http://schemas.openxmlformats.org/drawingml/2006/main" xmlns:r="http://schemas.openxmlformats.org/officeDocument/2006/relationships" xmlns:p188="http://schemas.microsoft.com/office/powerpoint/2018/8/main">
  <p188:cm id="{BFF5E531-EC22-48BA-BAD3-83701A5C9650}" authorId="{DF52CCAC-0B66-CA76-A7A3-D551D844506B}" created="2025-10-21T22:00:02.978">
    <ac:deMkLst xmlns:ac="http://schemas.microsoft.com/office/drawing/2013/main/command">
      <pc:docMk xmlns:pc="http://schemas.microsoft.com/office/powerpoint/2013/main/command"/>
      <pc:sldMk xmlns:pc="http://schemas.microsoft.com/office/powerpoint/2013/main/command" cId="4002603940" sldId="261"/>
      <ac:graphicFrameMk id="4" creationId="{5A49F31D-E67F-0525-18BD-9B81FDABFC22}"/>
    </ac:deMkLst>
    <p188:txBody>
      <a:bodyPr/>
      <a:lstStyle/>
      <a:p>
        <a:r>
          <a:rPr lang="en-US"/>
          <a:t>Polymer fiber modules are part of the apparatus</a:t>
        </a:r>
      </a:p>
    </p188:txBody>
  </p188:cm>
</p188:cmLst>
</file>

<file path=ppt/comments/modernComment_106_99B538D3.xml><?xml version="1.0" encoding="utf-8"?>
<p188:cmLst xmlns:a="http://schemas.openxmlformats.org/drawingml/2006/main" xmlns:r="http://schemas.openxmlformats.org/officeDocument/2006/relationships" xmlns:p188="http://schemas.microsoft.com/office/powerpoint/2018/8/main">
  <p188:cm id="{A83F8777-41C0-4719-89C7-25E73181CB68}" authorId="{DF52CCAC-0B66-CA76-A7A3-D551D844506B}" created="2025-10-21T22:00:57.020">
    <pc:sldMkLst xmlns:pc="http://schemas.microsoft.com/office/powerpoint/2013/main/command">
      <pc:docMk/>
      <pc:sldMk cId="2578790611" sldId="262"/>
    </pc:sldMkLst>
    <p188:txBody>
      <a:bodyPr/>
      <a:lstStyle/>
      <a:p>
        <a:r>
          <a:rPr lang="en-US"/>
          <a:t>Readers-  pressure gauge and mass flow meters</a:t>
        </a:r>
      </a:p>
    </p188:txBody>
  </p188:cm>
</p188:cmLst>
</file>

<file path=ppt/comments/modernComment_107_559AFDFC.xml><?xml version="1.0" encoding="utf-8"?>
<p188:cmLst xmlns:a="http://schemas.openxmlformats.org/drawingml/2006/main" xmlns:r="http://schemas.openxmlformats.org/officeDocument/2006/relationships" xmlns:p188="http://schemas.microsoft.com/office/powerpoint/2018/8/main">
  <p188:cm id="{2271E3F4-39B2-4090-A6ED-C02F687703D7}" authorId="{DF52CCAC-0B66-CA76-A7A3-D551D844506B}" created="2025-10-21T22:02:40.456">
    <ac:deMkLst xmlns:ac="http://schemas.microsoft.com/office/drawing/2013/main/command">
      <pc:docMk xmlns:pc="http://schemas.microsoft.com/office/powerpoint/2013/main/command"/>
      <pc:sldMk xmlns:pc="http://schemas.microsoft.com/office/powerpoint/2013/main/command" cId="1436220924" sldId="263"/>
      <ac:spMk id="3" creationId="{BD584853-3080-C75B-19BC-3F1871BAD77B}"/>
    </ac:deMkLst>
    <p188:txBody>
      <a:bodyPr/>
      <a:lstStyle/>
      <a:p>
        <a:r>
          <a:rPr lang="en-US"/>
          <a:t>2nd sentence is vague.</a:t>
        </a:r>
      </a:p>
    </p188:txBody>
  </p188:cm>
  <p188:cm id="{4111D17A-B0C8-4192-82DE-1D0695270ED9}" authorId="{DF52CCAC-0B66-CA76-A7A3-D551D844506B}" created="2025-10-21T22:03:02.105">
    <ac:deMkLst xmlns:ac="http://schemas.microsoft.com/office/drawing/2013/main/command">
      <pc:docMk xmlns:pc="http://schemas.microsoft.com/office/powerpoint/2013/main/command"/>
      <pc:sldMk xmlns:pc="http://schemas.microsoft.com/office/powerpoint/2013/main/command" cId="1436220924" sldId="263"/>
      <ac:spMk id="3" creationId="{BD584853-3080-C75B-19BC-3F1871BAD77B}"/>
    </ac:deMkLst>
    <p188:txBody>
      <a:bodyPr/>
      <a:lstStyle/>
      <a:p>
        <a:r>
          <a:rPr lang="en-US"/>
          <a:t>Well-secured to the bench</a:t>
        </a:r>
      </a:p>
    </p188:txBody>
  </p188:cm>
  <p188:cm id="{71BBDBE1-B800-4D68-97B5-EE78EA6CD4BA}" authorId="{DF52CCAC-0B66-CA76-A7A3-D551D844506B}" created="2025-10-21T22:03:55.302">
    <ac:deMkLst xmlns:ac="http://schemas.microsoft.com/office/drawing/2013/main/command">
      <pc:docMk xmlns:pc="http://schemas.microsoft.com/office/powerpoint/2013/main/command"/>
      <pc:sldMk xmlns:pc="http://schemas.microsoft.com/office/powerpoint/2013/main/command" cId="1436220924" sldId="263"/>
      <ac:spMk id="2" creationId="{2F9F6D95-5862-0736-89FE-4160171C2C02}"/>
    </ac:deMkLst>
    <p188:txBody>
      <a:bodyPr/>
      <a:lstStyle/>
      <a:p>
        <a:r>
          <a:rPr lang="en-US"/>
          <a:t>-2
Explicitly state the high pressure hazard of the air cylinder-  max pressure inside the cylinder and the operating pressures used.</a:t>
        </a:r>
      </a:p>
    </p188:txBody>
  </p188:cm>
</p188:cmLst>
</file>

<file path=ppt/comments/modernComment_108_66AAB528.xml><?xml version="1.0" encoding="utf-8"?>
<p188:cmLst xmlns:a="http://schemas.openxmlformats.org/drawingml/2006/main" xmlns:r="http://schemas.openxmlformats.org/officeDocument/2006/relationships" xmlns:p188="http://schemas.microsoft.com/office/powerpoint/2018/8/main">
  <p188:cm id="{405CF3C0-4C79-47D9-A265-631BCC2699D0}" authorId="{DF52CCAC-0B66-CA76-A7A3-D551D844506B}" created="2025-10-21T22:04:33.010">
    <ac:txMkLst xmlns:ac="http://schemas.microsoft.com/office/drawing/2013/main/command">
      <pc:docMk xmlns:pc="http://schemas.microsoft.com/office/powerpoint/2013/main/command"/>
      <pc:sldMk xmlns:pc="http://schemas.microsoft.com/office/powerpoint/2013/main/command" cId="1722463528" sldId="264"/>
      <ac:spMk id="3" creationId="{91DF17F7-5FC8-8133-561E-4AEAAA30E702}"/>
      <ac:txMk cp="375" len="3">
        <ac:context len="508" hash="2759361311"/>
      </ac:txMk>
    </ac:txMkLst>
    <p188:pos x="3056767" y="3385945"/>
    <p188:txBody>
      <a:bodyPr/>
      <a:lstStyle/>
      <a:p>
        <a:r>
          <a:rPr lang="en-US"/>
          <a:t>What is ASU?</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00_68C49C6.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1_31BF9E8B.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2_2F24C4D0.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03_CAB49437.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4_67EA672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5_EE92E3A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06_99B538D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7_559AFDFC.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08_66AAB5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1314824" y="735106"/>
            <a:ext cx="10053763" cy="2928470"/>
          </a:xfrm>
        </p:spPr>
        <p:txBody>
          <a:bodyPr anchor="b">
            <a:normAutofit/>
          </a:bodyPr>
          <a:lstStyle/>
          <a:p>
            <a:pPr algn="l"/>
            <a:r>
              <a:rPr lang="en-US" sz="4800">
                <a:solidFill>
                  <a:srgbClr val="FFFFFF"/>
                </a:solidFill>
              </a:rPr>
              <a:t>Membrane Air Separation</a:t>
            </a:r>
          </a:p>
        </p:txBody>
      </p:sp>
      <p:sp>
        <p:nvSpPr>
          <p:cNvPr id="3" name="Subtitle 2"/>
          <p:cNvSpPr>
            <a:spLocks noGrp="1"/>
          </p:cNvSpPr>
          <p:nvPr>
            <p:ph type="subTitle" idx="1"/>
          </p:nvPr>
        </p:nvSpPr>
        <p:spPr>
          <a:xfrm>
            <a:off x="1350682" y="4870824"/>
            <a:ext cx="10005951" cy="1458258"/>
          </a:xfrm>
        </p:spPr>
        <p:txBody>
          <a:bodyPr anchor="ctr">
            <a:normAutofit fontScale="70000" lnSpcReduction="20000"/>
          </a:bodyPr>
          <a:lstStyle/>
          <a:p>
            <a:endParaRPr lang="en-US">
              <a:cs typeface="Times New Roman"/>
            </a:endParaRPr>
          </a:p>
          <a:p>
            <a:r>
              <a:rPr lang="en-US">
                <a:cs typeface="Times New Roman"/>
              </a:rPr>
              <a:t>Group #2</a:t>
            </a:r>
          </a:p>
          <a:p>
            <a:r>
              <a:rPr lang="en-US">
                <a:cs typeface="Times New Roman"/>
              </a:rPr>
              <a:t>Ameen </a:t>
            </a:r>
            <a:r>
              <a:rPr lang="en-US" err="1">
                <a:cs typeface="Times New Roman"/>
              </a:rPr>
              <a:t>Abuzir</a:t>
            </a:r>
            <a:r>
              <a:rPr lang="en-US">
                <a:cs typeface="Times New Roman"/>
              </a:rPr>
              <a:t>, Joshua Laforest, Javier Silva, and </a:t>
            </a:r>
            <a:r>
              <a:rPr lang="en-US" err="1">
                <a:cs typeface="Times New Roman"/>
              </a:rPr>
              <a:t>Cesearo</a:t>
            </a:r>
            <a:r>
              <a:rPr lang="en-US">
                <a:cs typeface="Times New Roman"/>
              </a:rPr>
              <a:t> Dilosa</a:t>
            </a:r>
          </a:p>
          <a:p>
            <a:pPr>
              <a:lnSpc>
                <a:spcPct val="80000"/>
              </a:lnSpc>
            </a:pPr>
            <a:r>
              <a:rPr lang="en-US" altLang="en-US"/>
              <a:t>Chemical Engineering Lab I</a:t>
            </a:r>
          </a:p>
          <a:p>
            <a:pPr>
              <a:lnSpc>
                <a:spcPct val="80000"/>
              </a:lnSpc>
            </a:pPr>
            <a:r>
              <a:rPr lang="en-US" altLang="en-US"/>
              <a:t>10/14/2025</a:t>
            </a:r>
          </a:p>
          <a:p>
            <a:endParaRPr lang="en-US"/>
          </a:p>
          <a:p>
            <a:pPr algn="l"/>
            <a:endParaRPr lang="en-US"/>
          </a:p>
        </p:txBody>
      </p:sp>
    </p:spTree>
    <p:extLst>
      <p:ext uri="{BB962C8B-B14F-4D97-AF65-F5344CB8AC3E}">
        <p14:creationId xmlns:p14="http://schemas.microsoft.com/office/powerpoint/2010/main" val="109857222"/>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0A1DC5-5221-5034-FAFA-9B90BE30B3FB}"/>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Purpose of Lab</a:t>
            </a:r>
          </a:p>
        </p:txBody>
      </p:sp>
      <p:sp>
        <p:nvSpPr>
          <p:cNvPr id="3" name="Content Placeholder 2">
            <a:extLst>
              <a:ext uri="{FF2B5EF4-FFF2-40B4-BE49-F238E27FC236}">
                <a16:creationId xmlns:a16="http://schemas.microsoft.com/office/drawing/2014/main" id="{C1F73D3C-3381-E9CE-9ABD-8C3404F2F04D}"/>
              </a:ext>
            </a:extLst>
          </p:cNvPr>
          <p:cNvSpPr>
            <a:spLocks noGrp="1"/>
          </p:cNvSpPr>
          <p:nvPr>
            <p:ph idx="1"/>
          </p:nvPr>
        </p:nvSpPr>
        <p:spPr>
          <a:xfrm>
            <a:off x="6503158" y="649480"/>
            <a:ext cx="4862447" cy="5546047"/>
          </a:xfrm>
        </p:spPr>
        <p:txBody>
          <a:bodyPr anchor="ctr">
            <a:normAutofit/>
          </a:bodyPr>
          <a:lstStyle/>
          <a:p>
            <a:r>
              <a:rPr lang="en-US" sz="2000" dirty="0"/>
              <a:t>The objective of the laboratory experiment was to determine the efficiency of membrane air separators and how it’s influenced by various pressures, flowrates, and alignments. </a:t>
            </a:r>
          </a:p>
          <a:p>
            <a:r>
              <a:rPr lang="en-US" sz="2000" dirty="0"/>
              <a:t>This lab also allows students to see how theory can be coupled with reality. Including the limits of both. </a:t>
            </a:r>
          </a:p>
        </p:txBody>
      </p:sp>
    </p:spTree>
    <p:extLst>
      <p:ext uri="{BB962C8B-B14F-4D97-AF65-F5344CB8AC3E}">
        <p14:creationId xmlns:p14="http://schemas.microsoft.com/office/powerpoint/2010/main" val="834641547"/>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E7597D-C9C2-434A-B0B2-58BDE25A92BC}"/>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Technical Nature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5BED02-EE84-858A-AFD4-8C67C81826CC}"/>
                  </a:ext>
                </a:extLst>
              </p:cNvPr>
              <p:cNvSpPr>
                <a:spLocks noGrp="1"/>
              </p:cNvSpPr>
              <p:nvPr>
                <p:ph idx="1"/>
              </p:nvPr>
            </p:nvSpPr>
            <p:spPr>
              <a:xfrm>
                <a:off x="247649" y="1714947"/>
                <a:ext cx="11565531" cy="4877158"/>
              </a:xfrm>
            </p:spPr>
            <p:txBody>
              <a:bodyPr anchor="ctr">
                <a:normAutofit fontScale="92500"/>
              </a:bodyPr>
              <a:lstStyle/>
              <a:p>
                <a:r>
                  <a:rPr lang="en-US" sz="1400" dirty="0"/>
                  <a:t>Membrane air separation is a process that relies on gas permeation through a semi-permeable membrane</a:t>
                </a:r>
              </a:p>
              <a:p>
                <a:r>
                  <a:rPr lang="en-US" sz="1400" dirty="0"/>
                  <a:t>A compressed mixture of oxygen and nitrogen are sent into hollow fiber membranes and diffused based on their size and solubility</a:t>
                </a:r>
              </a:p>
              <a:p>
                <a:r>
                  <a:rPr lang="en-US" sz="1400" dirty="0"/>
                  <a:t>Oxygen, more soluble and smaller than the nitrogen, permeates more rapidly, resulting in an oxygen permeate stream and a nitrogen residue stream</a:t>
                </a:r>
              </a:p>
              <a:p>
                <a:r>
                  <a:rPr lang="en-US" sz="1400" dirty="0"/>
                  <a:t>The process is based on Fick’s Law of Diffusion  </a:t>
                </a:r>
                <a14:m>
                  <m:oMath xmlns:m="http://schemas.openxmlformats.org/officeDocument/2006/math">
                    <m:r>
                      <a:rPr lang="en-US" sz="1400" i="1">
                        <a:latin typeface="Cambria Math" panose="02040503050406030204" pitchFamily="18" charset="0"/>
                      </a:rPr>
                      <m:t>𝐽</m:t>
                    </m:r>
                    <m:r>
                      <a:rPr lang="en-US" sz="1400" i="1">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𝑃</m:t>
                        </m:r>
                      </m:num>
                      <m:den>
                        <m:r>
                          <a:rPr lang="en-US" sz="1400" i="1">
                            <a:latin typeface="Cambria Math" panose="02040503050406030204" pitchFamily="18" charset="0"/>
                          </a:rPr>
                          <m:t>𝑙</m:t>
                        </m:r>
                      </m:den>
                    </m:f>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𝑝</m:t>
                        </m:r>
                      </m:e>
                      <m:sub>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𝑝</m:t>
                        </m:r>
                      </m:e>
                      <m:sub>
                        <m:r>
                          <a:rPr lang="en-US" sz="1400" i="1">
                            <a:latin typeface="Cambria Math" panose="02040503050406030204" pitchFamily="18" charset="0"/>
                          </a:rPr>
                          <m:t>2</m:t>
                        </m:r>
                      </m:sub>
                    </m:sSub>
                    <m:r>
                      <a:rPr lang="en-US" sz="1400" i="1">
                        <a:latin typeface="Cambria Math" panose="02040503050406030204" pitchFamily="18" charset="0"/>
                      </a:rPr>
                      <m:t>)</m:t>
                    </m:r>
                  </m:oMath>
                </a14:m>
                <a:r>
                  <a:rPr lang="en-US" sz="1400" dirty="0"/>
                  <a:t>, which operates on the basis that the rate of the gas transfer is proportional to the concentration of the gradient across the membrane </a:t>
                </a:r>
              </a:p>
              <a:p>
                <a:pPr marL="0" indent="0" algn="ctr">
                  <a:buNone/>
                </a:pPr>
                <a:r>
                  <a:rPr lang="en-US" sz="1400" dirty="0"/>
                  <a:t>J = gas flux</a:t>
                </a:r>
              </a:p>
              <a:p>
                <a:pPr marL="0" indent="0" algn="ctr">
                  <a:buNone/>
                </a:pPr>
                <a:r>
                  <a:rPr lang="en-US" sz="1400" dirty="0"/>
                  <a:t>P = permeability of the coefficient of the membrane</a:t>
                </a:r>
              </a:p>
              <a:p>
                <a:pPr marL="0" indent="0" algn="ctr">
                  <a:buNone/>
                </a:pPr>
                <a:r>
                  <a:rPr lang="en-US" sz="1400" dirty="0"/>
                  <a:t>l = membrane thickness</a:t>
                </a:r>
              </a:p>
              <a:p>
                <a:pPr marL="0" indent="0" algn="ctr">
                  <a:buNone/>
                </a:pP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𝑝</m:t>
                        </m:r>
                      </m:e>
                      <m:sub>
                        <m:r>
                          <a:rPr lang="en-US" sz="1400" i="1">
                            <a:latin typeface="Cambria Math" panose="02040503050406030204" pitchFamily="18" charset="0"/>
                          </a:rPr>
                          <m:t>1</m:t>
                        </m:r>
                      </m:sub>
                    </m:sSub>
                  </m:oMath>
                </a14:m>
                <a:r>
                  <a:rPr lang="en-US" sz="1400" dirty="0"/>
                  <a:t>= partial pressure of gas</a:t>
                </a:r>
              </a:p>
              <a:p>
                <a:pPr marL="0" indent="0" algn="ctr">
                  <a:buNone/>
                </a:pP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𝑝</m:t>
                        </m:r>
                      </m:e>
                      <m:sub>
                        <m:r>
                          <a:rPr lang="en-US" sz="1400" i="1">
                            <a:latin typeface="Cambria Math" panose="02040503050406030204" pitchFamily="18" charset="0"/>
                          </a:rPr>
                          <m:t>2</m:t>
                        </m:r>
                      </m:sub>
                    </m:sSub>
                  </m:oMath>
                </a14:m>
                <a:r>
                  <a:rPr lang="en-US" sz="1400" dirty="0"/>
                  <a:t> = partial pressure of feed</a:t>
                </a:r>
              </a:p>
              <a:p>
                <a:r>
                  <a:rPr lang="en-US" sz="1400" dirty="0"/>
                  <a:t>The separation efficiency  is then dependent on the feed pressure, membrane surface area, and the selectivity of the membrane material</a:t>
                </a:r>
              </a:p>
              <a:p>
                <a:r>
                  <a:rPr lang="en-US" sz="1400" dirty="0"/>
                  <a:t>To solve for the transfer coefficient,  the equation is altered and manipulated to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𝐾</m:t>
                        </m:r>
                      </m:e>
                      <m:sub>
                        <m:r>
                          <a:rPr lang="en-US" sz="1400" i="1">
                            <a:latin typeface="Cambria Math" panose="02040503050406030204" pitchFamily="18" charset="0"/>
                          </a:rPr>
                          <m:t>𝑗</m:t>
                        </m:r>
                      </m:sub>
                    </m:sSub>
                    <m:r>
                      <a:rPr lang="en-US" sz="1400" i="1">
                        <a:latin typeface="Cambria Math" panose="02040503050406030204" pitchFamily="18" charset="0"/>
                      </a:rPr>
                      <m:t>= </m:t>
                    </m:r>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𝑔</m:t>
                            </m:r>
                          </m:e>
                          <m:sub>
                            <m:r>
                              <a:rPr lang="en-US" sz="1400" i="1">
                                <a:latin typeface="Cambria Math" panose="02040503050406030204" pitchFamily="18" charset="0"/>
                              </a:rPr>
                              <m:t>𝑗</m:t>
                            </m:r>
                          </m:sub>
                        </m:sSub>
                      </m:num>
                      <m:den>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𝑝</m:t>
                            </m:r>
                          </m:e>
                          <m:sub>
                            <m:r>
                              <a:rPr lang="en-US" sz="1400" i="1">
                                <a:latin typeface="Cambria Math" panose="02040503050406030204" pitchFamily="18" charset="0"/>
                              </a:rPr>
                              <m:t>𝑗</m:t>
                            </m:r>
                            <m:r>
                              <a:rPr lang="en-US" sz="1400" i="1">
                                <a:latin typeface="Cambria Math" panose="02040503050406030204" pitchFamily="18" charset="0"/>
                              </a:rPr>
                              <m:t>,</m:t>
                            </m:r>
                            <m:r>
                              <a:rPr lang="en-US" sz="1400" i="1">
                                <a:latin typeface="Cambria Math" panose="02040503050406030204" pitchFamily="18" charset="0"/>
                              </a:rPr>
                              <m:t>𝑡</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𝑝</m:t>
                            </m:r>
                          </m:e>
                          <m:sub>
                            <m:r>
                              <a:rPr lang="en-US" sz="1400" i="1">
                                <a:latin typeface="Cambria Math" panose="02040503050406030204" pitchFamily="18" charset="0"/>
                              </a:rPr>
                              <m:t>𝑗</m:t>
                            </m:r>
                            <m:r>
                              <a:rPr lang="en-US" sz="1400" i="1">
                                <a:latin typeface="Cambria Math" panose="02040503050406030204" pitchFamily="18" charset="0"/>
                              </a:rPr>
                              <m:t>,</m:t>
                            </m:r>
                            <m:r>
                              <a:rPr lang="en-US" sz="1400" i="1">
                                <a:latin typeface="Cambria Math" panose="02040503050406030204" pitchFamily="18" charset="0"/>
                              </a:rPr>
                              <m:t>𝑠</m:t>
                            </m:r>
                          </m:sub>
                        </m:sSub>
                        <m:r>
                          <a:rPr lang="en-US" sz="1400" i="1">
                            <a:latin typeface="Cambria Math" panose="02040503050406030204" pitchFamily="18" charset="0"/>
                          </a:rPr>
                          <m:t>)</m:t>
                        </m:r>
                      </m:den>
                    </m:f>
                  </m:oMath>
                </a14:m>
                <a:endParaRPr lang="en-US" sz="1400" dirty="0"/>
              </a:p>
              <a:p>
                <a:endParaRPr lang="en-US" sz="1400" dirty="0"/>
              </a:p>
              <a:p>
                <a:pPr marL="0" indent="0" algn="ctr">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𝐾</m:t>
                          </m:r>
                        </m:e>
                        <m:sub>
                          <m:r>
                            <a:rPr lang="en-US" sz="1400" i="1">
                              <a:latin typeface="Cambria Math" panose="02040503050406030204" pitchFamily="18" charset="0"/>
                            </a:rPr>
                            <m:t>𝑗</m:t>
                          </m:r>
                        </m:sub>
                      </m:sSub>
                      <m:r>
                        <m:rPr>
                          <m:nor/>
                        </m:rPr>
                        <a:rPr lang="en-US" sz="1400"/>
                        <m:t> </m:t>
                      </m:r>
                      <m:r>
                        <m:rPr>
                          <m:nor/>
                        </m:rPr>
                        <a:rPr lang="en-US" sz="1400" b="0" i="0" smtClean="0"/>
                        <m:t>= </m:t>
                      </m:r>
                      <m:r>
                        <m:rPr>
                          <m:nor/>
                        </m:rPr>
                        <a:rPr lang="en-US" sz="1400"/>
                        <m:t>transport</m:t>
                      </m:r>
                      <m:r>
                        <m:rPr>
                          <m:nor/>
                        </m:rPr>
                        <a:rPr lang="en-US" sz="1400"/>
                        <m:t> </m:t>
                      </m:r>
                      <m:r>
                        <m:rPr>
                          <m:nor/>
                        </m:rPr>
                        <a:rPr lang="en-US" sz="1400"/>
                        <m:t>coefficient</m:t>
                      </m:r>
                    </m:oMath>
                  </m:oMathPara>
                </a14:m>
                <a:endParaRPr lang="en-US" sz="1400" dirty="0"/>
              </a:p>
              <a:p>
                <a:pPr marL="0" indent="0" algn="ctr">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𝑔</m:t>
                          </m:r>
                        </m:e>
                        <m:sub>
                          <m:r>
                            <a:rPr lang="en-US" sz="1400" i="1">
                              <a:latin typeface="Cambria Math" panose="02040503050406030204" pitchFamily="18" charset="0"/>
                            </a:rPr>
                            <m:t>𝑗</m:t>
                          </m:r>
                        </m:sub>
                      </m:sSub>
                      <m:r>
                        <m:rPr>
                          <m:nor/>
                        </m:rPr>
                        <a:rPr lang="en-US" sz="1400"/>
                        <m:t> </m:t>
                      </m:r>
                      <m:r>
                        <m:rPr>
                          <m:nor/>
                        </m:rPr>
                        <a:rPr lang="en-US" sz="1400" b="0" i="0" smtClean="0"/>
                        <m:t>= </m:t>
                      </m:r>
                      <m:r>
                        <m:rPr>
                          <m:nor/>
                        </m:rPr>
                        <a:rPr lang="en-US" sz="1400"/>
                        <m:t>molar</m:t>
                      </m:r>
                      <m:r>
                        <m:rPr>
                          <m:nor/>
                        </m:rPr>
                        <a:rPr lang="en-US" sz="1400"/>
                        <m:t> </m:t>
                      </m:r>
                      <m:r>
                        <m:rPr>
                          <m:nor/>
                        </m:rPr>
                        <a:rPr lang="en-US" sz="1400"/>
                        <m:t>flow</m:t>
                      </m:r>
                      <m:r>
                        <m:rPr>
                          <m:nor/>
                        </m:rPr>
                        <a:rPr lang="en-US" sz="1400"/>
                        <m:t> </m:t>
                      </m:r>
                      <m:r>
                        <m:rPr>
                          <m:nor/>
                        </m:rPr>
                        <a:rPr lang="en-US" sz="1400"/>
                        <m:t>rate</m:t>
                      </m:r>
                      <m:r>
                        <m:rPr>
                          <m:nor/>
                        </m:rPr>
                        <a:rPr lang="en-US" sz="1400"/>
                        <m:t> </m:t>
                      </m:r>
                      <m:r>
                        <m:rPr>
                          <m:nor/>
                        </m:rPr>
                        <a:rPr lang="en-US" sz="1400"/>
                        <m:t>of</m:t>
                      </m:r>
                      <m:r>
                        <m:rPr>
                          <m:nor/>
                        </m:rPr>
                        <a:rPr lang="en-US" sz="1400"/>
                        <m:t> </m:t>
                      </m:r>
                      <m:r>
                        <m:rPr>
                          <m:nor/>
                        </m:rPr>
                        <a:rPr lang="en-US" sz="1400"/>
                        <m:t>the</m:t>
                      </m:r>
                      <m:r>
                        <m:rPr>
                          <m:nor/>
                        </m:rPr>
                        <a:rPr lang="en-US" sz="1400"/>
                        <m:t> </m:t>
                      </m:r>
                      <m:r>
                        <m:rPr>
                          <m:nor/>
                        </m:rPr>
                        <a:rPr lang="en-US" sz="1400"/>
                        <m:t>gas</m:t>
                      </m:r>
                      <m:r>
                        <m:rPr>
                          <m:nor/>
                        </m:rPr>
                        <a:rPr lang="en-US" sz="1400"/>
                        <m:t> </m:t>
                      </m:r>
                      <m:r>
                        <m:rPr>
                          <m:nor/>
                        </m:rPr>
                        <a:rPr lang="en-US" sz="1400"/>
                        <m:t>through</m:t>
                      </m:r>
                      <m:r>
                        <m:rPr>
                          <m:nor/>
                        </m:rPr>
                        <a:rPr lang="en-US" sz="1400"/>
                        <m:t> </m:t>
                      </m:r>
                      <m:r>
                        <m:rPr>
                          <m:nor/>
                        </m:rPr>
                        <a:rPr lang="en-US" sz="1400"/>
                        <m:t>the</m:t>
                      </m:r>
                      <m:r>
                        <m:rPr>
                          <m:nor/>
                        </m:rPr>
                        <a:rPr lang="en-US" sz="1400"/>
                        <m:t> </m:t>
                      </m:r>
                      <m:r>
                        <m:rPr>
                          <m:nor/>
                        </m:rPr>
                        <a:rPr lang="en-US" sz="1400"/>
                        <m:t>membrane</m:t>
                      </m:r>
                    </m:oMath>
                  </m:oMathPara>
                </a14:m>
                <a:endParaRPr lang="en-US" sz="1400" dirty="0"/>
              </a:p>
              <a:p>
                <a:pPr marL="0" indent="0" algn="ctr">
                  <a:buNone/>
                </a:pPr>
                <a14:m>
                  <m:oMathPara xmlns:m="http://schemas.openxmlformats.org/officeDocument/2006/math">
                    <m:oMathParaPr>
                      <m:jc m:val="centerGroup"/>
                    </m:oMathParaPr>
                    <m:oMath xmlns:m="http://schemas.openxmlformats.org/officeDocument/2006/math">
                      <m:r>
                        <m:rPr>
                          <m:nor/>
                        </m:rPr>
                        <a:rPr lang="en-US" sz="1400"/>
                        <m:t> </m:t>
                      </m:r>
                      <m:sSub>
                        <m:sSubPr>
                          <m:ctrlPr>
                            <a:rPr lang="en-US" sz="1400" i="1">
                              <a:latin typeface="Cambria Math" panose="02040503050406030204" pitchFamily="18" charset="0"/>
                            </a:rPr>
                          </m:ctrlPr>
                        </m:sSubPr>
                        <m:e>
                          <m:r>
                            <a:rPr lang="en-US" sz="1400" i="1">
                              <a:latin typeface="Cambria Math" panose="02040503050406030204" pitchFamily="18" charset="0"/>
                            </a:rPr>
                            <m:t>𝑝</m:t>
                          </m:r>
                        </m:e>
                        <m:sub>
                          <m:r>
                            <a:rPr lang="en-US" sz="1400" i="1">
                              <a:latin typeface="Cambria Math" panose="02040503050406030204" pitchFamily="18" charset="0"/>
                            </a:rPr>
                            <m:t>𝑗</m:t>
                          </m:r>
                          <m:r>
                            <a:rPr lang="en-US" sz="1400" i="1">
                              <a:latin typeface="Cambria Math" panose="02040503050406030204" pitchFamily="18" charset="0"/>
                            </a:rPr>
                            <m:t>,</m:t>
                          </m:r>
                          <m:r>
                            <a:rPr lang="en-US" sz="1400" i="1">
                              <a:latin typeface="Cambria Math" panose="02040503050406030204" pitchFamily="18" charset="0"/>
                            </a:rPr>
                            <m:t>𝑡</m:t>
                          </m:r>
                        </m:sub>
                      </m:sSub>
                      <m:r>
                        <m:rPr>
                          <m:nor/>
                        </m:rPr>
                        <a:rPr lang="en-US" sz="1400"/>
                        <m:t> </m:t>
                      </m:r>
                      <m:r>
                        <m:rPr>
                          <m:nor/>
                        </m:rPr>
                        <a:rPr lang="en-US" sz="1400" b="0" i="0" smtClean="0"/>
                        <m:t>= </m:t>
                      </m:r>
                      <m:r>
                        <m:rPr>
                          <m:nor/>
                        </m:rPr>
                        <a:rPr lang="en-US" sz="1400"/>
                        <m:t>average</m:t>
                      </m:r>
                      <m:r>
                        <m:rPr>
                          <m:nor/>
                        </m:rPr>
                        <a:rPr lang="en-US" sz="1400"/>
                        <m:t> </m:t>
                      </m:r>
                      <m:r>
                        <m:rPr>
                          <m:nor/>
                        </m:rPr>
                        <a:rPr lang="en-US" sz="1400"/>
                        <m:t>partial</m:t>
                      </m:r>
                      <m:r>
                        <m:rPr>
                          <m:nor/>
                        </m:rPr>
                        <a:rPr lang="en-US" sz="1400"/>
                        <m:t> </m:t>
                      </m:r>
                      <m:r>
                        <m:rPr>
                          <m:nor/>
                        </m:rPr>
                        <a:rPr lang="en-US" sz="1400"/>
                        <m:t>pressure</m:t>
                      </m:r>
                      <m:r>
                        <m:rPr>
                          <m:nor/>
                        </m:rPr>
                        <a:rPr lang="en-US" sz="1400"/>
                        <m:t> </m:t>
                      </m:r>
                      <m:r>
                        <m:rPr>
                          <m:nor/>
                        </m:rPr>
                        <a:rPr lang="en-US" sz="1400"/>
                        <m:t>of</m:t>
                      </m:r>
                      <m:r>
                        <m:rPr>
                          <m:nor/>
                        </m:rPr>
                        <a:rPr lang="en-US" sz="1400"/>
                        <m:t> </m:t>
                      </m:r>
                      <m:r>
                        <m:rPr>
                          <m:nor/>
                        </m:rPr>
                        <a:rPr lang="en-US" sz="1400"/>
                        <m:t>gas</m:t>
                      </m:r>
                      <m:r>
                        <m:rPr>
                          <m:nor/>
                        </m:rPr>
                        <a:rPr lang="en-US" sz="1400"/>
                        <m:t> </m:t>
                      </m:r>
                      <m:r>
                        <m:rPr>
                          <m:nor/>
                        </m:rPr>
                        <a:rPr lang="en-US" sz="1400"/>
                        <m:t>on</m:t>
                      </m:r>
                      <m:r>
                        <m:rPr>
                          <m:nor/>
                        </m:rPr>
                        <a:rPr lang="en-US" sz="1400"/>
                        <m:t> </m:t>
                      </m:r>
                      <m:r>
                        <m:rPr>
                          <m:nor/>
                        </m:rPr>
                        <a:rPr lang="en-US" sz="1400"/>
                        <m:t>the</m:t>
                      </m:r>
                      <m:r>
                        <m:rPr>
                          <m:nor/>
                        </m:rPr>
                        <a:rPr lang="en-US" sz="1400"/>
                        <m:t> </m:t>
                      </m:r>
                      <m:r>
                        <m:rPr>
                          <m:nor/>
                        </m:rPr>
                        <a:rPr lang="en-US" sz="1400"/>
                        <m:t>tube</m:t>
                      </m:r>
                      <m:r>
                        <m:rPr>
                          <m:nor/>
                        </m:rPr>
                        <a:rPr lang="en-US" sz="1400"/>
                        <m:t> </m:t>
                      </m:r>
                      <m:r>
                        <m:rPr>
                          <m:nor/>
                        </m:rPr>
                        <a:rPr lang="en-US" sz="1400"/>
                        <m:t>side</m:t>
                      </m:r>
                    </m:oMath>
                  </m:oMathPara>
                </a14:m>
                <a:endParaRPr lang="en-US" sz="1400" dirty="0"/>
              </a:p>
              <a:p>
                <a:pPr marL="0" indent="0" algn="ctr">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𝑝</m:t>
                          </m:r>
                        </m:e>
                        <m:sub>
                          <m:r>
                            <a:rPr lang="en-US" sz="1400" i="1">
                              <a:latin typeface="Cambria Math" panose="02040503050406030204" pitchFamily="18" charset="0"/>
                            </a:rPr>
                            <m:t>𝑗</m:t>
                          </m:r>
                          <m:r>
                            <a:rPr lang="en-US" sz="1400" i="1">
                              <a:latin typeface="Cambria Math" panose="02040503050406030204" pitchFamily="18" charset="0"/>
                            </a:rPr>
                            <m:t>,</m:t>
                          </m:r>
                          <m:r>
                            <a:rPr lang="en-US" sz="1400" i="1">
                              <a:latin typeface="Cambria Math" panose="02040503050406030204" pitchFamily="18" charset="0"/>
                            </a:rPr>
                            <m:t>𝑠</m:t>
                          </m:r>
                        </m:sub>
                      </m:sSub>
                      <m:r>
                        <m:rPr>
                          <m:nor/>
                        </m:rPr>
                        <a:rPr lang="en-US" sz="1400"/>
                        <m:t> </m:t>
                      </m:r>
                      <m:r>
                        <m:rPr>
                          <m:nor/>
                        </m:rPr>
                        <a:rPr lang="en-US" sz="1400" b="0" i="0" smtClean="0"/>
                        <m:t>= </m:t>
                      </m:r>
                      <m:r>
                        <m:rPr>
                          <m:nor/>
                        </m:rPr>
                        <a:rPr lang="en-US" sz="1400" b="0" i="0" smtClean="0"/>
                        <m:t>average</m:t>
                      </m:r>
                      <m:r>
                        <m:rPr>
                          <m:nor/>
                        </m:rPr>
                        <a:rPr lang="en-US" sz="1400" b="0" i="0" smtClean="0"/>
                        <m:t> </m:t>
                      </m:r>
                      <m:r>
                        <m:rPr>
                          <m:nor/>
                        </m:rPr>
                        <a:rPr lang="en-US" sz="1400"/>
                        <m:t>partial</m:t>
                      </m:r>
                      <m:r>
                        <m:rPr>
                          <m:nor/>
                        </m:rPr>
                        <a:rPr lang="en-US" sz="1400"/>
                        <m:t> </m:t>
                      </m:r>
                      <m:r>
                        <m:rPr>
                          <m:nor/>
                        </m:rPr>
                        <a:rPr lang="en-US" sz="1400"/>
                        <m:t>pressure</m:t>
                      </m:r>
                      <m:r>
                        <m:rPr>
                          <m:nor/>
                        </m:rPr>
                        <a:rPr lang="en-US" sz="1400"/>
                        <m:t> </m:t>
                      </m:r>
                      <m:r>
                        <m:rPr>
                          <m:nor/>
                        </m:rPr>
                        <a:rPr lang="en-US" sz="1400"/>
                        <m:t>of</m:t>
                      </m:r>
                      <m:r>
                        <m:rPr>
                          <m:nor/>
                        </m:rPr>
                        <a:rPr lang="en-US" sz="1400"/>
                        <m:t> </m:t>
                      </m:r>
                      <m:r>
                        <m:rPr>
                          <m:nor/>
                        </m:rPr>
                        <a:rPr lang="en-US" sz="1400"/>
                        <m:t>gas</m:t>
                      </m:r>
                      <m:r>
                        <m:rPr>
                          <m:nor/>
                        </m:rPr>
                        <a:rPr lang="en-US" sz="1400"/>
                        <m:t> </m:t>
                      </m:r>
                      <m:r>
                        <m:rPr>
                          <m:nor/>
                        </m:rPr>
                        <a:rPr lang="en-US" sz="1400"/>
                        <m:t>on</m:t>
                      </m:r>
                      <m:r>
                        <m:rPr>
                          <m:nor/>
                        </m:rPr>
                        <a:rPr lang="en-US" sz="1400"/>
                        <m:t> </m:t>
                      </m:r>
                      <m:r>
                        <m:rPr>
                          <m:nor/>
                        </m:rPr>
                        <a:rPr lang="en-US" sz="1400"/>
                        <m:t>the</m:t>
                      </m:r>
                      <m:r>
                        <m:rPr>
                          <m:nor/>
                        </m:rPr>
                        <a:rPr lang="en-US" sz="1400"/>
                        <m:t> </m:t>
                      </m:r>
                      <m:r>
                        <m:rPr>
                          <m:nor/>
                        </m:rPr>
                        <a:rPr lang="en-US" sz="1400"/>
                        <m:t>shell</m:t>
                      </m:r>
                      <m:r>
                        <m:rPr>
                          <m:nor/>
                        </m:rPr>
                        <a:rPr lang="en-US" sz="1400"/>
                        <m:t> </m:t>
                      </m:r>
                      <m:r>
                        <m:rPr>
                          <m:nor/>
                        </m:rPr>
                        <a:rPr lang="en-US" sz="1400"/>
                        <m:t>side</m:t>
                      </m:r>
                    </m:oMath>
                  </m:oMathPara>
                </a14:m>
                <a:endParaRPr lang="en-US" sz="1400" dirty="0"/>
              </a:p>
              <a:p>
                <a:endParaRPr lang="en-US" sz="1200" dirty="0"/>
              </a:p>
            </p:txBody>
          </p:sp>
        </mc:Choice>
        <mc:Fallback xmlns="">
          <p:sp>
            <p:nvSpPr>
              <p:cNvPr id="3" name="Content Placeholder 2">
                <a:extLst>
                  <a:ext uri="{FF2B5EF4-FFF2-40B4-BE49-F238E27FC236}">
                    <a16:creationId xmlns:a16="http://schemas.microsoft.com/office/drawing/2014/main" id="{805BED02-EE84-858A-AFD4-8C67C81826CC}"/>
                  </a:ext>
                </a:extLst>
              </p:cNvPr>
              <p:cNvSpPr>
                <a:spLocks noGrp="1" noRot="1" noChangeAspect="1" noMove="1" noResize="1" noEditPoints="1" noAdjustHandles="1" noChangeArrowheads="1" noChangeShapeType="1" noTextEdit="1"/>
              </p:cNvSpPr>
              <p:nvPr>
                <p:ph idx="1"/>
              </p:nvPr>
            </p:nvSpPr>
            <p:spPr>
              <a:xfrm>
                <a:off x="247649" y="1714947"/>
                <a:ext cx="11565531" cy="4877158"/>
              </a:xfrm>
              <a:blipFill>
                <a:blip r:embed="rId3"/>
                <a:stretch>
                  <a:fillRect l="-53" t="-2125"/>
                </a:stretch>
              </a:blipFill>
            </p:spPr>
            <p:txBody>
              <a:bodyPr/>
              <a:lstStyle/>
              <a:p>
                <a:r>
                  <a:rPr lang="en-US">
                    <a:noFill/>
                  </a:rPr>
                  <a:t> </a:t>
                </a:r>
              </a:p>
            </p:txBody>
          </p:sp>
        </mc:Fallback>
      </mc:AlternateContent>
    </p:spTree>
    <p:extLst>
      <p:ext uri="{BB962C8B-B14F-4D97-AF65-F5344CB8AC3E}">
        <p14:creationId xmlns:p14="http://schemas.microsoft.com/office/powerpoint/2010/main" val="790938832"/>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329CB7-2B22-591F-0638-723B5E1A9FCC}"/>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Theory</a:t>
            </a:r>
          </a:p>
        </p:txBody>
      </p:sp>
      <p:sp>
        <p:nvSpPr>
          <p:cNvPr id="3" name="Content Placeholder 2">
            <a:extLst>
              <a:ext uri="{FF2B5EF4-FFF2-40B4-BE49-F238E27FC236}">
                <a16:creationId xmlns:a16="http://schemas.microsoft.com/office/drawing/2014/main" id="{4896824D-584E-2883-5E40-DED9A53E9E15}"/>
              </a:ext>
            </a:extLst>
          </p:cNvPr>
          <p:cNvSpPr>
            <a:spLocks noGrp="1"/>
          </p:cNvSpPr>
          <p:nvPr>
            <p:ph idx="1"/>
          </p:nvPr>
        </p:nvSpPr>
        <p:spPr>
          <a:xfrm>
            <a:off x="444499" y="1816547"/>
            <a:ext cx="11368681" cy="4839058"/>
          </a:xfrm>
        </p:spPr>
        <p:txBody>
          <a:bodyPr anchor="ctr">
            <a:normAutofit/>
          </a:bodyPr>
          <a:lstStyle/>
          <a:p>
            <a:r>
              <a:rPr lang="en-US" sz="2000"/>
              <a:t>This lab operates with nonporous semi-permeable tube-like membranes that are bundled together and put into a shell. There are O2 sensors at the combined outlets of the membranes, as well as the shell. For the experiment, air (21% O2; 79% N2) is sent through the membranes and based on the individual permeabilities, diffusivities, and solubilities of the molecules, also the membrane selectivity, the outer shell and the membranes themselves will have different concentrations and molar flowrates of O2 &amp; N2. </a:t>
            </a:r>
          </a:p>
          <a:p>
            <a:r>
              <a:rPr lang="en-US" sz="2000"/>
              <a:t>These concentrations vary further when the operating pressure (inside the membranes) changes. Also, the molar flowrates. The idea is that increasing pressure, which causes a greater ΔP in the lumen of the membrane, and decreasing flowrate, to give a higher residence time, will give a greater O2 concentration shell-side and a greater N2 concentration tube-side. This is because O2 is naturally more permeable and these parameters only increase its capabilities. </a:t>
            </a:r>
          </a:p>
          <a:p>
            <a:r>
              <a:rPr lang="en-US" sz="2000"/>
              <a:t>The two main equations used in this lab are Fick's law (diffusion) &amp; Henry's law (solubility). </a:t>
            </a:r>
          </a:p>
          <a:p>
            <a:endParaRPr lang="en-US" sz="2000"/>
          </a:p>
        </p:txBody>
      </p:sp>
    </p:spTree>
    <p:extLst>
      <p:ext uri="{BB962C8B-B14F-4D97-AF65-F5344CB8AC3E}">
        <p14:creationId xmlns:p14="http://schemas.microsoft.com/office/powerpoint/2010/main" val="3400832055"/>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EBB97E-6F91-AE4F-E66D-A383BFEDDAEB}"/>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Apparatus</a:t>
            </a:r>
          </a:p>
        </p:txBody>
      </p:sp>
      <p:graphicFrame>
        <p:nvGraphicFramePr>
          <p:cNvPr id="4" name="Content Placeholder 3">
            <a:extLst>
              <a:ext uri="{FF2B5EF4-FFF2-40B4-BE49-F238E27FC236}">
                <a16:creationId xmlns:a16="http://schemas.microsoft.com/office/drawing/2014/main" id="{EE19845C-3777-6347-264D-B4336FBEE774}"/>
              </a:ext>
            </a:extLst>
          </p:cNvPr>
          <p:cNvGraphicFramePr>
            <a:graphicFrameLocks noGrp="1"/>
          </p:cNvGraphicFramePr>
          <p:nvPr>
            <p:ph idx="1"/>
            <p:extLst>
              <p:ext uri="{D42A27DB-BD31-4B8C-83A1-F6EECF244321}">
                <p14:modId xmlns:p14="http://schemas.microsoft.com/office/powerpoint/2010/main" val="36139627"/>
              </p:ext>
            </p:extLst>
          </p:nvPr>
        </p:nvGraphicFramePr>
        <p:xfrm>
          <a:off x="644056" y="2270176"/>
          <a:ext cx="10927830" cy="3877618"/>
        </p:xfrm>
        <a:graphic>
          <a:graphicData uri="http://schemas.openxmlformats.org/drawingml/2006/table">
            <a:tbl>
              <a:tblPr firstRow="1" firstCol="1">
                <a:tableStyleId>{5C22544A-7EE6-4342-B048-85BDC9FD1C3A}</a:tableStyleId>
              </a:tblPr>
              <a:tblGrid>
                <a:gridCol w="5397965">
                  <a:extLst>
                    <a:ext uri="{9D8B030D-6E8A-4147-A177-3AD203B41FA5}">
                      <a16:colId xmlns:a16="http://schemas.microsoft.com/office/drawing/2014/main" val="4250842510"/>
                    </a:ext>
                  </a:extLst>
                </a:gridCol>
                <a:gridCol w="5529865">
                  <a:extLst>
                    <a:ext uri="{9D8B030D-6E8A-4147-A177-3AD203B41FA5}">
                      <a16:colId xmlns:a16="http://schemas.microsoft.com/office/drawing/2014/main" val="3160878962"/>
                    </a:ext>
                  </a:extLst>
                </a:gridCol>
              </a:tblGrid>
              <a:tr h="284412">
                <a:tc>
                  <a:txBody>
                    <a:bodyPr/>
                    <a:lstStyle/>
                    <a:p>
                      <a:pPr marL="0" marR="0" algn="ctr">
                        <a:lnSpc>
                          <a:spcPct val="116000"/>
                        </a:lnSpc>
                        <a:spcAft>
                          <a:spcPts val="800"/>
                        </a:spcAft>
                        <a:buNone/>
                      </a:pPr>
                      <a:r>
                        <a:rPr lang="en-US" sz="1500">
                          <a:effectLst/>
                        </a:rPr>
                        <a:t>EQUIPMENT</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tc>
                  <a:txBody>
                    <a:bodyPr/>
                    <a:lstStyle/>
                    <a:p>
                      <a:pPr marL="0" marR="0" algn="ctr">
                        <a:lnSpc>
                          <a:spcPct val="116000"/>
                        </a:lnSpc>
                        <a:spcAft>
                          <a:spcPts val="800"/>
                        </a:spcAft>
                        <a:buNone/>
                      </a:pPr>
                      <a:r>
                        <a:rPr lang="en-US" sz="1500">
                          <a:effectLst/>
                        </a:rPr>
                        <a:t>DESCRIPTION</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nchor="ctr"/>
                </a:tc>
                <a:extLst>
                  <a:ext uri="{0D108BD9-81ED-4DB2-BD59-A6C34878D82A}">
                    <a16:rowId xmlns:a16="http://schemas.microsoft.com/office/drawing/2014/main" val="134476358"/>
                  </a:ext>
                </a:extLst>
              </a:tr>
              <a:tr h="284412">
                <a:tc>
                  <a:txBody>
                    <a:bodyPr/>
                    <a:lstStyle/>
                    <a:p>
                      <a:pPr marL="0" marR="0" lvl="0" indent="0">
                        <a:lnSpc>
                          <a:spcPct val="116000"/>
                        </a:lnSpc>
                        <a:spcAft>
                          <a:spcPts val="800"/>
                        </a:spcAft>
                        <a:buFont typeface="+mj-lt"/>
                        <a:buNone/>
                      </a:pPr>
                      <a:r>
                        <a:rPr lang="en-US" sz="1500">
                          <a:effectLst/>
                        </a:rPr>
                        <a:t>Regulating Valve and Gauge</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tc>
                  <a:txBody>
                    <a:bodyPr/>
                    <a:lstStyle/>
                    <a:p>
                      <a:pPr marL="0" marR="0">
                        <a:lnSpc>
                          <a:spcPct val="116000"/>
                        </a:lnSpc>
                        <a:spcAft>
                          <a:spcPts val="800"/>
                        </a:spcAft>
                        <a:buNone/>
                      </a:pPr>
                      <a:r>
                        <a:rPr lang="en-US" sz="1500">
                          <a:effectLst/>
                        </a:rPr>
                        <a:t>Limits gas flow to 200 psig</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extLst>
                  <a:ext uri="{0D108BD9-81ED-4DB2-BD59-A6C34878D82A}">
                    <a16:rowId xmlns:a16="http://schemas.microsoft.com/office/drawing/2014/main" val="3979696134"/>
                  </a:ext>
                </a:extLst>
              </a:tr>
              <a:tr h="547994">
                <a:tc>
                  <a:txBody>
                    <a:bodyPr/>
                    <a:lstStyle/>
                    <a:p>
                      <a:pPr marL="0" marR="0" lvl="0" indent="0">
                        <a:lnSpc>
                          <a:spcPct val="116000"/>
                        </a:lnSpc>
                        <a:spcAft>
                          <a:spcPts val="800"/>
                        </a:spcAft>
                        <a:buFont typeface="+mj-lt"/>
                        <a:buNone/>
                      </a:pPr>
                      <a:r>
                        <a:rPr lang="en-US" sz="1500" dirty="0">
                          <a:effectLst/>
                        </a:rPr>
                        <a:t>Oxygen Concentration Reader </a:t>
                      </a:r>
                      <a:endParaRPr lang="en-US" sz="1500" dirty="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tc>
                  <a:txBody>
                    <a:bodyPr/>
                    <a:lstStyle/>
                    <a:p>
                      <a:pPr marL="0" marR="0">
                        <a:lnSpc>
                          <a:spcPct val="116000"/>
                        </a:lnSpc>
                        <a:spcAft>
                          <a:spcPts val="800"/>
                        </a:spcAft>
                        <a:buNone/>
                      </a:pPr>
                      <a:r>
                        <a:rPr lang="en-US" sz="1500">
                          <a:effectLst/>
                        </a:rPr>
                        <a:t>Device connected to end of membrane to read the amount of oxygen present at the end of the separation cycle.</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extLst>
                  <a:ext uri="{0D108BD9-81ED-4DB2-BD59-A6C34878D82A}">
                    <a16:rowId xmlns:a16="http://schemas.microsoft.com/office/drawing/2014/main" val="3024623421"/>
                  </a:ext>
                </a:extLst>
              </a:tr>
              <a:tr h="547994">
                <a:tc>
                  <a:txBody>
                    <a:bodyPr/>
                    <a:lstStyle/>
                    <a:p>
                      <a:pPr marL="0" marR="0" lvl="0" indent="0">
                        <a:lnSpc>
                          <a:spcPct val="116000"/>
                        </a:lnSpc>
                        <a:spcAft>
                          <a:spcPts val="800"/>
                        </a:spcAft>
                        <a:buFont typeface="+mj-lt"/>
                        <a:buNone/>
                      </a:pPr>
                      <a:r>
                        <a:rPr lang="en-US" sz="1500">
                          <a:effectLst/>
                        </a:rPr>
                        <a:t>Four 3-way Valves </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tc>
                  <a:txBody>
                    <a:bodyPr/>
                    <a:lstStyle/>
                    <a:p>
                      <a:pPr marL="0" marR="0">
                        <a:lnSpc>
                          <a:spcPct val="116000"/>
                        </a:lnSpc>
                        <a:spcAft>
                          <a:spcPts val="800"/>
                        </a:spcAft>
                        <a:buNone/>
                      </a:pPr>
                      <a:r>
                        <a:rPr lang="en-US" sz="1500">
                          <a:effectLst/>
                        </a:rPr>
                        <a:t>These four valves allow the system to be run in parallel or in series.</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extLst>
                  <a:ext uri="{0D108BD9-81ED-4DB2-BD59-A6C34878D82A}">
                    <a16:rowId xmlns:a16="http://schemas.microsoft.com/office/drawing/2014/main" val="27551990"/>
                  </a:ext>
                </a:extLst>
              </a:tr>
              <a:tr h="547994">
                <a:tc>
                  <a:txBody>
                    <a:bodyPr/>
                    <a:lstStyle/>
                    <a:p>
                      <a:pPr marL="0" marR="0" lvl="0" indent="0">
                        <a:lnSpc>
                          <a:spcPct val="116000"/>
                        </a:lnSpc>
                        <a:spcAft>
                          <a:spcPts val="800"/>
                        </a:spcAft>
                        <a:buFont typeface="+mj-lt"/>
                        <a:buNone/>
                      </a:pPr>
                      <a:r>
                        <a:rPr lang="en-US" sz="1500">
                          <a:effectLst/>
                        </a:rPr>
                        <a:t>Needle Valve</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tc>
                  <a:txBody>
                    <a:bodyPr/>
                    <a:lstStyle/>
                    <a:p>
                      <a:pPr marL="0" marR="0">
                        <a:lnSpc>
                          <a:spcPct val="116000"/>
                        </a:lnSpc>
                        <a:spcAft>
                          <a:spcPts val="800"/>
                        </a:spcAft>
                        <a:buNone/>
                      </a:pPr>
                      <a:r>
                        <a:rPr lang="en-US" sz="1500">
                          <a:effectLst/>
                        </a:rPr>
                        <a:t>Can be manipulated to control the flow rate of tube-side effluent.</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extLst>
                  <a:ext uri="{0D108BD9-81ED-4DB2-BD59-A6C34878D82A}">
                    <a16:rowId xmlns:a16="http://schemas.microsoft.com/office/drawing/2014/main" val="982090095"/>
                  </a:ext>
                </a:extLst>
              </a:tr>
              <a:tr h="547994">
                <a:tc>
                  <a:txBody>
                    <a:bodyPr/>
                    <a:lstStyle/>
                    <a:p>
                      <a:pPr marL="0" marR="0" lvl="0" indent="0">
                        <a:lnSpc>
                          <a:spcPct val="116000"/>
                        </a:lnSpc>
                        <a:spcAft>
                          <a:spcPts val="800"/>
                        </a:spcAft>
                        <a:buFont typeface="+mj-lt"/>
                        <a:buNone/>
                      </a:pPr>
                      <a:r>
                        <a:rPr lang="en-US" sz="1500">
                          <a:effectLst/>
                        </a:rPr>
                        <a:t>Air Flow Reader </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tc>
                  <a:txBody>
                    <a:bodyPr/>
                    <a:lstStyle/>
                    <a:p>
                      <a:pPr marL="0" marR="0">
                        <a:lnSpc>
                          <a:spcPct val="116000"/>
                        </a:lnSpc>
                        <a:spcAft>
                          <a:spcPts val="800"/>
                        </a:spcAft>
                        <a:buNone/>
                      </a:pPr>
                      <a:r>
                        <a:rPr lang="en-US" sz="1500">
                          <a:effectLst/>
                        </a:rPr>
                        <a:t>Measures the flow rate of gas traveling tube-side and shell-side.</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extLst>
                  <a:ext uri="{0D108BD9-81ED-4DB2-BD59-A6C34878D82A}">
                    <a16:rowId xmlns:a16="http://schemas.microsoft.com/office/drawing/2014/main" val="3172449836"/>
                  </a:ext>
                </a:extLst>
              </a:tr>
              <a:tr h="284412">
                <a:tc>
                  <a:txBody>
                    <a:bodyPr/>
                    <a:lstStyle/>
                    <a:p>
                      <a:pPr marL="0" marR="0" lvl="0" indent="0">
                        <a:lnSpc>
                          <a:spcPct val="116000"/>
                        </a:lnSpc>
                        <a:spcAft>
                          <a:spcPts val="800"/>
                        </a:spcAft>
                        <a:buFont typeface="+mj-lt"/>
                        <a:buNone/>
                      </a:pPr>
                      <a:r>
                        <a:rPr lang="en-US" sz="1500">
                          <a:effectLst/>
                        </a:rPr>
                        <a:t>High-Pressure Air Cylinder</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tc>
                  <a:txBody>
                    <a:bodyPr/>
                    <a:lstStyle/>
                    <a:p>
                      <a:pPr marL="0" marR="0">
                        <a:lnSpc>
                          <a:spcPct val="116000"/>
                        </a:lnSpc>
                        <a:spcAft>
                          <a:spcPts val="800"/>
                        </a:spcAft>
                        <a:buNone/>
                      </a:pPr>
                      <a:r>
                        <a:rPr lang="en-US" sz="1500">
                          <a:effectLst/>
                        </a:rPr>
                        <a:t>Stores the air that will be used in the experiment</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extLst>
                  <a:ext uri="{0D108BD9-81ED-4DB2-BD59-A6C34878D82A}">
                    <a16:rowId xmlns:a16="http://schemas.microsoft.com/office/drawing/2014/main" val="1237798301"/>
                  </a:ext>
                </a:extLst>
              </a:tr>
              <a:tr h="284412">
                <a:tc>
                  <a:txBody>
                    <a:bodyPr/>
                    <a:lstStyle/>
                    <a:p>
                      <a:pPr marL="0" marR="0" lvl="0" indent="0">
                        <a:lnSpc>
                          <a:spcPct val="116000"/>
                        </a:lnSpc>
                        <a:spcAft>
                          <a:spcPts val="800"/>
                        </a:spcAft>
                        <a:buFont typeface="+mj-lt"/>
                        <a:buNone/>
                      </a:pPr>
                      <a:r>
                        <a:rPr lang="en-US" sz="1500">
                          <a:effectLst/>
                        </a:rPr>
                        <a:t>Pressure Transducer</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tc>
                  <a:txBody>
                    <a:bodyPr/>
                    <a:lstStyle/>
                    <a:p>
                      <a:pPr marL="0" marR="0">
                        <a:lnSpc>
                          <a:spcPct val="116000"/>
                        </a:lnSpc>
                        <a:spcAft>
                          <a:spcPts val="800"/>
                        </a:spcAft>
                        <a:buNone/>
                      </a:pPr>
                      <a:r>
                        <a:rPr lang="en-US" sz="1500">
                          <a:effectLst/>
                        </a:rPr>
                        <a:t>Reads the amount of pressure going into the system.</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extLst>
                  <a:ext uri="{0D108BD9-81ED-4DB2-BD59-A6C34878D82A}">
                    <a16:rowId xmlns:a16="http://schemas.microsoft.com/office/drawing/2014/main" val="1144422884"/>
                  </a:ext>
                </a:extLst>
              </a:tr>
              <a:tr h="547994">
                <a:tc>
                  <a:txBody>
                    <a:bodyPr/>
                    <a:lstStyle/>
                    <a:p>
                      <a:pPr marL="0" marR="0" lvl="0" indent="0">
                        <a:lnSpc>
                          <a:spcPct val="116000"/>
                        </a:lnSpc>
                        <a:spcAft>
                          <a:spcPts val="800"/>
                        </a:spcAft>
                        <a:buFont typeface="+mj-lt"/>
                        <a:buNone/>
                      </a:pPr>
                      <a:r>
                        <a:rPr lang="en-US" sz="1500">
                          <a:effectLst/>
                        </a:rPr>
                        <a:t>Membrane</a:t>
                      </a:r>
                      <a:endParaRPr lang="en-US" sz="150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tc>
                  <a:txBody>
                    <a:bodyPr/>
                    <a:lstStyle/>
                    <a:p>
                      <a:pPr marL="0" marR="0">
                        <a:lnSpc>
                          <a:spcPct val="116000"/>
                        </a:lnSpc>
                        <a:spcAft>
                          <a:spcPts val="800"/>
                        </a:spcAft>
                        <a:buNone/>
                      </a:pPr>
                      <a:r>
                        <a:rPr lang="en-US" sz="1500" dirty="0">
                          <a:effectLst/>
                        </a:rPr>
                        <a:t>Where air septation is taking place, can have two running in a series or 2 at the same time for parallel.</a:t>
                      </a:r>
                      <a:endParaRPr lang="en-US" sz="1500" dirty="0">
                        <a:effectLst/>
                        <a:latin typeface="Aptos" panose="020B0004020202020204" pitchFamily="34" charset="0"/>
                        <a:ea typeface="MS Mincho" panose="02020609040205080304" pitchFamily="49" charset="-128"/>
                        <a:cs typeface="Arial" panose="020B0604020202020204" pitchFamily="34" charset="0"/>
                      </a:endParaRPr>
                    </a:p>
                  </a:txBody>
                  <a:tcPr marL="83224" marR="83224" marT="0" marB="0"/>
                </a:tc>
                <a:extLst>
                  <a:ext uri="{0D108BD9-81ED-4DB2-BD59-A6C34878D82A}">
                    <a16:rowId xmlns:a16="http://schemas.microsoft.com/office/drawing/2014/main" val="1831131351"/>
                  </a:ext>
                </a:extLst>
              </a:tr>
            </a:tbl>
          </a:graphicData>
        </a:graphic>
      </p:graphicFrame>
    </p:spTree>
    <p:extLst>
      <p:ext uri="{BB962C8B-B14F-4D97-AF65-F5344CB8AC3E}">
        <p14:creationId xmlns:p14="http://schemas.microsoft.com/office/powerpoint/2010/main" val="1743415075"/>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07EFC5-48F9-D3ED-3AB4-85092055970C}"/>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Material and Supplies</a:t>
            </a:r>
          </a:p>
        </p:txBody>
      </p:sp>
      <p:graphicFrame>
        <p:nvGraphicFramePr>
          <p:cNvPr id="4" name="Content Placeholder 3">
            <a:extLst>
              <a:ext uri="{FF2B5EF4-FFF2-40B4-BE49-F238E27FC236}">
                <a16:creationId xmlns:a16="http://schemas.microsoft.com/office/drawing/2014/main" id="{5A49F31D-E67F-0525-18BD-9B81FDABFC22}"/>
              </a:ext>
            </a:extLst>
          </p:cNvPr>
          <p:cNvGraphicFramePr>
            <a:graphicFrameLocks noGrp="1"/>
          </p:cNvGraphicFramePr>
          <p:nvPr>
            <p:ph idx="1"/>
            <p:extLst>
              <p:ext uri="{D42A27DB-BD31-4B8C-83A1-F6EECF244321}">
                <p14:modId xmlns:p14="http://schemas.microsoft.com/office/powerpoint/2010/main" val="1751200035"/>
              </p:ext>
            </p:extLst>
          </p:nvPr>
        </p:nvGraphicFramePr>
        <p:xfrm>
          <a:off x="644056" y="2406328"/>
          <a:ext cx="10927830" cy="3605310"/>
        </p:xfrm>
        <a:graphic>
          <a:graphicData uri="http://schemas.openxmlformats.org/drawingml/2006/table">
            <a:tbl>
              <a:tblPr firstRow="1" firstCol="1">
                <a:tableStyleId>{5C22544A-7EE6-4342-B048-85BDC9FD1C3A}</a:tableStyleId>
              </a:tblPr>
              <a:tblGrid>
                <a:gridCol w="5372037">
                  <a:extLst>
                    <a:ext uri="{9D8B030D-6E8A-4147-A177-3AD203B41FA5}">
                      <a16:colId xmlns:a16="http://schemas.microsoft.com/office/drawing/2014/main" val="2690531695"/>
                    </a:ext>
                  </a:extLst>
                </a:gridCol>
                <a:gridCol w="5555793">
                  <a:extLst>
                    <a:ext uri="{9D8B030D-6E8A-4147-A177-3AD203B41FA5}">
                      <a16:colId xmlns:a16="http://schemas.microsoft.com/office/drawing/2014/main" val="3439882625"/>
                    </a:ext>
                  </a:extLst>
                </a:gridCol>
              </a:tblGrid>
              <a:tr h="357046">
                <a:tc>
                  <a:txBody>
                    <a:bodyPr/>
                    <a:lstStyle/>
                    <a:p>
                      <a:pPr marL="0" marR="0" algn="ctr">
                        <a:lnSpc>
                          <a:spcPct val="116000"/>
                        </a:lnSpc>
                        <a:spcAft>
                          <a:spcPts val="800"/>
                        </a:spcAft>
                        <a:buNone/>
                      </a:pPr>
                      <a:r>
                        <a:rPr lang="en-US" sz="1800">
                          <a:effectLst/>
                        </a:rPr>
                        <a:t>MATERIALS &amp; SUPPLIES</a:t>
                      </a:r>
                      <a:endParaRPr lang="en-US" sz="1800">
                        <a:effectLst/>
                        <a:latin typeface="Aptos" panose="020B0004020202020204" pitchFamily="34" charset="0"/>
                        <a:ea typeface="MS Mincho" panose="02020609040205080304" pitchFamily="49" charset="-128"/>
                        <a:cs typeface="Arial" panose="020B0604020202020204" pitchFamily="34" charset="0"/>
                      </a:endParaRPr>
                    </a:p>
                  </a:txBody>
                  <a:tcPr marL="98708" marR="98708" marT="0" marB="0" anchor="ctr"/>
                </a:tc>
                <a:tc>
                  <a:txBody>
                    <a:bodyPr/>
                    <a:lstStyle/>
                    <a:p>
                      <a:pPr marL="0" marR="0" algn="ctr">
                        <a:lnSpc>
                          <a:spcPct val="116000"/>
                        </a:lnSpc>
                        <a:spcAft>
                          <a:spcPts val="800"/>
                        </a:spcAft>
                        <a:buNone/>
                      </a:pPr>
                      <a:r>
                        <a:rPr lang="en-US" sz="1800">
                          <a:effectLst/>
                        </a:rPr>
                        <a:t>DESCRIPTION</a:t>
                      </a:r>
                      <a:endParaRPr lang="en-US" sz="1800">
                        <a:effectLst/>
                        <a:latin typeface="Aptos" panose="020B0004020202020204" pitchFamily="34" charset="0"/>
                        <a:ea typeface="MS Mincho" panose="02020609040205080304" pitchFamily="49" charset="-128"/>
                        <a:cs typeface="Arial" panose="020B0604020202020204" pitchFamily="34" charset="0"/>
                      </a:endParaRPr>
                    </a:p>
                  </a:txBody>
                  <a:tcPr marL="98708" marR="98708" marT="0" marB="0" anchor="ctr"/>
                </a:tc>
                <a:extLst>
                  <a:ext uri="{0D108BD9-81ED-4DB2-BD59-A6C34878D82A}">
                    <a16:rowId xmlns:a16="http://schemas.microsoft.com/office/drawing/2014/main" val="2910878611"/>
                  </a:ext>
                </a:extLst>
              </a:tr>
              <a:tr h="979082">
                <a:tc>
                  <a:txBody>
                    <a:bodyPr/>
                    <a:lstStyle/>
                    <a:p>
                      <a:pPr marL="0" marR="0" lvl="0" indent="0">
                        <a:lnSpc>
                          <a:spcPct val="116000"/>
                        </a:lnSpc>
                        <a:spcAft>
                          <a:spcPts val="800"/>
                        </a:spcAft>
                        <a:buFont typeface="+mj-lt"/>
                        <a:buNone/>
                      </a:pPr>
                      <a:r>
                        <a:rPr lang="en-US" sz="1800">
                          <a:effectLst/>
                        </a:rPr>
                        <a:t>Ultra Zero Compressed Air </a:t>
                      </a:r>
                      <a:endParaRPr lang="en-US" sz="1800">
                        <a:effectLst/>
                        <a:latin typeface="Aptos" panose="020B0004020202020204" pitchFamily="34" charset="0"/>
                        <a:ea typeface="MS Mincho" panose="02020609040205080304" pitchFamily="49" charset="-128"/>
                        <a:cs typeface="Arial" panose="020B0604020202020204" pitchFamily="34" charset="0"/>
                      </a:endParaRPr>
                    </a:p>
                  </a:txBody>
                  <a:tcPr marL="98708" marR="98708" marT="0" marB="0"/>
                </a:tc>
                <a:tc>
                  <a:txBody>
                    <a:bodyPr/>
                    <a:lstStyle/>
                    <a:p>
                      <a:pPr marL="0" marR="0">
                        <a:lnSpc>
                          <a:spcPct val="116000"/>
                        </a:lnSpc>
                        <a:spcAft>
                          <a:spcPts val="800"/>
                        </a:spcAft>
                        <a:buNone/>
                      </a:pPr>
                      <a:r>
                        <a:rPr lang="en-US" sz="1800">
                          <a:effectLst/>
                        </a:rPr>
                        <a:t>This is pressurized purified air, that mainly consists of N2 and O2, that will flow through the system and allow for a precise experiment with good data.</a:t>
                      </a:r>
                      <a:endParaRPr lang="en-US" sz="1800">
                        <a:effectLst/>
                        <a:latin typeface="Aptos" panose="020B0004020202020204" pitchFamily="34" charset="0"/>
                        <a:ea typeface="MS Mincho" panose="02020609040205080304" pitchFamily="49" charset="-128"/>
                        <a:cs typeface="Arial" panose="020B0604020202020204" pitchFamily="34" charset="0"/>
                      </a:endParaRPr>
                    </a:p>
                  </a:txBody>
                  <a:tcPr marL="98708" marR="98708" marT="0" marB="0"/>
                </a:tc>
                <a:extLst>
                  <a:ext uri="{0D108BD9-81ED-4DB2-BD59-A6C34878D82A}">
                    <a16:rowId xmlns:a16="http://schemas.microsoft.com/office/drawing/2014/main" val="1857218259"/>
                  </a:ext>
                </a:extLst>
              </a:tr>
              <a:tr h="1290100">
                <a:tc>
                  <a:txBody>
                    <a:bodyPr/>
                    <a:lstStyle/>
                    <a:p>
                      <a:pPr marL="0" marR="0" lvl="0" indent="0">
                        <a:lnSpc>
                          <a:spcPct val="116000"/>
                        </a:lnSpc>
                        <a:spcAft>
                          <a:spcPts val="800"/>
                        </a:spcAft>
                        <a:buFont typeface="+mj-lt"/>
                        <a:buNone/>
                      </a:pPr>
                      <a:r>
                        <a:rPr lang="en-US" sz="1800">
                          <a:effectLst/>
                        </a:rPr>
                        <a:t>Power Strip </a:t>
                      </a:r>
                      <a:endParaRPr lang="en-US" sz="1800">
                        <a:effectLst/>
                        <a:latin typeface="Aptos" panose="020B0004020202020204" pitchFamily="34" charset="0"/>
                        <a:ea typeface="MS Mincho" panose="02020609040205080304" pitchFamily="49" charset="-128"/>
                        <a:cs typeface="Arial" panose="020B0604020202020204" pitchFamily="34" charset="0"/>
                      </a:endParaRPr>
                    </a:p>
                  </a:txBody>
                  <a:tcPr marL="98708" marR="98708" marT="0" marB="0"/>
                </a:tc>
                <a:tc>
                  <a:txBody>
                    <a:bodyPr/>
                    <a:lstStyle/>
                    <a:p>
                      <a:pPr marL="0" marR="0">
                        <a:lnSpc>
                          <a:spcPct val="116000"/>
                        </a:lnSpc>
                        <a:spcAft>
                          <a:spcPts val="800"/>
                        </a:spcAft>
                        <a:buNone/>
                      </a:pPr>
                      <a:r>
                        <a:rPr lang="en-US" sz="1800">
                          <a:effectLst/>
                        </a:rPr>
                        <a:t>Supply power to equipment; also contains a ground fault circuit interrupter (GFCI) to protect against dangerous shocks. Also contains a 15-ampere overload protector. </a:t>
                      </a:r>
                      <a:endParaRPr lang="en-US" sz="1800">
                        <a:effectLst/>
                        <a:latin typeface="Aptos" panose="020B0004020202020204" pitchFamily="34" charset="0"/>
                        <a:ea typeface="MS Mincho" panose="02020609040205080304" pitchFamily="49" charset="-128"/>
                        <a:cs typeface="Arial" panose="020B0604020202020204" pitchFamily="34" charset="0"/>
                      </a:endParaRPr>
                    </a:p>
                  </a:txBody>
                  <a:tcPr marL="98708" marR="98708" marT="0" marB="0"/>
                </a:tc>
                <a:extLst>
                  <a:ext uri="{0D108BD9-81ED-4DB2-BD59-A6C34878D82A}">
                    <a16:rowId xmlns:a16="http://schemas.microsoft.com/office/drawing/2014/main" val="1496821191"/>
                  </a:ext>
                </a:extLst>
              </a:tr>
              <a:tr h="979082">
                <a:tc>
                  <a:txBody>
                    <a:bodyPr/>
                    <a:lstStyle/>
                    <a:p>
                      <a:pPr marL="0" marR="0" lvl="0" indent="0">
                        <a:lnSpc>
                          <a:spcPct val="116000"/>
                        </a:lnSpc>
                        <a:spcAft>
                          <a:spcPts val="800"/>
                        </a:spcAft>
                        <a:buFont typeface="+mj-lt"/>
                        <a:buNone/>
                      </a:pPr>
                      <a:r>
                        <a:rPr lang="en-US" sz="1800" dirty="0">
                          <a:effectLst/>
                        </a:rPr>
                        <a:t>Hollow Polymeric Fibers</a:t>
                      </a:r>
                      <a:endParaRPr lang="en-US" sz="1800" dirty="0">
                        <a:effectLst/>
                        <a:latin typeface="Aptos" panose="020B0004020202020204" pitchFamily="34" charset="0"/>
                        <a:ea typeface="MS Mincho" panose="02020609040205080304" pitchFamily="49" charset="-128"/>
                        <a:cs typeface="Arial" panose="020B0604020202020204" pitchFamily="34" charset="0"/>
                      </a:endParaRPr>
                    </a:p>
                  </a:txBody>
                  <a:tcPr marL="98708" marR="98708" marT="0" marB="0"/>
                </a:tc>
                <a:tc>
                  <a:txBody>
                    <a:bodyPr/>
                    <a:lstStyle/>
                    <a:p>
                      <a:pPr marL="0" marR="0">
                        <a:lnSpc>
                          <a:spcPct val="116000"/>
                        </a:lnSpc>
                        <a:spcAft>
                          <a:spcPts val="800"/>
                        </a:spcAft>
                        <a:buNone/>
                      </a:pPr>
                      <a:r>
                        <a:rPr lang="en-US" sz="1800" dirty="0">
                          <a:effectLst/>
                        </a:rPr>
                        <a:t>These fibers act as non-porous semipermeable membranes that allow N2 and O2 to permeate and exit tube-side to enter the shell-side.  </a:t>
                      </a:r>
                      <a:endParaRPr lang="en-US" sz="1800" dirty="0">
                        <a:effectLst/>
                        <a:latin typeface="Aptos" panose="020B0004020202020204" pitchFamily="34" charset="0"/>
                        <a:ea typeface="MS Mincho" panose="02020609040205080304" pitchFamily="49" charset="-128"/>
                        <a:cs typeface="Arial" panose="020B0604020202020204" pitchFamily="34" charset="0"/>
                      </a:endParaRPr>
                    </a:p>
                  </a:txBody>
                  <a:tcPr marL="98708" marR="98708" marT="0" marB="0"/>
                </a:tc>
                <a:extLst>
                  <a:ext uri="{0D108BD9-81ED-4DB2-BD59-A6C34878D82A}">
                    <a16:rowId xmlns:a16="http://schemas.microsoft.com/office/drawing/2014/main" val="4030477251"/>
                  </a:ext>
                </a:extLst>
              </a:tr>
            </a:tbl>
          </a:graphicData>
        </a:graphic>
      </p:graphicFrame>
    </p:spTree>
    <p:extLst>
      <p:ext uri="{BB962C8B-B14F-4D97-AF65-F5344CB8AC3E}">
        <p14:creationId xmlns:p14="http://schemas.microsoft.com/office/powerpoint/2010/main" val="4002603940"/>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74F2BE-2CF7-3D59-0A04-94206D354D8D}"/>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Procedure</a:t>
            </a:r>
          </a:p>
        </p:txBody>
      </p:sp>
      <p:sp>
        <p:nvSpPr>
          <p:cNvPr id="3" name="Content Placeholder 2">
            <a:extLst>
              <a:ext uri="{FF2B5EF4-FFF2-40B4-BE49-F238E27FC236}">
                <a16:creationId xmlns:a16="http://schemas.microsoft.com/office/drawing/2014/main" id="{979B8A3A-96FE-000F-6207-3A87E266C60A}"/>
              </a:ext>
            </a:extLst>
          </p:cNvPr>
          <p:cNvSpPr>
            <a:spLocks noGrp="1"/>
          </p:cNvSpPr>
          <p:nvPr>
            <p:ph idx="1"/>
          </p:nvPr>
        </p:nvSpPr>
        <p:spPr>
          <a:xfrm>
            <a:off x="1371599" y="2318197"/>
            <a:ext cx="9724031" cy="3683358"/>
          </a:xfrm>
        </p:spPr>
        <p:txBody>
          <a:bodyPr anchor="ctr">
            <a:normAutofit lnSpcReduction="10000"/>
          </a:bodyPr>
          <a:lstStyle/>
          <a:p>
            <a:pPr marL="457200" indent="-457200">
              <a:buAutoNum type="arabicPeriod"/>
            </a:pPr>
            <a:r>
              <a:rPr lang="en-US" sz="2000" dirty="0"/>
              <a:t>Activate the readers in the system by turning on the electricity.</a:t>
            </a:r>
          </a:p>
          <a:p>
            <a:pPr marL="457200" indent="-457200">
              <a:buAutoNum type="arabicPeriod"/>
            </a:pPr>
            <a:r>
              <a:rPr lang="en-US" sz="2000" dirty="0"/>
              <a:t>Open the gas cylinder valve, open the pin needle valve to adjust the amount of pressure going into valve and manipulate the final valve to adjust the flow rate into the system.</a:t>
            </a:r>
          </a:p>
          <a:p>
            <a:pPr marL="457200" indent="-457200">
              <a:buAutoNum type="arabicPeriod"/>
            </a:pPr>
            <a:r>
              <a:rPr lang="en-US" sz="2000" dirty="0"/>
              <a:t>Once desired flow rate and pressure are reached run for 10 minutes to reach steady state.</a:t>
            </a:r>
          </a:p>
          <a:p>
            <a:pPr marL="457200" indent="-457200">
              <a:buAutoNum type="arabicPeriod"/>
            </a:pPr>
            <a:r>
              <a:rPr lang="en-US" sz="2000" dirty="0"/>
              <a:t>Align the valves to desired configuration. </a:t>
            </a:r>
            <a:r>
              <a:rPr lang="en-US" sz="2000" u="sng" dirty="0"/>
              <a:t>Parallel</a:t>
            </a:r>
            <a:r>
              <a:rPr lang="en-US" sz="2000" dirty="0"/>
              <a:t>: Valve A (Left), Valve B (Down to vent), Valve C (Down), Valve D (Up). S</a:t>
            </a:r>
            <a:r>
              <a:rPr lang="en-US" sz="2000" u="sng" dirty="0"/>
              <a:t>eries</a:t>
            </a:r>
            <a:r>
              <a:rPr lang="en-US" sz="2000" dirty="0"/>
              <a:t>: Valve A (Right), Valve B (Up), Valve C (Up), Valve D (Up).</a:t>
            </a:r>
          </a:p>
          <a:p>
            <a:pPr marL="457200" indent="-457200">
              <a:buAutoNum type="arabicPeriod"/>
            </a:pPr>
            <a:r>
              <a:rPr lang="en-US" sz="2000" dirty="0"/>
              <a:t>Run the system until steady state and repeat at different pressures ranging from 20 psia to 100 psia. And at different flow rates. </a:t>
            </a:r>
          </a:p>
          <a:p>
            <a:pPr marL="457200" indent="-457200">
              <a:buAutoNum type="arabicPeriod"/>
            </a:pPr>
            <a:r>
              <a:rPr lang="en-US" sz="2000" dirty="0"/>
              <a:t>Redo the experiment in series and parallel. </a:t>
            </a:r>
          </a:p>
        </p:txBody>
      </p:sp>
    </p:spTree>
    <p:extLst>
      <p:ext uri="{BB962C8B-B14F-4D97-AF65-F5344CB8AC3E}">
        <p14:creationId xmlns:p14="http://schemas.microsoft.com/office/powerpoint/2010/main" val="2578790611"/>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9F6D95-5862-0736-89FE-4160171C2C02}"/>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Safety</a:t>
            </a:r>
          </a:p>
        </p:txBody>
      </p:sp>
      <p:sp>
        <p:nvSpPr>
          <p:cNvPr id="3" name="Content Placeholder 2">
            <a:extLst>
              <a:ext uri="{FF2B5EF4-FFF2-40B4-BE49-F238E27FC236}">
                <a16:creationId xmlns:a16="http://schemas.microsoft.com/office/drawing/2014/main" id="{BD584853-3080-C75B-19BC-3F1871BAD77B}"/>
              </a:ext>
            </a:extLst>
          </p:cNvPr>
          <p:cNvSpPr>
            <a:spLocks noGrp="1"/>
          </p:cNvSpPr>
          <p:nvPr>
            <p:ph idx="1"/>
          </p:nvPr>
        </p:nvSpPr>
        <p:spPr>
          <a:xfrm>
            <a:off x="1371599" y="2318197"/>
            <a:ext cx="9724031" cy="3683358"/>
          </a:xfrm>
        </p:spPr>
        <p:txBody>
          <a:bodyPr anchor="ctr">
            <a:normAutofit/>
          </a:bodyPr>
          <a:lstStyle/>
          <a:p>
            <a:pPr marL="457200" indent="-457200">
              <a:buAutoNum type="arabicPeriod"/>
            </a:pPr>
            <a:r>
              <a:rPr lang="en-US" sz="2000" dirty="0"/>
              <a:t>Wear safety goggles due to the possible over-pressurization of the system. Also because of the unexpected nature of the laboratory.</a:t>
            </a:r>
          </a:p>
          <a:p>
            <a:pPr marL="457200" indent="-457200">
              <a:buAutoNum type="arabicPeriod"/>
            </a:pPr>
            <a:r>
              <a:rPr lang="en-US" sz="2000" dirty="0"/>
              <a:t>Make sure air cylinder is properly pressurized and well grounded.</a:t>
            </a:r>
          </a:p>
          <a:p>
            <a:pPr marL="457200" indent="-457200">
              <a:buAutoNum type="arabicPeriod"/>
            </a:pPr>
            <a:r>
              <a:rPr lang="en-US" sz="2000" dirty="0"/>
              <a:t>Do not have all the three valves facing in the middle or else this will damage the system.</a:t>
            </a:r>
          </a:p>
          <a:p>
            <a:pPr marL="457200" indent="-457200">
              <a:buAutoNum type="arabicPeriod"/>
            </a:pPr>
            <a:r>
              <a:rPr lang="en-US" sz="2000" dirty="0"/>
              <a:t>Be aware of the power cord. Ensure no wires are exposed during the experiment. </a:t>
            </a:r>
          </a:p>
        </p:txBody>
      </p:sp>
      <p:pic>
        <p:nvPicPr>
          <p:cNvPr id="4" name="Picture 3" descr="A clear safety goggles with a black strap&#10;&#10;AI-generated content may be incorrect.">
            <a:extLst>
              <a:ext uri="{FF2B5EF4-FFF2-40B4-BE49-F238E27FC236}">
                <a16:creationId xmlns:a16="http://schemas.microsoft.com/office/drawing/2014/main" id="{02FE85FF-60E2-EDCC-BB96-0B23FDE377A1}"/>
              </a:ext>
            </a:extLst>
          </p:cNvPr>
          <p:cNvPicPr>
            <a:picLocks noChangeAspect="1"/>
          </p:cNvPicPr>
          <p:nvPr/>
        </p:nvPicPr>
        <p:blipFill>
          <a:blip r:embed="rId3"/>
          <a:stretch>
            <a:fillRect/>
          </a:stretch>
        </p:blipFill>
        <p:spPr>
          <a:xfrm>
            <a:off x="8686423" y="5287893"/>
            <a:ext cx="2576922" cy="1572868"/>
          </a:xfrm>
          <a:prstGeom prst="rect">
            <a:avLst/>
          </a:prstGeom>
        </p:spPr>
      </p:pic>
    </p:spTree>
    <p:extLst>
      <p:ext uri="{BB962C8B-B14F-4D97-AF65-F5344CB8AC3E}">
        <p14:creationId xmlns:p14="http://schemas.microsoft.com/office/powerpoint/2010/main" val="1436220924"/>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876388-6049-FA23-A688-4223AEC766F3}"/>
              </a:ext>
            </a:extLst>
          </p:cNvPr>
          <p:cNvSpPr>
            <a:spLocks noGrp="1"/>
          </p:cNvSpPr>
          <p:nvPr>
            <p:ph type="title"/>
          </p:nvPr>
        </p:nvSpPr>
        <p:spPr>
          <a:xfrm>
            <a:off x="826396" y="586855"/>
            <a:ext cx="4230100" cy="3387497"/>
          </a:xfrm>
        </p:spPr>
        <p:txBody>
          <a:bodyPr anchor="b">
            <a:normAutofit/>
          </a:bodyPr>
          <a:lstStyle/>
          <a:p>
            <a:pPr algn="r"/>
            <a:r>
              <a:rPr lang="en-US" sz="3700">
                <a:solidFill>
                  <a:srgbClr val="FFFFFF"/>
                </a:solidFill>
              </a:rPr>
              <a:t>Experimental Challenges/Lessons Learned</a:t>
            </a:r>
          </a:p>
        </p:txBody>
      </p:sp>
      <p:sp>
        <p:nvSpPr>
          <p:cNvPr id="3" name="Content Placeholder 2">
            <a:extLst>
              <a:ext uri="{FF2B5EF4-FFF2-40B4-BE49-F238E27FC236}">
                <a16:creationId xmlns:a16="http://schemas.microsoft.com/office/drawing/2014/main" id="{91DF17F7-5FC8-8133-561E-4AEAAA30E702}"/>
              </a:ext>
            </a:extLst>
          </p:cNvPr>
          <p:cNvSpPr>
            <a:spLocks noGrp="1"/>
          </p:cNvSpPr>
          <p:nvPr>
            <p:ph idx="1"/>
          </p:nvPr>
        </p:nvSpPr>
        <p:spPr>
          <a:xfrm>
            <a:off x="6458708" y="585980"/>
            <a:ext cx="4932297" cy="6015947"/>
          </a:xfrm>
        </p:spPr>
        <p:txBody>
          <a:bodyPr anchor="ctr">
            <a:normAutofit/>
          </a:bodyPr>
          <a:lstStyle/>
          <a:p>
            <a:r>
              <a:rPr lang="en-US" sz="2000" dirty="0"/>
              <a:t>There are many calculations in the analysis. Start early and understand what you're calculating so you can set your excel sheet up for efficiency. </a:t>
            </a:r>
          </a:p>
          <a:p>
            <a:r>
              <a:rPr lang="en-US" sz="2000" dirty="0"/>
              <a:t>Be aware of pressure drops when switching the membrane configuration from series to parallel. Be ready to adjust valves accordingly.  </a:t>
            </a:r>
          </a:p>
          <a:p>
            <a:r>
              <a:rPr lang="en-US" sz="2000" dirty="0"/>
              <a:t>When operating in series make sure to measure O2 levels and flowrates individually for each ASU by manipulating valves. </a:t>
            </a:r>
          </a:p>
          <a:p>
            <a:r>
              <a:rPr lang="en-US" sz="2000" dirty="0"/>
              <a:t>Have a good understanding of theory and the equations involved. This will help with error analysis. </a:t>
            </a:r>
          </a:p>
          <a:p>
            <a:endParaRPr lang="en-US" sz="2000" dirty="0"/>
          </a:p>
          <a:p>
            <a:endParaRPr lang="en-US" sz="2000" dirty="0"/>
          </a:p>
          <a:p>
            <a:endParaRPr lang="en-US" sz="2000" dirty="0"/>
          </a:p>
        </p:txBody>
      </p:sp>
    </p:spTree>
    <p:extLst>
      <p:ext uri="{BB962C8B-B14F-4D97-AF65-F5344CB8AC3E}">
        <p14:creationId xmlns:p14="http://schemas.microsoft.com/office/powerpoint/2010/main" val="1722463528"/>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emplate>office theme</Template>
  <TotalTime>13</TotalTime>
  <Words>1018</Words>
  <Application>Microsoft Office PowerPoint</Application>
  <PresentationFormat>Widescreen</PresentationFormat>
  <Paragraphs>76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Cambria Math</vt:lpstr>
      <vt:lpstr>Times New Roman</vt:lpstr>
      <vt:lpstr>office theme</vt:lpstr>
      <vt:lpstr>Membrane Air Separation</vt:lpstr>
      <vt:lpstr>Purpose of Lab</vt:lpstr>
      <vt:lpstr>Technical Nature</vt:lpstr>
      <vt:lpstr>Theory</vt:lpstr>
      <vt:lpstr>Apparatus</vt:lpstr>
      <vt:lpstr>Material and Supplies</vt:lpstr>
      <vt:lpstr>Procedure</vt:lpstr>
      <vt:lpstr>Safety</vt:lpstr>
      <vt:lpstr>Experimental Challenges/Lessons Learned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Zdunek, Alan</cp:lastModifiedBy>
  <cp:revision>3</cp:revision>
  <dcterms:created xsi:type="dcterms:W3CDTF">2025-10-14T03:51:52Z</dcterms:created>
  <dcterms:modified xsi:type="dcterms:W3CDTF">2025-10-21T22:06:07Z</dcterms:modified>
</cp:coreProperties>
</file>