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6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comments/modernComment_12A_0.xml" ContentType="application/vnd.ms-powerpoint.comments+xml"/>
  <Override PartName="/ppt/comments/modernComment_12C_0.xml" ContentType="application/vnd.ms-powerpoint.comments+xml"/>
  <Override PartName="/ppt/comments/modernComment_12D_0.xml" ContentType="application/vnd.ms-powerpoint.comments+xml"/>
  <Override PartName="/ppt/comments/modernComment_12F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4"/>
  </p:notesMasterIdLst>
  <p:sldIdLst>
    <p:sldId id="262" r:id="rId5"/>
    <p:sldId id="297" r:id="rId6"/>
    <p:sldId id="298" r:id="rId7"/>
    <p:sldId id="304" r:id="rId8"/>
    <p:sldId id="299" r:id="rId9"/>
    <p:sldId id="300" r:id="rId10"/>
    <p:sldId id="301" r:id="rId11"/>
    <p:sldId id="302" r:id="rId12"/>
    <p:sldId id="30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  <p188:author id="{C53CB2D7-03F6-4FC6-5678-A24B2A761DE0}" name="Salinas Rojas, Christian" initials="CS" userId="S::csali@uic.edu::fe23357c-54a0-4e54-bfa7-bf720841de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omments/modernComment_12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06D490-9FD0-4580-A1B6-1D6B2EC72336}" authorId="{C53CB2D7-03F6-4FC6-5678-A24B2A761DE0}" created="2025-09-16T16:56:04.800">
    <pc:sldMkLst xmlns:pc="http://schemas.microsoft.com/office/powerpoint/2013/main/command">
      <pc:docMk/>
      <pc:sldMk cId="0" sldId="298"/>
    </pc:sldMkLst>
    <p188:txBody>
      <a:bodyPr/>
      <a:lstStyle/>
      <a:p>
        <a:r>
          <a:rPr lang="en-US"/>
          <a:t>You wrote results in sheering, anyhting sheers </a:t>
        </a:r>
      </a:p>
    </p188:txBody>
  </p188:cm>
  <p188:cm id="{74DE5183-787F-4040-9310-A34230C5C63B}" authorId="{DF52CCAC-0B66-CA76-A7A3-D551D844506B}" created="2025-09-17T22:45:26.3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8"/>
      <ac:spMk id="124931" creationId="{51D028A4-6BEC-2C90-84E4-3A2DC1ACEB2F}"/>
    </ac:deMkLst>
    <p188:txBody>
      <a:bodyPr/>
      <a:lstStyle/>
      <a:p>
        <a:r>
          <a:rPr lang="en-US"/>
          <a:t>-2
Since they are of different lengths and diameters, they also provide different shear stress on the fluid.</a:t>
        </a:r>
      </a:p>
    </p188:txBody>
  </p188:cm>
  <p188:cm id="{AFEAC6C8-34E3-4E2D-9905-F7FB03AE9EE0}" authorId="{DF52CCAC-0B66-CA76-A7A3-D551D844506B}" created="2025-09-17T22:46:18.84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8"/>
      <ac:spMk id="124930" creationId="{11B69A90-4DF7-7692-E525-B7A869825DA5}"/>
    </ac:deMkLst>
    <p188:txBody>
      <a:bodyPr/>
      <a:lstStyle/>
      <a:p>
        <a:r>
          <a:rPr lang="en-US"/>
          <a:t>-2
Mention the significance of m and n in terms of shear thinning/thickening properties of the fluid.</a:t>
        </a:r>
      </a:p>
    </p188:txBody>
  </p188:cm>
</p188:cmLst>
</file>

<file path=ppt/comments/modernComment_12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459BA4F-E042-4A33-A1F5-C0B4E6FEB8E2}" authorId="{DF52CCAC-0B66-CA76-A7A3-D551D844506B}" created="2025-09-17T22:48:01.8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0"/>
      <ac:spMk id="126978" creationId="{5C11A4DD-BC26-0307-B8FA-7426033E445B}"/>
    </ac:deMkLst>
    <p188:txBody>
      <a:bodyPr/>
      <a:lstStyle/>
      <a:p>
        <a:r>
          <a:rPr lang="en-US"/>
          <a:t>-4
Mixer, balance, beakers/containers, spatulas, pH paper.</a:t>
        </a:r>
      </a:p>
    </p188:txBody>
  </p188:cm>
</p188:cmLst>
</file>

<file path=ppt/comments/modernComment_12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523A3A-870B-4C27-97D3-E082CA0CA38B}" authorId="{DF52CCAC-0B66-CA76-A7A3-D551D844506B}" created="2025-09-17T22:48:23.5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128003" creationId="{EA933464-56D4-34C9-7D7B-8F5DBAFF10D2}"/>
    </ac:deMkLst>
    <p188:txBody>
      <a:bodyPr/>
      <a:lstStyle/>
      <a:p>
        <a:r>
          <a:rPr lang="en-US"/>
          <a:t>How?</a:t>
        </a:r>
      </a:p>
    </p188:txBody>
  </p188:cm>
  <p188:cm id="{4D2895B7-4D2F-4B26-980F-52A9FA746150}" authorId="{DF52CCAC-0B66-CA76-A7A3-D551D844506B}" created="2025-09-17T22:49:01.7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128003" creationId="{EA933464-56D4-34C9-7D7B-8F5DBAFF10D2}"/>
    </ac:deMkLst>
    <p188:txBody>
      <a:bodyPr/>
      <a:lstStyle/>
      <a:p>
        <a:r>
          <a:rPr lang="en-US"/>
          <a:t>-3
Be more specific- with different capillary tubes, pressure range..</a:t>
        </a:r>
      </a:p>
    </p188:txBody>
  </p188:cm>
</p188:cmLst>
</file>

<file path=ppt/comments/modernComment_12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971554-34AA-4F09-8ACB-4AA0FDF3E17C}" authorId="{DF52CCAC-0B66-CA76-A7A3-D551D844506B}" created="2025-09-17T22:49:49.4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3"/>
      <ac:spMk id="130051" creationId="{1AD8D707-2FB4-F1DB-CAB4-1519DCC2A428}"/>
    </ac:deMkLst>
    <p188:txBody>
      <a:bodyPr/>
      <a:lstStyle/>
      <a:p>
        <a:r>
          <a:rPr lang="en-US"/>
          <a:t>-1
High pressure hazard to be more specific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5EDD3E-57D9-454D-9097-3C78CF71537B}" authorId="{DF52CCAC-0B66-CA76-A7A3-D551D844506B}" created="2025-09-17T22:50:18.3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2051" creationId="{97E183F7-760E-8A8C-8EE9-85B8CE9E264C}"/>
    </ac:deMkLst>
    <p188:txBody>
      <a:bodyPr/>
      <a:lstStyle/>
      <a:p>
        <a:r>
          <a:rPr lang="en-US"/>
          <a:t>85/100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FD16A7-1642-4DB5-A1C7-FD678C381A45}" authorId="{C53CB2D7-03F6-4FC6-5678-A24B2A761DE0}" created="2025-09-16T17:09:41.374">
    <pc:sldMkLst xmlns:pc="http://schemas.microsoft.com/office/powerpoint/2013/main/command">
      <pc:docMk/>
      <pc:sldMk cId="0" sldId="297"/>
    </pc:sldMkLst>
    <p188:txBody>
      <a:bodyPr/>
      <a:lstStyle/>
      <a:p>
        <a:r>
          <a:rPr lang="en-US"/>
          <a:t>We don’t really care about the geometry, just what they were used for </a:t>
        </a:r>
      </a:p>
    </p188:txBody>
  </p188:cm>
  <p188:cm id="{DFB8A75F-6319-482E-9F94-D35304DEE284}" authorId="{DF52CCAC-0B66-CA76-A7A3-D551D844506B}" created="2025-09-17T22:44:08.4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92162" creationId="{369F7082-9560-71B0-AE70-52091877AF49}"/>
    </ac:deMkLst>
    <p188:txBody>
      <a:bodyPr/>
      <a:lstStyle/>
      <a:p>
        <a:r>
          <a:rPr lang="en-US"/>
          <a:t>-3
More clearly state the objective-
To determine viscosity parameters m and n for a non-newtonian fluid….using a capillary tube viscometer...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4A972-C1A5-4767-982F-9D7E0F805E8B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2ABF9-FC02-41F0-BA4F-7812608C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49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CBC5C920-95F8-6DD2-D37F-F3D6E7B59A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0183DA-BE74-4852-AF4A-3A0AC432656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6BFA5118-5F34-794C-C37E-EA43CBF2F4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9121D9A6-8394-3170-D73D-25D120D29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9DA36297-8921-AE94-34FB-73EAA8311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F65173-F795-490C-8845-E0A948813F8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FACF4694-85AE-22ED-4719-6193E5E21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2693878C-CBF5-EC7A-FD0B-7C87C5FDF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425A113-046C-C949-1C46-2B1E6834EC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12192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747EC27-FEB3-4335-FB7A-5A1CF1778E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88FEDC3-5371-D307-C781-BAAB89692C2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31460F9D-02C7-1DC1-2D27-03AB29F3D3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1" y="6400801"/>
            <a:ext cx="3170767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38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C28E-0AE9-1517-00CE-B6F98E14F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1C462-A774-7F4F-49CF-9D8D33E22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706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121E-753B-CF17-36D7-B4ACFF37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621F7-832E-A529-51E2-CD38166F4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7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D1E0-4913-1F08-09D6-15DC72F9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018B-26E4-AE3A-F680-7BA588003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3F824-5F7F-34A8-15E3-A8840A910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2786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9E84-F265-D2D5-6134-23E2215E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B3D46-B041-016A-66D1-EB5BAE07B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11FCF-44EA-3657-F9B3-08333F0FD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716A0-44F8-1D0B-E6FD-7881E307B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BC74F-882C-BF0A-D662-A608940EC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16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E363-A3C3-A61D-E381-70CFFD8A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3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28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8C5B-AD74-541E-C1E4-ED9BCB80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24625-0A37-3079-7732-9BE12195D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EC137-2D39-EAC4-DD6A-5B99B0DEB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313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8E59-E018-A985-13D2-1B97F5CDA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10B45-ABB9-8F77-89F3-423E51F05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E41BE-77F0-FD4A-6FB0-0D7AF9424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258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0127-BBD6-E936-C9A9-5F32C17D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C3E0D-CBD0-4432-4163-3DA92FD5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43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8CE4D-082A-29EF-B5D6-AD9968815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"/>
            <a:ext cx="3048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4FA15-CD9B-05B5-226F-D0B6A594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1"/>
            <a:ext cx="89408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566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6DCCF36-6656-9598-C0F5-B451153F8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E14A0B4-09B6-8E42-4479-9F74D95C1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73A8ADF9-DF3A-7165-131E-6EE479580FB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12192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D391D36-00CA-4C75-6614-851FBD18AF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6400800"/>
            <a:ext cx="31496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40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A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C_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F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97E183F7-760E-8A8C-8EE9-85B8CE9E26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09800" y="4114800"/>
            <a:ext cx="7696200" cy="1828800"/>
          </a:xfrm>
        </p:spPr>
        <p:txBody>
          <a:bodyPr/>
          <a:lstStyle/>
          <a:p>
            <a:r>
              <a:rPr lang="en-US" sz="2800" dirty="0"/>
              <a:t>Unit Operations Lab 1</a:t>
            </a:r>
          </a:p>
          <a:p>
            <a:r>
              <a:rPr lang="en-US" sz="2800" dirty="0"/>
              <a:t>Sep 16, 2025 </a:t>
            </a:r>
          </a:p>
          <a:p>
            <a:r>
              <a:rPr lang="en-US" sz="2800"/>
              <a:t>Miguel Piza </a:t>
            </a:r>
          </a:p>
          <a:p>
            <a:r>
              <a:rPr lang="en-US" sz="2800" dirty="0" err="1"/>
              <a:t>Ify</a:t>
            </a:r>
            <a:r>
              <a:rPr lang="en-US" sz="2800" dirty="0"/>
              <a:t> </a:t>
            </a:r>
            <a:r>
              <a:rPr lang="en-US" sz="2800" dirty="0" err="1"/>
              <a:t>Bidokwu</a:t>
            </a:r>
            <a:r>
              <a:rPr lang="en-US" sz="2800" dirty="0"/>
              <a:t> </a:t>
            </a:r>
          </a:p>
          <a:p>
            <a:r>
              <a:rPr lang="en-US" sz="2800" dirty="0"/>
              <a:t>Christian Salinas Rojas</a:t>
            </a:r>
          </a:p>
          <a:p>
            <a:pPr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ED76568-AC0F-34DD-218A-4D87D86B83A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0"/>
            <a:ext cx="9144000" cy="3581400"/>
          </a:xfrm>
        </p:spPr>
        <p:txBody>
          <a:bodyPr/>
          <a:lstStyle/>
          <a:p>
            <a:r>
              <a:rPr lang="en-US" sz="4000"/>
              <a:t>Viscosity of Non-Newtonian Fluids </a:t>
            </a:r>
            <a:endParaRPr lang="en-US" altLang="en-US" sz="4000" b="1"/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F49F0949-4602-56E4-F3B9-8DFD08A1C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369F7082-9560-71B0-AE70-52091877A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3BD5D6BD-99F2-0185-5C9B-9700345B3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b="1" dirty="0"/>
              <a:t>Purpose: </a:t>
            </a:r>
          </a:p>
          <a:p>
            <a:r>
              <a:rPr lang="en-US" altLang="en-US" dirty="0"/>
              <a:t>Verify relationship between viscosity and sheer stress</a:t>
            </a:r>
          </a:p>
          <a:p>
            <a:r>
              <a:rPr lang="en-US" altLang="en-US" dirty="0"/>
              <a:t>Utilize Pressure drop as operating parameters</a:t>
            </a:r>
          </a:p>
          <a:p>
            <a:r>
              <a:rPr lang="en-US" dirty="0"/>
              <a:t>Used different capillary sizes to generate a range of shear stresses for viscosity measurements</a:t>
            </a:r>
            <a:r>
              <a:rPr lang="en-US" altLang="en-US" b="1" dirty="0"/>
              <a:t> 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11B69A90-4DF7-7692-E525-B7A869825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51D028A4-6BEC-2C90-84E4-3A2DC1ACE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1245" y="141763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u="sng" dirty="0"/>
              <a:t>Underlying Principles/ governing equations:</a:t>
            </a:r>
          </a:p>
          <a:p>
            <a:r>
              <a:rPr lang="en-US" altLang="en-US" dirty="0"/>
              <a:t>Pressure gradient in capillaries will produce a volumetric flow rate</a:t>
            </a:r>
          </a:p>
          <a:p>
            <a:r>
              <a:rPr lang="en-US" altLang="en-US" dirty="0"/>
              <a:t>Solution is non-Newtonian which results in a non linear sheer stress and velocity gradient relationship  </a:t>
            </a:r>
          </a:p>
          <a:p>
            <a:r>
              <a:rPr lang="en-US" altLang="en-US" dirty="0"/>
              <a:t>Relevant equations: </a:t>
            </a:r>
          </a:p>
          <a:p>
            <a:pPr lvl="1"/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9643E-B8F0-EED7-C8DB-42AD03845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02" y="4736883"/>
            <a:ext cx="4201111" cy="1571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A1FFF8-4752-2858-7EC3-3899D86AC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645" y="4456590"/>
            <a:ext cx="3934193" cy="1852137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76B5-3DF1-0C6A-F932-FF6ABC42A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4BEC9-4FE1-6826-70F6-858D101FE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Limitations: </a:t>
            </a:r>
          </a:p>
          <a:p>
            <a:pPr lvl="1"/>
            <a:r>
              <a:rPr lang="en-US" dirty="0"/>
              <a:t>At low pressures the fluid struggles to maintain a constant flow rate</a:t>
            </a:r>
          </a:p>
          <a:p>
            <a:pPr lvl="1"/>
            <a:r>
              <a:rPr lang="en-US" dirty="0"/>
              <a:t>Substances tends to stick to the apparatus</a:t>
            </a:r>
          </a:p>
          <a:p>
            <a:pPr marL="0" indent="0">
              <a:buNone/>
            </a:pPr>
            <a:r>
              <a:rPr lang="en-US" u="sng" dirty="0"/>
              <a:t>Assumptions </a:t>
            </a:r>
          </a:p>
          <a:p>
            <a:pPr lvl="1"/>
            <a:r>
              <a:rPr lang="en-US" dirty="0"/>
              <a:t>Constant density of solution</a:t>
            </a:r>
          </a:p>
          <a:p>
            <a:pPr lvl="1"/>
            <a:r>
              <a:rPr lang="en-US" dirty="0"/>
              <a:t>Steady state flowrate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74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76F7807C-B16A-ACD9-83A0-D99466893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Apparatus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5A2AAC19-D127-DDB6-F2AB-E101B58A4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1"/>
            <a:ext cx="11686674" cy="4525963"/>
          </a:xfrm>
        </p:spPr>
        <p:txBody>
          <a:bodyPr/>
          <a:lstStyle/>
          <a:p>
            <a:endParaRPr lang="en-US" altLang="en-US" dirty="0"/>
          </a:p>
        </p:txBody>
      </p:sp>
      <p:pic>
        <p:nvPicPr>
          <p:cNvPr id="2" name="Picture 1" descr="A screenshot of a screenshot of a room with a wall with a gauge and a sign&#10;&#10;AI-generated content may be incorrect.">
            <a:extLst>
              <a:ext uri="{FF2B5EF4-FFF2-40B4-BE49-F238E27FC236}">
                <a16:creationId xmlns:a16="http://schemas.microsoft.com/office/drawing/2014/main" id="{720BE1D6-453A-4942-882E-2EB078B29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667747"/>
            <a:ext cx="5038343" cy="4161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B58221-D395-B913-05B5-822E7DAC6218}"/>
              </a:ext>
            </a:extLst>
          </p:cNvPr>
          <p:cNvSpPr txBox="1"/>
          <p:nvPr/>
        </p:nvSpPr>
        <p:spPr>
          <a:xfrm>
            <a:off x="6510865" y="1966118"/>
            <a:ext cx="45365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Air line </a:t>
            </a:r>
          </a:p>
          <a:p>
            <a:pPr marL="342900" indent="-342900">
              <a:buAutoNum type="arabicPeriod"/>
            </a:pPr>
            <a:r>
              <a:rPr lang="en-US" dirty="0"/>
              <a:t>Regulator (pressure changes)</a:t>
            </a:r>
          </a:p>
          <a:p>
            <a:pPr marL="342900" indent="-342900">
              <a:buAutoNum type="arabicPeriod"/>
            </a:pPr>
            <a:r>
              <a:rPr lang="en-US" dirty="0"/>
              <a:t>Inlet air valve </a:t>
            </a:r>
          </a:p>
          <a:p>
            <a:pPr marL="342900" indent="-342900">
              <a:buAutoNum type="arabicPeriod"/>
            </a:pPr>
            <a:r>
              <a:rPr lang="en-US" dirty="0"/>
              <a:t>psi gauge </a:t>
            </a:r>
          </a:p>
          <a:p>
            <a:pPr marL="342900" indent="-342900">
              <a:buAutoNum type="arabicPeriod"/>
            </a:pPr>
            <a:r>
              <a:rPr lang="en-US" dirty="0"/>
              <a:t>Funnel (unused)</a:t>
            </a:r>
          </a:p>
          <a:p>
            <a:pPr marL="342900" indent="-342900">
              <a:buAutoNum type="arabicPeriod"/>
            </a:pPr>
            <a:r>
              <a:rPr lang="en-US" dirty="0"/>
              <a:t>Funnel valve (unused)</a:t>
            </a:r>
          </a:p>
          <a:p>
            <a:pPr marL="342900" indent="-342900">
              <a:buAutoNum type="arabicPeriod"/>
            </a:pPr>
            <a:r>
              <a:rPr lang="en-US" dirty="0"/>
              <a:t>Material vessel (pressurized)</a:t>
            </a:r>
          </a:p>
          <a:p>
            <a:pPr marL="342900" indent="-342900">
              <a:buAutoNum type="arabicPeriod"/>
            </a:pPr>
            <a:r>
              <a:rPr lang="en-US" dirty="0"/>
              <a:t>Material outflow valve (pressurized)</a:t>
            </a:r>
          </a:p>
          <a:p>
            <a:pPr marL="342900" indent="-342900">
              <a:buAutoNum type="arabicPeriod"/>
            </a:pPr>
            <a:r>
              <a:rPr lang="en-US" dirty="0"/>
              <a:t>Outlet air valve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5C11A4DD-BC26-0307-B8FA-7426033E4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9681A5FB-AE90-F74F-0190-83E536194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en-US" sz="3200" u="sng" dirty="0"/>
              <a:t>Materials and supplies :</a:t>
            </a:r>
          </a:p>
          <a:p>
            <a:pPr lvl="1"/>
            <a:r>
              <a:rPr lang="en-US" altLang="en-US" dirty="0"/>
              <a:t>CARBOPOL POWDER</a:t>
            </a:r>
          </a:p>
          <a:p>
            <a:pPr lvl="1"/>
            <a:r>
              <a:rPr lang="en-US" altLang="en-US" dirty="0"/>
              <a:t>Various Capillary tubes </a:t>
            </a:r>
          </a:p>
          <a:p>
            <a:pPr lvl="1"/>
            <a:r>
              <a:rPr lang="en-US" altLang="en-US" dirty="0"/>
              <a:t>1M NaOH </a:t>
            </a:r>
          </a:p>
          <a:p>
            <a:pPr lvl="1"/>
            <a:r>
              <a:rPr lang="en-US" altLang="en-US" dirty="0"/>
              <a:t>Compressed air</a:t>
            </a:r>
          </a:p>
          <a:p>
            <a:pPr lvl="1"/>
            <a:r>
              <a:rPr lang="en-US" altLang="en-US" dirty="0"/>
              <a:t>Warm tap water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7CCA350B-D4BC-72A1-560E-E73865D33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A933464-56D4-34C9-7D7B-8F5DBAFF1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Create 1.0 </a:t>
            </a:r>
            <a:r>
              <a:rPr lang="en-US" altLang="en-US" dirty="0" err="1"/>
              <a:t>wt</a:t>
            </a:r>
            <a:r>
              <a:rPr lang="en-US" altLang="en-US" dirty="0"/>
              <a:t>% solution of CARBOPOL and water</a:t>
            </a:r>
          </a:p>
          <a:p>
            <a:r>
              <a:rPr lang="en-US" altLang="en-US" dirty="0"/>
              <a:t>Mix solution</a:t>
            </a:r>
          </a:p>
          <a:p>
            <a:r>
              <a:rPr lang="en-US" altLang="en-US" dirty="0"/>
              <a:t>Neutralize to a pH of 5-7 using 1M NaOH (~30ml ) </a:t>
            </a:r>
          </a:p>
          <a:p>
            <a:r>
              <a:rPr lang="en-US" altLang="en-US" dirty="0"/>
              <a:t>Fill apparatus and take measurements at varying pressures and flow rates</a:t>
            </a:r>
          </a:p>
          <a:p>
            <a:r>
              <a:rPr lang="en-US" altLang="en-US" dirty="0"/>
              <a:t>Take density measurements</a:t>
            </a:r>
          </a:p>
          <a:p>
            <a:endParaRPr lang="en-US" altLang="en-US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FEF17AD2-5FA6-14E5-500C-B0D88A092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048CB57F-4144-2740-6D53-F2968A9A1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u="sng" dirty="0"/>
              <a:t>Difficulties: </a:t>
            </a:r>
          </a:p>
          <a:p>
            <a:r>
              <a:rPr lang="en-US" altLang="en-US" dirty="0"/>
              <a:t>Ensuring constant flow rates (trapped air in material)</a:t>
            </a:r>
          </a:p>
          <a:p>
            <a:r>
              <a:rPr lang="en-US" altLang="en-US" dirty="0"/>
              <a:t>Obtaining density measurements </a:t>
            </a:r>
          </a:p>
          <a:p>
            <a:r>
              <a:rPr lang="en-US" altLang="en-US" dirty="0"/>
              <a:t>Adjust pressure once tube is opened</a:t>
            </a:r>
          </a:p>
          <a:p>
            <a:r>
              <a:rPr lang="en-US" altLang="en-US" dirty="0"/>
              <a:t>Proper mixing of solution</a:t>
            </a:r>
          </a:p>
          <a:p>
            <a:r>
              <a:rPr lang="en-US" altLang="en-US" dirty="0"/>
              <a:t>Time spent waiting for mixer</a:t>
            </a:r>
          </a:p>
          <a:p>
            <a:r>
              <a:rPr lang="en-US" altLang="en-US" dirty="0"/>
              <a:t>Refilling material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650A3828-9CA3-D31A-4ADB-B4A344E71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1AD8D707-2FB4-F1DB-CAB4-1519DCC2A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u="sng" dirty="0"/>
              <a:t>Hazards: </a:t>
            </a:r>
          </a:p>
          <a:p>
            <a:r>
              <a:rPr lang="en-US" altLang="en-US" dirty="0"/>
              <a:t>Highly Acidic</a:t>
            </a:r>
          </a:p>
          <a:p>
            <a:pPr lvl="1"/>
            <a:r>
              <a:rPr lang="en-US" altLang="en-US" dirty="0"/>
              <a:t>Initial solution has pH of 2-3 </a:t>
            </a:r>
          </a:p>
          <a:p>
            <a:pPr lvl="1"/>
            <a:r>
              <a:rPr lang="en-US" altLang="en-US" dirty="0"/>
              <a:t>Non-toxic when neutralized with 1M NaOH</a:t>
            </a:r>
          </a:p>
          <a:p>
            <a:r>
              <a:rPr lang="en-US" altLang="en-US" dirty="0"/>
              <a:t>Pressure hazards</a:t>
            </a:r>
          </a:p>
          <a:p>
            <a:r>
              <a:rPr lang="en-US" altLang="en-US" dirty="0"/>
              <a:t>Preventing Splashing (specially when mixing)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159FE80906304CA072B5D39009A190" ma:contentTypeVersion="15" ma:contentTypeDescription="Create a new document." ma:contentTypeScope="" ma:versionID="7585f8d4407418b6fbbda4e00c4674fa">
  <xsd:schema xmlns:xsd="http://www.w3.org/2001/XMLSchema" xmlns:xs="http://www.w3.org/2001/XMLSchema" xmlns:p="http://schemas.microsoft.com/office/2006/metadata/properties" xmlns:ns3="a7e4c320-0794-4888-a970-e17820477a82" xmlns:ns4="c5cc5383-2a69-4e68-90e6-0383925ff137" targetNamespace="http://schemas.microsoft.com/office/2006/metadata/properties" ma:root="true" ma:fieldsID="d9c65189b149e249824034f744099024" ns3:_="" ns4:_="">
    <xsd:import namespace="a7e4c320-0794-4888-a970-e17820477a82"/>
    <xsd:import namespace="c5cc5383-2a69-4e68-90e6-0383925ff1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4c320-0794-4888-a970-e17820477a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cc5383-2a69-4e68-90e6-0383925ff13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e4c320-0794-4888-a970-e17820477a82" xsi:nil="true"/>
  </documentManagement>
</p:properties>
</file>

<file path=customXml/itemProps1.xml><?xml version="1.0" encoding="utf-8"?>
<ds:datastoreItem xmlns:ds="http://schemas.openxmlformats.org/officeDocument/2006/customXml" ds:itemID="{8754472E-71E3-4D80-929F-BF330F414E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73A29-567A-44CF-B5B1-67528E99C7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e4c320-0794-4888-a970-e17820477a82"/>
    <ds:schemaRef ds:uri="c5cc5383-2a69-4e68-90e6-0383925ff1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B761DF-B305-4113-89EB-5FE578C62EE8}">
  <ds:schemaRefs>
    <ds:schemaRef ds:uri="a7e4c320-0794-4888-a970-e17820477a82"/>
    <ds:schemaRef ds:uri="http://purl.org/dc/elements/1.1/"/>
    <ds:schemaRef ds:uri="http://schemas.microsoft.com/office/2006/metadata/properties"/>
    <ds:schemaRef ds:uri="c5cc5383-2a69-4e68-90e6-0383925ff13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152</TotalTime>
  <Words>268</Words>
  <Application>Microsoft Office PowerPoint</Application>
  <PresentationFormat>Widescreen</PresentationFormat>
  <Paragraphs>62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Default Design</vt:lpstr>
      <vt:lpstr>Viscosity of Non-Newtonian Fluids </vt:lpstr>
      <vt:lpstr>Introduction</vt:lpstr>
      <vt:lpstr>Theory</vt:lpstr>
      <vt:lpstr>PowerPoint Presentation</vt:lpstr>
      <vt:lpstr>Apparatus</vt:lpstr>
      <vt:lpstr>Material &amp; Supplies</vt:lpstr>
      <vt:lpstr>Procedure</vt:lpstr>
      <vt:lpstr>Experimental Challenges</vt:lpstr>
      <vt:lpstr>Safety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Salinas Rojas, Christian</dc:creator>
  <cp:lastModifiedBy>Zdunek, Alan</cp:lastModifiedBy>
  <cp:revision>3</cp:revision>
  <dcterms:created xsi:type="dcterms:W3CDTF">2025-09-16T15:19:43Z</dcterms:created>
  <dcterms:modified xsi:type="dcterms:W3CDTF">2025-09-17T22:50:39Z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0x010100B3159FE80906304CA072B5D39009A190</vt:lpwstr>
  </property>
</Properties>
</file>