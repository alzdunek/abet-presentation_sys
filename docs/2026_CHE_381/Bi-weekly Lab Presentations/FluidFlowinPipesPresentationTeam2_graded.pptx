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29_0.xml" ContentType="application/vnd.ms-powerpoint.comments+xml"/>
  <Override PartName="/ppt/comments/modernComment_131_810A2AC1.xml" ContentType="application/vnd.ms-powerpoint.comments+xml"/>
  <Override PartName="/ppt/comments/modernComment_12B_0.xml" ContentType="application/vnd.ms-powerpoint.comments+xml"/>
  <Override PartName="/ppt/comments/modernComment_12D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5"/>
    <p:sldId id="297" r:id="rId6"/>
    <p:sldId id="305" r:id="rId7"/>
    <p:sldId id="304" r:id="rId8"/>
    <p:sldId id="299" r:id="rId9"/>
    <p:sldId id="300" r:id="rId10"/>
    <p:sldId id="301" r:id="rId11"/>
    <p:sldId id="306" r:id="rId12"/>
    <p:sldId id="302" r:id="rId13"/>
    <p:sldId id="303" r:id="rId14"/>
  </p:sldIdLst>
  <p:sldSz cx="9144000" cy="6858000" type="screen4x3"/>
  <p:notesSz cx="6858000" cy="907732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00"/>
    <a:srgbClr val="0066CC"/>
    <a:srgbClr val="3366FF"/>
    <a:srgbClr val="CC9900"/>
    <a:srgbClr val="996600"/>
    <a:srgbClr val="99CCFF"/>
    <a:srgbClr val="FF0000"/>
    <a:srgbClr val="0023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11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modernComment_12B_0.xml><?xml version="1.0" encoding="utf-8"?>
<p188:cmLst xmlns:a="http://schemas.openxmlformats.org/drawingml/2006/main" xmlns:r="http://schemas.openxmlformats.org/officeDocument/2006/relationships" xmlns:p188="http://schemas.microsoft.com/office/powerpoint/2018/8/main">
  <p188:cm id="{924758A4-A2C3-40AC-886A-FC6D12B0EF40}" authorId="{DF52CCAC-0B66-CA76-A7A3-D551D844506B}" created="2025-10-30T16:10:02.743">
    <ac:deMkLst xmlns:ac="http://schemas.microsoft.com/office/drawing/2013/main/command">
      <pc:docMk xmlns:pc="http://schemas.microsoft.com/office/powerpoint/2013/main/command"/>
      <pc:sldMk xmlns:pc="http://schemas.microsoft.com/office/powerpoint/2013/main/command" cId="0" sldId="299"/>
      <ac:spMk id="125955" creationId="{8580FFC4-817F-C9BF-429D-227F08A09CBF}"/>
    </ac:deMkLst>
    <p188:txBody>
      <a:bodyPr/>
      <a:lstStyle/>
      <a:p>
        <a:r>
          <a:rPr lang="en-US"/>
          <a:t>-3
Pipes, not tubes
Flow rate meter and rotameter the same?
Mention the differential pressure transmitters
Mention the various pipe fittings and orifice plate</a:t>
        </a:r>
      </a:p>
    </p188:txBody>
  </p188:cm>
</p188:cmLst>
</file>

<file path=ppt/comments/modernComment_12D_0.xml><?xml version="1.0" encoding="utf-8"?>
<p188:cmLst xmlns:a="http://schemas.openxmlformats.org/drawingml/2006/main" xmlns:r="http://schemas.openxmlformats.org/officeDocument/2006/relationships" xmlns:p188="http://schemas.microsoft.com/office/powerpoint/2018/8/main">
  <p188:cm id="{BE4A8791-ED1E-46E0-A656-4B9EF41B32A9}" authorId="{DF52CCAC-0B66-CA76-A7A3-D551D844506B}" created="2025-10-30T16:10:25.297">
    <ac:deMkLst xmlns:ac="http://schemas.microsoft.com/office/drawing/2013/main/command">
      <pc:docMk xmlns:pc="http://schemas.microsoft.com/office/powerpoint/2013/main/command"/>
      <pc:sldMk xmlns:pc="http://schemas.microsoft.com/office/powerpoint/2013/main/command" cId="0" sldId="301"/>
      <ac:spMk id="128003" creationId="{9D3769CA-9B10-0C67-E810-AC09439CB8C7}"/>
    </ac:deMkLst>
    <p188:txBody>
      <a:bodyPr/>
      <a:lstStyle/>
      <a:p>
        <a:r>
          <a:rPr lang="en-US"/>
          <a:t>reservoir</a:t>
        </a:r>
      </a:p>
    </p188:txBody>
  </p188:cm>
  <p188:cm id="{C1BCC97B-5696-456C-9EA7-4444D81EF461}" authorId="{DF52CCAC-0B66-CA76-A7A3-D551D844506B}" created="2025-10-30T16:12:05.385">
    <pc:sldMkLst xmlns:pc="http://schemas.microsoft.com/office/powerpoint/2013/main/command">
      <pc:docMk/>
      <pc:sldMk cId="0" sldId="301"/>
    </pc:sldMkLst>
    <p188:txBody>
      <a:bodyPr/>
      <a:lstStyle/>
      <a:p>
        <a:r>
          <a:rPr lang="en-US"/>
          <a:t>-1
Separate the procedures with a title for better clarity:
Rotameter calibration
Pipe fitting measurements
Pipe measurements</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8C1C35AD-61AC-4282-81FD-0FCFFF432238}" authorId="{DF52CCAC-0B66-CA76-A7A3-D551D844506B}" created="2025-10-30T16:13:26.223">
    <ac:deMkLst xmlns:ac="http://schemas.microsoft.com/office/drawing/2013/main/command">
      <pc:docMk xmlns:pc="http://schemas.microsoft.com/office/powerpoint/2013/main/command"/>
      <pc:sldMk xmlns:pc="http://schemas.microsoft.com/office/powerpoint/2013/main/command" cId="0" sldId="256"/>
      <ac:spMk id="2053" creationId="{D83D4E55-475B-4577-3DF9-73D811DBC689}"/>
    </ac:deMkLst>
    <p188:txBody>
      <a:bodyPr/>
      <a:lstStyle/>
      <a:p>
        <a:r>
          <a:rPr lang="en-US"/>
          <a:t>92/100</a:t>
        </a:r>
      </a:p>
    </p188:txBody>
  </p188:cm>
</p188:cmLst>
</file>

<file path=ppt/comments/modernComment_129_0.xml><?xml version="1.0" encoding="utf-8"?>
<p188:cmLst xmlns:a="http://schemas.openxmlformats.org/drawingml/2006/main" xmlns:r="http://schemas.openxmlformats.org/officeDocument/2006/relationships" xmlns:p188="http://schemas.microsoft.com/office/powerpoint/2018/8/main">
  <p188:cm id="{9464331C-92E8-4C8F-B7F1-8EB70A01FEFA}" authorId="{DF52CCAC-0B66-CA76-A7A3-D551D844506B}" created="2025-10-30T16:05:03.191">
    <ac:deMkLst xmlns:ac="http://schemas.microsoft.com/office/drawing/2013/main/command">
      <pc:docMk xmlns:pc="http://schemas.microsoft.com/office/powerpoint/2013/main/command"/>
      <pc:sldMk xmlns:pc="http://schemas.microsoft.com/office/powerpoint/2013/main/command" cId="0" sldId="297"/>
      <ac:spMk id="92163" creationId="{C8AF0D01-070A-20B3-F7A1-7323D0D69BC2}"/>
    </ac:deMkLst>
    <p188:txBody>
      <a:bodyPr/>
      <a:lstStyle/>
      <a:p>
        <a:r>
          <a:rPr lang="en-US"/>
          <a:t>-2
...utilize experimental measurements in a pipe flow demonstrator….
….to determine friction factors, head loss, and compare with empirical correlations.</a:t>
        </a:r>
      </a:p>
    </p188:txBody>
  </p188:cm>
</p188:cmLst>
</file>

<file path=ppt/comments/modernComment_131_810A2AC1.xml><?xml version="1.0" encoding="utf-8"?>
<p188:cmLst xmlns:a="http://schemas.openxmlformats.org/drawingml/2006/main" xmlns:r="http://schemas.openxmlformats.org/officeDocument/2006/relationships" xmlns:p188="http://schemas.microsoft.com/office/powerpoint/2018/8/main">
  <p188:cm id="{65EF0BF1-4089-488C-A3A1-55999927F2B5}" authorId="{DF52CCAC-0B66-CA76-A7A3-D551D844506B}" created="2025-10-30T16:06:12.408">
    <ac:deMkLst xmlns:ac="http://schemas.microsoft.com/office/drawing/2013/main/command">
      <pc:docMk xmlns:pc="http://schemas.microsoft.com/office/powerpoint/2013/main/command"/>
      <pc:sldMk xmlns:pc="http://schemas.microsoft.com/office/powerpoint/2013/main/command" cId="2164927169" sldId="305"/>
      <ac:spMk id="3" creationId="{7F1BBE52-9895-E612-76EB-AA3B236859E2}"/>
    </ac:deMkLst>
    <p188:txBody>
      <a:bodyPr/>
      <a:lstStyle/>
      <a:p>
        <a:r>
          <a:rPr lang="en-US"/>
          <a:t>-2
Mention Bernoulli equation and Reynolds number.
What empirical correlation is used to compare with the experimental data?</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CE172D2-2224-775E-CE4F-FFD4DBA696E6}"/>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20835" name="Rectangle 3">
            <a:extLst>
              <a:ext uri="{FF2B5EF4-FFF2-40B4-BE49-F238E27FC236}">
                <a16:creationId xmlns:a16="http://schemas.microsoft.com/office/drawing/2014/main" id="{C94EE37C-E614-6A43-0D02-6C20F4883588}"/>
              </a:ext>
            </a:extLst>
          </p:cNvPr>
          <p:cNvSpPr>
            <a:spLocks noGrp="1" noChangeArrowheads="1"/>
          </p:cNvSpPr>
          <p:nvPr>
            <p:ph type="dt" sz="quarter"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20836" name="Rectangle 4">
            <a:extLst>
              <a:ext uri="{FF2B5EF4-FFF2-40B4-BE49-F238E27FC236}">
                <a16:creationId xmlns:a16="http://schemas.microsoft.com/office/drawing/2014/main" id="{02AF76B4-1A7E-B276-06F5-440DC0258DC1}"/>
              </a:ext>
            </a:extLst>
          </p:cNvPr>
          <p:cNvSpPr>
            <a:spLocks noGrp="1" noChangeArrowheads="1"/>
          </p:cNvSpPr>
          <p:nvPr>
            <p:ph type="ftr" sz="quarter" idx="2"/>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20837" name="Rectangle 5">
            <a:extLst>
              <a:ext uri="{FF2B5EF4-FFF2-40B4-BE49-F238E27FC236}">
                <a16:creationId xmlns:a16="http://schemas.microsoft.com/office/drawing/2014/main" id="{F402FAE6-1AD0-9A7D-F260-AE89D82F462B}"/>
              </a:ext>
            </a:extLst>
          </p:cNvPr>
          <p:cNvSpPr>
            <a:spLocks noGrp="1" noChangeArrowheads="1"/>
          </p:cNvSpPr>
          <p:nvPr>
            <p:ph type="sldNum" sz="quarter" idx="3"/>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EB0D9A8F-04E2-41E9-A89A-8E55E595BEC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AA06D08A-3DC0-D813-F4B5-0D2CD51F9BD5}"/>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6387" name="Rectangle 1027">
            <a:extLst>
              <a:ext uri="{FF2B5EF4-FFF2-40B4-BE49-F238E27FC236}">
                <a16:creationId xmlns:a16="http://schemas.microsoft.com/office/drawing/2014/main" id="{6B7F7495-9FFE-1194-FB71-0EDB48117324}"/>
              </a:ext>
            </a:extLst>
          </p:cNvPr>
          <p:cNvSpPr>
            <a:spLocks noGrp="1" noChangeArrowheads="1"/>
          </p:cNvSpPr>
          <p:nvPr>
            <p:ph type="dt"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6388" name="Rectangle 1028">
            <a:extLst>
              <a:ext uri="{FF2B5EF4-FFF2-40B4-BE49-F238E27FC236}">
                <a16:creationId xmlns:a16="http://schemas.microsoft.com/office/drawing/2014/main" id="{AF0E6C86-22C2-9557-D915-0613453FAA04}"/>
              </a:ext>
            </a:extLst>
          </p:cNvPr>
          <p:cNvSpPr>
            <a:spLocks noGrp="1" noRot="1" noChangeAspect="1" noChangeArrowheads="1" noTextEdit="1"/>
          </p:cNvSpPr>
          <p:nvPr>
            <p:ph type="sldImg" idx="2"/>
          </p:nvPr>
        </p:nvSpPr>
        <p:spPr bwMode="auto">
          <a:xfrm>
            <a:off x="1160463" y="681038"/>
            <a:ext cx="4538662" cy="34036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1029">
            <a:extLst>
              <a:ext uri="{FF2B5EF4-FFF2-40B4-BE49-F238E27FC236}">
                <a16:creationId xmlns:a16="http://schemas.microsoft.com/office/drawing/2014/main" id="{AC100BFD-9DC3-5211-B8A2-FC14900789C0}"/>
              </a:ext>
            </a:extLst>
          </p:cNvPr>
          <p:cNvSpPr>
            <a:spLocks noGrp="1" noChangeArrowheads="1"/>
          </p:cNvSpPr>
          <p:nvPr>
            <p:ph type="body" sz="quarter" idx="3"/>
          </p:nvPr>
        </p:nvSpPr>
        <p:spPr bwMode="auto">
          <a:xfrm>
            <a:off x="685800" y="4311650"/>
            <a:ext cx="54864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390" name="Rectangle 1030">
            <a:extLst>
              <a:ext uri="{FF2B5EF4-FFF2-40B4-BE49-F238E27FC236}">
                <a16:creationId xmlns:a16="http://schemas.microsoft.com/office/drawing/2014/main" id="{E95C246B-C0CD-4C67-30AA-BB7FCEEAD218}"/>
              </a:ext>
            </a:extLst>
          </p:cNvPr>
          <p:cNvSpPr>
            <a:spLocks noGrp="1" noChangeArrowheads="1"/>
          </p:cNvSpPr>
          <p:nvPr>
            <p:ph type="ftr" sz="quarter" idx="4"/>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6391" name="Rectangle 1031">
            <a:extLst>
              <a:ext uri="{FF2B5EF4-FFF2-40B4-BE49-F238E27FC236}">
                <a16:creationId xmlns:a16="http://schemas.microsoft.com/office/drawing/2014/main" id="{9A0EC816-93AA-E150-FAFF-3BD25668204A}"/>
              </a:ext>
            </a:extLst>
          </p:cNvPr>
          <p:cNvSpPr>
            <a:spLocks noGrp="1" noChangeArrowheads="1"/>
          </p:cNvSpPr>
          <p:nvPr>
            <p:ph type="sldNum" sz="quarter" idx="5"/>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ABFE604-8574-44E0-9282-A2B2C8070DA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a:extLst>
              <a:ext uri="{FF2B5EF4-FFF2-40B4-BE49-F238E27FC236}">
                <a16:creationId xmlns:a16="http://schemas.microsoft.com/office/drawing/2014/main" id="{E9F02CB4-AA2E-221F-211F-F3C40B06BAC4}"/>
              </a:ext>
            </a:extLst>
          </p:cNvPr>
          <p:cNvSpPr>
            <a:spLocks noGrp="1" noChangeArrowheads="1"/>
          </p:cNvSpPr>
          <p:nvPr>
            <p:ph type="sldNum" sz="quarter" idx="5"/>
          </p:nvPr>
        </p:nvSpPr>
        <p:spPr>
          <a:ln/>
        </p:spPr>
        <p:txBody>
          <a:bodyPr/>
          <a:lstStyle/>
          <a:p>
            <a:fld id="{26B1E65F-3355-488F-90B7-1296156AF715}" type="slidenum">
              <a:rPr lang="en-US" altLang="en-US"/>
              <a:pPr/>
              <a:t>1</a:t>
            </a:fld>
            <a:endParaRPr lang="en-US" altLang="en-US"/>
          </a:p>
        </p:txBody>
      </p:sp>
      <p:sp>
        <p:nvSpPr>
          <p:cNvPr id="17410" name="Rectangle 1026">
            <a:extLst>
              <a:ext uri="{FF2B5EF4-FFF2-40B4-BE49-F238E27FC236}">
                <a16:creationId xmlns:a16="http://schemas.microsoft.com/office/drawing/2014/main" id="{88C8A438-E135-1ACB-52B3-D4AEFE5DBD5A}"/>
              </a:ext>
            </a:extLst>
          </p:cNvPr>
          <p:cNvSpPr>
            <a:spLocks noGrp="1" noRot="1" noChangeAspect="1" noChangeArrowheads="1" noTextEdit="1"/>
          </p:cNvSpPr>
          <p:nvPr>
            <p:ph type="sldImg"/>
          </p:nvPr>
        </p:nvSpPr>
        <p:spPr>
          <a:ln/>
        </p:spPr>
      </p:sp>
      <p:sp>
        <p:nvSpPr>
          <p:cNvPr id="17411" name="Rectangle 1027">
            <a:extLst>
              <a:ext uri="{FF2B5EF4-FFF2-40B4-BE49-F238E27FC236}">
                <a16:creationId xmlns:a16="http://schemas.microsoft.com/office/drawing/2014/main" id="{28BFDD21-F415-6F1A-E2FE-88DF8C7F527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a:extLst>
              <a:ext uri="{FF2B5EF4-FFF2-40B4-BE49-F238E27FC236}">
                <a16:creationId xmlns:a16="http://schemas.microsoft.com/office/drawing/2014/main" id="{2586AD88-D614-7651-F130-B2FD62D82C8F}"/>
              </a:ext>
            </a:extLst>
          </p:cNvPr>
          <p:cNvSpPr>
            <a:spLocks noGrp="1" noChangeArrowheads="1"/>
          </p:cNvSpPr>
          <p:nvPr>
            <p:ph type="sldNum" sz="quarter" idx="5"/>
          </p:nvPr>
        </p:nvSpPr>
        <p:spPr>
          <a:ln/>
        </p:spPr>
        <p:txBody>
          <a:bodyPr/>
          <a:lstStyle/>
          <a:p>
            <a:fld id="{C6D8C716-F1A6-447A-A4FC-10DBBBD9AF97}" type="slidenum">
              <a:rPr lang="en-US" altLang="en-US"/>
              <a:pPr/>
              <a:t>2</a:t>
            </a:fld>
            <a:endParaRPr lang="en-US" altLang="en-US"/>
          </a:p>
        </p:txBody>
      </p:sp>
      <p:sp>
        <p:nvSpPr>
          <p:cNvPr id="93186" name="Rectangle 2">
            <a:extLst>
              <a:ext uri="{FF2B5EF4-FFF2-40B4-BE49-F238E27FC236}">
                <a16:creationId xmlns:a16="http://schemas.microsoft.com/office/drawing/2014/main" id="{670363DE-BA12-AD1B-1A00-0691076DB5CB}"/>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CEA10445-7B1A-8556-9B99-FEF187D8B058}"/>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6F313C2-ED3B-0CD3-A4D1-C5795BF0DA86}"/>
              </a:ext>
            </a:extLst>
          </p:cNvPr>
          <p:cNvSpPr>
            <a:spLocks noGrp="1" noChangeArrowheads="1"/>
          </p:cNvSpPr>
          <p:nvPr>
            <p:ph type="ctrTitle"/>
          </p:nvPr>
        </p:nvSpPr>
        <p:spPr>
          <a:xfrm>
            <a:off x="0" y="0"/>
            <a:ext cx="9144000" cy="3600450"/>
          </a:xfrm>
        </p:spPr>
        <p:txBody>
          <a:bodyPr/>
          <a:lstStyle>
            <a:lvl1pPr>
              <a:defRPr/>
            </a:lvl1pPr>
          </a:lstStyle>
          <a:p>
            <a:pPr lvl="0"/>
            <a:br>
              <a:rPr lang="en-US" altLang="en-US" noProof="0"/>
            </a:br>
            <a:r>
              <a:rPr lang="en-US" altLang="en-US" noProof="0"/>
              <a:t>Click to edit Master title style</a:t>
            </a:r>
          </a:p>
        </p:txBody>
      </p:sp>
      <p:sp>
        <p:nvSpPr>
          <p:cNvPr id="5123" name="Rectangle 3">
            <a:extLst>
              <a:ext uri="{FF2B5EF4-FFF2-40B4-BE49-F238E27FC236}">
                <a16:creationId xmlns:a16="http://schemas.microsoft.com/office/drawing/2014/main" id="{575C429B-3E28-8A6D-53AA-1574DE329217}"/>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en-US" noProof="0"/>
              <a:t>Click to edit Master subtitle style</a:t>
            </a:r>
          </a:p>
        </p:txBody>
      </p:sp>
      <p:sp>
        <p:nvSpPr>
          <p:cNvPr id="5124" name="Rectangle 4">
            <a:extLst>
              <a:ext uri="{FF2B5EF4-FFF2-40B4-BE49-F238E27FC236}">
                <a16:creationId xmlns:a16="http://schemas.microsoft.com/office/drawing/2014/main" id="{DA1C20BC-37E7-A436-6474-650C6F94ADF4}"/>
              </a:ext>
            </a:extLst>
          </p:cNvPr>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pic>
        <p:nvPicPr>
          <p:cNvPr id="5127" name="Picture 7">
            <a:extLst>
              <a:ext uri="{FF2B5EF4-FFF2-40B4-BE49-F238E27FC236}">
                <a16:creationId xmlns:a16="http://schemas.microsoft.com/office/drawing/2014/main" id="{64971DFB-E37D-71EE-F888-5938C8819B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53200" y="6400800"/>
            <a:ext cx="2378075" cy="328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F456-36C5-C780-FE71-C2A1A8394A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4B9169-A752-5A97-5654-28B56DB39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93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AB31-56C1-E6B4-762C-D83A5956B6F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7205D9-BFFF-3B70-6160-04EE0567F8D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662684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E95F-DFA1-0912-9F83-46CC723E1B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7D9295-B587-5CDF-2C23-F99786C8ADC1}"/>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9EE95C-CD71-7710-F8F7-D25FFD3F6DDC}"/>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9569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B98A-3C30-E024-FB61-4EFE11DDB8F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7ED877-3381-F28F-18C4-1C5DEBA6B7A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8CD1DB-3D02-4464-48FC-0525C7058E5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1A194E-15F1-B7A3-BF19-428C16152FA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C48242-00C7-F1C3-CAE5-0454B69DB21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728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CB9E4-FEA0-92E3-B392-4633153F28E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1357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544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2C77-352D-232A-0EA5-4679F397BD5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4DA508-B88D-57A9-8C75-1FF628C990F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D70E54-A070-0E6C-22EF-3D2F7920D48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30663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B0F6-DF2C-20EB-B1F9-DE803286DD6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49240-9A8A-CF6E-A5C2-DCC92B263F3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B3099C-0623-5029-5870-373C62D56A0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13845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B3CB8-9048-1F69-F6A7-1D393CF272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89FEB8-94BA-6085-433C-C3B975CFE6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3802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60193A-44EB-0272-08FB-A7049B1E9D65}"/>
              </a:ext>
            </a:extLst>
          </p:cNvPr>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1554B5-8DE7-6349-0375-FFBD2BDC79E8}"/>
              </a:ext>
            </a:extLst>
          </p:cNvPr>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1533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65EE327-16E9-DC7B-FA75-1B7F1A28D4EB}"/>
              </a:ext>
            </a:extLst>
          </p:cNvPr>
          <p:cNvSpPr>
            <a:spLocks noGrp="1" noChangeArrowheads="1"/>
          </p:cNvSpPr>
          <p:nvPr>
            <p:ph type="title"/>
          </p:nvPr>
        </p:nvSpPr>
        <p:spPr bwMode="auto">
          <a:xfrm>
            <a:off x="0" y="0"/>
            <a:ext cx="9144000" cy="1417638"/>
          </a:xfrm>
          <a:prstGeom prst="rect">
            <a:avLst/>
          </a:prstGeom>
          <a:solidFill>
            <a:srgbClr val="00234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9996779-86FE-8B71-AD3D-5503763683B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Line 9">
            <a:extLst>
              <a:ext uri="{FF2B5EF4-FFF2-40B4-BE49-F238E27FC236}">
                <a16:creationId xmlns:a16="http://schemas.microsoft.com/office/drawing/2014/main" id="{D9E3CE1C-D443-78C1-65FB-F513E4A6BB8B}"/>
              </a:ext>
            </a:extLst>
          </p:cNvPr>
          <p:cNvSpPr>
            <a:spLocks noChangeShapeType="1"/>
          </p:cNvSpPr>
          <p:nvPr userDrawn="1"/>
        </p:nvSpPr>
        <p:spPr bwMode="auto">
          <a:xfrm>
            <a:off x="0" y="14478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4" name="Picture 10">
            <a:extLst>
              <a:ext uri="{FF2B5EF4-FFF2-40B4-BE49-F238E27FC236}">
                <a16:creationId xmlns:a16="http://schemas.microsoft.com/office/drawing/2014/main" id="{3439EC60-2216-6B0D-2E72-4E64CBD30DF1}"/>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400800"/>
            <a:ext cx="2362200" cy="32543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bg1"/>
          </a:solidFill>
          <a:latin typeface="+mj-lt"/>
          <a:ea typeface="+mj-ea"/>
          <a:cs typeface="+mj-cs"/>
        </a:defRPr>
      </a:lvl1pPr>
      <a:lvl2pPr algn="ctr" rtl="0" fontAlgn="base">
        <a:spcBef>
          <a:spcPct val="0"/>
        </a:spcBef>
        <a:spcAft>
          <a:spcPct val="0"/>
        </a:spcAft>
        <a:defRPr sz="4400">
          <a:solidFill>
            <a:schemeClr val="bg1"/>
          </a:solidFill>
          <a:latin typeface="Arial" panose="020B0604020202020204" pitchFamily="34" charset="0"/>
        </a:defRPr>
      </a:lvl2pPr>
      <a:lvl3pPr algn="ctr" rtl="0" fontAlgn="base">
        <a:spcBef>
          <a:spcPct val="0"/>
        </a:spcBef>
        <a:spcAft>
          <a:spcPct val="0"/>
        </a:spcAft>
        <a:defRPr sz="4400">
          <a:solidFill>
            <a:schemeClr val="bg1"/>
          </a:solidFill>
          <a:latin typeface="Arial" panose="020B0604020202020204" pitchFamily="34" charset="0"/>
        </a:defRPr>
      </a:lvl3pPr>
      <a:lvl4pPr algn="ctr" rtl="0" fontAlgn="base">
        <a:spcBef>
          <a:spcPct val="0"/>
        </a:spcBef>
        <a:spcAft>
          <a:spcPct val="0"/>
        </a:spcAft>
        <a:defRPr sz="4400">
          <a:solidFill>
            <a:schemeClr val="bg1"/>
          </a:solidFill>
          <a:latin typeface="Arial" panose="020B0604020202020204" pitchFamily="34" charset="0"/>
        </a:defRPr>
      </a:lvl4pPr>
      <a:lvl5pPr algn="ctr" rtl="0" fontAlgn="base">
        <a:spcBef>
          <a:spcPct val="0"/>
        </a:spcBef>
        <a:spcAft>
          <a:spcPct val="0"/>
        </a:spcAft>
        <a:defRPr sz="4400">
          <a:solidFill>
            <a:schemeClr val="bg1"/>
          </a:solidFill>
          <a:latin typeface="Arial" panose="020B0604020202020204" pitchFamily="34" charset="0"/>
        </a:defRPr>
      </a:lvl5pPr>
      <a:lvl6pPr marL="457200" algn="ctr" rtl="0" fontAlgn="base">
        <a:spcBef>
          <a:spcPct val="0"/>
        </a:spcBef>
        <a:spcAft>
          <a:spcPct val="0"/>
        </a:spcAft>
        <a:defRPr sz="4400">
          <a:solidFill>
            <a:schemeClr val="bg1"/>
          </a:solidFill>
          <a:latin typeface="Arial" panose="020B0604020202020204" pitchFamily="34" charset="0"/>
        </a:defRPr>
      </a:lvl6pPr>
      <a:lvl7pPr marL="914400" algn="ctr" rtl="0" fontAlgn="base">
        <a:spcBef>
          <a:spcPct val="0"/>
        </a:spcBef>
        <a:spcAft>
          <a:spcPct val="0"/>
        </a:spcAft>
        <a:defRPr sz="4400">
          <a:solidFill>
            <a:schemeClr val="bg1"/>
          </a:solidFill>
          <a:latin typeface="Arial" panose="020B0604020202020204" pitchFamily="34" charset="0"/>
        </a:defRPr>
      </a:lvl7pPr>
      <a:lvl8pPr marL="1371600" algn="ctr" rtl="0" fontAlgn="base">
        <a:spcBef>
          <a:spcPct val="0"/>
        </a:spcBef>
        <a:spcAft>
          <a:spcPct val="0"/>
        </a:spcAft>
        <a:defRPr sz="4400">
          <a:solidFill>
            <a:schemeClr val="bg1"/>
          </a:solidFill>
          <a:latin typeface="Arial" panose="020B0604020202020204" pitchFamily="34" charset="0"/>
        </a:defRPr>
      </a:lvl8pPr>
      <a:lvl9pPr marL="1828800" algn="ctr" rtl="0" fontAlgn="base">
        <a:spcBef>
          <a:spcPct val="0"/>
        </a:spcBef>
        <a:spcAft>
          <a:spcPct val="0"/>
        </a:spcAft>
        <a:defRPr sz="4400">
          <a:solidFill>
            <a:schemeClr val="bg1"/>
          </a:solidFill>
          <a:latin typeface="Arial" panose="020B0604020202020204" pitchFamily="34" charset="0"/>
        </a:defRPr>
      </a:lvl9pPr>
    </p:titleStyle>
    <p:bodyStyle>
      <a:lvl1pPr marL="342900" indent="-342900" algn="l" rtl="0" fontAlgn="base">
        <a:spcBef>
          <a:spcPct val="20000"/>
        </a:spcBef>
        <a:spcAft>
          <a:spcPct val="0"/>
        </a:spcAft>
        <a:buClr>
          <a:srgbClr val="800000"/>
        </a:buClr>
        <a:buChar char="•"/>
        <a:defRPr sz="3200" kern="1200">
          <a:solidFill>
            <a:srgbClr val="00234C"/>
          </a:solidFill>
          <a:latin typeface="+mn-lt"/>
          <a:ea typeface="+mn-ea"/>
          <a:cs typeface="+mn-cs"/>
        </a:defRPr>
      </a:lvl1pPr>
      <a:lvl2pPr marL="742950" indent="-285750" algn="l" rtl="0" fontAlgn="base">
        <a:spcBef>
          <a:spcPct val="20000"/>
        </a:spcBef>
        <a:spcAft>
          <a:spcPct val="0"/>
        </a:spcAft>
        <a:buClr>
          <a:srgbClr val="800000"/>
        </a:buClr>
        <a:buChar char="•"/>
        <a:defRPr sz="2800" kern="1200">
          <a:solidFill>
            <a:srgbClr val="00234C"/>
          </a:solidFill>
          <a:latin typeface="+mn-lt"/>
          <a:ea typeface="+mn-ea"/>
          <a:cs typeface="+mn-cs"/>
        </a:defRPr>
      </a:lvl2pPr>
      <a:lvl3pPr marL="1143000" indent="-228600" algn="l" rtl="0" fontAlgn="base">
        <a:spcBef>
          <a:spcPct val="20000"/>
        </a:spcBef>
        <a:spcAft>
          <a:spcPct val="0"/>
        </a:spcAft>
        <a:buClr>
          <a:srgbClr val="800000"/>
        </a:buClr>
        <a:buChar char="•"/>
        <a:defRPr sz="2400" kern="1200">
          <a:solidFill>
            <a:srgbClr val="00234C"/>
          </a:solidFill>
          <a:latin typeface="+mn-lt"/>
          <a:ea typeface="+mn-ea"/>
          <a:cs typeface="+mn-cs"/>
        </a:defRPr>
      </a:lvl3pPr>
      <a:lvl4pPr marL="1600200" indent="-228600" algn="l" rtl="0" fontAlgn="base">
        <a:spcBef>
          <a:spcPct val="20000"/>
        </a:spcBef>
        <a:spcAft>
          <a:spcPct val="0"/>
        </a:spcAft>
        <a:buClr>
          <a:srgbClr val="800000"/>
        </a:buClr>
        <a:buChar char="•"/>
        <a:defRPr sz="2000" kern="1200">
          <a:solidFill>
            <a:srgbClr val="00234C"/>
          </a:solidFill>
          <a:latin typeface="+mn-lt"/>
          <a:ea typeface="+mn-ea"/>
          <a:cs typeface="+mn-cs"/>
        </a:defRPr>
      </a:lvl4pPr>
      <a:lvl5pPr marL="2057400" indent="-228600" algn="l" rtl="0" fontAlgn="base">
        <a:spcBef>
          <a:spcPct val="20000"/>
        </a:spcBef>
        <a:spcAft>
          <a:spcPct val="0"/>
        </a:spcAft>
        <a:buClr>
          <a:srgbClr val="800000"/>
        </a:buClr>
        <a:buChar char="•"/>
        <a:defRPr sz="2000" kern="1200">
          <a:solidFill>
            <a:srgbClr val="002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29_0.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31_810A2AC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2B_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2D_0.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256DD3FD-765E-2795-B14C-897A137E4101}"/>
              </a:ext>
            </a:extLst>
          </p:cNvPr>
          <p:cNvSpPr>
            <a:spLocks noGrp="1" noChangeArrowheads="1"/>
          </p:cNvSpPr>
          <p:nvPr>
            <p:ph type="subTitle" idx="1"/>
          </p:nvPr>
        </p:nvSpPr>
        <p:spPr>
          <a:xfrm>
            <a:off x="685800" y="4114800"/>
            <a:ext cx="7696200" cy="1828800"/>
          </a:xfrm>
        </p:spPr>
        <p:txBody>
          <a:bodyPr/>
          <a:lstStyle/>
          <a:p>
            <a:pPr>
              <a:lnSpc>
                <a:spcPct val="80000"/>
              </a:lnSpc>
            </a:pPr>
            <a:r>
              <a:rPr lang="en-US" altLang="en-US" sz="2800"/>
              <a:t>Group 1</a:t>
            </a:r>
          </a:p>
          <a:p>
            <a:pPr>
              <a:lnSpc>
                <a:spcPct val="80000"/>
              </a:lnSpc>
            </a:pPr>
            <a:r>
              <a:rPr lang="en-US" altLang="en-US" sz="2800"/>
              <a:t>Miguel Piza</a:t>
            </a:r>
            <a:endParaRPr lang="en-US" altLang="en-US" sz="2800">
              <a:cs typeface="Arial"/>
            </a:endParaRPr>
          </a:p>
          <a:p>
            <a:pPr>
              <a:lnSpc>
                <a:spcPct val="80000"/>
              </a:lnSpc>
            </a:pPr>
            <a:r>
              <a:rPr lang="en-US" altLang="en-US" sz="2800" err="1">
                <a:cs typeface="Arial"/>
              </a:rPr>
              <a:t>Ify</a:t>
            </a:r>
            <a:r>
              <a:rPr lang="en-US" altLang="en-US" sz="2800">
                <a:cs typeface="Arial"/>
              </a:rPr>
              <a:t> </a:t>
            </a:r>
            <a:r>
              <a:rPr lang="en-US" altLang="en-US" sz="2800" err="1">
                <a:cs typeface="Arial"/>
              </a:rPr>
              <a:t>Bidokwu</a:t>
            </a:r>
          </a:p>
          <a:p>
            <a:pPr>
              <a:lnSpc>
                <a:spcPct val="80000"/>
              </a:lnSpc>
            </a:pPr>
            <a:r>
              <a:rPr lang="en-US" altLang="en-US" sz="2800">
                <a:cs typeface="Arial"/>
              </a:rPr>
              <a:t>Christian Salinas</a:t>
            </a:r>
            <a:endParaRPr lang="en-US" altLang="en-US" sz="2800"/>
          </a:p>
          <a:p>
            <a:pPr>
              <a:lnSpc>
                <a:spcPct val="80000"/>
              </a:lnSpc>
            </a:pPr>
            <a:r>
              <a:rPr lang="en-US" altLang="en-US" sz="2800"/>
              <a:t>Chemical Engineering Lab I</a:t>
            </a:r>
          </a:p>
          <a:p>
            <a:pPr>
              <a:lnSpc>
                <a:spcPct val="80000"/>
              </a:lnSpc>
            </a:pPr>
            <a:r>
              <a:rPr lang="en-US" altLang="en-US" sz="2800"/>
              <a:t>10/28/25</a:t>
            </a:r>
          </a:p>
        </p:txBody>
      </p:sp>
      <p:sp>
        <p:nvSpPr>
          <p:cNvPr id="2053" name="Rectangle 5">
            <a:extLst>
              <a:ext uri="{FF2B5EF4-FFF2-40B4-BE49-F238E27FC236}">
                <a16:creationId xmlns:a16="http://schemas.microsoft.com/office/drawing/2014/main" id="{D83D4E55-475B-4577-3DF9-73D811DBC689}"/>
              </a:ext>
            </a:extLst>
          </p:cNvPr>
          <p:cNvSpPr>
            <a:spLocks noGrp="1" noChangeArrowheads="1"/>
          </p:cNvSpPr>
          <p:nvPr>
            <p:ph type="ctrTitle"/>
          </p:nvPr>
        </p:nvSpPr>
        <p:spPr>
          <a:xfrm>
            <a:off x="0" y="0"/>
            <a:ext cx="9144000" cy="3581400"/>
          </a:xfrm>
        </p:spPr>
        <p:txBody>
          <a:bodyPr/>
          <a:lstStyle/>
          <a:p>
            <a:r>
              <a:rPr lang="en-US" altLang="en-US" sz="4000" b="1"/>
              <a:t>Fluid Flow in Pipes</a:t>
            </a:r>
          </a:p>
        </p:txBody>
      </p:sp>
      <p:sp>
        <p:nvSpPr>
          <p:cNvPr id="2054" name="Line 6">
            <a:extLst>
              <a:ext uri="{FF2B5EF4-FFF2-40B4-BE49-F238E27FC236}">
                <a16:creationId xmlns:a16="http://schemas.microsoft.com/office/drawing/2014/main" id="{456F8C2E-0276-1B39-77F8-F8D1D3382579}"/>
              </a:ext>
            </a:extLst>
          </p:cNvPr>
          <p:cNvSpPr>
            <a:spLocks noChangeShapeType="1"/>
          </p:cNvSpPr>
          <p:nvPr/>
        </p:nvSpPr>
        <p:spPr bwMode="auto">
          <a:xfrm>
            <a:off x="0" y="35814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21F853E-C2F9-9F40-8739-2850A9AA4363}"/>
              </a:ext>
            </a:extLst>
          </p:cNvPr>
          <p:cNvSpPr>
            <a:spLocks noGrp="1" noChangeArrowheads="1"/>
          </p:cNvSpPr>
          <p:nvPr>
            <p:ph type="title"/>
          </p:nvPr>
        </p:nvSpPr>
        <p:spPr/>
        <p:txBody>
          <a:bodyPr/>
          <a:lstStyle/>
          <a:p>
            <a:r>
              <a:rPr lang="en-US" altLang="en-US" sz="4000" b="1"/>
              <a:t>Introduction</a:t>
            </a:r>
          </a:p>
        </p:txBody>
      </p:sp>
      <p:sp>
        <p:nvSpPr>
          <p:cNvPr id="92163" name="Rectangle 3">
            <a:extLst>
              <a:ext uri="{FF2B5EF4-FFF2-40B4-BE49-F238E27FC236}">
                <a16:creationId xmlns:a16="http://schemas.microsoft.com/office/drawing/2014/main" id="{C8AF0D01-070A-20B3-F7A1-7323D0D69BC2}"/>
              </a:ext>
            </a:extLst>
          </p:cNvPr>
          <p:cNvSpPr>
            <a:spLocks noGrp="1" noChangeArrowheads="1"/>
          </p:cNvSpPr>
          <p:nvPr>
            <p:ph type="body" idx="1"/>
          </p:nvPr>
        </p:nvSpPr>
        <p:spPr/>
        <p:txBody>
          <a:bodyPr/>
          <a:lstStyle/>
          <a:p>
            <a:pPr>
              <a:buFontTx/>
              <a:buNone/>
            </a:pPr>
            <a:endParaRPr lang="en-US" altLang="en-US" b="1" dirty="0"/>
          </a:p>
          <a:p>
            <a:r>
              <a:rPr lang="en-US" altLang="en-US" sz="2400" dirty="0">
                <a:latin typeface="Arial"/>
                <a:cs typeface="Times New Roman"/>
              </a:rPr>
              <a:t>The purpose of Fluid Flow in pipes is to utilize experimental measurements(Pressure Drops, Flow rates, Lengths etc.) to compare with empirical expressions for the friction factors, head loss and pipe fitting head loss. </a:t>
            </a:r>
          </a:p>
          <a:p>
            <a:r>
              <a:rPr lang="en-US" altLang="en-US" sz="2400" dirty="0">
                <a:latin typeface="Arial"/>
                <a:cs typeface="Times New Roman"/>
              </a:rPr>
              <a:t>The lab utilizes various pipe fittings and pipe diameters to investigate how those effect the results.</a:t>
            </a:r>
          </a:p>
          <a:p>
            <a:r>
              <a:rPr lang="en-US" altLang="en-US" sz="2400" dirty="0">
                <a:latin typeface="Arial"/>
                <a:cs typeface="Times New Roman"/>
              </a:rPr>
              <a:t>The lab will investigate the expressions for both laminar and turbulent flow regions.  </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72461-1099-BBD2-7C04-BB0532ACBA78}"/>
              </a:ext>
            </a:extLst>
          </p:cNvPr>
          <p:cNvSpPr>
            <a:spLocks noGrp="1"/>
          </p:cNvSpPr>
          <p:nvPr>
            <p:ph type="title"/>
          </p:nvPr>
        </p:nvSpPr>
        <p:spPr/>
        <p:txBody>
          <a:bodyPr/>
          <a:lstStyle/>
          <a:p>
            <a:pPr lvl="0"/>
            <a:r>
              <a:rPr lang="en-US" altLang="en-US"/>
              <a:t>Theory</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1BBE52-9895-E612-76EB-AA3B236859E2}"/>
                  </a:ext>
                </a:extLst>
              </p:cNvPr>
              <p:cNvSpPr>
                <a:spLocks noGrp="1"/>
              </p:cNvSpPr>
              <p:nvPr>
                <p:ph idx="1"/>
              </p:nvPr>
            </p:nvSpPr>
            <p:spPr>
              <a:xfrm>
                <a:off x="533400" y="1600200"/>
                <a:ext cx="8229600" cy="4525963"/>
              </a:xfrm>
            </p:spPr>
            <p:txBody>
              <a:bodyPr/>
              <a:lstStyle/>
              <a:p>
                <a:pPr lvl="1"/>
                <a:r>
                  <a:rPr lang="en-US" altLang="en-US" dirty="0"/>
                  <a:t>Pressure gradient driving flow</a:t>
                </a:r>
              </a:p>
              <a:p>
                <a:pPr lvl="1"/>
                <a:r>
                  <a:rPr lang="en-US" altLang="en-US" dirty="0"/>
                  <a:t>Governing Equations</a:t>
                </a:r>
              </a:p>
              <a:p>
                <a:pPr lvl="2"/>
                <a:r>
                  <a:rPr lang="en-US" altLang="en-US" dirty="0"/>
                  <a:t>Orifice Flow coefficient: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𝑄</m:t>
                        </m:r>
                      </m:num>
                      <m:den>
                        <m:r>
                          <a:rPr lang="en-US" i="1">
                            <a:latin typeface="Cambria Math" panose="02040503050406030204" pitchFamily="18" charset="0"/>
                          </a:rPr>
                          <m:t>𝐴</m:t>
                        </m:r>
                        <m:rad>
                          <m:radPr>
                            <m:degHide m:val="on"/>
                            <m:ctrlPr>
                              <a:rPr lang="en-US" i="1">
                                <a:latin typeface="Cambria Math" panose="02040503050406030204" pitchFamily="18" charset="0"/>
                              </a:rPr>
                            </m:ctrlPr>
                          </m:radPr>
                          <m:deg/>
                          <m:e>
                            <m:r>
                              <a:rPr lang="en-US" i="1">
                                <a:latin typeface="Cambria Math" panose="02040503050406030204" pitchFamily="18" charset="0"/>
                              </a:rPr>
                              <m:t>2</m:t>
                            </m:r>
                            <m:r>
                              <m:rPr>
                                <m:sty m:val="p"/>
                              </m:rPr>
                              <a:rPr lang="en-US">
                                <a:latin typeface="Cambria Math" panose="02040503050406030204" pitchFamily="18" charset="0"/>
                              </a:rPr>
                              <m:t>Δ</m:t>
                            </m:r>
                            <m:r>
                              <a:rPr lang="en-US" i="1">
                                <a:latin typeface="Cambria Math" panose="02040503050406030204" pitchFamily="18" charset="0"/>
                              </a:rPr>
                              <m:t>𝑃</m:t>
                            </m:r>
                            <m:r>
                              <m:rPr>
                                <m:lit/>
                              </m:rPr>
                              <a:rPr lang="en-US" i="1">
                                <a:latin typeface="Cambria Math" panose="02040503050406030204" pitchFamily="18" charset="0"/>
                              </a:rPr>
                              <m:t>/</m:t>
                            </m:r>
                            <m:r>
                              <m:rPr>
                                <m:sty m:val="p"/>
                              </m:rPr>
                              <a:rPr lang="en-US">
                                <a:latin typeface="Cambria Math" panose="02040503050406030204" pitchFamily="18" charset="0"/>
                              </a:rPr>
                              <m:t>ρ</m:t>
                            </m:r>
                          </m:e>
                        </m:rad>
                      </m:den>
                    </m:f>
                    <m:r>
                      <a:rPr lang="en-US" i="1">
                        <a:latin typeface="Cambria Math" panose="02040503050406030204" pitchFamily="18" charset="0"/>
                      </a:rPr>
                      <m:t>(</m:t>
                    </m:r>
                    <m:r>
                      <a:rPr lang="en-US" i="1">
                        <a:latin typeface="Cambria Math" panose="02040503050406030204" pitchFamily="18" charset="0"/>
                      </a:rPr>
                      <m:t>𝐸𝑞</m:t>
                    </m:r>
                    <m:r>
                      <a:rPr lang="en-US" i="1">
                        <a:latin typeface="Cambria Math" panose="02040503050406030204" pitchFamily="18" charset="0"/>
                      </a:rPr>
                      <m:t>9)</m:t>
                    </m:r>
                  </m:oMath>
                </a14:m>
                <a:r>
                  <a:rPr lang="en-US" altLang="en-US" dirty="0"/>
                  <a:t> </a:t>
                </a:r>
              </a:p>
              <a:p>
                <a:pPr lvl="2"/>
                <a:r>
                  <a:rPr lang="en-US" altLang="en-US" dirty="0"/>
                  <a:t>Friction factor:</a:t>
                </a:r>
                <a14:m>
                  <m:oMath xmlns:m="http://schemas.openxmlformats.org/officeDocument/2006/math">
                    <m:r>
                      <m:rPr>
                        <m:sty m:val="p"/>
                      </m:rPr>
                      <a:rPr lang="en-US">
                        <a:latin typeface="Cambria Math" panose="02040503050406030204" pitchFamily="18" charset="0"/>
                      </a:rPr>
                      <m:t>f</m:t>
                    </m:r>
                    <m:r>
                      <a:rPr lang="en-US">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ΔPD</m:t>
                        </m:r>
                      </m:num>
                      <m:den>
                        <m:r>
                          <a:rPr lang="en-US">
                            <a:latin typeface="Cambria Math" panose="02040503050406030204" pitchFamily="18" charset="0"/>
                          </a:rPr>
                          <m:t>2</m:t>
                        </m:r>
                        <m:r>
                          <m:rPr>
                            <m:sty m:val="p"/>
                          </m:rPr>
                          <a:rPr lang="en-US">
                            <a:latin typeface="Cambria Math" panose="02040503050406030204" pitchFamily="18" charset="0"/>
                          </a:rPr>
                          <m:t>Lρ</m:t>
                        </m:r>
                        <m:sSup>
                          <m:sSupPr>
                            <m:ctrlPr>
                              <a:rPr lang="en-US" i="1">
                                <a:latin typeface="Cambria Math" panose="02040503050406030204" pitchFamily="18" charset="0"/>
                              </a:rPr>
                            </m:ctrlPr>
                          </m:sSupPr>
                          <m:e>
                            <m:r>
                              <m:rPr>
                                <m:sty m:val="p"/>
                              </m:rPr>
                              <a:rPr lang="en-US">
                                <a:latin typeface="Cambria Math" panose="02040503050406030204" pitchFamily="18" charset="0"/>
                              </a:rPr>
                              <m:t>V</m:t>
                            </m:r>
                          </m:e>
                          <m:sup>
                            <m:r>
                              <a:rPr lang="en-US">
                                <a:latin typeface="Cambria Math" panose="02040503050406030204" pitchFamily="18" charset="0"/>
                              </a:rPr>
                              <m:t>2</m:t>
                            </m:r>
                          </m:sup>
                        </m:sSup>
                      </m:den>
                    </m:f>
                  </m:oMath>
                </a14:m>
                <a:endParaRPr lang="en-US" altLang="en-US" dirty="0"/>
              </a:p>
              <a:p>
                <a:pPr lvl="2"/>
                <a:r>
                  <a:rPr lang="en-US" altLang="en-US" dirty="0"/>
                  <a:t>Pipe fitting head loss: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h</m:t>
                        </m:r>
                      </m:e>
                      <m:sub>
                        <m:r>
                          <m:rPr>
                            <m:sty m:val="p"/>
                          </m:rPr>
                          <a:rPr lang="en-US">
                            <a:latin typeface="Cambria Math" panose="02040503050406030204" pitchFamily="18" charset="0"/>
                          </a:rPr>
                          <m:t>L</m:t>
                        </m:r>
                      </m:sub>
                    </m:sSub>
                    <m:r>
                      <a:rPr lang="en-US">
                        <a:latin typeface="Cambria Math" panose="02040503050406030204" pitchFamily="18" charset="0"/>
                      </a:rPr>
                      <m:t>=</m:t>
                    </m:r>
                    <m:r>
                      <m:rPr>
                        <m:sty m:val="p"/>
                      </m:rPr>
                      <a:rPr lang="en-US">
                        <a:latin typeface="Cambria Math" panose="02040503050406030204" pitchFamily="18" charset="0"/>
                      </a:rPr>
                      <m:t>K</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m:rPr>
                                <m:sty m:val="p"/>
                              </m:rPr>
                              <a:rPr lang="en-US">
                                <a:latin typeface="Cambria Math" panose="02040503050406030204" pitchFamily="18" charset="0"/>
                              </a:rPr>
                              <m:t>V</m:t>
                            </m:r>
                          </m:e>
                          <m:sup>
                            <m:r>
                              <a:rPr lang="en-US">
                                <a:latin typeface="Cambria Math" panose="02040503050406030204" pitchFamily="18" charset="0"/>
                              </a:rPr>
                              <m:t>2</m:t>
                            </m:r>
                          </m:sup>
                        </m:sSup>
                      </m:num>
                      <m:den>
                        <m:r>
                          <a:rPr lang="en-US">
                            <a:latin typeface="Cambria Math" panose="02040503050406030204" pitchFamily="18" charset="0"/>
                          </a:rPr>
                          <m:t>2</m:t>
                        </m:r>
                      </m:den>
                    </m:f>
                  </m:oMath>
                </a14:m>
                <a:endParaRPr lang="en-US" altLang="en-US" dirty="0"/>
              </a:p>
              <a:p>
                <a:pPr lvl="2"/>
                <a:r>
                  <a:rPr lang="en-US" dirty="0"/>
                  <a:t> Loss Coefficient: </a:t>
                </a:r>
                <a14:m>
                  <m:oMath xmlns:m="http://schemas.openxmlformats.org/officeDocument/2006/math">
                    <m:r>
                      <m:rPr>
                        <m:sty m:val="p"/>
                      </m:rPr>
                      <a:rPr lang="en-US">
                        <a:latin typeface="Cambria Math" panose="02040503050406030204" pitchFamily="18" charset="0"/>
                      </a:rPr>
                      <m:t>K</m:t>
                    </m:r>
                    <m:r>
                      <a:rPr lang="en-US">
                        <a:latin typeface="Cambria Math" panose="02040503050406030204" pitchFamily="18" charset="0"/>
                      </a:rPr>
                      <m:t>=</m:t>
                    </m:r>
                    <m:r>
                      <m:rPr>
                        <m:sty m:val="p"/>
                      </m:rPr>
                      <a:rPr lang="en-US">
                        <a:latin typeface="Cambria Math" panose="02040503050406030204" pitchFamily="18" charset="0"/>
                      </a:rPr>
                      <m:t>f</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L</m:t>
                            </m:r>
                          </m:e>
                          <m:sub>
                            <m:r>
                              <m:rPr>
                                <m:sty m:val="p"/>
                              </m:rPr>
                              <a:rPr lang="en-US">
                                <a:latin typeface="Cambria Math" panose="02040503050406030204" pitchFamily="18" charset="0"/>
                              </a:rPr>
                              <m:t>eq</m:t>
                            </m:r>
                          </m:sub>
                        </m:sSub>
                      </m:num>
                      <m:den>
                        <m:r>
                          <m:rPr>
                            <m:sty m:val="p"/>
                          </m:rPr>
                          <a:rPr lang="en-US">
                            <a:latin typeface="Cambria Math" panose="02040503050406030204" pitchFamily="18" charset="0"/>
                          </a:rPr>
                          <m:t>D</m:t>
                        </m:r>
                      </m:den>
                    </m:f>
                  </m:oMath>
                </a14:m>
                <a:endParaRPr lang="en-US" dirty="0"/>
              </a:p>
            </p:txBody>
          </p:sp>
        </mc:Choice>
        <mc:Fallback xmlns="">
          <p:sp>
            <p:nvSpPr>
              <p:cNvPr id="3" name="Content Placeholder 2">
                <a:extLst>
                  <a:ext uri="{FF2B5EF4-FFF2-40B4-BE49-F238E27FC236}">
                    <a16:creationId xmlns:a16="http://schemas.microsoft.com/office/drawing/2014/main" id="{7F1BBE52-9895-E612-76EB-AA3B236859E2}"/>
                  </a:ext>
                </a:extLst>
              </p:cNvPr>
              <p:cNvSpPr>
                <a:spLocks noGrp="1" noRot="1" noChangeAspect="1" noMove="1" noResize="1" noEditPoints="1" noAdjustHandles="1" noChangeArrowheads="1" noChangeShapeType="1" noTextEdit="1"/>
              </p:cNvSpPr>
              <p:nvPr>
                <p:ph idx="1"/>
              </p:nvPr>
            </p:nvSpPr>
            <p:spPr>
              <a:xfrm>
                <a:off x="533400" y="1600200"/>
                <a:ext cx="8229600" cy="4525963"/>
              </a:xfrm>
              <a:blipFill>
                <a:blip r:embed="rId3"/>
                <a:stretch>
                  <a:fillRect t="-1482"/>
                </a:stretch>
              </a:blipFill>
            </p:spPr>
            <p:txBody>
              <a:bodyPr/>
              <a:lstStyle/>
              <a:p>
                <a:r>
                  <a:rPr lang="en-US">
                    <a:noFill/>
                  </a:rPr>
                  <a:t> </a:t>
                </a:r>
              </a:p>
            </p:txBody>
          </p:sp>
        </mc:Fallback>
      </mc:AlternateContent>
    </p:spTree>
    <p:extLst>
      <p:ext uri="{BB962C8B-B14F-4D97-AF65-F5344CB8AC3E}">
        <p14:creationId xmlns:p14="http://schemas.microsoft.com/office/powerpoint/2010/main" val="216492716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EF4E-9EB9-BB57-E84C-1627A2FBC9DB}"/>
            </a:ext>
          </a:extLst>
        </p:cNvPr>
        <p:cNvGrpSpPr/>
        <p:nvPr/>
      </p:nvGrpSpPr>
      <p:grpSpPr>
        <a:xfrm>
          <a:off x="0" y="0"/>
          <a:ext cx="0" cy="0"/>
          <a:chOff x="0" y="0"/>
          <a:chExt cx="0" cy="0"/>
        </a:xfrm>
      </p:grpSpPr>
      <p:sp>
        <p:nvSpPr>
          <p:cNvPr id="124930" name="Rectangle 2">
            <a:extLst>
              <a:ext uri="{FF2B5EF4-FFF2-40B4-BE49-F238E27FC236}">
                <a16:creationId xmlns:a16="http://schemas.microsoft.com/office/drawing/2014/main" id="{4CC63532-B1C3-23FA-781B-C3377107DAD1}"/>
              </a:ext>
            </a:extLst>
          </p:cNvPr>
          <p:cNvSpPr>
            <a:spLocks noGrp="1" noChangeArrowheads="1"/>
          </p:cNvSpPr>
          <p:nvPr>
            <p:ph type="title"/>
          </p:nvPr>
        </p:nvSpPr>
        <p:spPr/>
        <p:txBody>
          <a:bodyPr/>
          <a:lstStyle/>
          <a:p>
            <a:r>
              <a:rPr lang="en-US" altLang="en-US"/>
              <a:t>Theory</a:t>
            </a:r>
          </a:p>
        </p:txBody>
      </p:sp>
      <p:sp>
        <p:nvSpPr>
          <p:cNvPr id="124931" name="Rectangle 3">
            <a:extLst>
              <a:ext uri="{FF2B5EF4-FFF2-40B4-BE49-F238E27FC236}">
                <a16:creationId xmlns:a16="http://schemas.microsoft.com/office/drawing/2014/main" id="{143793AB-8D27-1685-3567-725F8647E166}"/>
              </a:ext>
            </a:extLst>
          </p:cNvPr>
          <p:cNvSpPr>
            <a:spLocks noGrp="1" noChangeArrowheads="1"/>
          </p:cNvSpPr>
          <p:nvPr>
            <p:ph type="body" idx="1"/>
          </p:nvPr>
        </p:nvSpPr>
        <p:spPr/>
        <p:txBody>
          <a:bodyPr/>
          <a:lstStyle/>
          <a:p>
            <a:r>
              <a:rPr lang="en-US" altLang="en-US"/>
              <a:t>Assumptions</a:t>
            </a:r>
          </a:p>
          <a:p>
            <a:pPr lvl="1"/>
            <a:r>
              <a:rPr lang="en-US" altLang="en-US"/>
              <a:t>Near constant density</a:t>
            </a:r>
          </a:p>
          <a:p>
            <a:pPr lvl="1"/>
            <a:r>
              <a:rPr lang="en-US" altLang="en-US"/>
              <a:t>Incompressible fluid</a:t>
            </a:r>
          </a:p>
          <a:p>
            <a:r>
              <a:rPr lang="en-US" altLang="en-US"/>
              <a:t>Limitations </a:t>
            </a:r>
          </a:p>
          <a:p>
            <a:pPr lvl="1"/>
            <a:r>
              <a:rPr lang="en-US" altLang="en-US"/>
              <a:t>Limits in pressure readings</a:t>
            </a:r>
          </a:p>
          <a:p>
            <a:pPr lvl="2"/>
            <a:r>
              <a:rPr lang="en-US" altLang="en-US"/>
              <a:t>The pressure drops are on the lower range of the meter’s range</a:t>
            </a:r>
          </a:p>
          <a:p>
            <a:pPr lvl="2"/>
            <a:r>
              <a:rPr lang="en-US" altLang="en-US"/>
              <a:t>Using the smaller flow valves the flow rate is unable to reach the same range as the large one</a:t>
            </a:r>
          </a:p>
          <a:p>
            <a:pPr lvl="3"/>
            <a:r>
              <a:rPr lang="en-US" altLang="en-US"/>
              <a:t>Data is not all in the same range</a:t>
            </a:r>
          </a:p>
          <a:p>
            <a:pPr lvl="2"/>
            <a:endParaRPr lang="en-US" altLang="en-US"/>
          </a:p>
        </p:txBody>
      </p:sp>
    </p:spTree>
    <p:extLst>
      <p:ext uri="{BB962C8B-B14F-4D97-AF65-F5344CB8AC3E}">
        <p14:creationId xmlns:p14="http://schemas.microsoft.com/office/powerpoint/2010/main" val="675140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E487FEFC-B332-A38C-59D9-36D170D5BA6E}"/>
              </a:ext>
            </a:extLst>
          </p:cNvPr>
          <p:cNvSpPr>
            <a:spLocks noGrp="1" noChangeArrowheads="1"/>
          </p:cNvSpPr>
          <p:nvPr>
            <p:ph type="title"/>
          </p:nvPr>
        </p:nvSpPr>
        <p:spPr/>
        <p:txBody>
          <a:bodyPr/>
          <a:lstStyle/>
          <a:p>
            <a:r>
              <a:rPr lang="en-US" altLang="en-US"/>
              <a:t>Apparatus</a:t>
            </a:r>
          </a:p>
        </p:txBody>
      </p:sp>
      <p:sp>
        <p:nvSpPr>
          <p:cNvPr id="125955" name="Rectangle 3">
            <a:extLst>
              <a:ext uri="{FF2B5EF4-FFF2-40B4-BE49-F238E27FC236}">
                <a16:creationId xmlns:a16="http://schemas.microsoft.com/office/drawing/2014/main" id="{8580FFC4-817F-C9BF-429D-227F08A09CBF}"/>
              </a:ext>
            </a:extLst>
          </p:cNvPr>
          <p:cNvSpPr>
            <a:spLocks noGrp="1" noChangeArrowheads="1"/>
          </p:cNvSpPr>
          <p:nvPr>
            <p:ph type="body" idx="1"/>
          </p:nvPr>
        </p:nvSpPr>
        <p:spPr/>
        <p:txBody>
          <a:bodyPr/>
          <a:lstStyle/>
          <a:p>
            <a:r>
              <a:rPr lang="en-US" altLang="en-US" sz="2800" dirty="0">
                <a:cs typeface="Arial"/>
              </a:rPr>
              <a:t>Reservoir Tank</a:t>
            </a:r>
          </a:p>
          <a:p>
            <a:r>
              <a:rPr lang="en-US" altLang="en-US" sz="2800" dirty="0">
                <a:cs typeface="Arial"/>
              </a:rPr>
              <a:t>Reservoir Release Valve</a:t>
            </a:r>
          </a:p>
          <a:p>
            <a:r>
              <a:rPr lang="en-US" altLang="en-US" sz="2800" dirty="0">
                <a:cs typeface="Arial"/>
              </a:rPr>
              <a:t>Pump power switch/pump</a:t>
            </a:r>
          </a:p>
          <a:p>
            <a:r>
              <a:rPr lang="en-US" altLang="en-US" sz="2800" dirty="0">
                <a:cs typeface="Arial"/>
              </a:rPr>
              <a:t>Pump inlet valve</a:t>
            </a:r>
          </a:p>
          <a:p>
            <a:r>
              <a:rPr lang="en-US" altLang="en-US" sz="2800" dirty="0">
                <a:cs typeface="Arial"/>
              </a:rPr>
              <a:t>Flow rate meter</a:t>
            </a:r>
          </a:p>
          <a:p>
            <a:r>
              <a:rPr lang="en-US" altLang="en-US" sz="2800" dirty="0">
                <a:cs typeface="Arial"/>
              </a:rPr>
              <a:t>Rotameter</a:t>
            </a:r>
          </a:p>
          <a:p>
            <a:r>
              <a:rPr lang="en-US" altLang="en-US" sz="2800" dirty="0">
                <a:cs typeface="Arial"/>
              </a:rPr>
              <a:t>Water flow control valves</a:t>
            </a:r>
          </a:p>
          <a:p>
            <a:r>
              <a:rPr lang="en-US" altLang="en-US" sz="2800" dirty="0">
                <a:cs typeface="Arial"/>
              </a:rPr>
              <a:t>Tubes (varying diameters)</a:t>
            </a:r>
          </a:p>
          <a:p>
            <a:r>
              <a:rPr lang="en-US" altLang="en-US" sz="2800" dirty="0">
                <a:cs typeface="Arial"/>
              </a:rPr>
              <a:t>Pipe fittings </a:t>
            </a:r>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C3EE2B7-A037-562A-D954-8D9CFCC6E33B}"/>
              </a:ext>
            </a:extLst>
          </p:cNvPr>
          <p:cNvSpPr>
            <a:spLocks noGrp="1" noChangeArrowheads="1"/>
          </p:cNvSpPr>
          <p:nvPr>
            <p:ph type="title"/>
          </p:nvPr>
        </p:nvSpPr>
        <p:spPr/>
        <p:txBody>
          <a:bodyPr/>
          <a:lstStyle/>
          <a:p>
            <a:r>
              <a:rPr lang="en-US" altLang="en-US"/>
              <a:t>Material &amp; Supplies</a:t>
            </a:r>
          </a:p>
        </p:txBody>
      </p:sp>
      <p:sp>
        <p:nvSpPr>
          <p:cNvPr id="126979" name="Rectangle 3">
            <a:extLst>
              <a:ext uri="{FF2B5EF4-FFF2-40B4-BE49-F238E27FC236}">
                <a16:creationId xmlns:a16="http://schemas.microsoft.com/office/drawing/2014/main" id="{D82A9C4B-4D2D-8C44-E079-E794185D9E0C}"/>
              </a:ext>
            </a:extLst>
          </p:cNvPr>
          <p:cNvSpPr>
            <a:spLocks noGrp="1" noChangeArrowheads="1"/>
          </p:cNvSpPr>
          <p:nvPr>
            <p:ph type="body" idx="1"/>
          </p:nvPr>
        </p:nvSpPr>
        <p:spPr/>
        <p:txBody>
          <a:bodyPr/>
          <a:lstStyle/>
          <a:p>
            <a:r>
              <a:rPr lang="en-US" altLang="en-US" sz="2800" dirty="0">
                <a:latin typeface="Arial"/>
                <a:cs typeface="Times New Roman"/>
              </a:rPr>
              <a:t>Water</a:t>
            </a:r>
          </a:p>
          <a:p>
            <a:r>
              <a:rPr lang="en-US" altLang="en-US" sz="2800" dirty="0">
                <a:latin typeface="Arial"/>
                <a:cs typeface="Times New Roman"/>
              </a:rPr>
              <a:t>Reservoir Tank/Buckets</a:t>
            </a:r>
            <a:endParaRPr lang="en-US" altLang="en-US" sz="2800">
              <a:latin typeface="Arial"/>
              <a:cs typeface="Times New Roman" panose="02020603050405020304" pitchFamily="18" charset="0"/>
            </a:endParaRPr>
          </a:p>
          <a:p>
            <a:r>
              <a:rPr lang="en-US" altLang="en-US" sz="2800" dirty="0">
                <a:latin typeface="Arial"/>
                <a:cs typeface="Times New Roman"/>
              </a:rPr>
              <a:t>(2) Hoses with special connectors</a:t>
            </a:r>
          </a:p>
          <a:p>
            <a:pPr lvl="1"/>
            <a:r>
              <a:rPr lang="en-US" altLang="en-US" dirty="0">
                <a:latin typeface="Arial"/>
                <a:cs typeface="Times New Roman"/>
              </a:rPr>
              <a:t>Reads the pressure drop across selected fittings</a:t>
            </a:r>
          </a:p>
          <a:p>
            <a:r>
              <a:rPr lang="en-US" altLang="en-US" sz="2800" dirty="0">
                <a:latin typeface="Arial"/>
                <a:cs typeface="Times New Roman"/>
              </a:rPr>
              <a:t>Graduated Cylinders</a:t>
            </a:r>
            <a:endParaRPr lang="en-US" altLang="en-US" sz="2800">
              <a:latin typeface="Arial"/>
              <a:cs typeface="Times New Roman" panose="02020603050405020304" pitchFamily="18" charset="0"/>
            </a:endParaRPr>
          </a:p>
          <a:p>
            <a:r>
              <a:rPr lang="en-US" altLang="en-US" sz="2800" dirty="0">
                <a:latin typeface="Arial"/>
                <a:cs typeface="Times New Roman"/>
              </a:rPr>
              <a:t>Stopwatch Timer</a:t>
            </a:r>
          </a:p>
          <a:p>
            <a:r>
              <a:rPr lang="en-US" altLang="en-US" sz="2800" dirty="0">
                <a:latin typeface="Arial"/>
                <a:cs typeface="Times New Roman"/>
              </a:rPr>
              <a:t>Paper Towels</a:t>
            </a:r>
          </a:p>
          <a:p>
            <a:pPr marL="0" indent="0">
              <a:buNone/>
            </a:pPr>
            <a:endParaRPr lang="en-US" altLang="en-US">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5B46CD11-E5EE-F277-206F-63E52E2AB85C}"/>
              </a:ext>
            </a:extLst>
          </p:cNvPr>
          <p:cNvSpPr>
            <a:spLocks noGrp="1" noChangeArrowheads="1"/>
          </p:cNvSpPr>
          <p:nvPr>
            <p:ph type="title"/>
          </p:nvPr>
        </p:nvSpPr>
        <p:spPr/>
        <p:txBody>
          <a:bodyPr/>
          <a:lstStyle/>
          <a:p>
            <a:r>
              <a:rPr lang="en-US" altLang="en-US" dirty="0"/>
              <a:t>Procedure</a:t>
            </a:r>
          </a:p>
        </p:txBody>
      </p:sp>
      <p:sp>
        <p:nvSpPr>
          <p:cNvPr id="128003" name="Rectangle 3">
            <a:extLst>
              <a:ext uri="{FF2B5EF4-FFF2-40B4-BE49-F238E27FC236}">
                <a16:creationId xmlns:a16="http://schemas.microsoft.com/office/drawing/2014/main" id="{9D3769CA-9B10-0C67-E810-AC09439CB8C7}"/>
              </a:ext>
            </a:extLst>
          </p:cNvPr>
          <p:cNvSpPr>
            <a:spLocks noGrp="1" noChangeArrowheads="1"/>
          </p:cNvSpPr>
          <p:nvPr>
            <p:ph type="body" idx="1"/>
          </p:nvPr>
        </p:nvSpPr>
        <p:spPr/>
        <p:txBody>
          <a:bodyPr/>
          <a:lstStyle/>
          <a:p>
            <a:pPr marL="514350" indent="-514350">
              <a:buFont typeface="+mj-lt"/>
              <a:buAutoNum type="arabicParenR"/>
            </a:pPr>
            <a:r>
              <a:rPr lang="en-US" altLang="en-US" sz="2400" dirty="0">
                <a:latin typeface="Arial"/>
                <a:cs typeface="Times New Roman"/>
              </a:rPr>
              <a:t>Fill water in revisor tank </a:t>
            </a:r>
          </a:p>
          <a:p>
            <a:pPr marL="514350" indent="-514350">
              <a:buFont typeface="+mj-lt"/>
              <a:buAutoNum type="arabicParenR"/>
            </a:pPr>
            <a:r>
              <a:rPr lang="en-US" altLang="en-US" sz="2400" dirty="0">
                <a:latin typeface="Arial"/>
                <a:cs typeface="Times New Roman"/>
              </a:rPr>
              <a:t>Prime and turn on the Pump</a:t>
            </a:r>
          </a:p>
          <a:p>
            <a:pPr marL="514350" indent="-514350">
              <a:buFont typeface="+mj-lt"/>
              <a:buAutoNum type="arabicParenR"/>
            </a:pPr>
            <a:r>
              <a:rPr lang="en-US" altLang="en-US" sz="2400" dirty="0">
                <a:latin typeface="Arial"/>
                <a:cs typeface="Times New Roman"/>
              </a:rPr>
              <a:t>Open Flowmeter to  a selected value</a:t>
            </a:r>
          </a:p>
          <a:p>
            <a:pPr marL="514350" indent="-514350">
              <a:buFont typeface="+mj-lt"/>
              <a:buAutoNum type="arabicParenR"/>
            </a:pPr>
            <a:r>
              <a:rPr lang="en-US" altLang="en-US" sz="2400" dirty="0">
                <a:latin typeface="Arial"/>
                <a:cs typeface="Times New Roman"/>
              </a:rPr>
              <a:t>Use buckets to collect a volume of water for a selected amount of time</a:t>
            </a:r>
          </a:p>
          <a:p>
            <a:pPr marL="514350" indent="-514350">
              <a:buFont typeface="+mj-lt"/>
              <a:buAutoNum type="arabicParenR"/>
            </a:pPr>
            <a:r>
              <a:rPr lang="en-US" altLang="en-US" sz="2400" dirty="0">
                <a:latin typeface="Arial"/>
                <a:cs typeface="Times New Roman"/>
              </a:rPr>
              <a:t>Repeat for 3-4 flow rates and graph the volumetric flow rates vs the reading of the flow rate in SCFM. The slope is the conversion factor. (Should be around .9)</a:t>
            </a:r>
          </a:p>
          <a:p>
            <a:pPr marL="514350" indent="-514350">
              <a:buFont typeface="+mj-lt"/>
              <a:buAutoNum type="arabicParenR"/>
            </a:pPr>
            <a:r>
              <a:rPr lang="en-US" altLang="en-US" sz="2400" dirty="0">
                <a:latin typeface="Arial"/>
                <a:cs typeface="Times New Roman"/>
              </a:rPr>
              <a:t>Open the flowmeter to a decided upon value and use the flow needles to measure the pressure drop across</a:t>
            </a:r>
          </a:p>
          <a:p>
            <a:pPr marL="514350" indent="-514350">
              <a:buFont typeface="+mj-lt"/>
              <a:buAutoNum type="arabicParenR"/>
            </a:pPr>
            <a:r>
              <a:rPr lang="en-US" altLang="en-US" sz="2400" dirty="0">
                <a:latin typeface="Arial"/>
                <a:cs typeface="Times New Roman"/>
              </a:rPr>
              <a:t>Repeat for all fittings for four different flow rates</a:t>
            </a: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8C716-FBF5-AD72-58F8-81E70159EA76}"/>
              </a:ext>
            </a:extLst>
          </p:cNvPr>
          <p:cNvSpPr>
            <a:spLocks noGrp="1"/>
          </p:cNvSpPr>
          <p:nvPr>
            <p:ph type="title"/>
          </p:nvPr>
        </p:nvSpPr>
        <p:spPr/>
        <p:txBody>
          <a:bodyPr/>
          <a:lstStyle/>
          <a:p>
            <a:r>
              <a:rPr lang="en-US"/>
              <a:t>Procedure</a:t>
            </a:r>
          </a:p>
        </p:txBody>
      </p:sp>
      <p:sp>
        <p:nvSpPr>
          <p:cNvPr id="3" name="Content Placeholder 2">
            <a:extLst>
              <a:ext uri="{FF2B5EF4-FFF2-40B4-BE49-F238E27FC236}">
                <a16:creationId xmlns:a16="http://schemas.microsoft.com/office/drawing/2014/main" id="{B2006A8D-4A78-FB62-F741-567DF99AF1DB}"/>
              </a:ext>
            </a:extLst>
          </p:cNvPr>
          <p:cNvSpPr>
            <a:spLocks noGrp="1"/>
          </p:cNvSpPr>
          <p:nvPr>
            <p:ph idx="1"/>
          </p:nvPr>
        </p:nvSpPr>
        <p:spPr/>
        <p:txBody>
          <a:bodyPr/>
          <a:lstStyle/>
          <a:p>
            <a:pPr marL="514350" indent="-514350">
              <a:buFont typeface="+mj-lt"/>
              <a:buAutoNum type="arabicPeriod" startAt="8"/>
            </a:pPr>
            <a:r>
              <a:rPr lang="en-US" sz="2400">
                <a:latin typeface="Arial"/>
                <a:cs typeface="Times New Roman"/>
              </a:rPr>
              <a:t> After the fittings are measures open only the flow gauge for the system of pipes you are investigating</a:t>
            </a:r>
          </a:p>
          <a:p>
            <a:pPr marL="514350" indent="-514350">
              <a:buFont typeface="+mj-lt"/>
              <a:buAutoNum type="arabicPeriod" startAt="8"/>
            </a:pPr>
            <a:r>
              <a:rPr lang="en-US" sz="2400">
                <a:latin typeface="Arial"/>
                <a:cs typeface="Times New Roman"/>
              </a:rPr>
              <a:t>Measure the pressure drop across one pipe at a time. Ensure only one pipe has water flowing through it. </a:t>
            </a:r>
          </a:p>
          <a:p>
            <a:pPr marL="514350" indent="-514350">
              <a:buFont typeface="+mj-lt"/>
              <a:buAutoNum type="arabicPeriod" startAt="8"/>
            </a:pPr>
            <a:r>
              <a:rPr lang="en-US" sz="2400">
                <a:latin typeface="Arial"/>
                <a:cs typeface="Times New Roman"/>
              </a:rPr>
              <a:t>Repeat for all nine pipes at four different flow rates.</a:t>
            </a:r>
          </a:p>
          <a:p>
            <a:pPr marL="514350" indent="-514350">
              <a:buFont typeface="+mj-lt"/>
              <a:buAutoNum type="arabicPeriod" startAt="8"/>
            </a:pPr>
            <a:r>
              <a:rPr lang="en-US" sz="2400">
                <a:latin typeface="Arial"/>
                <a:cs typeface="Times New Roman"/>
              </a:rPr>
              <a:t>For all pressure readings record for 20-30 seconds taking down the pressure and taking the average</a:t>
            </a:r>
          </a:p>
          <a:p>
            <a:pPr marL="514350" indent="-514350">
              <a:buFont typeface="+mj-lt"/>
              <a:buAutoNum type="arabicPeriod" startAt="8"/>
            </a:pPr>
            <a:r>
              <a:rPr lang="en-US" sz="2400">
                <a:latin typeface="Arial"/>
                <a:cs typeface="Times New Roman"/>
              </a:rPr>
              <a:t>Measure all lengths and diameters of all fittings and pipes.</a:t>
            </a:r>
          </a:p>
          <a:p>
            <a:pPr marL="514350" indent="-514350">
              <a:buFont typeface="+mj-lt"/>
              <a:buAutoNum type="arabicPeriod" startAt="8"/>
            </a:pPr>
            <a:r>
              <a:rPr lang="en-US" sz="2400">
                <a:latin typeface="Arial"/>
                <a:cs typeface="Times New Roman"/>
              </a:rPr>
              <a:t>Close flow gauges and open release vales after shutting pump off</a:t>
            </a:r>
          </a:p>
          <a:p>
            <a:pPr marL="514350" indent="-514350">
              <a:buFont typeface="+mj-lt"/>
              <a:buAutoNum type="arabicPeriod" startAt="8"/>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7075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EEE9E926-21C9-186D-2508-745C6C11DA4B}"/>
              </a:ext>
            </a:extLst>
          </p:cNvPr>
          <p:cNvSpPr>
            <a:spLocks noGrp="1" noChangeArrowheads="1"/>
          </p:cNvSpPr>
          <p:nvPr>
            <p:ph type="title"/>
          </p:nvPr>
        </p:nvSpPr>
        <p:spPr/>
        <p:txBody>
          <a:bodyPr/>
          <a:lstStyle/>
          <a:p>
            <a:r>
              <a:rPr lang="en-US" altLang="en-US"/>
              <a:t>Experimental Challenges</a:t>
            </a:r>
          </a:p>
        </p:txBody>
      </p:sp>
      <p:sp>
        <p:nvSpPr>
          <p:cNvPr id="129027" name="Rectangle 3">
            <a:extLst>
              <a:ext uri="{FF2B5EF4-FFF2-40B4-BE49-F238E27FC236}">
                <a16:creationId xmlns:a16="http://schemas.microsoft.com/office/drawing/2014/main" id="{89899BAF-5C45-FA16-716E-5A326CC9D8D2}"/>
              </a:ext>
            </a:extLst>
          </p:cNvPr>
          <p:cNvSpPr>
            <a:spLocks noGrp="1" noChangeArrowheads="1"/>
          </p:cNvSpPr>
          <p:nvPr>
            <p:ph type="body" idx="1"/>
          </p:nvPr>
        </p:nvSpPr>
        <p:spPr/>
        <p:txBody>
          <a:bodyPr/>
          <a:lstStyle/>
          <a:p>
            <a:r>
              <a:rPr lang="en-US" altLang="en-US" sz="2800" dirty="0">
                <a:latin typeface="Arial"/>
                <a:cs typeface="Times New Roman"/>
              </a:rPr>
              <a:t>The smaller pipes cannot reach the same flow rate as the larger one. </a:t>
            </a:r>
          </a:p>
          <a:p>
            <a:pPr lvl="1">
              <a:buFont typeface="Courier New"/>
              <a:buChar char="o"/>
            </a:pPr>
            <a:r>
              <a:rPr lang="en-US" altLang="en-US" sz="2000" dirty="0">
                <a:latin typeface="Arial"/>
                <a:cs typeface="Times New Roman"/>
              </a:rPr>
              <a:t>Data will not be in the same SCFM. </a:t>
            </a:r>
          </a:p>
          <a:p>
            <a:r>
              <a:rPr lang="en-US" altLang="en-US" sz="2400" dirty="0">
                <a:latin typeface="Arial"/>
                <a:cs typeface="Times New Roman"/>
              </a:rPr>
              <a:t>Make sure the flowrate is recorded for each trial</a:t>
            </a:r>
          </a:p>
          <a:p>
            <a:r>
              <a:rPr lang="en-US" altLang="en-US" sz="2400" dirty="0">
                <a:latin typeface="Arial"/>
                <a:cs typeface="Times New Roman"/>
              </a:rPr>
              <a:t>Ensure a dry space as leaks occur.</a:t>
            </a:r>
            <a:endParaRPr lang="en-US" altLang="en-US" sz="2400" dirty="0">
              <a:latin typeface="Arial"/>
              <a:cs typeface="Times New Roman" panose="02020603050405020304" pitchFamily="18" charset="0"/>
            </a:endParaRPr>
          </a:p>
          <a:p>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FB610FF-7118-0D72-A7A0-A3358E272CD8}"/>
              </a:ext>
            </a:extLst>
          </p:cNvPr>
          <p:cNvSpPr>
            <a:spLocks noGrp="1" noChangeArrowheads="1"/>
          </p:cNvSpPr>
          <p:nvPr>
            <p:ph type="title"/>
          </p:nvPr>
        </p:nvSpPr>
        <p:spPr/>
        <p:txBody>
          <a:bodyPr/>
          <a:lstStyle/>
          <a:p>
            <a:r>
              <a:rPr lang="en-US" altLang="en-US"/>
              <a:t>Safety</a:t>
            </a:r>
          </a:p>
        </p:txBody>
      </p:sp>
      <p:sp>
        <p:nvSpPr>
          <p:cNvPr id="130051" name="Rectangle 3">
            <a:extLst>
              <a:ext uri="{FF2B5EF4-FFF2-40B4-BE49-F238E27FC236}">
                <a16:creationId xmlns:a16="http://schemas.microsoft.com/office/drawing/2014/main" id="{B5AF75D5-4015-384E-6DC6-0AC5EB4C210E}"/>
              </a:ext>
            </a:extLst>
          </p:cNvPr>
          <p:cNvSpPr>
            <a:spLocks noGrp="1" noChangeArrowheads="1"/>
          </p:cNvSpPr>
          <p:nvPr>
            <p:ph type="body" idx="1"/>
          </p:nvPr>
        </p:nvSpPr>
        <p:spPr/>
        <p:txBody>
          <a:bodyPr/>
          <a:lstStyle/>
          <a:p>
            <a:r>
              <a:rPr lang="en-US" altLang="en-US"/>
              <a:t>Pressure Hazards</a:t>
            </a:r>
          </a:p>
          <a:p>
            <a:pPr lvl="1"/>
            <a:r>
              <a:rPr lang="en-US" altLang="en-US"/>
              <a:t>Do not run the pump dry will it to break</a:t>
            </a:r>
          </a:p>
          <a:p>
            <a:pPr lvl="1"/>
            <a:r>
              <a:rPr lang="en-US" altLang="en-US"/>
              <a:t>Ensure there is always a way for the water to exit the system</a:t>
            </a:r>
          </a:p>
          <a:p>
            <a:r>
              <a:rPr lang="en-US" altLang="en-US"/>
              <a:t>Mechanical Hazards</a:t>
            </a:r>
          </a:p>
          <a:p>
            <a:pPr lvl="1"/>
            <a:r>
              <a:rPr lang="en-US" altLang="en-US"/>
              <a:t>Slipping hazards</a:t>
            </a:r>
          </a:p>
          <a:p>
            <a:pPr lvl="2"/>
            <a:r>
              <a:rPr lang="en-US" altLang="en-US"/>
              <a:t>Water tends to leak from various places in the system</a:t>
            </a:r>
          </a:p>
          <a:p>
            <a:pPr lvl="2"/>
            <a:r>
              <a:rPr lang="en-US" altLang="en-US"/>
              <a:t>Use buckets to collect it as you run your experiments. </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87c725f1d014e384545927102ff61c5d">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a8b83234827e84bcc98c410c00e8168"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Props1.xml><?xml version="1.0" encoding="utf-8"?>
<ds:datastoreItem xmlns:ds="http://schemas.openxmlformats.org/officeDocument/2006/customXml" ds:itemID="{D0BA7661-3FB0-4AD3-8E74-CDE875C9C64D}">
  <ds:schemaRefs>
    <ds:schemaRef ds:uri="http://schemas.microsoft.com/sharepoint/v3/contenttype/forms"/>
  </ds:schemaRefs>
</ds:datastoreItem>
</file>

<file path=customXml/itemProps2.xml><?xml version="1.0" encoding="utf-8"?>
<ds:datastoreItem xmlns:ds="http://schemas.openxmlformats.org/officeDocument/2006/customXml" ds:itemID="{7CD33B2B-E2AF-423E-82D9-70B3D71DF914}">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F6FABEB-5311-4825-8237-5C4F526175EF}">
  <ds:schemaRefs>
    <ds:schemaRef ds:uri="0b9bbc26-84a1-4caf-bda8-7ce090730006"/>
    <ds:schemaRef ds:uri="a50406bf-ab9f-483b-b303-db1ece2854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otalTime>9</TotalTime>
  <Words>518</Words>
  <Application>Microsoft Office PowerPoint</Application>
  <PresentationFormat>On-screen Show (4:3)</PresentationFormat>
  <Paragraphs>81</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 Math</vt:lpstr>
      <vt:lpstr>Courier New</vt:lpstr>
      <vt:lpstr>Times New Roman</vt:lpstr>
      <vt:lpstr>Default Design</vt:lpstr>
      <vt:lpstr>Fluid Flow in Pipes</vt:lpstr>
      <vt:lpstr>Introduction</vt:lpstr>
      <vt:lpstr>Theory</vt:lpstr>
      <vt:lpstr>Theory</vt:lpstr>
      <vt:lpstr>Apparatus</vt:lpstr>
      <vt:lpstr>Material &amp; Supplies</vt:lpstr>
      <vt:lpstr>Procedure</vt:lpstr>
      <vt:lpstr>Procedure</vt:lpstr>
      <vt:lpstr>Experimental Challenges</vt:lpstr>
      <vt:lpstr>Safety</vt:lpstr>
    </vt:vector>
  </TitlesOfParts>
  <Company>UIC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UIC BRAND </dc:title>
  <dc:creator>Elizabeth Zweigle Yee</dc:creator>
  <cp:lastModifiedBy>Zdunek, Alan</cp:lastModifiedBy>
  <cp:revision>65</cp:revision>
  <dcterms:created xsi:type="dcterms:W3CDTF">2008-04-09T18:55:55Z</dcterms:created>
  <dcterms:modified xsi:type="dcterms:W3CDTF">2025-10-30T16:13:33Z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