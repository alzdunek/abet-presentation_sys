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22_6F6D5D32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8_5040026C.xml" ContentType="application/vnd.ms-powerpoint.comments+xml"/>
  <Override PartName="/ppt/comments/modernComment_123_D8F140B2.xml" ContentType="application/vnd.ms-powerpoint.comments+xml"/>
  <Override PartName="/ppt/comments/modernComment_121_5683DE42.xml" ContentType="application/vnd.ms-powerpoint.comments+xml"/>
  <Override PartName="/ppt/notesSlides/notesSlide3.xml" ContentType="application/vnd.openxmlformats-officedocument.presentationml.notesSlide+xml"/>
  <Override PartName="/ppt/comments/modernComment_11E_5491044C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0" r:id="rId5"/>
    <p:sldId id="277" r:id="rId6"/>
    <p:sldId id="292" r:id="rId7"/>
    <p:sldId id="293" r:id="rId8"/>
    <p:sldId id="264" r:id="rId9"/>
    <p:sldId id="287" r:id="rId10"/>
    <p:sldId id="291" r:id="rId11"/>
    <p:sldId id="289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DF52CCAC-0B66-CA76-A7A3-D551D844506B}" name="Zdunek, Alan" initials="AZ" userId="S::zdunek@uic.edu::5627838d-8155-4d77-aa14-f1ef87cd6a5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B9972-3E2D-A882-EA14-81E4CDFF44E0}" v="436" dt="2025-09-16T04:33:12.189"/>
    <p1510:client id="{67025DD2-DBB1-8BAB-3BAF-C22156E6E52D}" v="502" dt="2025-09-16T16:05:00.996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86" y="72"/>
      </p:cViewPr>
      <p:guideLst>
        <p:guide orient="horz" pos="792"/>
        <p:guide pos="3144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omments/modernComment_11E_549104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FC76BE-246D-4060-BE2A-1DBB0AA8D836}" authorId="{DF52CCAC-0B66-CA76-A7A3-D551D844506B}" created="2025-09-17T22:59:27.90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18789964" sldId="286"/>
      <ac:spMk id="12" creationId="{D3251268-42B4-3B45-A59B-740E2DB97A00}"/>
      <ac:txMk cp="102" len="6">
        <ac:context len="141" hash="2238552904"/>
      </ac:txMk>
    </ac:txMkLst>
    <p188:pos x="2267411" y="1091879"/>
    <p188:txBody>
      <a:bodyPr/>
      <a:lstStyle/>
      <a:p>
        <a:r>
          <a:rPr lang="en-US"/>
          <a:t>-2
Not clear- the whole apparatus gets pretty hot due to the steam (be detailed when explaining hazards)</a:t>
        </a:r>
      </a:p>
    </p188:txBody>
  </p188:cm>
  <p188:cm id="{29C18B20-2F2C-4AEB-A7AF-CB34B1156340}" authorId="{DF52CCAC-0B66-CA76-A7A3-D551D844506B}" created="2025-09-17T23:01:00.0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18789964" sldId="286"/>
      <ac:spMk id="2" creationId="{67708C79-A4AC-4B5D-92DF-600737E4D11A}"/>
    </ac:deMkLst>
    <p188:txBody>
      <a:bodyPr/>
      <a:lstStyle/>
      <a:p>
        <a:r>
          <a:rPr lang="en-US"/>
          <a:t>-5
Need an experimental challenges/lessons learned slide</a:t>
        </a:r>
      </a:p>
    </p188:txBody>
  </p188:cm>
</p188:cmLst>
</file>

<file path=ppt/comments/modernComment_108_504002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7F9D6DE-0CEA-45FD-9919-42976A009DFE}" authorId="{DF52CCAC-0B66-CA76-A7A3-D551D844506B}" created="2025-09-17T22:56:23.80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46372204" sldId="264"/>
      <ac:spMk id="3" creationId="{033634FE-ADF0-4BC3-A0A9-447EA9DD096B}"/>
      <ac:txMk cp="585" len="15">
        <ac:context len="632" hash="1728450736"/>
      </ac:txMk>
    </ac:txMkLst>
    <p188:pos x="4095135" y="4186513"/>
    <p188:txBody>
      <a:bodyPr/>
      <a:lstStyle/>
      <a:p>
        <a:r>
          <a:rPr lang="en-US"/>
          <a:t>-1
Steam flow rate is not constant, it is a function of the vacuum pressure.  You measure the steam flow rate (or mass steam/time) at the different pressures.</a:t>
        </a:r>
      </a:p>
    </p188:txBody>
  </p188:cm>
</p188:cmLst>
</file>

<file path=ppt/comments/modernComment_121_5683DE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0F58F81-E09B-4E71-A93D-0D5340D2A764}" authorId="{DF52CCAC-0B66-CA76-A7A3-D551D844506B}" created="2025-09-17T22:58:16.8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51482690" sldId="289"/>
      <ac:spMk id="3" creationId="{DF5964C0-1B4B-7BF7-30F0-11A302E912ED}"/>
    </ac:deMkLst>
    <p188:txBody>
      <a:bodyPr/>
      <a:lstStyle/>
      <a:p>
        <a:r>
          <a:rPr lang="en-US"/>
          <a:t>-2
State that you perform the experiment at 3 vacuum pressures</a:t>
        </a:r>
      </a:p>
    </p188:txBody>
  </p188:cm>
</p188:cmLst>
</file>

<file path=ppt/comments/modernComment_122_6F6D5D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A1206E-03E3-4AB8-9E96-74728688C4C1}" authorId="{DF52CCAC-0B66-CA76-A7A3-D551D844506B}" created="2025-09-17T23:00:36.0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69438258" sldId="290"/>
      <ac:spMk id="2" creationId="{30647FBE-D3DA-7C60-E896-86790502593F}"/>
    </ac:deMkLst>
    <p188:txBody>
      <a:bodyPr/>
      <a:lstStyle/>
      <a:p>
        <a:r>
          <a:rPr lang="en-US"/>
          <a:t>88/100
</a:t>
        </a:r>
      </a:p>
    </p188:txBody>
  </p188:cm>
</p188:cmLst>
</file>

<file path=ppt/comments/modernComment_123_D8F140B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15F0AF-2D25-48EA-B3DE-E0AB3FBA03C9}" authorId="{DF52CCAC-0B66-CA76-A7A3-D551D844506B}" created="2025-09-17T22:57:23.25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39689394" sldId="291"/>
      <ac:spMk id="3" creationId="{756BC98E-0056-51D3-D9C5-77CD6BC9E651}"/>
    </ac:deMkLst>
    <p188:txBody>
      <a:bodyPr/>
      <a:lstStyle/>
      <a:p>
        <a:r>
          <a:rPr lang="en-US"/>
          <a:t>-2
And thermocouples/thermocouple reader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2_6F6D5D32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5040026C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3_D8F140B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1_5683DE4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5491044C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7FBE-D3DA-7C60-E896-867905025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Evaporation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698FC-0543-C9C3-7F67-7E2FE610E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dirty="0"/>
              <a:t>Group 2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 Joshua Laforest, Javier Silva, Ameen </a:t>
            </a:r>
            <a:r>
              <a:rPr lang="en-US" altLang="en-US" dirty="0" err="1"/>
              <a:t>Abuzir</a:t>
            </a:r>
            <a:r>
              <a:rPr lang="en-US" altLang="en-US" dirty="0"/>
              <a:t>, and </a:t>
            </a:r>
            <a:r>
              <a:rPr lang="en-US" altLang="en-US" dirty="0" err="1"/>
              <a:t>Cesearo</a:t>
            </a:r>
            <a:r>
              <a:rPr lang="en-US" altLang="en-US" dirty="0"/>
              <a:t> Dilosa 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Chemical Engineering Lab I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9/16/25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382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altLang="en-US"/>
              <a:t>Introduction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/>
              <a:t>Purpose of lab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/>
              <a:t>Technical nature</a:t>
            </a:r>
            <a:r>
              <a:rPr lang="en-US" altLang="en-US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9FB8-FD37-349C-7F7B-F1E6FDA90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3200">
                <a:solidFill>
                  <a:schemeClr val="bg1"/>
                </a:solidFill>
              </a:rPr>
              <a:t>Purpose of lab</a:t>
            </a:r>
            <a:endParaRPr lang="en-US" sz="3200" b="0">
              <a:solidFill>
                <a:schemeClr val="bg1"/>
              </a:solidFill>
            </a:endParaRPr>
          </a:p>
          <a:p>
            <a:endParaRPr lang="en-US" sz="3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44DB6-5645-1BC0-BF5D-C6D5BB3B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1757-11F8-07DE-E90B-FB0CE9829F3F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purpose of conducting a evaporation in multiple pressures was to find the impact that would occur to the measuring parameters of this lab:</a:t>
            </a:r>
          </a:p>
          <a:p>
            <a:pPr marL="342900" indent="-342900">
              <a:buAutoNum type="arabicPeriod"/>
            </a:pPr>
            <a:r>
              <a:rPr lang="en-US"/>
              <a:t>The influence pressure with "Economy" of running this lab at different pressure readings.</a:t>
            </a:r>
          </a:p>
          <a:p>
            <a:pPr marL="342900" indent="-342900">
              <a:buAutoNum type="arabicPeriod"/>
            </a:pPr>
            <a:r>
              <a:rPr lang="en-US"/>
              <a:t>The temperature of the running evaporator at different pressure readings</a:t>
            </a:r>
          </a:p>
          <a:p>
            <a:pPr marL="342900" indent="-342900">
              <a:buAutoNum type="arabicPeriod"/>
            </a:pPr>
            <a:r>
              <a:rPr lang="en-US"/>
              <a:t>Pressure influence on the capacity of the evaporator.</a:t>
            </a: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77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90FA0-F9F3-D0CC-2133-F89924D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Technical nature of an evaporator at different pressures.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822720-A4EF-086C-B682-25644631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B5794-8BAB-0E78-0DB5-6FF5A21E8AD0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Run a Unit operations Evaporation lab at multiple pressures.</a:t>
            </a:r>
          </a:p>
          <a:p>
            <a:pPr marL="285750" indent="-285750">
              <a:buChar char="•"/>
            </a:pPr>
            <a:r>
              <a:rPr lang="en-US" dirty="0"/>
              <a:t>Record and analyze data of heat and mass transfers during operations. </a:t>
            </a:r>
          </a:p>
          <a:p>
            <a:pPr marL="285750" indent="-285750">
              <a:buChar char="•"/>
            </a:pPr>
            <a:r>
              <a:rPr lang="en-US" dirty="0"/>
              <a:t>Record the alterations </a:t>
            </a:r>
            <a:r>
              <a:rPr lang="en-US" dirty="0">
                <a:ea typeface="+mn-lt"/>
                <a:cs typeface="+mn-lt"/>
              </a:rPr>
              <a:t>influence of the following operating parameters vacuum level, steam supply, cooling water flow.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875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altLang="en-US"/>
              <a:t>Theory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1703010"/>
            <a:ext cx="6584736" cy="50133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altLang="en-US" dirty="0"/>
              <a:t>A separator unit (e.g. evaporator) utilizes heat exchange,  to vaporize a volatile solvent (e.g. water) from a nonvolatile solute (e.g. sugar) 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The evaporator unit is more efficient if the solution's boiling point is low enough for the hot steam to quickly vaporize it; this is done by using a vacuum system (e.g. vacuum pump)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In our experiment we test if this is true by measuring the capacity (kg H2O per hour) vs efficiency (kg H2O per kg Steam)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dirty="0"/>
              <a:t>Q = UAΔT; this is the design equation for the heat exchanger. This also gives the overall heat added to our solution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We assume that the steam flow rate, solution, and Q is constant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3787-D28D-13E3-0395-B8843846D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Apparatus</a:t>
            </a:r>
            <a:endParaRPr lang="en-US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03C066C-3096-F1BE-8268-9E7AB99CB63B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/>
              <a:t>Separator Vessel- </a:t>
            </a:r>
            <a:r>
              <a:rPr lang="en-US"/>
              <a:t>Holds the sugar solution, connected to vacuum pump. </a:t>
            </a:r>
            <a:endParaRPr lang="en-US" altLang="en-US"/>
          </a:p>
          <a:p>
            <a:r>
              <a:rPr lang="en-US" altLang="en-US"/>
              <a:t>Heat exchanger – </a:t>
            </a:r>
            <a:r>
              <a:rPr lang="en-US"/>
              <a:t>Transfers heat from condensing steam to the solution. </a:t>
            </a:r>
            <a:endParaRPr lang="en-US" altLang="en-US"/>
          </a:p>
          <a:p>
            <a:r>
              <a:rPr lang="en-US" altLang="en-US"/>
              <a:t>Vacuum Pump - </a:t>
            </a:r>
            <a:r>
              <a:rPr lang="en-US"/>
              <a:t>Controls system pressure and adjusts boiling point. </a:t>
            </a:r>
            <a:endParaRPr lang="en-US" altLang="en-US"/>
          </a:p>
          <a:p>
            <a:r>
              <a:rPr lang="en-US" altLang="en-US"/>
              <a:t>Condenser and trap - </a:t>
            </a:r>
            <a:r>
              <a:rPr lang="en-US"/>
              <a:t>Condenses steam into Erlenmeyer flask for measurement. </a:t>
            </a:r>
            <a:endParaRPr lang="en-US" altLang="en-US"/>
          </a:p>
          <a:p>
            <a:r>
              <a:rPr lang="en-US" altLang="en-US"/>
              <a:t>Makeup Tank - </a:t>
            </a:r>
            <a:r>
              <a:rPr lang="en-US"/>
              <a:t>Contains DI water for maintaining solution level. </a:t>
            </a:r>
            <a:endParaRPr lang="en-US" altLang="en-US"/>
          </a:p>
          <a:p>
            <a:r>
              <a:rPr lang="en-US" altLang="en-US"/>
              <a:t>Thermocouples - Measure temperatures at various points in the system. </a:t>
            </a:r>
          </a:p>
          <a:p>
            <a:r>
              <a:rPr lang="en-US" altLang="en-US"/>
              <a:t>Pressure Gauge - Indicates system pressure in inches of Hg.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19DA8-8154-12A6-3631-E200C955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05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E1080-D977-144D-E419-8824F142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756BC98E-0056-51D3-D9C5-77CD6BC9E65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Sugar - </a:t>
            </a:r>
            <a:r>
              <a:rPr lang="en-US" dirty="0"/>
              <a:t>The solution that will be evaporated </a:t>
            </a:r>
            <a:endParaRPr lang="en-US" altLang="en-US" dirty="0"/>
          </a:p>
          <a:p>
            <a:r>
              <a:rPr lang="en-US" altLang="en-US" dirty="0"/>
              <a:t>Deionized Water – Used to help evaporate sugar</a:t>
            </a:r>
          </a:p>
          <a:p>
            <a:r>
              <a:rPr lang="en-US" altLang="en-US" dirty="0"/>
              <a:t>Heat gloves - </a:t>
            </a:r>
            <a:r>
              <a:rPr lang="en-US" dirty="0"/>
              <a:t>Used to protect hands from burning when handling liquids </a:t>
            </a:r>
            <a:endParaRPr lang="en-US" altLang="en-US" dirty="0"/>
          </a:p>
          <a:p>
            <a:r>
              <a:rPr lang="en-US" altLang="en-US" dirty="0"/>
              <a:t>Erlenmeyer Flask - </a:t>
            </a:r>
            <a:r>
              <a:rPr lang="en-US" dirty="0"/>
              <a:t>Collects steam during the experiment </a:t>
            </a:r>
            <a:endParaRPr lang="en-US" altLang="en-US" dirty="0"/>
          </a:p>
          <a:p>
            <a:r>
              <a:rPr lang="en-US" altLang="en-US" dirty="0"/>
              <a:t>Steam condensate flask - </a:t>
            </a:r>
            <a:r>
              <a:rPr lang="en-US" dirty="0"/>
              <a:t>Contains condensate steam </a:t>
            </a:r>
            <a:endParaRPr lang="en-US" altLang="en-US" dirty="0"/>
          </a:p>
          <a:p>
            <a:r>
              <a:rPr lang="en-US" altLang="en-US" dirty="0"/>
              <a:t>Thermometer - </a:t>
            </a:r>
            <a:r>
              <a:rPr lang="en-US" dirty="0"/>
              <a:t>Measures the temperature and boiling point 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7BCEA-7FA4-A7B0-48E1-ABF3AD1C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893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70DF-2D1E-DAA8-2EF5-134BDFAC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DF5964C0-1B4B-7BF7-30F0-11A302E912E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/>
              <a:t>A 10 % </a:t>
            </a:r>
            <a:r>
              <a:rPr lang="en-US" altLang="en-US" dirty="0" err="1"/>
              <a:t>wt</a:t>
            </a:r>
            <a:r>
              <a:rPr lang="en-US" altLang="en-US" dirty="0"/>
              <a:t> sugar solution was of 2.5-3 L was prepared and loaded into our feed tank </a:t>
            </a:r>
          </a:p>
          <a:p>
            <a:r>
              <a:rPr lang="en-US" altLang="en-US" dirty="0"/>
              <a:t>Deionized water was supplied to maintain solution levels</a:t>
            </a:r>
          </a:p>
          <a:p>
            <a:r>
              <a:rPr lang="en-US" altLang="en-US" dirty="0"/>
              <a:t>Steam was applied to heat the solution and cooling water to collect condensate</a:t>
            </a:r>
          </a:p>
          <a:p>
            <a:r>
              <a:rPr lang="en-US" altLang="en-US" dirty="0"/>
              <a:t>With the vacuum pump on, the pressure was adjusted to reach our desired temperature, keeping the separator valve fixed to maintain steady conditions</a:t>
            </a:r>
          </a:p>
          <a:p>
            <a:r>
              <a:rPr lang="en-US" altLang="en-US" dirty="0"/>
              <a:t>After steady state was achieved, condensate and product samples were collected alongside temperature and pressure.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85679-75F4-EF60-A590-B0555CD8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826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altLang="en-US" dirty="0"/>
              <a:t>Safety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3259057"/>
            <a:ext cx="8343756" cy="2629910"/>
          </a:xfrm>
        </p:spPr>
        <p:txBody>
          <a:bodyPr>
            <a:normAutofit/>
          </a:bodyPr>
          <a:lstStyle/>
          <a:p>
            <a:r>
              <a:rPr lang="en-US" altLang="en-US" dirty="0"/>
              <a:t>Vacuum pressure can cause gas to implode if too high</a:t>
            </a:r>
          </a:p>
          <a:p>
            <a:r>
              <a:rPr lang="en-US" altLang="en-US" dirty="0"/>
              <a:t>Water can get on electrical equipment </a:t>
            </a:r>
          </a:p>
          <a:p>
            <a:r>
              <a:rPr lang="en-US" altLang="en-US" dirty="0"/>
              <a:t>Flask and vacuum can get hot, wear safety gloves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{12B19FE0-C415-4FD9-8F6F-B2DA9DC36531}TF55c86556-70ea-476e-aa05-13a38f2d5b0da1381d77_win32-a3c664429073</Template>
  <TotalTime>0</TotalTime>
  <Words>538</Words>
  <Application>Microsoft Office PowerPoint</Application>
  <PresentationFormat>Widescreen</PresentationFormat>
  <Paragraphs>60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Arial,Sans-Serif</vt:lpstr>
      <vt:lpstr>Avenir Next LT Pro</vt:lpstr>
      <vt:lpstr>Calibri</vt:lpstr>
      <vt:lpstr>Custom</vt:lpstr>
      <vt:lpstr>Evaporation</vt:lpstr>
      <vt:lpstr>Introduction</vt:lpstr>
      <vt:lpstr>Purpose of lab </vt:lpstr>
      <vt:lpstr>Technical nature of an evaporator at different pressures.</vt:lpstr>
      <vt:lpstr>Theory</vt:lpstr>
      <vt:lpstr>Apparatus</vt:lpstr>
      <vt:lpstr>Material &amp; Supplies</vt:lpstr>
      <vt:lpstr>Procedure</vt:lpstr>
      <vt:lpstr>Safety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Laforest, Joshua Adrien</dc:creator>
  <cp:lastModifiedBy>Zdunek, Alan</cp:lastModifiedBy>
  <cp:revision>95</cp:revision>
  <dcterms:created xsi:type="dcterms:W3CDTF">2025-09-16T01:09:52Z</dcterms:created>
  <dcterms:modified xsi:type="dcterms:W3CDTF">2025-09-17T23:01:13Z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