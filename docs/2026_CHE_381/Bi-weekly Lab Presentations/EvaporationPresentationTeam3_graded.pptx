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notesSlides/notesSlide3.xml" ContentType="application/vnd.openxmlformats-officedocument.presentationml.notesSlide+xml"/>
  <Override PartName="/ppt/comments/modernComment_12B_0.xml" ContentType="application/vnd.ms-powerpoint.comments+xml"/>
  <Override PartName="/ppt/comments/modernComment_12C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97" r:id="rId6"/>
    <p:sldId id="304" r:id="rId7"/>
    <p:sldId id="298" r:id="rId8"/>
    <p:sldId id="305" r:id="rId9"/>
    <p:sldId id="306" r:id="rId10"/>
    <p:sldId id="299" r:id="rId11"/>
    <p:sldId id="300" r:id="rId12"/>
    <p:sldId id="301" r:id="rId13"/>
    <p:sldId id="307" r:id="rId14"/>
    <p:sldId id="308" r:id="rId15"/>
    <p:sldId id="302" r:id="rId16"/>
    <p:sldId id="309" r:id="rId17"/>
    <p:sldId id="303" r:id="rId18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F5E6F3-C522-4792-8622-FBC2B4F8D55D}" v="4" dt="2025-10-15T02:02:11.969"/>
    <p1510:client id="{E9715A86-1CE9-C61F-EDD1-9503234FA87F}" v="189" dt="2025-10-14T16:22:12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2" autoAdjust="0"/>
    <p:restoredTop sz="94728" autoAdjust="0"/>
  </p:normalViewPr>
  <p:slideViewPr>
    <p:cSldViewPr>
      <p:cViewPr varScale="1">
        <p:scale>
          <a:sx n="112" d="100"/>
          <a:sy n="112" d="100"/>
        </p:scale>
        <p:origin x="13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D35001-A86D-4088-9572-D6A07169D1C7}" authorId="{DF52CCAC-0B66-CA76-A7A3-D551D844506B}" created="2025-10-21T22:08:57.9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5955" creationId="{A1DC9F3A-50C9-3582-2213-86637B2D0604}"/>
    </ac:deMkLst>
    <p188:txBody>
      <a:bodyPr/>
      <a:lstStyle/>
      <a:p>
        <a:r>
          <a:rPr lang="en-US"/>
          <a:t>-2
Include thermocouples/thermometers, product and steam condensate flasks.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8AA16B-FB7B-40C9-926E-795256A137FF}" authorId="{DF52CCAC-0B66-CA76-A7A3-D551D844506B}" created="2025-10-21T22:09:30.2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26978" creationId="{7F3709F3-A85E-E866-3773-582D9F74AB56}"/>
    </ac:deMkLst>
    <p188:txBody>
      <a:bodyPr/>
      <a:lstStyle/>
      <a:p>
        <a:r>
          <a:rPr lang="en-US"/>
          <a:t>-1
Include a timer for the measurements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765B7B-A440-4100-AF47-800B9E449F37}" authorId="{DF52CCAC-0B66-CA76-A7A3-D551D844506B}" created="2025-10-21T22:10:51.1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3" creationId="{E8D29A38-12E1-2128-DD16-CE576A24E33B}"/>
    </ac:deMkLst>
    <p188:txBody>
      <a:bodyPr/>
      <a:lstStyle/>
      <a:p>
        <a:r>
          <a:rPr lang="en-US"/>
          <a:t>96/100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962C00-A128-430F-B029-4C03B7BF2ADD}" authorId="{DF52CCAC-0B66-CA76-A7A3-D551D844506B}" created="2025-10-21T22:07:26.3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3" creationId="{650448B9-4D26-F911-BD63-5A856A155680}"/>
    </ac:deMkLst>
    <p188:txBody>
      <a:bodyPr/>
      <a:lstStyle/>
      <a:p>
        <a:r>
          <a:rPr lang="en-US"/>
          <a:t>-1
Include the solution used (10Wt% sugar)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616C9188-AE3F-7551-EC4E-9FF3A888DA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3ABFE0E7-9D2C-2BEA-BA68-045CB19ED93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4467EAE4-83CD-6864-38A9-718421050B2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ED9D92CF-C1C6-A87E-31E9-8113DAF2763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0247D4E-DDDC-488D-89A7-DEFD55B299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4A33273A-42D6-1966-769C-D9431607A0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CA9F61C4-BF11-7B71-FCCE-C4D3D086453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C9033168-3331-B2EF-712C-D79B5668C4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7871BCE1-057D-B16C-C86C-BDF9204D7F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03FF1CC2-4187-3837-9C29-1DB8510976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5EC8E0F2-F38D-C447-106A-3EE6325AEA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B4E0A3-18CF-47BF-9C1E-0086FE11EB3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AFA6376D-D65C-3F89-6D29-98ED2710B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BBABB-0A72-42DF-B108-F815FAB2488D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3ABBE9D8-81D5-B32C-68FB-D8F3F9A726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B2CF5809-0023-45FC-004B-F3F87B19B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87630C0E-6E92-ADAA-D345-4618107D2E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B4F784-31B6-4F6D-9951-527D9391A60F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B9E67AF1-2652-AF6A-3BAF-15BDB8554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847FD66-0C95-8CF0-B822-8BF2BCC6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87630C0E-6E92-ADAA-D345-4618107D2E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B4F784-31B6-4F6D-9951-527D9391A60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B9E67AF1-2652-AF6A-3BAF-15BDB8554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847FD66-0C95-8CF0-B822-8BF2BCC6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93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883696-E640-554A-B7E9-A952DC5B94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C56A97E-E1F4-E9B8-D167-BA6AC78AFB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D0BE8AB-7F65-0903-EA9E-18CAB07774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1FB0D278-0655-AD15-5C26-F03AAA15CD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339E-3FDE-A7D2-3C66-174305AA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29A5C-2043-178B-F5FB-D5BB71F71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099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878A-A679-25B2-F5BA-F467C444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4A43D-1C55-5AA0-C29A-3A2FEA010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571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C9D5-9851-2B8D-6CA1-229D5174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3BD7-A349-82D9-0F17-83E2A6140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F9DA0-BB99-F6AB-0660-11B2D64DE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28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3FAC-B7DA-A4AA-0E45-DDD67B8E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E515-7C13-0AC8-264F-CDC9BDA69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CF92A-3C64-CE01-0408-40A300F5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ECE31-97D5-51D5-E8E6-57EBD7D51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432C7-F7FA-8073-B4B7-7DAC0B0AB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63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A104-29D7-C1B6-2810-1AE5603E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256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34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E28C-DE48-9B0F-3F90-13EE890E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F820-ECDB-0E6A-FAEA-D4CD94E6C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99CAE-FC05-582E-B0D1-5D6C6D7F8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77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1753-E552-AF53-E6F9-DCC5942A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365EF-83FC-879B-1FD9-1CF6C8A8A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4F789-4975-D353-5708-FE93D0CC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736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37B0-9E42-8F85-2A00-A1BFD23F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9FE89-A184-B8F4-ED5D-DC0F42B4F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2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654FB-2A74-AB45-3697-9A8DC201F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17855-5AAA-AF97-5E89-991F6F430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614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D8CE2E-A0E5-4739-670D-FF18871FA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8B9E430-E78D-6AD0-E964-C37BC694D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246C01FD-86A3-60FE-8D7C-23D4F4BDC2E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757DEE2D-DF09-0A49-1D12-49CB5EF4F0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3B988BDF-F774-3622-54BF-D42FDE7C17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4114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#3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Kendall Johnson, Lindsey Meisch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10/14/2025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8D29A38-12E1-2128-DD16-CE576A24E3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Evaporation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0AEA32A9-F592-72E8-8B80-0912638B0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09A5ACE-979B-43DB-2366-1C59E9FD6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50448B9-4D26-F911-BD63-5A856A155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b="1" dirty="0"/>
              <a:t>The purpose of this lab was to evaluate the performance of a single effect evaporator operating under different vacuum pressures</a:t>
            </a:r>
          </a:p>
          <a:p>
            <a:r>
              <a:rPr lang="en-US" altLang="en-US" b="1" dirty="0"/>
              <a:t>Determine the effect of pressure on condensate capacity, steam economy and heat transfer behavior</a:t>
            </a:r>
            <a:endParaRPr lang="en-US" alt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09A5ACE-979B-43DB-2366-1C59E9FD6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50448B9-4D26-F911-BD63-5A856A1556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34400" cy="5691981"/>
          </a:xfrm>
        </p:spPr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b="1" dirty="0"/>
              <a:t>Relate observed data to theoretical principles</a:t>
            </a:r>
          </a:p>
          <a:p>
            <a:r>
              <a:rPr lang="en-US" altLang="en-US" b="1" dirty="0"/>
              <a:t>Technical Nature</a:t>
            </a:r>
          </a:p>
          <a:p>
            <a:pPr lvl="1"/>
            <a:r>
              <a:rPr lang="en-US" altLang="en-US" b="1" dirty="0"/>
              <a:t>Evaporation is a heat and mass transfer process</a:t>
            </a:r>
          </a:p>
          <a:p>
            <a:pPr lvl="2"/>
            <a:r>
              <a:rPr lang="en-US" altLang="en-US" b="1" dirty="0"/>
              <a:t>Used to concentrate a nonvolatile solute in a volatile solvent</a:t>
            </a:r>
          </a:p>
          <a:p>
            <a:pPr lvl="1"/>
            <a:r>
              <a:rPr lang="en-US" altLang="en-US" b="1" dirty="0"/>
              <a:t>Utilizes vacuum operation to reduce boiling temperature, enhancing heat transfer and energy efficiency</a:t>
            </a:r>
          </a:p>
        </p:txBody>
      </p:sp>
    </p:spTree>
    <p:extLst>
      <p:ext uri="{BB962C8B-B14F-4D97-AF65-F5344CB8AC3E}">
        <p14:creationId xmlns:p14="http://schemas.microsoft.com/office/powerpoint/2010/main" val="943600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4B6BAD80-1903-F655-37E2-3CC653144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70AF3DB6-774E-7D12-FF39-67387846C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Based on heat transfer and phase change from liquid to vapor</a:t>
            </a:r>
          </a:p>
          <a:p>
            <a:r>
              <a:rPr lang="en-US" altLang="en-US" dirty="0"/>
              <a:t>Steam condenses on one side of the heat exchanger while the liquid boils on the other</a:t>
            </a:r>
          </a:p>
          <a:p>
            <a:r>
              <a:rPr lang="en-US" altLang="en-US" dirty="0"/>
              <a:t>Governing Equations:</a:t>
            </a:r>
          </a:p>
          <a:p>
            <a:pPr lvl="1"/>
            <a:r>
              <a:rPr lang="en-US" altLang="en-US" dirty="0"/>
              <a:t>Rate of heat transfer:</a:t>
            </a:r>
          </a:p>
          <a:p>
            <a:pPr lvl="1"/>
            <a:r>
              <a:rPr lang="en-US" altLang="en-US" dirty="0"/>
              <a:t>Steam Economy:</a:t>
            </a:r>
          </a:p>
          <a:p>
            <a:pPr lvl="1"/>
            <a:r>
              <a:rPr lang="en-US" altLang="en-US" dirty="0"/>
              <a:t>Energy Balance: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4CA8D-9739-8317-EFF5-32ED156DF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4919779"/>
            <a:ext cx="1390650" cy="371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A722E5-5398-DCCD-3131-01F685FA7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42221"/>
            <a:ext cx="2314575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68F98B-8EED-9EB4-F714-8D680AF35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5960270"/>
            <a:ext cx="4505325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4B6BAD80-1903-F655-37E2-3CC653144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70AF3DB6-774E-7D12-FF39-67387846C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Assumptions/Limitations</a:t>
            </a:r>
          </a:p>
          <a:p>
            <a:pPr lvl="1"/>
            <a:r>
              <a:rPr lang="en-US" altLang="en-US" dirty="0"/>
              <a:t>Negligible heat loss to surroundings</a:t>
            </a:r>
          </a:p>
          <a:p>
            <a:pPr lvl="1"/>
            <a:r>
              <a:rPr lang="en-US" altLang="en-US" dirty="0"/>
              <a:t>Steady-state operation and complete condensation of vapor</a:t>
            </a:r>
          </a:p>
          <a:p>
            <a:pPr lvl="1"/>
            <a:r>
              <a:rPr lang="en-US" altLang="en-US" dirty="0"/>
              <a:t>Constant physical properties for dilute sugar solution</a:t>
            </a:r>
          </a:p>
          <a:p>
            <a:pPr lvl="1"/>
            <a:r>
              <a:rPr lang="en-US" altLang="en-US" dirty="0"/>
              <a:t>Single-effect evaporator limits energy recovery; steam economy &lt; 1</a:t>
            </a:r>
          </a:p>
        </p:txBody>
      </p:sp>
    </p:spTree>
    <p:extLst>
      <p:ext uri="{BB962C8B-B14F-4D97-AF65-F5344CB8AC3E}">
        <p14:creationId xmlns:p14="http://schemas.microsoft.com/office/powerpoint/2010/main" val="40866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4B6BAD80-1903-F655-37E2-3CC653144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70AF3DB6-774E-7D12-FF39-67387846C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Connection to Experiment</a:t>
            </a:r>
          </a:p>
          <a:p>
            <a:pPr lvl="1"/>
            <a:r>
              <a:rPr lang="en-US" altLang="en-US" dirty="0"/>
              <a:t>Varying vacuum pressure alters boiling temperature and temperature difference, directly influencing capacity and economy</a:t>
            </a:r>
          </a:p>
        </p:txBody>
      </p:sp>
    </p:spTree>
    <p:extLst>
      <p:ext uri="{BB962C8B-B14F-4D97-AF65-F5344CB8AC3E}">
        <p14:creationId xmlns:p14="http://schemas.microsoft.com/office/powerpoint/2010/main" val="2821733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5012F2A1-9A35-BDE7-448D-2ACD7174F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A1DC9F3A-50C9-3582-2213-86637B2D0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Evaporator</a:t>
            </a:r>
          </a:p>
          <a:p>
            <a:r>
              <a:rPr lang="en-US" altLang="en-US" dirty="0">
                <a:cs typeface="Arial"/>
              </a:rPr>
              <a:t>Condenser</a:t>
            </a:r>
          </a:p>
          <a:p>
            <a:r>
              <a:rPr lang="en-US" altLang="en-US" dirty="0">
                <a:cs typeface="Arial"/>
              </a:rPr>
              <a:t>Vacuum Pump</a:t>
            </a:r>
          </a:p>
          <a:p>
            <a:r>
              <a:rPr lang="en-US" altLang="en-US" dirty="0">
                <a:cs typeface="Arial"/>
              </a:rPr>
              <a:t>Distillate/Condensate</a:t>
            </a:r>
          </a:p>
          <a:p>
            <a:r>
              <a:rPr lang="en-US" altLang="en-US" dirty="0">
                <a:cs typeface="Arial"/>
              </a:rPr>
              <a:t>Sugar Water Reservoir</a:t>
            </a:r>
          </a:p>
          <a:p>
            <a:r>
              <a:rPr lang="en-US" altLang="en-US" dirty="0">
                <a:cs typeface="Arial"/>
              </a:rPr>
              <a:t>Make Up Water Reservoir</a:t>
            </a:r>
          </a:p>
          <a:p>
            <a:endParaRPr lang="en-US" altLang="en-US" dirty="0"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7F3709F3-A85E-E866-3773-582D9F74A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4174799A-D061-F774-B656-4C3430D62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Sugar</a:t>
            </a:r>
          </a:p>
          <a:p>
            <a:r>
              <a:rPr lang="en-US" altLang="en-US" dirty="0">
                <a:cs typeface="Arial"/>
              </a:rPr>
              <a:t>DI Water</a:t>
            </a:r>
          </a:p>
          <a:p>
            <a:r>
              <a:rPr lang="en-US" altLang="en-US" dirty="0">
                <a:cs typeface="Arial"/>
              </a:rPr>
              <a:t>Steam</a:t>
            </a:r>
          </a:p>
          <a:p>
            <a:r>
              <a:rPr lang="en-US" altLang="en-US" dirty="0">
                <a:cs typeface="Arial"/>
              </a:rPr>
              <a:t>Cooling water</a:t>
            </a:r>
          </a:p>
          <a:p>
            <a:r>
              <a:rPr lang="en-US" altLang="en-US" dirty="0">
                <a:cs typeface="Arial"/>
              </a:rPr>
              <a:t>Thermocouple/Thermocouple Reader</a:t>
            </a:r>
          </a:p>
          <a:p>
            <a:r>
              <a:rPr lang="en-US" altLang="en-US" dirty="0">
                <a:cs typeface="Arial"/>
              </a:rPr>
              <a:t>Various Beakers/</a:t>
            </a:r>
            <a:r>
              <a:rPr lang="en-US" dirty="0">
                <a:cs typeface="Arial"/>
              </a:rPr>
              <a:t>Graduated Cylinders</a:t>
            </a:r>
          </a:p>
          <a:p>
            <a:r>
              <a:rPr lang="en-US" altLang="en-US" dirty="0">
                <a:cs typeface="Arial"/>
              </a:rPr>
              <a:t>Scale</a:t>
            </a:r>
          </a:p>
          <a:p>
            <a:r>
              <a:rPr lang="en-US" altLang="en-US" dirty="0">
                <a:cs typeface="Arial"/>
              </a:rPr>
              <a:t>Scoop</a:t>
            </a:r>
          </a:p>
          <a:p>
            <a:pPr marL="0" indent="0">
              <a:buNone/>
            </a:pPr>
            <a:endParaRPr lang="en-US" altLang="en-US" dirty="0"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3498A22-EB66-4B71-B291-D20FA2F2C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1923FB0-F152-C913-E70D-A5E5EFE19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 10 </a:t>
            </a:r>
            <a:r>
              <a:rPr lang="en-US" altLang="en-US" dirty="0" err="1"/>
              <a:t>wt</a:t>
            </a:r>
            <a:r>
              <a:rPr lang="en-US" altLang="en-US" dirty="0"/>
              <a:t>% sugar solution was prepared and circulated through the single effect evaporator</a:t>
            </a:r>
          </a:p>
          <a:p>
            <a:r>
              <a:rPr lang="en-US" altLang="en-US" dirty="0"/>
              <a:t>Steam was supplied to the heat exchanger and the system was operated under 3 different vacuum pressures</a:t>
            </a:r>
          </a:p>
          <a:p>
            <a:r>
              <a:rPr lang="en-US" altLang="en-US" dirty="0"/>
              <a:t>Condensate and distillate volumes were measured at steady-state for each 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3498A22-EB66-4B71-B291-D20FA2F2C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1923FB0-F152-C913-E70D-A5E5EFE19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Temperatures were recorded at multiple points and the condensate mass flow rate and steam economy were calculated</a:t>
            </a:r>
          </a:p>
          <a:p>
            <a:r>
              <a:rPr lang="en-US" altLang="en-US" dirty="0"/>
              <a:t>Pre-Lab Steps</a:t>
            </a:r>
          </a:p>
          <a:p>
            <a:pPr lvl="1"/>
            <a:r>
              <a:rPr lang="en-US" altLang="en-US" dirty="0"/>
              <a:t>Ensure vacuum pump and steam traps were functioning properly</a:t>
            </a:r>
          </a:p>
          <a:p>
            <a:pPr lvl="1"/>
            <a:r>
              <a:rPr lang="en-US" altLang="en-US" dirty="0"/>
              <a:t>Verify Thermocouple calibration and leak-tight system connections</a:t>
            </a:r>
          </a:p>
        </p:txBody>
      </p:sp>
    </p:spTree>
    <p:extLst>
      <p:ext uri="{BB962C8B-B14F-4D97-AF65-F5344CB8AC3E}">
        <p14:creationId xmlns:p14="http://schemas.microsoft.com/office/powerpoint/2010/main" val="398138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3498A22-EB66-4B71-B291-D20FA2F2C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1923FB0-F152-C913-E70D-A5E5EFE19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Critical Lab Tasks</a:t>
            </a:r>
          </a:p>
          <a:p>
            <a:pPr lvl="1"/>
            <a:r>
              <a:rPr lang="en-US" altLang="en-US" dirty="0"/>
              <a:t>Maintaining stable vacuum and steam pressures</a:t>
            </a:r>
          </a:p>
          <a:p>
            <a:pPr lvl="1"/>
            <a:r>
              <a:rPr lang="en-US" altLang="en-US" dirty="0"/>
              <a:t>Adjusting feed and makeup flow rates to maintain constant liquid level</a:t>
            </a:r>
          </a:p>
          <a:p>
            <a:pPr lvl="1"/>
            <a:r>
              <a:rPr lang="en-US" altLang="en-US" dirty="0"/>
              <a:t>Accurate timing and measurement of condensate and distillate collection</a:t>
            </a:r>
          </a:p>
        </p:txBody>
      </p:sp>
    </p:spTree>
    <p:extLst>
      <p:ext uri="{BB962C8B-B14F-4D97-AF65-F5344CB8AC3E}">
        <p14:creationId xmlns:p14="http://schemas.microsoft.com/office/powerpoint/2010/main" val="248450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56927932-3CAB-24A7-9160-6B2CE1EFB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944359A-CC7A-F208-67C3-DCCE9E1F9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Maintaining consistent vacuum pressure and avoiding air leaks in system</a:t>
            </a:r>
          </a:p>
          <a:p>
            <a:r>
              <a:rPr lang="en-US" altLang="en-US" dirty="0"/>
              <a:t>Controlling condensate flow rate and steam valve to avoid over pressurization</a:t>
            </a:r>
          </a:p>
          <a:p>
            <a:r>
              <a:rPr lang="en-US" altLang="en-US" dirty="0"/>
              <a:t>Variability in temperature readings due to delayed sensor response</a:t>
            </a:r>
          </a:p>
          <a:p>
            <a:r>
              <a:rPr lang="en-US" altLang="en-US" dirty="0"/>
              <a:t>Ensuring proper operation of steam traps and condensate drainage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56927932-3CAB-24A7-9160-6B2CE1EFB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944359A-CC7A-F208-67C3-DCCE9E1F9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Avoid rapid valve adjustments that cause pressure surges</a:t>
            </a:r>
          </a:p>
          <a:p>
            <a:r>
              <a:rPr lang="en-US" altLang="en-US" dirty="0"/>
              <a:t>Future Improvements</a:t>
            </a:r>
          </a:p>
          <a:p>
            <a:pPr lvl="1"/>
            <a:r>
              <a:rPr lang="en-US" altLang="en-US" dirty="0"/>
              <a:t>Improve insulation to minimize heat loss</a:t>
            </a:r>
          </a:p>
          <a:p>
            <a:pPr lvl="1"/>
            <a:r>
              <a:rPr lang="en-US" altLang="en-US" dirty="0"/>
              <a:t>Use real time mass flow sensors for higher accuracy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687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10E92E4E-7B10-C4E5-112F-1A5067315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906DE22E-CAE9-8584-09C0-7E6A52003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Steam hazards</a:t>
            </a:r>
          </a:p>
          <a:p>
            <a:r>
              <a:rPr lang="en-US" altLang="en-US" dirty="0"/>
              <a:t>Vacuum system (ensure components are rated for vacuum use; no cracks/damage)</a:t>
            </a:r>
          </a:p>
          <a:p>
            <a:r>
              <a:rPr lang="en-US" altLang="en-US" dirty="0"/>
              <a:t>Hot surfaces</a:t>
            </a:r>
          </a:p>
          <a:p>
            <a:r>
              <a:rPr lang="en-US" altLang="en-US" dirty="0"/>
              <a:t>Condensate handling</a:t>
            </a:r>
          </a:p>
          <a:p>
            <a:r>
              <a:rPr lang="en-US" altLang="en-US" dirty="0"/>
              <a:t>Spill prevention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70e5e9-70ad-45ce-8826-02d834186be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8729F1570E44FAEFEE406F6F92753" ma:contentTypeVersion="9" ma:contentTypeDescription="Create a new document." ma:contentTypeScope="" ma:versionID="10ec207cbaaf96551a60252ba510a153">
  <xsd:schema xmlns:xsd="http://www.w3.org/2001/XMLSchema" xmlns:xs="http://www.w3.org/2001/XMLSchema" xmlns:p="http://schemas.microsoft.com/office/2006/metadata/properties" xmlns:ns3="b870e5e9-70ad-45ce-8826-02d834186be7" xmlns:ns4="53ab94c7-388c-45f0-bc4f-db3ffd7e1fdd" targetNamespace="http://schemas.microsoft.com/office/2006/metadata/properties" ma:root="true" ma:fieldsID="3e0b9887d84d4b27146ea5d4eaa728d3" ns3:_="" ns4:_="">
    <xsd:import namespace="b870e5e9-70ad-45ce-8826-02d834186be7"/>
    <xsd:import namespace="53ab94c7-388c-45f0-bc4f-db3ffd7e1f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70e5e9-70ad-45ce-8826-02d834186b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b94c7-388c-45f0-bc4f-db3ffd7e1fd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98DB08-15BB-4A84-BD52-64594CBB5C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1CC1C-757E-46B6-9717-C268438D4B5C}">
  <ds:schemaRefs>
    <ds:schemaRef ds:uri="53ab94c7-388c-45f0-bc4f-db3ffd7e1fdd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b870e5e9-70ad-45ce-8826-02d834186be7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7286E6F-0B3B-455E-BCB0-28A19F2BE1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70e5e9-70ad-45ce-8826-02d834186be7"/>
    <ds:schemaRef ds:uri="53ab94c7-388c-45f0-bc4f-db3ffd7e1f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429</Words>
  <Application>Microsoft Office PowerPoint</Application>
  <PresentationFormat>On-screen Show (4:3)</PresentationFormat>
  <Paragraphs>81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Default Design</vt:lpstr>
      <vt:lpstr>   Evaporation</vt:lpstr>
      <vt:lpstr>Introduction</vt:lpstr>
      <vt:lpstr>Introduction</vt:lpstr>
      <vt:lpstr>Theory</vt:lpstr>
      <vt:lpstr>Theory</vt:lpstr>
      <vt:lpstr>Theory</vt:lpstr>
      <vt:lpstr>Apparatus</vt:lpstr>
      <vt:lpstr>Material &amp; Supplies</vt:lpstr>
      <vt:lpstr>Procedure</vt:lpstr>
      <vt:lpstr>Procedure</vt:lpstr>
      <vt:lpstr>Procedure</vt:lpstr>
      <vt:lpstr>Experimental Challenges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233</cp:revision>
  <dcterms:created xsi:type="dcterms:W3CDTF">2008-04-09T18:55:55Z</dcterms:created>
  <dcterms:modified xsi:type="dcterms:W3CDTF">2025-10-21T22:11:07Z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0x010100FA38729F1570E44FAEFEE406F6F92753</vt:lpwstr>
  </property>
</Properties>
</file>