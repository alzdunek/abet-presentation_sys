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9_0.xml" ContentType="application/vnd.ms-powerpoint.comments+xml"/>
  <Override PartName="/ppt/comments/modernComment_131_0.xml" ContentType="application/vnd.ms-powerpoint.comments+xml"/>
  <Override PartName="/ppt/comments/modernComment_12B_0.xml" ContentType="application/vnd.ms-powerpoint.comments+xml"/>
  <Override PartName="/ppt/comments/modernComment_12C_0.xml" ContentType="application/vnd.ms-powerpoint.comments+xml"/>
  <Override PartName="/ppt/comments/modernComment_12D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6"/>
  </p:notesMasterIdLst>
  <p:handoutMasterIdLst>
    <p:handoutMasterId r:id="rId17"/>
  </p:handoutMasterIdLst>
  <p:sldIdLst>
    <p:sldId id="256" r:id="rId4"/>
    <p:sldId id="297" r:id="rId5"/>
    <p:sldId id="298" r:id="rId6"/>
    <p:sldId id="304" r:id="rId7"/>
    <p:sldId id="305" r:id="rId8"/>
    <p:sldId id="299" r:id="rId9"/>
    <p:sldId id="300" r:id="rId10"/>
    <p:sldId id="301" r:id="rId11"/>
    <p:sldId id="302" r:id="rId12"/>
    <p:sldId id="306" r:id="rId13"/>
    <p:sldId id="307" r:id="rId14"/>
    <p:sldId id="303" r:id="rId15"/>
  </p:sldIdLst>
  <p:sldSz cx="9144000" cy="6858000" type="screen4x3"/>
  <p:notesSz cx="6858000" cy="90773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CC"/>
    <a:srgbClr val="3366FF"/>
    <a:srgbClr val="CC9900"/>
    <a:srgbClr val="996600"/>
    <a:srgbClr val="99CCFF"/>
    <a:srgbClr val="800000"/>
    <a:srgbClr val="FF0000"/>
    <a:srgbClr val="002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2" autoAdjust="0"/>
    <p:restoredTop sz="94728" autoAdjust="0"/>
  </p:normalViewPr>
  <p:slideViewPr>
    <p:cSldViewPr>
      <p:cViewPr varScale="1">
        <p:scale>
          <a:sx n="102" d="100"/>
          <a:sy n="102" d="100"/>
        </p:scale>
        <p:origin x="15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8/10/relationships/authors" Target="authors.xml"/></Relationships>
</file>

<file path=ppt/comments/modernComment_12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84F552-9BBE-4591-8C8D-2036977712B0}" authorId="{DF52CCAC-0B66-CA76-A7A3-D551D844506B}" created="2026-02-04T17:02:02.71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9"/>
      <ac:spMk id="12293" creationId="{44A2868D-A0CD-ADC2-76F3-9C3A0AF92803}"/>
    </ac:deMkLst>
    <p188:txBody>
      <a:bodyPr/>
      <a:lstStyle/>
      <a:p>
        <a:r>
          <a:rPr lang="en-US"/>
          <a:t>-1
#1 is a pressure regulator and gauge</a:t>
        </a:r>
      </a:p>
    </p188:txBody>
  </p188:cm>
</p188:cmLst>
</file>

<file path=ppt/comments/modernComment_12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B57781-B348-4558-BC49-85E2CA6F5534}" authorId="{DF52CCAC-0B66-CA76-A7A3-D551D844506B}" created="2026-02-04T17:02:51.11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0"/>
      <ac:spMk id="13315" creationId="{BAE9F589-D83A-57AD-1437-D769F0552BB9}"/>
    </ac:deMkLst>
    <p188:txBody>
      <a:bodyPr/>
      <a:lstStyle/>
      <a:p>
        <a:r>
          <a:rPr lang="en-US"/>
          <a:t>-0.5
Water for the void fraction measurements</a:t>
        </a:r>
      </a:p>
    </p188:txBody>
  </p188:cm>
</p188:cmLst>
</file>

<file path=ppt/comments/modernComment_12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03AF8E-A0B5-4FA1-9C13-5886F6287594}" authorId="{DF52CCAC-0B66-CA76-A7A3-D551D844506B}" created="2026-02-04T17:03:47.6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1"/>
      <ac:spMk id="14339" creationId="{4D90B8E3-C563-1D9A-737B-286F3D696EF3}"/>
    </ac:deMkLst>
    <p188:txBody>
      <a:bodyPr/>
      <a:lstStyle/>
      <a:p>
        <a:r>
          <a:rPr lang="en-US"/>
          <a:t>-1
Mention decreasing the flow after plateau is reached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3C0E85-40C3-4B30-8088-A8FEBAC616A6}" authorId="{DF52CCAC-0B66-CA76-A7A3-D551D844506B}" created="2026-02-04T17:04:38.2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122" creationId="{173283F8-264B-0D09-EF5E-EFE93FC48549}"/>
    </ac:deMkLst>
    <p188:txBody>
      <a:bodyPr/>
      <a:lstStyle/>
      <a:p>
        <a:r>
          <a:rPr lang="en-US"/>
          <a:t>93.5/100</a:t>
        </a:r>
      </a:p>
    </p188:txBody>
  </p188:cm>
</p188:cmLst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2AB6525-2FAF-4AEA-8C78-65466B67C487}" authorId="{DF52CCAC-0B66-CA76-A7A3-D551D844506B}" created="2026-02-04T16:58:34.47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7"/>
      <ac:spMk id="7171" creationId="{99B25FE6-33B2-7563-07C1-A26F9DF9639A}"/>
    </ac:deMkLst>
    <p188:txBody>
      <a:bodyPr/>
      <a:lstStyle/>
      <a:p>
        <a:r>
          <a:rPr lang="en-US"/>
          <a:t>-2
Determine Umf, compare with Ergun equation.</a:t>
        </a:r>
      </a:p>
    </p188:txBody>
  </p188:cm>
</p188:cmLst>
</file>

<file path=ppt/comments/modernComment_13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1655F3-18E5-41B0-BDA2-26F28DB1C239}" authorId="{DF52CCAC-0B66-CA76-A7A3-D551D844506B}" created="2026-02-04T17:00:33.04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5"/>
      <ac:spMk id="11267" creationId="{D31A9834-18AB-E4A7-2E31-35BD318EE04E}"/>
    </ac:deMkLst>
    <p188:txBody>
      <a:bodyPr/>
      <a:lstStyle/>
      <a:p>
        <a:r>
          <a:rPr lang="en-US"/>
          <a:t>-2
Show the plot of pressure drop vs velocity for better understanding
What are the assumptions for the Ergun equation?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0F81F281-C7D9-2953-D11C-4F1E0C03DA6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2B5D2369-9272-310E-EA52-CAA22B8FDAD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301FFCE9-D070-DD1E-D933-95821614A6D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BEA127A6-2D32-F77F-08B4-7B19519E81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B2D289E-693B-4A87-A9B2-DBB1014F08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1DC301BF-6F50-7EFF-7B36-78F3C1178AA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AD3C89E9-1BBE-3E23-6D89-04DB74C0E45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1028">
            <a:extLst>
              <a:ext uri="{FF2B5EF4-FFF2-40B4-BE49-F238E27FC236}">
                <a16:creationId xmlns:a16="http://schemas.microsoft.com/office/drawing/2014/main" id="{C35DBBE8-39BE-3442-3923-122C2C473023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69621CCC-71CE-433C-053A-23F711DDDC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A45D13AB-82CD-6911-52D9-EC4F4EF1A57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5F1E8FB2-47C0-1DE7-7C8E-395457791A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3ED3B14-44E6-4DD4-880F-55EF305B49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31">
            <a:extLst>
              <a:ext uri="{FF2B5EF4-FFF2-40B4-BE49-F238E27FC236}">
                <a16:creationId xmlns:a16="http://schemas.microsoft.com/office/drawing/2014/main" id="{26A29273-577A-B2FA-8FA4-FF0C3221A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440E08-20D2-43E9-9DD8-01F9F25E675F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6147" name="Rectangle 1026">
            <a:extLst>
              <a:ext uri="{FF2B5EF4-FFF2-40B4-BE49-F238E27FC236}">
                <a16:creationId xmlns:a16="http://schemas.microsoft.com/office/drawing/2014/main" id="{709A6790-FCBC-2559-947C-BE2FEFC6B00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1027">
            <a:extLst>
              <a:ext uri="{FF2B5EF4-FFF2-40B4-BE49-F238E27FC236}">
                <a16:creationId xmlns:a16="http://schemas.microsoft.com/office/drawing/2014/main" id="{5FE70033-94EB-1BBF-315F-9CED1962B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31">
            <a:extLst>
              <a:ext uri="{FF2B5EF4-FFF2-40B4-BE49-F238E27FC236}">
                <a16:creationId xmlns:a16="http://schemas.microsoft.com/office/drawing/2014/main" id="{4F67ED6D-1617-7845-0B46-5F5BBE60A9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1E2C58-EACE-4691-A15C-3F3EE8F7CF78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2A55A6CE-5C29-D535-96EB-94DA4C1D490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CDFB37B-FAB2-6285-D512-C2BD86DBB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A828D73D-139A-7CBA-627C-CF1C1B03B4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C1F7EC3-ADB1-82EE-F62F-3E3321FAD5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402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111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3069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16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645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4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99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3599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488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4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328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0C272AD-948D-2AF0-6B5B-D989D97F0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B6E610C-3177-C17E-8940-F3B4EF1AB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Line 9">
            <a:extLst>
              <a:ext uri="{FF2B5EF4-FFF2-40B4-BE49-F238E27FC236}">
                <a16:creationId xmlns:a16="http://schemas.microsoft.com/office/drawing/2014/main" id="{DC0BAEB2-3208-6192-EEEB-3700A0D0AA6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29" name="Picture 10">
            <a:extLst>
              <a:ext uri="{FF2B5EF4-FFF2-40B4-BE49-F238E27FC236}">
                <a16:creationId xmlns:a16="http://schemas.microsoft.com/office/drawing/2014/main" id="{BF87DA54-181A-43CC-106A-18E7F038C6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1_0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2B_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C_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D_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173283F8-264B-0D09-EF5E-EFE93FC485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4114800"/>
            <a:ext cx="7696200" cy="1828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Group #2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Kendall Johnson, Lindsey Meisch, Christian Salinas, Srija </a:t>
            </a:r>
            <a:r>
              <a:rPr lang="en-US" altLang="en-US" sz="2800" dirty="0" err="1"/>
              <a:t>Bomma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Chemical Engineering Lab I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2/3/2026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5B037E17-7673-5918-9B3F-13CE301E22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pPr eaLnBrk="1" hangingPunct="1"/>
            <a:br>
              <a:rPr lang="en-US" altLang="en-US" sz="4000" b="1"/>
            </a:br>
            <a:br>
              <a:rPr lang="en-US" altLang="en-US" sz="4000" b="1"/>
            </a:br>
            <a:br>
              <a:rPr lang="en-US" altLang="en-US" sz="4000" b="1"/>
            </a:br>
            <a:r>
              <a:rPr lang="en-US" altLang="en-US" sz="4000" b="1"/>
              <a:t>Fluidized Bed</a:t>
            </a:r>
          </a:p>
        </p:txBody>
      </p:sp>
      <p:sp>
        <p:nvSpPr>
          <p:cNvPr id="5124" name="Line 6">
            <a:extLst>
              <a:ext uri="{FF2B5EF4-FFF2-40B4-BE49-F238E27FC236}">
                <a16:creationId xmlns:a16="http://schemas.microsoft.com/office/drawing/2014/main" id="{E26328E3-1617-C608-4E24-92ECABD54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F814DC3-6828-A440-109E-3AC39E315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/>
              <a:t>Introduction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9B25FE6-33B2-7563-07C1-A26F9DF963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65225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b="1" dirty="0"/>
          </a:p>
          <a:p>
            <a:pPr eaLnBrk="1" hangingPunct="1"/>
            <a:r>
              <a:rPr lang="en-US" altLang="en-US" b="1" dirty="0"/>
              <a:t>Purpose of lab</a:t>
            </a:r>
          </a:p>
          <a:p>
            <a:pPr lvl="1" eaLnBrk="1" hangingPunct="1"/>
            <a:r>
              <a:rPr lang="en-US" altLang="en-US" dirty="0"/>
              <a:t>Investigate gas-solid fluidization behavior</a:t>
            </a:r>
          </a:p>
          <a:p>
            <a:pPr lvl="1" eaLnBrk="1" hangingPunct="1"/>
            <a:r>
              <a:rPr lang="en-US" altLang="en-US" dirty="0"/>
              <a:t>Measure pressure-drop vs superficial gas velocity</a:t>
            </a:r>
          </a:p>
          <a:p>
            <a:pPr eaLnBrk="1" hangingPunct="1"/>
            <a:r>
              <a:rPr lang="en-US" altLang="en-US" b="1" dirty="0"/>
              <a:t>Technical nature</a:t>
            </a:r>
            <a:r>
              <a:rPr lang="en-US" altLang="en-US" dirty="0"/>
              <a:t> </a:t>
            </a:r>
          </a:p>
          <a:p>
            <a:pPr lvl="1" eaLnBrk="1" hangingPunct="1"/>
            <a:r>
              <a:rPr lang="en-US" altLang="en-US" dirty="0"/>
              <a:t>Widely used in catalytic cracking, combustion and gasification, and drying and coating</a:t>
            </a:r>
          </a:p>
          <a:p>
            <a:pPr lvl="1" eaLnBrk="1" hangingPunct="1"/>
            <a:r>
              <a:rPr lang="en-US" altLang="en-US" dirty="0"/>
              <a:t>Critical for reactor design, pressure drop estimation, scale-up, and process control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607CCB2-3482-4531-7783-8CC9158EC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Theory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8354C6F-EC95-9349-FA53-0C9619192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Fluidization Fundamentals</a:t>
            </a:r>
          </a:p>
          <a:p>
            <a:pPr lvl="1" eaLnBrk="1" hangingPunct="1"/>
            <a:r>
              <a:rPr lang="en-US" altLang="en-US"/>
              <a:t>Gas flows upward through a particle bed</a:t>
            </a:r>
          </a:p>
          <a:p>
            <a:pPr lvl="1" eaLnBrk="1" hangingPunct="1"/>
            <a:r>
              <a:rPr lang="en-US" altLang="en-US"/>
              <a:t>At low velocity &gt; packed bed behavior</a:t>
            </a:r>
          </a:p>
          <a:p>
            <a:pPr lvl="1" eaLnBrk="1" hangingPunct="1"/>
            <a:r>
              <a:rPr lang="en-US" altLang="en-US"/>
              <a:t>At minimum fluidization velocity &gt; drag force = effective bed weight</a:t>
            </a:r>
          </a:p>
          <a:p>
            <a:pPr lvl="1" eaLnBrk="1" hangingPunct="1"/>
            <a:r>
              <a:rPr lang="en-US" altLang="en-US"/>
              <a:t>Above minimum fluidization velocity &gt; bed expands, pressure drop plateaus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459FA16-B07D-FBAA-8933-AA06D710EA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3D98D00-31D3-84EF-94AC-A61B44881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Governing Equations</a:t>
            </a:r>
          </a:p>
          <a:p>
            <a:pPr lvl="1" eaLnBrk="1" hangingPunct="1"/>
            <a:r>
              <a:rPr lang="en-US" altLang="en-US"/>
              <a:t>Ergun equation (packed bed) 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Minimum fluidization condition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  <p:pic>
        <p:nvPicPr>
          <p:cNvPr id="10244" name="Picture 2">
            <a:extLst>
              <a:ext uri="{FF2B5EF4-FFF2-40B4-BE49-F238E27FC236}">
                <a16:creationId xmlns:a16="http://schemas.microsoft.com/office/drawing/2014/main" id="{114FF405-7CBF-5899-EED0-6EBFB29D3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2895600"/>
            <a:ext cx="42862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4">
            <a:extLst>
              <a:ext uri="{FF2B5EF4-FFF2-40B4-BE49-F238E27FC236}">
                <a16:creationId xmlns:a16="http://schemas.microsoft.com/office/drawing/2014/main" id="{935AE9C6-0B51-69FD-3610-18BCEB8C6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88" y="4759325"/>
            <a:ext cx="27908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995BC4E-C167-BFFB-5A26-45E2F4691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Theory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31A9834-18AB-E4A7-2E31-35BD318EE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Assumptions/Limitations</a:t>
            </a:r>
          </a:p>
          <a:p>
            <a:pPr lvl="1" eaLnBrk="1" hangingPunct="1"/>
            <a:r>
              <a:rPr lang="en-US" altLang="en-US" sz="2400" dirty="0"/>
              <a:t>Resin sphericity = 1</a:t>
            </a:r>
          </a:p>
          <a:p>
            <a:pPr lvl="1" eaLnBrk="1" hangingPunct="1"/>
            <a:r>
              <a:rPr lang="en-US" altLang="en-US" sz="2400" dirty="0"/>
              <a:t>Uniform size distribution</a:t>
            </a:r>
          </a:p>
          <a:p>
            <a:pPr lvl="1" eaLnBrk="1" hangingPunct="1"/>
            <a:r>
              <a:rPr lang="en-US" altLang="en-US" sz="2400" dirty="0"/>
              <a:t>Uniform gas distribution</a:t>
            </a:r>
          </a:p>
          <a:p>
            <a:pPr lvl="1" eaLnBrk="1" hangingPunct="1"/>
            <a:r>
              <a:rPr lang="en-US" altLang="en-US" sz="2400" dirty="0"/>
              <a:t>Steady-state behavior</a:t>
            </a:r>
          </a:p>
          <a:p>
            <a:pPr eaLnBrk="1" hangingPunct="1"/>
            <a:r>
              <a:rPr lang="en-US" altLang="en-US" sz="2800" dirty="0"/>
              <a:t>Connection to experiment</a:t>
            </a:r>
          </a:p>
          <a:p>
            <a:pPr lvl="1" eaLnBrk="1" hangingPunct="1"/>
            <a:r>
              <a:rPr lang="en-US" altLang="en-US" sz="2400" dirty="0"/>
              <a:t>Pressure-drop plateau at fluidization</a:t>
            </a:r>
          </a:p>
          <a:p>
            <a:pPr lvl="1" eaLnBrk="1" hangingPunct="1"/>
            <a:r>
              <a:rPr lang="en-US" altLang="en-US" sz="2400" dirty="0"/>
              <a:t>Hysteresis between increasing/decreasing flow</a:t>
            </a:r>
          </a:p>
          <a:p>
            <a:pPr lvl="1" eaLnBrk="1" hangingPunct="1"/>
            <a:r>
              <a:rPr lang="en-US" altLang="en-US" sz="2400" dirty="0"/>
              <a:t>Agreement with theory within experimental uncertainty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59EBA5C-CBCB-D7B9-9299-5BAAC7EC4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Apparatus</a:t>
            </a:r>
          </a:p>
        </p:txBody>
      </p:sp>
      <p:pic>
        <p:nvPicPr>
          <p:cNvPr id="12291" name="Picture 3">
            <a:extLst>
              <a:ext uri="{FF2B5EF4-FFF2-40B4-BE49-F238E27FC236}">
                <a16:creationId xmlns:a16="http://schemas.microsoft.com/office/drawing/2014/main" id="{75C8058D-FC25-21D8-1988-5D0657245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3424238"/>
            <a:ext cx="9525" cy="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image2.jpg">
            <a:extLst>
              <a:ext uri="{FF2B5EF4-FFF2-40B4-BE49-F238E27FC236}">
                <a16:creationId xmlns:a16="http://schemas.microsoft.com/office/drawing/2014/main" id="{5894C17D-F804-94D5-6781-F216465DB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600200"/>
            <a:ext cx="4038600" cy="495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Rectangle 3">
            <a:extLst>
              <a:ext uri="{FF2B5EF4-FFF2-40B4-BE49-F238E27FC236}">
                <a16:creationId xmlns:a16="http://schemas.microsoft.com/office/drawing/2014/main" id="{44A2868D-A0CD-ADC2-76F3-9C3A0AF92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8" y="2057400"/>
            <a:ext cx="3581400" cy="3671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800000"/>
              </a:buClr>
              <a:buChar char="•"/>
              <a:defRPr sz="3200">
                <a:solidFill>
                  <a:srgbClr val="00234C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00000"/>
              </a:buClr>
              <a:buChar char="•"/>
              <a:defRPr sz="2800">
                <a:solidFill>
                  <a:srgbClr val="00234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00000"/>
              </a:buClr>
              <a:buChar char="•"/>
              <a:defRPr sz="2400">
                <a:solidFill>
                  <a:srgbClr val="00234C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00000"/>
              </a:buClr>
              <a:buChar char="•"/>
              <a:defRPr sz="2000">
                <a:solidFill>
                  <a:srgbClr val="00234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00000"/>
              </a:buClr>
              <a:buChar char="•"/>
              <a:defRPr sz="2000">
                <a:solidFill>
                  <a:srgbClr val="00234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>
                <a:solidFill>
                  <a:srgbClr val="00234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>
                <a:solidFill>
                  <a:srgbClr val="00234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>
                <a:solidFill>
                  <a:srgbClr val="00234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>
                <a:solidFill>
                  <a:srgbClr val="00234C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1: Compressed air inlet gauge</a:t>
            </a:r>
          </a:p>
          <a:p>
            <a:pPr eaLnBrk="1" hangingPunct="1"/>
            <a:r>
              <a:rPr lang="en-US" altLang="en-US" sz="2400" dirty="0"/>
              <a:t>2: Rotameter(s) to control fluid flow through the column</a:t>
            </a:r>
          </a:p>
          <a:p>
            <a:pPr eaLnBrk="1" hangingPunct="1"/>
            <a:r>
              <a:rPr lang="en-US" altLang="en-US" sz="2400" dirty="0"/>
              <a:t>3: Air distributor plate</a:t>
            </a:r>
          </a:p>
          <a:p>
            <a:pPr eaLnBrk="1" hangingPunct="1"/>
            <a:r>
              <a:rPr lang="en-US" altLang="en-US" sz="2400" dirty="0"/>
              <a:t>4: Plexiglass fluidized bed column</a:t>
            </a:r>
          </a:p>
          <a:p>
            <a:pPr eaLnBrk="1" hangingPunct="1"/>
            <a:r>
              <a:rPr lang="en-US" altLang="en-US" sz="2400" dirty="0"/>
              <a:t>5: Manometer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64DA1B6-998C-2297-56AE-EF3392CF7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Material &amp; Supplies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AE9F589-D83A-57AD-1437-D769F0552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Ion-resin</a:t>
            </a:r>
          </a:p>
          <a:p>
            <a:pPr eaLnBrk="1" hangingPunct="1"/>
            <a:r>
              <a:rPr lang="en-US" altLang="en-US" sz="2800" dirty="0"/>
              <a:t>Sand</a:t>
            </a:r>
          </a:p>
          <a:p>
            <a:pPr eaLnBrk="1" hangingPunct="1"/>
            <a:r>
              <a:rPr lang="en-US" altLang="en-US" sz="2800" dirty="0"/>
              <a:t>Balance</a:t>
            </a:r>
          </a:p>
          <a:p>
            <a:pPr eaLnBrk="1" hangingPunct="1"/>
            <a:r>
              <a:rPr lang="en-US" altLang="en-US" sz="2800" dirty="0"/>
              <a:t>Graduated cylinder</a:t>
            </a:r>
          </a:p>
          <a:p>
            <a:pPr eaLnBrk="1" hangingPunct="1"/>
            <a:r>
              <a:rPr lang="en-US" altLang="en-US" sz="2800" dirty="0"/>
              <a:t>Funnel</a:t>
            </a:r>
          </a:p>
          <a:p>
            <a:pPr eaLnBrk="1" hangingPunct="1"/>
            <a:r>
              <a:rPr lang="en-US" altLang="en-US" sz="2800" dirty="0"/>
              <a:t>Compressed air</a:t>
            </a:r>
          </a:p>
          <a:p>
            <a:pPr eaLnBrk="1" hangingPunct="1"/>
            <a:r>
              <a:rPr lang="en-US" altLang="en-US" sz="2800" dirty="0"/>
              <a:t>Vacuum cleaners</a:t>
            </a:r>
          </a:p>
          <a:p>
            <a:pPr eaLnBrk="1" hangingPunct="1"/>
            <a:r>
              <a:rPr lang="en-US" altLang="en-US" sz="2800" dirty="0"/>
              <a:t>Sieves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46EB420-A660-C820-6D96-1C8ED58D8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Procedure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D90B8E3-C563-1D9A-737B-286F3D696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Pre-Lab Preparation</a:t>
            </a:r>
          </a:p>
          <a:p>
            <a:pPr lvl="1" eaLnBrk="1" hangingPunct="1"/>
            <a:r>
              <a:rPr lang="en-US" altLang="en-US" sz="2400" dirty="0"/>
              <a:t>Performed sieve analysis on sand and resin</a:t>
            </a:r>
          </a:p>
          <a:p>
            <a:pPr lvl="1" eaLnBrk="1" hangingPunct="1"/>
            <a:r>
              <a:rPr lang="en-US" altLang="en-US" sz="2400" dirty="0"/>
              <a:t>Determined average particle diameter</a:t>
            </a:r>
          </a:p>
          <a:p>
            <a:pPr lvl="1" eaLnBrk="1" hangingPunct="1"/>
            <a:r>
              <a:rPr lang="en-US" altLang="en-US" sz="2400" dirty="0"/>
              <a:t>Measured void fraction using water displacement</a:t>
            </a:r>
          </a:p>
          <a:p>
            <a:pPr eaLnBrk="1" hangingPunct="1"/>
            <a:r>
              <a:rPr lang="en-US" altLang="en-US" sz="2800" dirty="0"/>
              <a:t>Fluidization Experiment</a:t>
            </a:r>
          </a:p>
          <a:p>
            <a:pPr lvl="1" eaLnBrk="1" hangingPunct="1"/>
            <a:r>
              <a:rPr lang="en-US" altLang="en-US" sz="2400" dirty="0"/>
              <a:t>Loaded bed to 6 and 10 inch heights</a:t>
            </a:r>
          </a:p>
          <a:p>
            <a:pPr lvl="1" eaLnBrk="1" hangingPunct="1"/>
            <a:r>
              <a:rPr lang="en-US" altLang="en-US" sz="2400" dirty="0"/>
              <a:t>Gradually increase flow</a:t>
            </a:r>
          </a:p>
          <a:p>
            <a:pPr lvl="1" eaLnBrk="1" hangingPunct="1"/>
            <a:r>
              <a:rPr lang="en-US" altLang="en-US" sz="2400" dirty="0"/>
              <a:t>Record pressure drop, flow rate, and visual bed behavior</a:t>
            </a:r>
          </a:p>
          <a:p>
            <a:pPr lvl="1" eaLnBrk="1" hangingPunct="1"/>
            <a:r>
              <a:rPr lang="en-US" altLang="en-US" sz="2400" dirty="0"/>
              <a:t>Continued until pressure drop plateaued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86BB621-B524-8B0D-F025-9B4992D5A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Experimental Challenges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C3F88B5-669D-F996-9796-4AC03F364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Identifying exact onset of fluidization</a:t>
            </a:r>
          </a:p>
          <a:p>
            <a:pPr eaLnBrk="1" hangingPunct="1"/>
            <a:r>
              <a:rPr lang="en-US" altLang="en-US"/>
              <a:t>Manometer resolution – limited precision</a:t>
            </a:r>
          </a:p>
          <a:p>
            <a:pPr eaLnBrk="1" hangingPunct="1"/>
            <a:r>
              <a:rPr lang="en-US" altLang="en-US"/>
              <a:t>Rotameter accuracy</a:t>
            </a:r>
          </a:p>
          <a:p>
            <a:pPr eaLnBrk="1" hangingPunct="1"/>
            <a:r>
              <a:rPr lang="en-US" altLang="en-US"/>
              <a:t>Bed instability at higher velocities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1BC51E4-B232-63EC-372C-C9CBA5E0C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Experimental Challenges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7CA6EE4-438A-1248-F5AB-3ED2F1EB1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Things to watch for</a:t>
            </a:r>
          </a:p>
          <a:p>
            <a:pPr lvl="1" eaLnBrk="1" hangingPunct="1"/>
            <a:r>
              <a:rPr lang="en-US" altLang="en-US"/>
              <a:t>Small increments for air flow</a:t>
            </a:r>
          </a:p>
          <a:p>
            <a:pPr lvl="1" eaLnBrk="1" hangingPunct="1"/>
            <a:r>
              <a:rPr lang="en-US" altLang="en-US"/>
              <a:t>Allow system to stabilize</a:t>
            </a:r>
          </a:p>
          <a:p>
            <a:pPr lvl="1" eaLnBrk="1" hangingPunct="1"/>
            <a:r>
              <a:rPr lang="en-US" altLang="en-US"/>
              <a:t>Read manometer at eye level</a:t>
            </a:r>
          </a:p>
          <a:p>
            <a:pPr lvl="1" eaLnBrk="1" hangingPunct="1"/>
            <a:r>
              <a:rPr lang="en-US" altLang="en-US"/>
              <a:t>Ensure uniform particle loading and level bed surface</a:t>
            </a:r>
          </a:p>
          <a:p>
            <a:pPr lvl="1" eaLnBrk="1" hangingPunct="1"/>
            <a:r>
              <a:rPr lang="en-US" altLang="en-US"/>
              <a:t>Avoid sudden valve adjustments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CDC6EC8-BB5E-8FF5-A07E-E0EE73566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Experimental Challenges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AA9DF4B-4E62-B709-266D-D64ECAA0B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Lessons learned</a:t>
            </a:r>
          </a:p>
          <a:p>
            <a:pPr lvl="1" eaLnBrk="1" hangingPunct="1"/>
            <a:r>
              <a:rPr lang="en-US" altLang="en-US"/>
              <a:t>Perform replicate trials earlier for better statistics</a:t>
            </a:r>
          </a:p>
          <a:p>
            <a:pPr lvl="1" eaLnBrk="1" hangingPunct="1"/>
            <a:r>
              <a:rPr lang="en-US" altLang="en-US"/>
              <a:t>Use lower flow increments around transition region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1EE61AF-5DE8-13D8-7004-FD7D4E6DF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Safety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51BE620-47E7-7FBA-FFC3-F09C1DBDD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Compressed air</a:t>
            </a:r>
          </a:p>
          <a:p>
            <a:pPr eaLnBrk="1" hangingPunct="1"/>
            <a:r>
              <a:rPr lang="en-US" altLang="en-US"/>
              <a:t>Pressure</a:t>
            </a:r>
          </a:p>
          <a:p>
            <a:pPr eaLnBrk="1" hangingPunct="1"/>
            <a:r>
              <a:rPr lang="en-US" altLang="en-US"/>
              <a:t>Sand/resin slip hazard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38729F1570E44FAEFEE406F6F92753" ma:contentTypeVersion="9" ma:contentTypeDescription="Create a new document." ma:contentTypeScope="" ma:versionID="51ac335bf3c321271fb137f317443dd7">
  <xsd:schema xmlns:xsd="http://www.w3.org/2001/XMLSchema" xmlns:xs="http://www.w3.org/2001/XMLSchema" xmlns:p="http://schemas.microsoft.com/office/2006/metadata/properties" xmlns:ns3="b870e5e9-70ad-45ce-8826-02d834186be7" xmlns:ns4="53ab94c7-388c-45f0-bc4f-db3ffd7e1fdd" targetNamespace="http://schemas.microsoft.com/office/2006/metadata/properties" ma:root="true" ma:fieldsID="275ee7a169f66d41349e3becabb21522" ns3:_="" ns4:_="">
    <xsd:import namespace="b870e5e9-70ad-45ce-8826-02d834186be7"/>
    <xsd:import namespace="53ab94c7-388c-45f0-bc4f-db3ffd7e1fd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70e5e9-70ad-45ce-8826-02d834186b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ab94c7-388c-45f0-bc4f-db3ffd7e1fd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972806-07B6-4004-840B-E4976873AA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127B96-1AB7-4421-A718-B2F826B2E7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70e5e9-70ad-45ce-8826-02d834186be7"/>
    <ds:schemaRef ds:uri="53ab94c7-388c-45f0-bc4f-db3ffd7e1f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1769</TotalTime>
  <Words>331</Words>
  <Application>Microsoft Office PowerPoint</Application>
  <PresentationFormat>On-screen Show (4:3)</PresentationFormat>
  <Paragraphs>83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Default Design</vt:lpstr>
      <vt:lpstr>   Fluidized Bed</vt:lpstr>
      <vt:lpstr>Introduction</vt:lpstr>
      <vt:lpstr>Theory</vt:lpstr>
      <vt:lpstr>Theory</vt:lpstr>
      <vt:lpstr>Theory</vt:lpstr>
      <vt:lpstr>Apparatus</vt:lpstr>
      <vt:lpstr>Material &amp; Supplies</vt:lpstr>
      <vt:lpstr>Procedure</vt:lpstr>
      <vt:lpstr>Experimental Challenges</vt:lpstr>
      <vt:lpstr>Experimental Challenges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</dc:title>
  <dc:creator>Elizabeth Zweigle Yee</dc:creator>
  <cp:lastModifiedBy>Zdunek, Alan</cp:lastModifiedBy>
  <cp:revision>238</cp:revision>
  <dcterms:created xsi:type="dcterms:W3CDTF">2008-04-09T18:55:55Z</dcterms:created>
  <dcterms:modified xsi:type="dcterms:W3CDTF">2026-02-04T17:05:15Z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0x010100FA38729F1570E44FAEFEE406F6F92753</vt:lpwstr>
  </property>
  <property fmtid="{D5CDD505-2E9C-101B-9397-08002B2CF9AE}" pid="3" name="_activity">
    <vt:lpwstr/>
  </property>
</Properties>
</file>