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B_0.xml" ContentType="application/vnd.ms-powerpoint.comments+xml"/>
  <Override PartName="/ppt/comments/modernComment_12D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97" r:id="rId6"/>
    <p:sldId id="298" r:id="rId7"/>
    <p:sldId id="299" r:id="rId8"/>
    <p:sldId id="300" r:id="rId9"/>
    <p:sldId id="301" r:id="rId10"/>
    <p:sldId id="304" r:id="rId11"/>
    <p:sldId id="305" r:id="rId12"/>
    <p:sldId id="302" r:id="rId13"/>
    <p:sldId id="303" r:id="rId14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234C"/>
    <a:srgbClr val="0066CC"/>
    <a:srgbClr val="3366FF"/>
    <a:srgbClr val="CC9900"/>
    <a:srgbClr val="996600"/>
    <a:srgbClr val="99CCFF"/>
    <a:srgbClr val="8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E8C56-E5DA-4781-9473-56A27F02D033}" v="156" dt="2026-02-03T03:06:26.986"/>
    <p1510:client id="{65A52A54-D3CC-4665-A198-748B678AE7BA}" v="1" dt="2026-02-03T22:02:00.359"/>
    <p1510:client id="{65D01AFE-19FD-4211-BD78-2B3D33D16D28}" v="1749" dt="2026-02-03T17:55:59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2" autoAdjust="0"/>
    <p:restoredTop sz="94728" autoAdjust="0"/>
  </p:normalViewPr>
  <p:slideViewPr>
    <p:cSldViewPr>
      <p:cViewPr varScale="1">
        <p:scale>
          <a:sx n="102" d="100"/>
          <a:sy n="102" d="100"/>
        </p:scale>
        <p:origin x="15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omments/modernComment_12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A8381F-7303-4C25-A62D-F9BFBDFF3AB5}" authorId="{DF52CCAC-0B66-CA76-A7A3-D551D844506B}" created="2026-02-04T17:09:29.28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9"/>
      <ac:graphicFrameMk id="3" creationId="{AA82CFFA-E71B-4C31-6FD5-AAE294833109}"/>
    </ac:deMkLst>
    <p188:txBody>
      <a:bodyPr/>
      <a:lstStyle/>
      <a:p>
        <a:r>
          <a:rPr lang="en-US"/>
          <a:t>-2
Be more exact with your descriptions:
2nd picture is the sump tank/process tank and the PLC controller
Middle valve is the outlet valve from the process tank</a:t>
        </a:r>
      </a:p>
    </p188:txBody>
  </p188:cm>
</p188:cmLst>
</file>

<file path=ppt/comments/modernComment_12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37CC39E-EE1B-475B-BFB6-9230D59BEA5F}" authorId="{DF52CCAC-0B66-CA76-A7A3-D551D844506B}" created="2026-02-04T17:11:27.7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2" creationId="{CB1604F3-BFE8-7085-CD10-DEB40BBD7FD7}"/>
    </ac:deMkLst>
    <p188:txBody>
      <a:bodyPr/>
      <a:lstStyle/>
      <a:p>
        <a:r>
          <a:rPr lang="en-US"/>
          <a:t>-1
Don’t use CV1, CV2 is not described in apparatus slide
Add “Experiment 1” here for consistency with next two slides.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9BADD6-5AFF-4093-BDE1-EFE7202F0555}" authorId="{DF52CCAC-0B66-CA76-A7A3-D551D844506B}" created="2026-02-04T17:12:52.0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1" creationId="{F6CBC6E5-0FAC-0643-92EF-F877FDCA9E79}"/>
    </ac:deMkLst>
    <p188:txBody>
      <a:bodyPr/>
      <a:lstStyle/>
      <a:p>
        <a:r>
          <a:rPr lang="en-US"/>
          <a:t>97/100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ED2E920-24A8-28C0-BAFA-D5477B015C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FE2DD61C-E4F5-9622-88B7-2BE8071E5DA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5CC08385-ED67-7DEC-9B21-522DF883FE8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21E4DDA6-3642-296F-D4D6-A064807D7B5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2A81EC8-F62E-4234-A890-0746B3A36F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2A26BABD-5181-417B-C47C-F434FFEC97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9231C43F-E90D-8B0B-6234-74C3D641D6E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8363E45D-4AE7-A3CD-DFB0-C96964E5E36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CE829D70-E512-56F1-D293-610DE1F88EE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3BB0ACF6-5DE4-4C97-8208-2A3FF298CF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93958651-3291-08D3-A943-274F7DC731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F701CB6-5C28-4FE4-B64A-402E6281AD6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33CBD52B-59BE-9B93-32A6-33F101007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C35CEE-DFA3-4486-B690-B88CF64A7949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39AF99B2-1C6C-3ECC-A84A-6D10720990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CAE6B9F1-9593-7D00-E025-024CC7942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CEC3135C-D488-10E4-95EB-F89ACB4950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020AC4-15E3-45F4-A869-BA40128B13E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31C5F3AD-E8A9-B422-DDB5-10110CBDF1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688DD24-E68E-002E-3A2E-67E7374E7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CFAD202-D317-40D8-2F09-34A51B4D9F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848C04A-7EF8-1973-3EA5-6673A5EF4F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920B8958-D922-B4D3-DEC9-4EB15F92EF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075095CD-74B7-2C12-DB29-DB7176EFA9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1F72-8CA4-CED4-FD4A-DD521547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6DC39-CCF9-A1E6-BEBC-529AB107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173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A698-BCBD-0DAA-E074-0A442C651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8796D-E4C8-7B7C-FA31-27BFEDF5A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44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90BF-875E-FA39-272E-2AE2D5A8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2CB46-6879-7CCC-147F-5A308E377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81F67-9AB4-8C0B-CA0F-BC25B1248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575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06E9A-40DF-5A67-BBB6-CD908306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981A6-35D2-4300-F76A-BBF4F51BE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AB6A4-CEE2-C69A-EDD0-B7B561C8F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AE8016-E28E-BFD1-64D0-060B594D1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46A23-131E-1B90-1152-C3FBD101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794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6EEA-7783-A5D8-0480-9FC2959E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185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74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4326-5923-4F48-4386-1D97263E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EE36E-AA5F-C8A6-3015-57EB333A3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9B9F9-FF8B-B68F-FF3D-90F7A5D20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E07C2-9214-5669-8C6B-9A5BD0CF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8BFD-B53D-A81B-F2B4-E96921020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E2C68-1A6B-2173-67F6-2959A3395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6536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746F-1CE9-036A-3A75-B05FD0B7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ECE7B-B7A2-9D27-9937-D2C3EF879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03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9384EC-4113-49D1-C4C4-617D20CF2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CA8AF-CA57-E579-B87B-324ED78E9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6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CF87AD-0934-348B-109C-2BA0E01DE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57A922-972D-3864-D1BB-E3C1AF47C2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5443A532-55FC-5BCC-59C5-E19146CADD9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5701E7C7-BA6E-E91F-5775-A95087B03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microsoft.com/office/2018/10/relationships/comments" Target="../comments/modernComment_12B_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F6CBC6E5-0FAC-0643-92EF-F877FDCA9E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41148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Group #3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Rishabh S. Patel, Kyle </a:t>
            </a:r>
            <a:r>
              <a:rPr lang="en-US" altLang="en-US" sz="2800" dirty="0" err="1"/>
              <a:t>Hankosky</a:t>
            </a:r>
            <a:r>
              <a:rPr lang="en-US" altLang="en-US" sz="2800" dirty="0"/>
              <a:t>, Khoa Nguyen, Alexis Guillen, Miguel Piza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I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02/03/26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3A5CC6F-9CD2-8B56-AA1A-D6AE775478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 dirty="0"/>
            </a:br>
            <a:r>
              <a:rPr lang="en-US" altLang="en-US" sz="4000" b="1" dirty="0"/>
              <a:t>	</a:t>
            </a:r>
            <a:br>
              <a:rPr lang="en-US" altLang="en-US" sz="4000" b="1" dirty="0"/>
            </a:br>
            <a:br>
              <a:rPr lang="en-US" altLang="en-US" sz="4000" b="1" dirty="0"/>
            </a:br>
            <a:r>
              <a:rPr lang="en-US" altLang="en-US" sz="4000" b="1" dirty="0"/>
              <a:t>Process Control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E344CD2E-FE36-C262-A115-3F6CB4D38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47FDA131-1A35-8435-AEF2-5CDBD0434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5DA596F-A8DF-D8D3-22F5-4CA0153AE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0078"/>
            <a:ext cx="8229600" cy="1600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buFontTx/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use of the Armfield level-control unit to understand and evaluate how manual control &amp; PID control maintain a desired liquid level under setpoint changes and flow disturbances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DAB5B-5C2E-4892-9855-2B4797A027E6}"/>
              </a:ext>
            </a:extLst>
          </p:cNvPr>
          <p:cNvSpPr txBox="1"/>
          <p:nvPr/>
        </p:nvSpPr>
        <p:spPr>
          <a:xfrm>
            <a:off x="191826" y="3425368"/>
            <a:ext cx="2971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Hardware &amp; instrumentation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Armfield PCT50 water level process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measurement via pressure sensor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Disturbance/flow elements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20122-8358-1FD5-A238-C94F14FE8E55}"/>
              </a:ext>
            </a:extLst>
          </p:cNvPr>
          <p:cNvSpPr txBox="1"/>
          <p:nvPr/>
        </p:nvSpPr>
        <p:spPr>
          <a:xfrm>
            <a:off x="3039765" y="3425368"/>
            <a:ext cx="32221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modes &amp; controller structure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Open-loop/manual control by directly adjusting pump speed to match outflow and hold level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Closed-loop feedback control using a single PID loop </a:t>
            </a: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being measured var. &amp; pump speed being manipulated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FA6DE-FA2C-2418-BB03-A0FD0AB95E8A}"/>
              </a:ext>
            </a:extLst>
          </p:cNvPr>
          <p:cNvSpPr txBox="1"/>
          <p:nvPr/>
        </p:nvSpPr>
        <p:spPr>
          <a:xfrm>
            <a:off x="6259286" y="3425368"/>
            <a:ext cx="2971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method &amp; data analysis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repeatable disturbances and observe dynamic response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 time-series data through the software’s data/acquisition logging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offset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8EBE432F-C003-28CB-F3C0-5E85CAA6A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5170D0-0C68-36A0-28EE-4586115FE9B4}"/>
                  </a:ext>
                </a:extLst>
              </p:cNvPr>
              <p:cNvSpPr txBox="1"/>
              <p:nvPr/>
            </p:nvSpPr>
            <p:spPr>
              <a:xfrm>
                <a:off x="131162" y="1524000"/>
                <a:ext cx="3048000" cy="4471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US" b="1" u="sng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Underlying physical principles, governing equations</a:t>
                </a:r>
              </a:p>
              <a:p>
                <a:pPr/>
                <a:r>
                  <a:rPr lang="en-US" altLang="en-US" u="sng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Conservation of mass:</a:t>
                </a:r>
                <a:br>
                  <a:rPr lang="en-US" altLang="en-US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altLang="en-US" b="0" dirty="0">
                  <a:solidFill>
                    <a:srgbClr val="00234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en-US" u="sng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Gravity-driven draining through valves/orifices: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ad>
                        <m:radPr>
                          <m:degHide m:val="on"/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𝑔h</m:t>
                          </m:r>
                        </m:e>
                      </m:rad>
                    </m:oMath>
                  </m:oMathPara>
                </a14:m>
                <a:endParaRPr lang="en-US" altLang="en-US" dirty="0">
                  <a:solidFill>
                    <a:srgbClr val="00234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r>
                  <a:rPr lang="en-US" altLang="en-US" u="sng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Feedback control </a:t>
                </a:r>
                <a:r>
                  <a:rPr lang="en-US" altLang="en-US" u="sng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pump speed is adjusted to regulate level:</a:t>
                </a:r>
                <a:br>
                  <a:rPr lang="en-US" altLang="en-US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𝑢</m:t>
                      </m:r>
                      <m:d>
                        <m:d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e>
                      </m:d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𝐾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𝑐</m:t>
                          </m:r>
                        </m:sub>
                      </m:sSub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𝑒</m:t>
                      </m:r>
                      <m:d>
                        <m:d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e>
                      </m:d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sSub>
                        <m:sSub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𝐾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en-US" b="0" i="1" smtClean="0">
                                  <a:solidFill>
                                    <a:srgbClr val="00234C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en-US" b="0" i="1" smtClean="0">
                                  <a:solidFill>
                                    <a:srgbClr val="00234C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en-US" b="0" dirty="0">
                  <a:solidFill>
                    <a:srgbClr val="00234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00234C"/>
                              </a:solidFill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b="0" i="1" smtClean="0">
                          <a:solidFill>
                            <a:srgbClr val="00234C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altLang="en-US" dirty="0">
                  <a:solidFill>
                    <a:srgbClr val="00234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5170D0-0C68-36A0-28EE-4586115FE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62" y="1524000"/>
                <a:ext cx="3048000" cy="4471609"/>
              </a:xfrm>
              <a:prstGeom prst="rect">
                <a:avLst/>
              </a:prstGeom>
              <a:blipFill>
                <a:blip r:embed="rId2"/>
                <a:stretch>
                  <a:fillRect l="-1800" t="-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AF44D6-B257-5D0A-0F97-B0F9CDEB344B}"/>
                  </a:ext>
                </a:extLst>
              </p:cNvPr>
              <p:cNvSpPr txBox="1"/>
              <p:nvPr/>
            </p:nvSpPr>
            <p:spPr>
              <a:xfrm>
                <a:off x="3179162" y="1524000"/>
                <a:ext cx="2535838" cy="4585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US" b="1" u="sng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Assumptions/limitations:</a:t>
                </a:r>
              </a:p>
              <a:p>
                <a:pPr marL="285750" indent="-28575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 is incompressible and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solidFill>
                          <a:srgbClr val="00234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altLang="en-US" sz="1600" b="0" i="1" smtClean="0">
                        <a:solidFill>
                          <a:srgbClr val="00234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~constant</a:t>
                </a:r>
              </a:p>
              <a:p>
                <a:pPr marL="285750" indent="-28575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Tank geometry treated as a constant area A over operating range</a:t>
                </a:r>
              </a:p>
              <a:p>
                <a:pPr marL="285750" indent="-28575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Orifice/valve behavior approximated with a constant discharge coefficient,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16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altLang="en-US" sz="1600" dirty="0">
                  <a:solidFill>
                    <a:srgbClr val="00234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 flow is assumed to correlate reliably with pump speed</a:t>
                </a:r>
              </a:p>
              <a:p>
                <a:pPr marL="285750" indent="-28575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Measurement/actuation limits </a:t>
                </a:r>
                <a:r>
                  <a:rPr lang="en-US" altLang="en-US" sz="1600" dirty="0">
                    <a:solidFill>
                      <a:srgbClr val="00234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sensor noise, finite resolution and delays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AF44D6-B257-5D0A-0F97-B0F9CDEB3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162" y="1524000"/>
                <a:ext cx="2535838" cy="4585871"/>
              </a:xfrm>
              <a:prstGeom prst="rect">
                <a:avLst/>
              </a:prstGeom>
              <a:blipFill>
                <a:blip r:embed="rId3"/>
                <a:stretch>
                  <a:fillRect l="-2163" t="-665" r="-2644" b="-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6ED62B0-9DC9-4D93-DAE2-1B6CF2F3682B}"/>
              </a:ext>
            </a:extLst>
          </p:cNvPr>
          <p:cNvSpPr txBox="1"/>
          <p:nvPr/>
        </p:nvSpPr>
        <p:spPr>
          <a:xfrm>
            <a:off x="5964838" y="1537252"/>
            <a:ext cx="30480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u="sng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altLang="en-US" sz="1600" u="sng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</a:t>
            </a:r>
            <a:r>
              <a:rPr lang="en-US" altLang="en-US" sz="1600" u="sng" dirty="0" err="1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600" dirty="0" err="1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manually</a:t>
            </a:r>
            <a:r>
              <a:rPr lang="en-US" altLang="en-US" sz="1600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change pump speed and observe level rise/fall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altLang="en-US" sz="1600" u="sng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Experiment </a:t>
            </a:r>
            <a:r>
              <a:rPr lang="en-US" altLang="en-US" sz="1600" u="sng" dirty="0" err="1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en-US" altLang="en-US" sz="1600" dirty="0" err="1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set</a:t>
            </a:r>
            <a:r>
              <a:rPr lang="en-US" altLang="en-US" sz="1600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I=0, vary proportional band and measure steady-state offset after disturbances/setpoint changes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altLang="en-US" sz="1600" u="sng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Experiment </a:t>
            </a:r>
            <a:r>
              <a:rPr lang="en-US" altLang="en-US" sz="1600" u="sng" dirty="0" err="1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US" altLang="en-US" sz="1600" dirty="0" err="1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keep</a:t>
            </a:r>
            <a:r>
              <a:rPr lang="en-US" altLang="en-US" sz="1600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 fixed, vary integral time and observe offset reduction vs. onset of instability/windup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00234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altLang="en-US" sz="1600" u="sng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Data link</a:t>
            </a:r>
            <a:r>
              <a:rPr lang="en-US" altLang="en-US" sz="1600" dirty="0">
                <a:solidFill>
                  <a:srgbClr val="00234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software logs level vs. time, letting you compare response speed, stability and offset.</a:t>
            </a:r>
            <a:endParaRPr lang="en-US" altLang="en-US" sz="1600" dirty="0">
              <a:solidFill>
                <a:srgbClr val="002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E332C7D1-8569-914F-3C46-530E6AE0A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167"/>
            <a:ext cx="9144000" cy="1417638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Apparatus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82CFFA-E71B-4C31-6FD5-AAE29483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188115"/>
              </p:ext>
            </p:extLst>
          </p:nvPr>
        </p:nvGraphicFramePr>
        <p:xfrm>
          <a:off x="0" y="1424167"/>
          <a:ext cx="9144000" cy="4973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21500455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4198272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3795347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706685431"/>
                    </a:ext>
                  </a:extLst>
                </a:gridCol>
              </a:tblGrid>
              <a:tr h="1574800">
                <a:tc>
                  <a:txBody>
                    <a:bodyPr/>
                    <a:lstStyle/>
                    <a:p>
                      <a:r>
                        <a:rPr lang="en-US" dirty="0"/>
                        <a:t>picture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4113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Armfield PCT 50 level Control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Drain Valve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Solenoid valve (left)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 valve (right)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Something (middle)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817190"/>
                  </a:ext>
                </a:extLst>
              </a:tr>
              <a:tr h="1676400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4215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Pressure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072460"/>
                  </a:ext>
                </a:extLst>
              </a:tr>
            </a:tbl>
          </a:graphicData>
        </a:graphic>
      </p:graphicFrame>
      <p:pic>
        <p:nvPicPr>
          <p:cNvPr id="4" name="drawing">
            <a:extLst>
              <a:ext uri="{FF2B5EF4-FFF2-40B4-BE49-F238E27FC236}">
                <a16:creationId xmlns:a16="http://schemas.microsoft.com/office/drawing/2014/main" id="{C23191D6-188A-4C27-E2DB-0356A9EE8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472861"/>
            <a:ext cx="1887181" cy="1528763"/>
          </a:xfrm>
          <a:prstGeom prst="rect">
            <a:avLst/>
          </a:prstGeom>
        </p:spPr>
      </p:pic>
      <p:pic>
        <p:nvPicPr>
          <p:cNvPr id="5" name="drawing">
            <a:extLst>
              <a:ext uri="{FF2B5EF4-FFF2-40B4-BE49-F238E27FC236}">
                <a16:creationId xmlns:a16="http://schemas.microsoft.com/office/drawing/2014/main" id="{1670D3FF-4734-38F3-21A4-CAE8CD03C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1" y="1444805"/>
            <a:ext cx="1219200" cy="1589877"/>
          </a:xfrm>
          <a:prstGeom prst="rect">
            <a:avLst/>
          </a:prstGeom>
        </p:spPr>
      </p:pic>
      <p:pic>
        <p:nvPicPr>
          <p:cNvPr id="6" name="drawing">
            <a:extLst>
              <a:ext uri="{FF2B5EF4-FFF2-40B4-BE49-F238E27FC236}">
                <a16:creationId xmlns:a16="http://schemas.microsoft.com/office/drawing/2014/main" id="{CB610EA1-611E-5A95-2F55-6039D7C85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5201" y="1757659"/>
            <a:ext cx="514350" cy="1228725"/>
          </a:xfrm>
          <a:prstGeom prst="rect">
            <a:avLst/>
          </a:prstGeom>
        </p:spPr>
      </p:pic>
      <p:pic>
        <p:nvPicPr>
          <p:cNvPr id="7" name="drawing">
            <a:extLst>
              <a:ext uri="{FF2B5EF4-FFF2-40B4-BE49-F238E27FC236}">
                <a16:creationId xmlns:a16="http://schemas.microsoft.com/office/drawing/2014/main" id="{C8F3F795-F57B-BCA4-5FD8-32A2F38A1B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8675" y="1448649"/>
            <a:ext cx="1752600" cy="1548809"/>
          </a:xfrm>
          <a:prstGeom prst="rect">
            <a:avLst/>
          </a:prstGeom>
        </p:spPr>
      </p:pic>
      <p:pic>
        <p:nvPicPr>
          <p:cNvPr id="8" name="drawing">
            <a:extLst>
              <a:ext uri="{FF2B5EF4-FFF2-40B4-BE49-F238E27FC236}">
                <a16:creationId xmlns:a16="http://schemas.microsoft.com/office/drawing/2014/main" id="{6334CEB2-468E-23A4-1965-5232CB0D0C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0399" y="1462895"/>
            <a:ext cx="1841155" cy="1512887"/>
          </a:xfrm>
          <a:prstGeom prst="rect">
            <a:avLst/>
          </a:prstGeom>
        </p:spPr>
      </p:pic>
      <p:pic>
        <p:nvPicPr>
          <p:cNvPr id="9" name="drawing">
            <a:extLst>
              <a:ext uri="{FF2B5EF4-FFF2-40B4-BE49-F238E27FC236}">
                <a16:creationId xmlns:a16="http://schemas.microsoft.com/office/drawing/2014/main" id="{C54C297D-9C7E-6CBD-C346-F651B5D341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11" y="3823319"/>
            <a:ext cx="1255908" cy="2051316"/>
          </a:xfrm>
          <a:prstGeom prst="rect">
            <a:avLst/>
          </a:prstGeom>
        </p:spPr>
      </p:pic>
      <p:pic>
        <p:nvPicPr>
          <p:cNvPr id="10" name="drawing">
            <a:extLst>
              <a:ext uri="{FF2B5EF4-FFF2-40B4-BE49-F238E27FC236}">
                <a16:creationId xmlns:a16="http://schemas.microsoft.com/office/drawing/2014/main" id="{647D460F-F45F-4DF3-8609-61277A7AF3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1692" y="3823319"/>
            <a:ext cx="1255908" cy="206384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4866E19C-E092-641C-D3B8-5AEF4E423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E6748D-CCA9-5C09-5360-B4042FFA2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66256"/>
              </p:ext>
            </p:extLst>
          </p:nvPr>
        </p:nvGraphicFramePr>
        <p:xfrm>
          <a:off x="0" y="1397000"/>
          <a:ext cx="9144000" cy="49275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21500455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4198272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3795347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706685431"/>
                    </a:ext>
                  </a:extLst>
                </a:gridCol>
              </a:tblGrid>
              <a:tr h="1553079">
                <a:tc>
                  <a:txBody>
                    <a:bodyPr/>
                    <a:lstStyle/>
                    <a:p>
                      <a:r>
                        <a:rPr lang="en-US" dirty="0"/>
                        <a:t>picture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41131"/>
                  </a:ext>
                </a:extLst>
              </a:tr>
              <a:tr h="1124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817190"/>
                  </a:ext>
                </a:extLst>
              </a:tr>
              <a:tr h="1124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42155"/>
                  </a:ext>
                </a:extLst>
              </a:tr>
              <a:tr h="1124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Goggles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07246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44A2134-B91C-0F18-5D05-736A6F3EE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" y="1460288"/>
            <a:ext cx="1115665" cy="13354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AFF0A-D5A7-8706-E880-A1DBE6F5F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188" y="1417638"/>
            <a:ext cx="1813560" cy="1517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8A5F1D-0566-017F-D20F-C36FC0255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430" y="1447036"/>
            <a:ext cx="1186969" cy="1517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BF1C11-D475-8E64-5A3C-CFF5776C4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1417638"/>
            <a:ext cx="1369285" cy="1584960"/>
          </a:xfrm>
          <a:prstGeom prst="rect">
            <a:avLst/>
          </a:prstGeom>
        </p:spPr>
      </p:pic>
      <p:pic>
        <p:nvPicPr>
          <p:cNvPr id="8" name="drawing">
            <a:extLst>
              <a:ext uri="{FF2B5EF4-FFF2-40B4-BE49-F238E27FC236}">
                <a16:creationId xmlns:a16="http://schemas.microsoft.com/office/drawing/2014/main" id="{468AD856-FE62-9942-899D-C6A02EE350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062254"/>
            <a:ext cx="1634506" cy="981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DA903EA5-963A-8782-3649-DF4BD1D6E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1604F3-BFE8-7085-CD10-DEB40BBD7FD7}"/>
              </a:ext>
            </a:extLst>
          </p:cNvPr>
          <p:cNvSpPr txBox="1"/>
          <p:nvPr/>
        </p:nvSpPr>
        <p:spPr>
          <a:xfrm>
            <a:off x="152400" y="1676400"/>
            <a:ext cx="2971800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b="1" u="sng" dirty="0">
                <a:solidFill>
                  <a:srgbClr val="00234C"/>
                </a:solidFill>
                <a:latin typeface="Arial"/>
                <a:cs typeface="Arial"/>
              </a:rPr>
              <a:t>Setup</a:t>
            </a:r>
          </a:p>
          <a:p>
            <a:pPr marL="342900" indent="-342900">
              <a:buClr>
                <a:srgbClr val="C00000"/>
              </a:buClr>
              <a:buFont typeface="+mj-lt"/>
              <a:buAutoNum type="arabicPeriod"/>
            </a:pPr>
            <a:r>
              <a:rPr lang="en-US" altLang="en-US" sz="1600" dirty="0">
                <a:solidFill>
                  <a:srgbClr val="00234C"/>
                </a:solidFill>
              </a:rPr>
              <a:t>Turn on computer, start PCT50 software (make sure to click experiment 1)</a:t>
            </a:r>
          </a:p>
          <a:p>
            <a:pPr marL="342900" indent="-342900">
              <a:buClr>
                <a:srgbClr val="C00000"/>
              </a:buClr>
              <a:buFont typeface="+mj-lt"/>
              <a:buAutoNum type="arabicPeriod"/>
            </a:pPr>
            <a:r>
              <a:rPr lang="en-US" altLang="en-US" sz="1600" dirty="0">
                <a:solidFill>
                  <a:srgbClr val="00234C"/>
                </a:solidFill>
              </a:rPr>
              <a:t>Fill sump tank with deionized water, then fully open CV2</a:t>
            </a:r>
          </a:p>
          <a:p>
            <a:pPr marL="342900" indent="-342900">
              <a:buClr>
                <a:srgbClr val="C00000"/>
              </a:buClr>
              <a:buFont typeface="+mj-lt"/>
              <a:buAutoNum type="arabicPeriod"/>
            </a:pPr>
            <a:r>
              <a:rPr lang="en-US" altLang="en-US" sz="1600" dirty="0">
                <a:solidFill>
                  <a:srgbClr val="00234C"/>
                </a:solidFill>
              </a:rPr>
              <a:t>Adjust for CV1 </a:t>
            </a:r>
            <a:r>
              <a:rPr lang="en-US" altLang="en-US" sz="1600" dirty="0">
                <a:solidFill>
                  <a:srgbClr val="00234C"/>
                </a:solidFill>
                <a:sym typeface="Wingdings" panose="05000000000000000000" pitchFamily="2" charset="2"/>
              </a:rPr>
              <a:t> pump speed to 50%adjust until level remains steady</a:t>
            </a:r>
            <a:endParaRPr lang="en-US" altLang="en-US" sz="1600" dirty="0">
              <a:solidFill>
                <a:srgbClr val="00234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FC908-60DE-E912-3C62-9A931D47A321}"/>
              </a:ext>
            </a:extLst>
          </p:cNvPr>
          <p:cNvSpPr txBox="1"/>
          <p:nvPr/>
        </p:nvSpPr>
        <p:spPr>
          <a:xfrm>
            <a:off x="3238500" y="1676400"/>
            <a:ext cx="2438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u="sng" dirty="0">
                <a:solidFill>
                  <a:srgbClr val="00234C"/>
                </a:solidFill>
              </a:rPr>
              <a:t>Initial Level Control:</a:t>
            </a:r>
          </a:p>
          <a:p>
            <a:pPr marL="342900" indent="-342900">
              <a:buClr>
                <a:srgbClr val="C00000"/>
              </a:buClr>
              <a:buFont typeface="+mj-lt"/>
              <a:buAutoNum type="arabicPeriod"/>
            </a:pPr>
            <a:r>
              <a:rPr lang="en-US" altLang="en-US" sz="1600" dirty="0">
                <a:solidFill>
                  <a:srgbClr val="00234C"/>
                </a:solidFill>
              </a:rPr>
              <a:t>Empty process vessel, increase pump speed</a:t>
            </a:r>
          </a:p>
          <a:p>
            <a:pPr marL="342900" indent="-342900">
              <a:buClr>
                <a:srgbClr val="C00000"/>
              </a:buClr>
              <a:buFont typeface="+mj-lt"/>
              <a:buAutoNum type="arabicPeriod"/>
            </a:pPr>
            <a:r>
              <a:rPr lang="en-US" altLang="en-US" sz="1600" dirty="0">
                <a:solidFill>
                  <a:srgbClr val="00234C"/>
                </a:solidFill>
              </a:rPr>
              <a:t>Observe that level remains constant, record pump speed and press “GO” icon</a:t>
            </a:r>
          </a:p>
          <a:p>
            <a:pPr marL="342900" indent="-342900">
              <a:buClr>
                <a:srgbClr val="C00000"/>
              </a:buClr>
              <a:buFont typeface="+mj-lt"/>
              <a:buAutoNum type="arabicPeriod"/>
            </a:pPr>
            <a:r>
              <a:rPr lang="en-US" altLang="en-US" sz="1600" dirty="0">
                <a:solidFill>
                  <a:srgbClr val="00234C"/>
                </a:solidFill>
              </a:rPr>
              <a:t>Record data for ~5 mins and proceed to next step</a:t>
            </a:r>
          </a:p>
          <a:p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D9E4E-A64C-AF8B-6DA9-A0234F2BADB7}"/>
              </a:ext>
            </a:extLst>
          </p:cNvPr>
          <p:cNvSpPr txBox="1"/>
          <p:nvPr/>
        </p:nvSpPr>
        <p:spPr>
          <a:xfrm>
            <a:off x="5791200" y="1690977"/>
            <a:ext cx="31242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u="sng" dirty="0">
                <a:solidFill>
                  <a:srgbClr val="00234C"/>
                </a:solidFill>
              </a:rPr>
              <a:t>Disturbances</a:t>
            </a:r>
            <a:r>
              <a:rPr lang="en-US" altLang="en-US" b="1" dirty="0">
                <a:solidFill>
                  <a:srgbClr val="00234C"/>
                </a:solidFill>
              </a:rPr>
              <a:t>:</a:t>
            </a:r>
          </a:p>
          <a:p>
            <a:r>
              <a:rPr lang="en-US" altLang="en-US" sz="1600" dirty="0">
                <a:solidFill>
                  <a:srgbClr val="00234C"/>
                </a:solidFill>
              </a:rPr>
              <a:t>Using same pump speed and level values, open solenoid valve</a:t>
            </a:r>
          </a:p>
          <a:p>
            <a:r>
              <a:rPr lang="en-US" altLang="en-US" sz="1600" dirty="0">
                <a:solidFill>
                  <a:srgbClr val="00234C"/>
                </a:solidFill>
              </a:rPr>
              <a:t>Wait for level to drop to ~20mm and note pump speed</a:t>
            </a:r>
          </a:p>
          <a:p>
            <a:r>
              <a:rPr lang="en-US" altLang="en-US" sz="1600" dirty="0">
                <a:solidFill>
                  <a:srgbClr val="00234C"/>
                </a:solidFill>
              </a:rPr>
              <a:t>Increase pump speed so level reaches original reading</a:t>
            </a:r>
          </a:p>
          <a:p>
            <a:r>
              <a:rPr lang="en-US" altLang="en-US" sz="1600" dirty="0">
                <a:solidFill>
                  <a:srgbClr val="00234C"/>
                </a:solidFill>
              </a:rPr>
              <a:t>Close </a:t>
            </a:r>
            <a:r>
              <a:rPr lang="en-US" altLang="en-US" sz="1600" dirty="0" err="1">
                <a:solidFill>
                  <a:srgbClr val="00234C"/>
                </a:solidFill>
              </a:rPr>
              <a:t>valve</a:t>
            </a:r>
            <a:r>
              <a:rPr lang="en-US" altLang="en-US" sz="1600" dirty="0" err="1">
                <a:solidFill>
                  <a:srgbClr val="00234C"/>
                </a:solidFill>
                <a:sym typeface="Wingdings" panose="05000000000000000000" pitchFamily="2" charset="2"/>
              </a:rPr>
              <a:t>after</a:t>
            </a:r>
            <a:r>
              <a:rPr lang="en-US" altLang="en-US" sz="1600" dirty="0">
                <a:solidFill>
                  <a:srgbClr val="00234C"/>
                </a:solidFill>
                <a:sym typeface="Wingdings" panose="05000000000000000000" pitchFamily="2" charset="2"/>
              </a:rPr>
              <a:t> level rises by 20mm, record pump </a:t>
            </a:r>
            <a:r>
              <a:rPr lang="en-US" altLang="en-US" sz="1600" dirty="0" err="1">
                <a:solidFill>
                  <a:srgbClr val="00234C"/>
                </a:solidFill>
                <a:sym typeface="Wingdings" panose="05000000000000000000" pitchFamily="2" charset="2"/>
              </a:rPr>
              <a:t>speedreduce</a:t>
            </a:r>
            <a:r>
              <a:rPr lang="en-US" altLang="en-US" sz="1600" dirty="0">
                <a:solidFill>
                  <a:srgbClr val="00234C"/>
                </a:solidFill>
                <a:sym typeface="Wingdings" panose="05000000000000000000" pitchFamily="2" charset="2"/>
              </a:rPr>
              <a:t> speed to reach original </a:t>
            </a:r>
            <a:r>
              <a:rPr lang="en-US" altLang="en-US" sz="1600" dirty="0" err="1">
                <a:solidFill>
                  <a:srgbClr val="00234C"/>
                </a:solidFill>
                <a:sym typeface="Wingdings" panose="05000000000000000000" pitchFamily="2" charset="2"/>
              </a:rPr>
              <a:t>levelafter</a:t>
            </a:r>
            <a:r>
              <a:rPr lang="en-US" altLang="en-US" sz="1600" dirty="0">
                <a:solidFill>
                  <a:srgbClr val="00234C"/>
                </a:solidFill>
                <a:sym typeface="Wingdings" panose="05000000000000000000" pitchFamily="2" charset="2"/>
              </a:rPr>
              <a:t> several minutes turn off pump and let drain</a:t>
            </a:r>
            <a:endParaRPr lang="en-US" altLang="en-US" sz="1600" dirty="0">
              <a:solidFill>
                <a:srgbClr val="00234C"/>
              </a:solidFill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A4E4-77BE-8392-D547-0F5DC43C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F0894-F596-9C43-E78C-BA8D607A6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006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Experiment 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Open PID menu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Set P value to 200%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Set integral time to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Change derivative time to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Set setpoint to 75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Ensure controller is in automatic control and hit GO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Once steady behavior is observed open solenoid valve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Wait for steady behavior then close solenoid valve and set the setpoint to 100.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Wait until steady and set the setpoint to 75 and observe the changes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Repeat steps 2-5 for P values of 100%,50%,20%,10%,5%,2% .</a:t>
            </a:r>
          </a:p>
        </p:txBody>
      </p:sp>
    </p:spTree>
    <p:extLst>
      <p:ext uri="{BB962C8B-B14F-4D97-AF65-F5344CB8AC3E}">
        <p14:creationId xmlns:p14="http://schemas.microsoft.com/office/powerpoint/2010/main" val="615905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14C3-20CC-06F5-4F06-46F9B8C0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A3CD6-88C0-0411-53C0-DB9FAF238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Experiment 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Open PID menu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Set P value to value selected from exp 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Set integral time to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Change derivative time to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Set setpoint to 75</a:t>
            </a:r>
          </a:p>
          <a:p>
            <a:pPr marL="514350" indent="-457200">
              <a:buFont typeface="+mj-lt"/>
              <a:buAutoNum type="arabicPeriod"/>
            </a:pPr>
            <a:r>
              <a:rPr lang="en-US" sz="1600" b="1" dirty="0"/>
              <a:t>Choose automatic mode and hit GO</a:t>
            </a:r>
          </a:p>
          <a:p>
            <a:pPr marL="514350" indent="-457200">
              <a:buFont typeface="+mj-lt"/>
              <a:buAutoNum type="arabicPeriod"/>
            </a:pPr>
            <a:r>
              <a:rPr lang="en-US" sz="1600" b="1" dirty="0"/>
              <a:t>Once steady behavior is observed set I value to 100 and observe the changes</a:t>
            </a:r>
          </a:p>
          <a:p>
            <a:pPr marL="514350" indent="-457200">
              <a:buFont typeface="+mj-lt"/>
              <a:buAutoNum type="arabicPeriod"/>
            </a:pPr>
            <a:r>
              <a:rPr lang="en-US" sz="1600" b="1" dirty="0"/>
              <a:t>Open the solenoid valve and wait for new steady behavior is reached and observe the changes. After a few minutes close the solenoid valve and allow level to settle.</a:t>
            </a:r>
          </a:p>
          <a:p>
            <a:pPr marL="514350" indent="-457200">
              <a:buFont typeface="+mj-lt"/>
              <a:buAutoNum type="arabicPeriod"/>
            </a:pPr>
            <a:r>
              <a:rPr lang="en-US" sz="1600" b="1" dirty="0"/>
              <a:t>Adjust the setpoint to 100 and wait until a stable level is reached and then set the set point back to 75. </a:t>
            </a:r>
          </a:p>
          <a:p>
            <a:pPr marL="514350" indent="-457200">
              <a:buFont typeface="+mj-lt"/>
              <a:buAutoNum type="arabicPeriod"/>
            </a:pPr>
            <a:r>
              <a:rPr lang="en-US" sz="1600" b="1" dirty="0"/>
              <a:t>Repeat steps 2-5 for I values starting at 50s and decreasing until the level becomes unstable</a:t>
            </a:r>
          </a:p>
          <a:p>
            <a:pPr marL="514350" indent="-457200">
              <a:buFont typeface="+mj-lt"/>
              <a:buAutoNum type="arabicPeriod"/>
            </a:pPr>
            <a:r>
              <a:rPr lang="en-US" sz="1600" b="1" dirty="0"/>
              <a:t>Ensure STOP is hit after each trial and data is saved.</a:t>
            </a:r>
          </a:p>
          <a:p>
            <a:pPr marL="514350" indent="-457200">
              <a:buFont typeface="+mj-lt"/>
              <a:buAutoNum type="arabicPeriod"/>
            </a:pPr>
            <a:endParaRPr lang="en-US" sz="2200" b="1" dirty="0"/>
          </a:p>
          <a:p>
            <a:pPr marL="0" indent="0">
              <a:buNone/>
            </a:pPr>
            <a:endParaRPr lang="en-US" u="sng" dirty="0"/>
          </a:p>
          <a:p>
            <a:pPr marL="514350" indent="-514350">
              <a:buFont typeface="+mj-lt"/>
              <a:buAutoNum type="arabicPeriod"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207479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5C9AEEB7-3514-B85B-4D7F-B4CC30157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EB81B9C8-A140-6B5F-A8AF-06C409D51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u="sng" dirty="0"/>
              <a:t>Difficulties:</a:t>
            </a:r>
          </a:p>
          <a:p>
            <a:pPr lvl="1"/>
            <a:r>
              <a:rPr lang="en-US" altLang="en-US" sz="2400" dirty="0"/>
              <a:t>System struggles to maintain control at high proportional bands</a:t>
            </a:r>
          </a:p>
          <a:p>
            <a:pPr lvl="1"/>
            <a:r>
              <a:rPr lang="en-US" altLang="en-US" sz="2400" dirty="0"/>
              <a:t>System can take a while to reach steady state</a:t>
            </a:r>
          </a:p>
          <a:p>
            <a:pPr marL="0" indent="0">
              <a:buNone/>
            </a:pPr>
            <a:r>
              <a:rPr lang="en-US" altLang="en-US" sz="2800" b="1" u="sng" dirty="0"/>
              <a:t>Lessons Learned:</a:t>
            </a:r>
          </a:p>
          <a:p>
            <a:pPr lvl="1"/>
            <a:r>
              <a:rPr lang="en-US" altLang="en-US" sz="2400" dirty="0"/>
              <a:t>Always stay in experiment 1 on the UPC software</a:t>
            </a:r>
          </a:p>
          <a:p>
            <a:pPr lvl="1"/>
            <a:r>
              <a:rPr lang="en-US" altLang="en-US" sz="2400" dirty="0"/>
              <a:t>Ensure GO is pressed before each run</a:t>
            </a:r>
          </a:p>
          <a:p>
            <a:pPr lvl="1"/>
            <a:r>
              <a:rPr lang="en-US" altLang="en-US" sz="2400" dirty="0"/>
              <a:t>Ensure the appropriate band values and integral values are set before collecting data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797D2FB6-D90B-C7AD-A287-9040B8D32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CA8EC5DA-0E6A-312B-991A-16FE9796A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u="sng" dirty="0"/>
              <a:t>Pressure hazards:</a:t>
            </a:r>
          </a:p>
          <a:p>
            <a:pPr lvl="1"/>
            <a:r>
              <a:rPr lang="en-US" altLang="en-US" dirty="0"/>
              <a:t>Pump</a:t>
            </a:r>
          </a:p>
          <a:p>
            <a:pPr lvl="2"/>
            <a:r>
              <a:rPr lang="en-US" altLang="en-US" dirty="0"/>
              <a:t>DO NOT run the pump dry</a:t>
            </a:r>
          </a:p>
          <a:p>
            <a:pPr marL="0" indent="0">
              <a:buNone/>
            </a:pPr>
            <a:r>
              <a:rPr lang="en-US" altLang="en-US" b="1" u="sng" dirty="0"/>
              <a:t>Mechanical hazards:</a:t>
            </a:r>
          </a:p>
          <a:p>
            <a:pPr lvl="1"/>
            <a:r>
              <a:rPr lang="en-US" altLang="en-US" dirty="0"/>
              <a:t>	Water </a:t>
            </a:r>
          </a:p>
          <a:p>
            <a:pPr lvl="2"/>
            <a:r>
              <a:rPr lang="en-US" altLang="en-US" dirty="0"/>
              <a:t>Potential slipping if system tank overflows</a:t>
            </a:r>
          </a:p>
          <a:p>
            <a:pPr lvl="2"/>
            <a:r>
              <a:rPr lang="en-US" altLang="en-US" dirty="0"/>
              <a:t>Avoid ingestion of DI water</a:t>
            </a:r>
          </a:p>
          <a:p>
            <a:pPr marL="0" indent="0">
              <a:buNone/>
            </a:pPr>
            <a:r>
              <a:rPr lang="en-US" altLang="en-US" b="1" dirty="0"/>
              <a:t>Electrical hazards</a:t>
            </a:r>
          </a:p>
          <a:p>
            <a:pPr lvl="1"/>
            <a:r>
              <a:rPr lang="en-US" altLang="en-US" dirty="0"/>
              <a:t>Water near electronics presents shock hazard if the tank is overfilled.</a:t>
            </a:r>
          </a:p>
          <a:p>
            <a:pPr marL="914400" lvl="2" indent="0">
              <a:buNone/>
            </a:pPr>
            <a:r>
              <a:rPr lang="en-US" altLang="en-US" dirty="0"/>
              <a:t>	</a:t>
            </a:r>
          </a:p>
          <a:p>
            <a:pPr marL="914400" lvl="2" indent="0">
              <a:buNone/>
            </a:pPr>
            <a:endParaRPr lang="en-US" altLang="en-US" dirty="0"/>
          </a:p>
          <a:p>
            <a:pPr marL="914400" lvl="2" indent="0">
              <a:buNone/>
            </a:pPr>
            <a:r>
              <a:rPr lang="en-US" altLang="en-US" dirty="0"/>
              <a:t>			`		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4C1CC3E32C5B4788553A114EA95C1F" ma:contentTypeVersion="13" ma:contentTypeDescription="Create a new document." ma:contentTypeScope="" ma:versionID="7981fcdc2c7d6d75d4b91cc087b8d66f">
  <xsd:schema xmlns:xsd="http://www.w3.org/2001/XMLSchema" xmlns:xs="http://www.w3.org/2001/XMLSchema" xmlns:p="http://schemas.microsoft.com/office/2006/metadata/properties" xmlns:ns3="4bcb4ba3-7a78-4871-8884-8c62c0d20077" xmlns:ns4="67299442-5f7c-49a5-a40f-85e76bdcdf04" targetNamespace="http://schemas.microsoft.com/office/2006/metadata/properties" ma:root="true" ma:fieldsID="1cf41dad6937c775b3062185468aa1b5" ns3:_="" ns4:_="">
    <xsd:import namespace="4bcb4ba3-7a78-4871-8884-8c62c0d20077"/>
    <xsd:import namespace="67299442-5f7c-49a5-a40f-85e76bdcdf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cb4ba3-7a78-4871-8884-8c62c0d200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99442-5f7c-49a5-a40f-85e76bdcdf0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cb4ba3-7a78-4871-8884-8c62c0d20077" xsi:nil="true"/>
  </documentManagement>
</p:properties>
</file>

<file path=customXml/itemProps1.xml><?xml version="1.0" encoding="utf-8"?>
<ds:datastoreItem xmlns:ds="http://schemas.openxmlformats.org/officeDocument/2006/customXml" ds:itemID="{9F81BEDD-3192-4957-A617-AD8821B9C0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86957B-C429-4E86-8903-C5AE8693AF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cb4ba3-7a78-4871-8884-8c62c0d20077"/>
    <ds:schemaRef ds:uri="67299442-5f7c-49a5-a40f-85e76bdcdf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DDDB12-170F-479D-9D24-E8FE09F2557B}">
  <ds:schemaRefs>
    <ds:schemaRef ds:uri="4bcb4ba3-7a78-4871-8884-8c62c0d20077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67299442-5f7c-49a5-a40f-85e76bdcdf04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3624</TotalTime>
  <Words>841</Words>
  <Application>Microsoft Office PowerPoint</Application>
  <PresentationFormat>On-screen Show (4:3)</PresentationFormat>
  <Paragraphs>118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Times New Roman</vt:lpstr>
      <vt:lpstr>Wingdings</vt:lpstr>
      <vt:lpstr>Default Design</vt:lpstr>
      <vt:lpstr>    Process Control</vt:lpstr>
      <vt:lpstr>Introduction</vt:lpstr>
      <vt:lpstr>Theory</vt:lpstr>
      <vt:lpstr>Apparatus</vt:lpstr>
      <vt:lpstr>Material &amp; Supplies</vt:lpstr>
      <vt:lpstr>Procedure</vt:lpstr>
      <vt:lpstr>Procedure Cont.</vt:lpstr>
      <vt:lpstr>Procedure Cont.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 </dc:title>
  <dc:creator>Elizabeth Zweigle Yee</dc:creator>
  <cp:lastModifiedBy>Zdunek, Alan</cp:lastModifiedBy>
  <cp:revision>232</cp:revision>
  <dcterms:created xsi:type="dcterms:W3CDTF">2008-04-09T18:55:55Z</dcterms:created>
  <dcterms:modified xsi:type="dcterms:W3CDTF">2026-02-04T17:13:10Z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0x010100444C1CC3E32C5B4788553A114EA95C1F</vt:lpwstr>
  </property>
</Properties>
</file>