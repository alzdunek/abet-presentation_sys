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29_0.xml" ContentType="application/vnd.ms-powerpoint.comments+xml"/>
  <Override PartName="/ppt/comments/modernComment_12A_0.xml" ContentType="application/vnd.ms-powerpoint.comments+xml"/>
  <Override PartName="/ppt/comments/modernComment_12C_0.xml" ContentType="application/vnd.ms-powerpoint.comments+xml"/>
  <Override PartName="/ppt/comments/modernComment_12D_0.xml" ContentType="application/vnd.ms-powerpoint.comments+xml"/>
  <Override PartName="/ppt/comments/modernComment_12F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97" r:id="rId3"/>
    <p:sldId id="298" r:id="rId4"/>
    <p:sldId id="299" r:id="rId5"/>
    <p:sldId id="300" r:id="rId6"/>
    <p:sldId id="301" r:id="rId7"/>
    <p:sldId id="304" r:id="rId8"/>
    <p:sldId id="302" r:id="rId9"/>
    <p:sldId id="303" r:id="rId10"/>
  </p:sldIdLst>
  <p:sldSz cx="9144000" cy="6858000" type="screen4x3"/>
  <p:notesSz cx="6858000" cy="90773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52CCAC-0B66-CA76-A7A3-D551D844506B}" name="Zdunek, Alan" initials="AZ" userId="S::zdunek@uic.edu::5627838d-8155-4d77-aa14-f1ef87cd6a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CC"/>
    <a:srgbClr val="3366FF"/>
    <a:srgbClr val="CC9900"/>
    <a:srgbClr val="996600"/>
    <a:srgbClr val="99CCFF"/>
    <a:srgbClr val="800000"/>
    <a:srgbClr val="FF0000"/>
    <a:srgbClr val="002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6F42CE-6B10-E002-20DE-28061054E085}" v="1" dt="2026-03-17T02:46:49.274"/>
    <p1510:client id="{A68C2AD0-1718-4EEC-A218-B89F9AFF5406}" v="167" dt="2026-03-17T02:51:15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4728" autoAdjust="0"/>
  </p:normalViewPr>
  <p:slideViewPr>
    <p:cSldViewPr>
      <p:cViewPr varScale="1">
        <p:scale>
          <a:sx n="102" d="100"/>
          <a:sy n="102" d="100"/>
        </p:scale>
        <p:origin x="114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modernComment_12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47D91C-9F5A-48E8-AEF0-1E0671FCA7DB}" authorId="{DF52CCAC-0B66-CA76-A7A3-D551D844506B}" created="2026-03-19T14:59:08.58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8"/>
      <ac:spMk id="124930" creationId="{67E4FCE9-2314-433D-636B-1317B9B4EAE0}"/>
    </ac:deMkLst>
    <p188:txBody>
      <a:bodyPr/>
      <a:lstStyle/>
      <a:p>
        <a:r>
          <a:rPr lang="en-US"/>
          <a:t>-2
Mention VLE which is key to distillation</a:t>
        </a:r>
      </a:p>
    </p188:txBody>
  </p188:cm>
</p188:cmLst>
</file>

<file path=ppt/comments/modernComment_12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FD583F5-3FBE-4C8C-BC4C-40EC6685D73D}" authorId="{DF52CCAC-0B66-CA76-A7A3-D551D844506B}" created="2026-03-19T15:00:21.68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0"/>
      <ac:spMk id="126978" creationId="{DA4F8D02-219E-3D4E-BBC0-9BCB72767DA6}"/>
    </ac:deMkLst>
    <p188:txBody>
      <a:bodyPr/>
      <a:lstStyle/>
      <a:p>
        <a:r>
          <a:rPr lang="en-US"/>
          <a:t>-1
Timer for pump calibration, ice for cooling samples</a:t>
        </a:r>
      </a:p>
    </p188:txBody>
  </p188:cm>
</p188:cmLst>
</file>

<file path=ppt/comments/modernComment_12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CAE2639-62B8-4A35-9DEB-6557D3F1232D}" authorId="{DF52CCAC-0B66-CA76-A7A3-D551D844506B}" created="2026-03-19T15:02:12.10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1"/>
      <ac:spMk id="128003" creationId="{C275CFEF-7F1A-E27F-00E2-9739B53B4194}"/>
    </ac:deMkLst>
    <p188:txBody>
      <a:bodyPr/>
      <a:lstStyle/>
      <a:p>
        <a:r>
          <a:rPr lang="en-US"/>
          <a:t>-0.5
For consistency with next slide, add the feed rate here as well.</a:t>
        </a:r>
      </a:p>
    </p188:txBody>
  </p188:cm>
</p188:cmLst>
</file>

<file path=ppt/comments/modernComment_12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ED4838E-D570-4C94-B265-735D59352A8B}" authorId="{DF52CCAC-0B66-CA76-A7A3-D551D844506B}" created="2026-03-19T15:02:47.57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3"/>
      <ac:spMk id="130050" creationId="{585F55EF-42BA-66B3-3938-01CDC4D2BDD5}"/>
    </ac:deMkLst>
    <p188:txBody>
      <a:bodyPr/>
      <a:lstStyle/>
      <a:p>
        <a:r>
          <a:rPr lang="en-US"/>
          <a:t>Good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24D8D10-8D78-45A8-9F0A-1F1691B5AFA8}" authorId="{DF52CCAC-0B66-CA76-A7A3-D551D844506B}" created="2026-03-19T15:03:22.50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2051" creationId="{C995E1C6-8DDF-28DB-FFFB-618075714618}"/>
    </ac:deMkLst>
    <p188:txBody>
      <a:bodyPr/>
      <a:lstStyle/>
      <a:p>
        <a:r>
          <a:rPr lang="en-US"/>
          <a:t>94.5/100</a:t>
        </a:r>
      </a:p>
    </p188:txBody>
  </p188:cm>
</p188:cmLst>
</file>

<file path=ppt/comments/modernComment_12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C220B8-C59D-4809-89E6-33943C6BBF52}" authorId="{DF52CCAC-0B66-CA76-A7A3-D551D844506B}" created="2026-03-19T14:58:10.27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7"/>
      <ac:spMk id="92163" creationId="{9EB48ABC-8FE5-E310-B661-29C366749C98}"/>
    </ac:deMkLst>
    <p188:txBody>
      <a:bodyPr/>
      <a:lstStyle/>
      <a:p>
        <a:r>
          <a:rPr lang="en-US"/>
          <a:t>-2
Use a stronger verb-  Determine tray efficiency based on feed location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A63E2735-A493-3906-5FE5-F64DAA53A30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F1AEC173-4B37-B17C-6D9F-A72E7A15B71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CB6B98AC-25BA-4ADE-F796-4DA6C908B21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7" name="Rectangle 5">
            <a:extLst>
              <a:ext uri="{FF2B5EF4-FFF2-40B4-BE49-F238E27FC236}">
                <a16:creationId xmlns:a16="http://schemas.microsoft.com/office/drawing/2014/main" id="{875686D7-6C09-A664-435B-47C8DFA9E65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4AA2707-65B3-4D1D-BCED-ACAAD9740E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89835950-086F-D8A5-1F3A-0B339DF8995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0DA18692-2815-4EB9-8021-180B35E74B6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6388" name="Rectangle 1028">
            <a:extLst>
              <a:ext uri="{FF2B5EF4-FFF2-40B4-BE49-F238E27FC236}">
                <a16:creationId xmlns:a16="http://schemas.microsoft.com/office/drawing/2014/main" id="{F73DDC38-A63E-507B-9652-9557437EC14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0463" y="681038"/>
            <a:ext cx="4538662" cy="3403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1029">
            <a:extLst>
              <a:ext uri="{FF2B5EF4-FFF2-40B4-BE49-F238E27FC236}">
                <a16:creationId xmlns:a16="http://schemas.microsoft.com/office/drawing/2014/main" id="{9F098CCF-13C1-6517-8C15-DB4C98B2C1B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11650"/>
            <a:ext cx="5486400" cy="408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390" name="Rectangle 1030">
            <a:extLst>
              <a:ext uri="{FF2B5EF4-FFF2-40B4-BE49-F238E27FC236}">
                <a16:creationId xmlns:a16="http://schemas.microsoft.com/office/drawing/2014/main" id="{68BBF3B0-6EC4-58E7-55F9-A9AA8FD5721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91" name="Rectangle 1031">
            <a:extLst>
              <a:ext uri="{FF2B5EF4-FFF2-40B4-BE49-F238E27FC236}">
                <a16:creationId xmlns:a16="http://schemas.microsoft.com/office/drawing/2014/main" id="{FF6A8624-11B3-F164-6AA2-6DD99C7434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DCC189D-D2E2-4565-BE3F-631034193FB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02A3B2DF-D355-76CA-3BE8-1323707547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CA43AC-B5B7-4784-9AF8-1EB7A5EB7A13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180114E1-3781-6669-2016-2C57DCEDBD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3BD35C71-06B1-AE25-E1D1-B2FFFD4917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C7108C25-F2A9-2FA7-A615-E22DE720FD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4C58DD-A677-4267-BE08-9AB45872219E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DFCE9C59-60D6-1737-8779-AAC07936A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7031820B-97B7-A07B-2FBC-BFC9B90A6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0753E5E-E498-9483-C03E-B52A6E41C6F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600450"/>
          </a:xfrm>
        </p:spPr>
        <p:txBody>
          <a:bodyPr/>
          <a:lstStyle>
            <a:lvl1pPr>
              <a:defRPr/>
            </a:lvl1pPr>
          </a:lstStyle>
          <a:p>
            <a:pPr lvl="0"/>
            <a:br>
              <a:rPr lang="en-US" altLang="en-US" noProof="0"/>
            </a:br>
            <a:r>
              <a:rPr lang="en-US" altLang="en-US" noProof="0"/>
              <a:t>Click to edit Master title style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FB73237-C456-D62B-9BA4-FBBE9E81B9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D1C3C7B5-244D-46E9-F612-A8AB3CCF07A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91B93B3D-CBD8-C25F-3C11-BADB48F226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400800"/>
            <a:ext cx="2378075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90AEC-6E9C-4337-A1E1-14B3A777A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E0963-0FE7-E1DE-4B65-9CEB0FC4D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4710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44D38-03C8-5756-321B-A48E82BF5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77367-2E6D-A21F-1BCC-FE5D154CA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8555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05AC-E14A-EA48-3070-967C5094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6FCC9-8A27-BD80-EA5D-658A963B5F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06187C-AD2E-B464-1F88-91FEDC868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1349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E0EA8-E0F3-7EEB-A887-485D35146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78B37-4991-EBF6-CDA6-44250A452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BA2AF-5B27-9184-0795-5B85FFBB3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A44028-D258-2AD6-386F-3C57C7C79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F70DB3-2F4B-5254-4A2C-0BD410518F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204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2E053-EA64-809D-8B09-CD2FA5688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3094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721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0C05-C41B-BB53-6B2C-64E139F7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47B56-B793-C600-4C8B-38D705F9B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14B25E-AD0C-9CD9-1CCC-527E50A19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214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4527-3AFD-752F-86DC-924C5763E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D29819-A39C-1DFC-8CAA-0EB61F021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C6AA7-02DB-5960-ADAF-84BFA7E88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3412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6FFE8-0765-1ED5-FD7C-423E50935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15371E-836D-1362-3403-6DDEEA382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4078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F8A23F-618A-7E80-F7EE-3DEBDC1925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0F5B1-19D7-C2BE-E2F9-522038767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748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3CEA725-841C-780D-3A7A-A93EE8FDC7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0023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9D3E3D3-3413-0FD8-BB80-82E2F8F300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142590CD-264D-56BE-43F6-4EBB028B6E4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4478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27EA0362-C107-78FA-FC1F-4FB15DC27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00800"/>
            <a:ext cx="2362200" cy="32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3200" kern="1200">
          <a:solidFill>
            <a:srgbClr val="00234C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800" kern="1200">
          <a:solidFill>
            <a:srgbClr val="00234C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400" kern="1200">
          <a:solidFill>
            <a:srgbClr val="00234C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9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2A_0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C_0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D_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F_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C995E1C6-8DDF-28DB-FFFB-61807571461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23900" y="3733800"/>
            <a:ext cx="7696200" cy="1828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 dirty="0"/>
              <a:t>Group #1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Aaron Casas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Anna Cai 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Hussein Rezk 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Adil </a:t>
            </a:r>
            <a:r>
              <a:rPr lang="en-US" altLang="en-US" sz="2800" dirty="0" err="1"/>
              <a:t>Feradovic</a:t>
            </a:r>
            <a:endParaRPr lang="en-US" altLang="en-US" sz="2800" dirty="0"/>
          </a:p>
          <a:p>
            <a:pPr>
              <a:lnSpc>
                <a:spcPct val="80000"/>
              </a:lnSpc>
            </a:pPr>
            <a:r>
              <a:rPr lang="en-US" altLang="en-US" sz="2800" dirty="0"/>
              <a:t>Chemical Engineering Lab Il</a:t>
            </a:r>
          </a:p>
          <a:p>
            <a:pPr>
              <a:lnSpc>
                <a:spcPct val="80000"/>
              </a:lnSpc>
            </a:pPr>
            <a:r>
              <a:rPr lang="en-US" altLang="en-US" sz="2800" dirty="0"/>
              <a:t>Date 3-17-26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CC423D5D-FB1A-0191-66A2-4D9F90FC685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581400"/>
          </a:xfrm>
        </p:spPr>
        <p:txBody>
          <a:bodyPr/>
          <a:lstStyle/>
          <a:p>
            <a:br>
              <a:rPr lang="en-US" altLang="en-US" sz="4000" b="1" dirty="0"/>
            </a:br>
            <a:br>
              <a:rPr lang="en-US" altLang="en-US" sz="4000" b="1" dirty="0"/>
            </a:br>
            <a:br>
              <a:rPr lang="en-US" altLang="en-US" sz="4000" b="1" dirty="0"/>
            </a:br>
            <a:r>
              <a:rPr lang="en-US" altLang="en-US" sz="4000" b="1" dirty="0"/>
              <a:t>Continuous Distillation</a:t>
            </a:r>
          </a:p>
        </p:txBody>
      </p:sp>
      <p:sp>
        <p:nvSpPr>
          <p:cNvPr id="2054" name="Line 6">
            <a:extLst>
              <a:ext uri="{FF2B5EF4-FFF2-40B4-BE49-F238E27FC236}">
                <a16:creationId xmlns:a16="http://schemas.microsoft.com/office/drawing/2014/main" id="{7A5020C2-5E64-AF6E-2F3D-3F7568561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5814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2D9EBA3F-AA72-F48C-40F1-7BAC9A28FC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/>
              <a:t>Introduction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9EB48ABC-8FE5-E310-B661-29C366749C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 b="1" dirty="0"/>
          </a:p>
          <a:p>
            <a:r>
              <a:rPr lang="en-US" altLang="en-US" b="1" dirty="0"/>
              <a:t>Purpose of the Lab is to examine continuous distillation of a binary solution (Ethanol, Water) at steady state </a:t>
            </a:r>
          </a:p>
          <a:p>
            <a:r>
              <a:rPr lang="en-US" altLang="en-US" b="1" dirty="0"/>
              <a:t>Tray efficiency would be analyzed based on feed location.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67E4FCE9-2314-433D-636B-1317B9B4EA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Theory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732395F6-DA53-654C-BFE7-47A05C2CA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McCabe- Thiele Analysis</a:t>
            </a:r>
          </a:p>
          <a:p>
            <a:pPr lvl="1"/>
            <a:r>
              <a:rPr lang="en-US" altLang="en-US" dirty="0"/>
              <a:t>Equilibrium line, operating lines, theoretical stages</a:t>
            </a:r>
          </a:p>
          <a:p>
            <a:pPr lvl="1"/>
            <a:r>
              <a:rPr lang="en-US" altLang="en-US" dirty="0"/>
              <a:t>Murphree Efficiency </a:t>
            </a:r>
          </a:p>
          <a:p>
            <a:r>
              <a:rPr lang="en-US" altLang="en-US" dirty="0"/>
              <a:t>Distillation Mass Balances </a:t>
            </a:r>
          </a:p>
          <a:p>
            <a:pPr lvl="1"/>
            <a:r>
              <a:rPr lang="en-US" altLang="en-US" dirty="0"/>
              <a:t>Overall Mass balance </a:t>
            </a:r>
          </a:p>
          <a:p>
            <a:pPr lvl="1"/>
            <a:r>
              <a:rPr lang="en-US" altLang="en-US" dirty="0"/>
              <a:t>Component mass balance </a:t>
            </a:r>
          </a:p>
          <a:p>
            <a:pPr lvl="1"/>
            <a:r>
              <a:rPr lang="en-US" altLang="en-US" dirty="0"/>
              <a:t>Equilibrium stage balance </a:t>
            </a:r>
          </a:p>
          <a:p>
            <a:pPr lvl="1"/>
            <a:r>
              <a:rPr lang="en-US" altLang="en-US" dirty="0"/>
              <a:t>Energy balance</a:t>
            </a:r>
          </a:p>
          <a:p>
            <a:pPr lvl="1"/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A3FAE2-4D78-4701-3F2C-88418CB9F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2819400"/>
            <a:ext cx="1828800" cy="866274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1622384A-8737-EAD9-F658-A973455E5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Apparatus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793BB889-9B1E-2400-0B95-803A36DA60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Reboiler</a:t>
            </a:r>
          </a:p>
          <a:p>
            <a:r>
              <a:rPr lang="en-US" altLang="en-US" sz="2400"/>
              <a:t>Pump</a:t>
            </a:r>
          </a:p>
          <a:p>
            <a:r>
              <a:rPr lang="en-US" altLang="en-US" sz="2400"/>
              <a:t>Column</a:t>
            </a:r>
          </a:p>
          <a:p>
            <a:r>
              <a:rPr lang="en-US" altLang="en-US" sz="2400"/>
              <a:t>Condenser</a:t>
            </a:r>
          </a:p>
          <a:p>
            <a:r>
              <a:rPr lang="en-US" altLang="en-US" sz="2400"/>
              <a:t>Feed tanks</a:t>
            </a:r>
          </a:p>
          <a:p>
            <a:r>
              <a:rPr lang="en-US" altLang="en-US" sz="2400"/>
              <a:t>Armfield UOP3CC</a:t>
            </a:r>
          </a:p>
          <a:p>
            <a:r>
              <a:rPr lang="en-US" altLang="en-US" sz="2400"/>
              <a:t>Top and bottom product receiver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B7C5A39-5AC9-A9FE-8825-7B110DE47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050" y="1863725"/>
            <a:ext cx="3333750" cy="444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DA4F8D02-219E-3D4E-BBC0-9BCB72767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Material &amp; Supplies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2E9A86B7-0AFC-25C3-76AF-E632BEA8FA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400" dirty="0"/>
              <a:t>Graduated Cylinder </a:t>
            </a:r>
          </a:p>
          <a:p>
            <a:pPr lvl="1"/>
            <a:r>
              <a:rPr lang="en-US" altLang="en-US" sz="2400" dirty="0"/>
              <a:t>Stopwatch </a:t>
            </a:r>
          </a:p>
          <a:p>
            <a:pPr lvl="1"/>
            <a:r>
              <a:rPr lang="en-US" altLang="en-US" sz="2400" dirty="0"/>
              <a:t>Bucket </a:t>
            </a:r>
          </a:p>
          <a:p>
            <a:pPr lvl="1"/>
            <a:r>
              <a:rPr lang="en-US" altLang="en-US" sz="2400" dirty="0"/>
              <a:t>Funnel </a:t>
            </a:r>
          </a:p>
          <a:p>
            <a:pPr lvl="1"/>
            <a:r>
              <a:rPr lang="en-US" altLang="en-US" sz="2400" dirty="0"/>
              <a:t>Snap 41 </a:t>
            </a:r>
            <a:r>
              <a:rPr lang="en-US" altLang="en-US" sz="2400"/>
              <a:t>Densitometer</a:t>
            </a:r>
            <a:endParaRPr lang="en-US" altLang="en-US" sz="2400">
              <a:cs typeface="Arial"/>
            </a:endParaRPr>
          </a:p>
          <a:p>
            <a:pPr lvl="1"/>
            <a:r>
              <a:rPr lang="en-US" altLang="en-US" sz="2400" dirty="0"/>
              <a:t>Sample Flasks </a:t>
            </a:r>
          </a:p>
          <a:p>
            <a:pPr lvl="1"/>
            <a:r>
              <a:rPr lang="en-US" altLang="en-US" sz="2400" dirty="0"/>
              <a:t>Parafilm </a:t>
            </a:r>
          </a:p>
          <a:p>
            <a:pPr lvl="1"/>
            <a:r>
              <a:rPr lang="en-US" altLang="en-US" sz="2400" dirty="0"/>
              <a:t>DI water </a:t>
            </a:r>
          </a:p>
          <a:p>
            <a:pPr lvl="1"/>
            <a:r>
              <a:rPr lang="en-US" altLang="en-US" sz="2400" dirty="0"/>
              <a:t>200 Proof Ethanol </a:t>
            </a:r>
          </a:p>
          <a:p>
            <a:pPr lvl="1"/>
            <a:r>
              <a:rPr lang="en-US" altLang="en-US" sz="2400" dirty="0"/>
              <a:t>Cooling Water 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C0A6444E-EA09-48C1-745E-1B9CA761D7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C275CFEF-7F1A-E27F-00E2-9739B53B4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Experiment A: Calibration</a:t>
            </a:r>
          </a:p>
          <a:p>
            <a:pPr lvl="1"/>
            <a:r>
              <a:rPr lang="en-US" altLang="en-US" dirty="0"/>
              <a:t>Used to get the flowrate of the pump at different turn settings.</a:t>
            </a:r>
          </a:p>
          <a:p>
            <a:r>
              <a:rPr lang="en-US" altLang="en-US" dirty="0"/>
              <a:t>Experiment B : Steady State Distillation </a:t>
            </a:r>
          </a:p>
          <a:p>
            <a:pPr lvl="1"/>
            <a:r>
              <a:rPr lang="en-US" altLang="en-US" dirty="0"/>
              <a:t>Reflux ratio: 5 to 1 </a:t>
            </a:r>
          </a:p>
          <a:p>
            <a:pPr lvl="1"/>
            <a:r>
              <a:rPr lang="en-US" altLang="en-US" dirty="0"/>
              <a:t>Reboiler Power: 0.75 kW</a:t>
            </a:r>
          </a:p>
          <a:p>
            <a:pPr lvl="1"/>
            <a:r>
              <a:rPr lang="en-US" altLang="en-US" dirty="0"/>
              <a:t>Feed in the middle of the column </a:t>
            </a:r>
          </a:p>
          <a:p>
            <a:pPr lvl="1"/>
            <a:r>
              <a:rPr lang="en-US" altLang="en-US" dirty="0"/>
              <a:t>Take 3 samples of tops and bottoms after the column reaches steady state.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017AA-A028-5C4D-5B2D-BD0EEAE52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continued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3B901-99AC-81CE-43DE-5F5C10242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Experiment C Varying the Feed position </a:t>
            </a:r>
          </a:p>
          <a:p>
            <a:pPr lvl="1"/>
            <a:r>
              <a:rPr lang="en-US" sz="2400" dirty="0"/>
              <a:t>Disconnect the feed tube, but first temporally turn of the reboiler power.</a:t>
            </a:r>
          </a:p>
          <a:p>
            <a:pPr lvl="1"/>
            <a:r>
              <a:rPr lang="en-US" sz="2400" dirty="0"/>
              <a:t>Reconnect the tube to the top plate </a:t>
            </a:r>
          </a:p>
          <a:p>
            <a:pPr lvl="1"/>
            <a:r>
              <a:rPr lang="en-US" sz="2400" dirty="0"/>
              <a:t>Turn reboiler power to .75kW and wait for column to stabilize </a:t>
            </a:r>
          </a:p>
          <a:p>
            <a:pPr lvl="1"/>
            <a:r>
              <a:rPr lang="en-US" sz="2400" dirty="0"/>
              <a:t>Set reflux to 5:1 </a:t>
            </a:r>
          </a:p>
          <a:p>
            <a:pPr lvl="1"/>
            <a:r>
              <a:rPr lang="en-US" sz="2400" dirty="0"/>
              <a:t>Set feed pump to about 30-35 mL per minute </a:t>
            </a:r>
          </a:p>
          <a:p>
            <a:pPr lvl="1"/>
            <a:r>
              <a:rPr lang="en-US" sz="2400" dirty="0"/>
              <a:t>After feeding 400 mL take samples from the tops and bottoms</a:t>
            </a:r>
          </a:p>
          <a:p>
            <a:pPr lvl="1"/>
            <a:r>
              <a:rPr lang="en-US" sz="2400" dirty="0"/>
              <a:t>Take two more samples five minutes apart.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31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FB4E9731-D8A0-7D77-D218-44F87D304C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Experimental Challenges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5372B94D-7E6A-41C5-8531-DC6174D0E6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Making sure the nut is tightened at the feed location </a:t>
            </a:r>
          </a:p>
          <a:p>
            <a:r>
              <a:rPr lang="en-US" altLang="en-US" dirty="0"/>
              <a:t>Bottoms flow comes out fast, so turn valve slowly</a:t>
            </a:r>
          </a:p>
          <a:p>
            <a:r>
              <a:rPr lang="en-US" altLang="en-US" dirty="0"/>
              <a:t>Collecting tops product can result in alcohol reading difficulties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585F55EF-42BA-66B3-3938-01CDC4D2BD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Safety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2BF7F8F4-6582-5078-A1C9-0C94DEF85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 dirty="0"/>
              <a:t>Electrical Hazards </a:t>
            </a:r>
          </a:p>
          <a:p>
            <a:pPr lvl="1"/>
            <a:r>
              <a:rPr lang="en-US" altLang="en-US" sz="2000" dirty="0"/>
              <a:t>Use a funnel when pouring the mixtures into their respected location </a:t>
            </a:r>
          </a:p>
          <a:p>
            <a:r>
              <a:rPr lang="en-US" altLang="en-US" sz="2000" dirty="0"/>
              <a:t>Mechanical Hazards </a:t>
            </a:r>
          </a:p>
          <a:p>
            <a:pPr lvl="1"/>
            <a:r>
              <a:rPr lang="en-US" altLang="en-US" sz="2000" dirty="0"/>
              <a:t>Pump could experience issues </a:t>
            </a:r>
          </a:p>
          <a:p>
            <a:r>
              <a:rPr lang="en-US" altLang="en-US" sz="2000" dirty="0"/>
              <a:t>Pressure and Temp Hazards </a:t>
            </a:r>
          </a:p>
          <a:p>
            <a:pPr lvl="1"/>
            <a:r>
              <a:rPr lang="en-US" altLang="en-US" sz="2000" dirty="0"/>
              <a:t>Make sure to temp is around 96 </a:t>
            </a:r>
            <a:r>
              <a:rPr lang="en-US" altLang="en-US" sz="2000" dirty="0" err="1"/>
              <a:t>degress</a:t>
            </a:r>
            <a:r>
              <a:rPr lang="en-US" altLang="en-US" sz="2000" dirty="0"/>
              <a:t> Celsius </a:t>
            </a:r>
          </a:p>
          <a:p>
            <a:pPr lvl="1"/>
            <a:r>
              <a:rPr lang="en-US" altLang="en-US" sz="2000" dirty="0"/>
              <a:t>Wear heat resistant gloves when collecting samples </a:t>
            </a:r>
          </a:p>
          <a:p>
            <a:r>
              <a:rPr lang="en-US" altLang="en-US" sz="2000" dirty="0"/>
              <a:t>Chemical Hazards </a:t>
            </a:r>
          </a:p>
          <a:p>
            <a:pPr lvl="1"/>
            <a:r>
              <a:rPr lang="en-US" altLang="en-US" sz="2000" dirty="0"/>
              <a:t>200 proof ethanol is used, so create the </a:t>
            </a:r>
            <a:r>
              <a:rPr lang="en-US" altLang="en-US" sz="2000" dirty="0" err="1"/>
              <a:t>mixure</a:t>
            </a:r>
            <a:r>
              <a:rPr lang="en-US" altLang="en-US" sz="2000" dirty="0"/>
              <a:t> inside the fume hood, wear chemical gloves, and glasses at all times  </a:t>
            </a:r>
          </a:p>
          <a:p>
            <a:pPr marL="457200" lvl="1" indent="0"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3029</TotalTime>
  <Words>345</Words>
  <Application>Microsoft Office PowerPoint</Application>
  <PresentationFormat>On-screen Show (4:3)</PresentationFormat>
  <Paragraphs>73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Default Design</vt:lpstr>
      <vt:lpstr>   Continuous Distillation</vt:lpstr>
      <vt:lpstr>Introduction</vt:lpstr>
      <vt:lpstr>Theory</vt:lpstr>
      <vt:lpstr>Apparatus</vt:lpstr>
      <vt:lpstr>Material &amp; Supplies</vt:lpstr>
      <vt:lpstr>Procedure</vt:lpstr>
      <vt:lpstr>Procedure continued </vt:lpstr>
      <vt:lpstr>Experimental Challenges</vt:lpstr>
      <vt:lpstr>Safety</vt:lpstr>
    </vt:vector>
  </TitlesOfParts>
  <Company>UIC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UIC BRAND</dc:title>
  <dc:creator>Elizabeth Zweigle Yee</dc:creator>
  <cp:lastModifiedBy>Zdunek, Alan</cp:lastModifiedBy>
  <cp:revision>239</cp:revision>
  <dcterms:created xsi:type="dcterms:W3CDTF">2008-04-09T18:55:55Z</dcterms:created>
  <dcterms:modified xsi:type="dcterms:W3CDTF">2026-03-19T15:03:36Z</dcterms:modified>
</cp:coreProperties>
</file>