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0_444727BE.xml" ContentType="application/vnd.ms-powerpoint.comments+xml"/>
  <Override PartName="/ppt/comments/modernComment_101_1EC511AA.xml" ContentType="application/vnd.ms-powerpoint.comments+xml"/>
  <Override PartName="/ppt/comments/modernComment_103_AA791233.xml" ContentType="application/vnd.ms-powerpoint.comments+xml"/>
  <Override PartName="/ppt/comments/modernComment_104_F0642D8B.xml" ContentType="application/vnd.ms-powerpoint.comments+xml"/>
  <Override PartName="/ppt/comments/modernComment_10B_91273359.xml" ContentType="application/vnd.ms-powerpoint.comments+xml"/>
  <Override PartName="/ppt/comments/modernComment_109_ACB56F20.xml" ContentType="application/vnd.ms-powerpoint.comments+xml"/>
  <Override PartName="/ppt/notesSlides/notesSlide1.xml" ContentType="application/vnd.openxmlformats-officedocument.presentationml.notesSlide+xml"/>
  <Override PartName="/ppt/comments/modernComment_107_DDD803ED.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13"/>
  </p:notesMasterIdLst>
  <p:sldIdLst>
    <p:sldId id="256" r:id="rId2"/>
    <p:sldId id="257" r:id="rId3"/>
    <p:sldId id="259" r:id="rId4"/>
    <p:sldId id="260" r:id="rId5"/>
    <p:sldId id="266" r:id="rId6"/>
    <p:sldId id="267" r:id="rId7"/>
    <p:sldId id="265" r:id="rId8"/>
    <p:sldId id="262" r:id="rId9"/>
    <p:sldId id="263" r:id="rId10"/>
    <p:sldId id="264"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52CCAC-0B66-CA76-A7A3-D551D844506B}" name="Zdunek, Alan" initials="AZ" userId="S::zdunek@uic.edu::5627838d-8155-4d77-aa14-f1ef87cd6a5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E4F950-20D3-EC48-9039-496A2491A3AC}" v="2253" dt="2026-02-03T18:50:16.049"/>
    <p1510:client id="{50F34D8F-56C2-CE01-8EFE-D00EC8FF435F}" v="441" dt="2026-02-03T20:28:20.227"/>
    <p1510:client id="{862E0F7A-5ACB-411B-8CDD-3578D9B879F7}" v="2654" dt="2026-02-03T20:30:18.936"/>
    <p1510:client id="{E43439C0-99C4-F67F-6BF7-724A7D6109E0}" v="2527" dt="2026-02-03T18:33:56.6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modernComment_10B_91273359.xml><?xml version="1.0" encoding="utf-8"?>
<p188:cmLst xmlns:a="http://schemas.openxmlformats.org/drawingml/2006/main" xmlns:r="http://schemas.openxmlformats.org/officeDocument/2006/relationships" xmlns:p188="http://schemas.microsoft.com/office/powerpoint/2018/8/main">
  <p188:cm id="{03BEC4AD-A953-4013-B9E4-9A42C1705AB2}" authorId="{DF52CCAC-0B66-CA76-A7A3-D551D844506B}" created="2026-02-04T16:52:04.874">
    <ac:deMkLst xmlns:ac="http://schemas.microsoft.com/office/drawing/2013/main/command">
      <pc:docMk xmlns:pc="http://schemas.microsoft.com/office/powerpoint/2013/main/command"/>
      <pc:sldMk xmlns:pc="http://schemas.microsoft.com/office/powerpoint/2013/main/command" cId="2435265369" sldId="267"/>
      <ac:graphicFrameMk id="20" creationId="{574C710C-D7CE-6907-F16C-02C9CC41AFB9}"/>
    </ac:deMkLst>
    <p188:txBody>
      <a:bodyPr/>
      <a:lstStyle/>
      <a:p>
        <a:r>
          <a:rPr lang="en-US"/>
          <a:t>-2
Some valves operations are not correct-
V2:  cooling coil flowrate adjustment
V6:  Pump bypass valve
V10:  Valve used to fill the process tank with water
</a:t>
        </a:r>
      </a:p>
    </p188:txBody>
  </p188:cm>
</p188:cmLst>
</file>

<file path=ppt/comments/modernComment_100_444727BE.xml><?xml version="1.0" encoding="utf-8"?>
<p188:cmLst xmlns:a="http://schemas.openxmlformats.org/drawingml/2006/main" xmlns:r="http://schemas.openxmlformats.org/officeDocument/2006/relationships" xmlns:p188="http://schemas.microsoft.com/office/powerpoint/2018/8/main">
  <p188:cm id="{F0A1ADA5-7286-4352-866F-C20368E8C7FC}" authorId="{DF52CCAC-0B66-CA76-A7A3-D551D844506B}" created="2026-02-04T16:56:45.353">
    <ac:deMkLst xmlns:ac="http://schemas.microsoft.com/office/drawing/2013/main/command">
      <pc:docMk xmlns:pc="http://schemas.microsoft.com/office/powerpoint/2013/main/command"/>
      <pc:sldMk xmlns:pc="http://schemas.microsoft.com/office/powerpoint/2013/main/command" cId="1145513918" sldId="256"/>
      <ac:spMk id="3" creationId="{D5B4D39C-1435-B99C-425B-252DA62644B8}"/>
    </ac:deMkLst>
    <p188:txBody>
      <a:bodyPr/>
      <a:lstStyle/>
      <a:p>
        <a:r>
          <a:rPr lang="en-US"/>
          <a:t>87/100</a:t>
        </a:r>
      </a:p>
    </p188:txBody>
  </p188:cm>
</p188:cmLst>
</file>

<file path=ppt/comments/modernComment_101_1EC511AA.xml><?xml version="1.0" encoding="utf-8"?>
<p188:cmLst xmlns:a="http://schemas.openxmlformats.org/drawingml/2006/main" xmlns:r="http://schemas.openxmlformats.org/officeDocument/2006/relationships" xmlns:p188="http://schemas.microsoft.com/office/powerpoint/2018/8/main">
  <p188:cm id="{C0FD0B11-3B73-4159-8315-FA26C08057AE}" authorId="{DF52CCAC-0B66-CA76-A7A3-D551D844506B}" created="2026-02-04T16:37:52.546">
    <ac:txMkLst xmlns:ac="http://schemas.microsoft.com/office/drawing/2013/main/command">
      <pc:docMk xmlns:pc="http://schemas.microsoft.com/office/powerpoint/2013/main/command"/>
      <pc:sldMk xmlns:pc="http://schemas.microsoft.com/office/powerpoint/2013/main/command" cId="516231594" sldId="257"/>
      <ac:spMk id="3" creationId="{C3A55CDC-88BE-E086-C1A2-954E2242E118}"/>
      <ac:txMk cp="318" len="29">
        <ac:context len="1107" hash="2351976843"/>
      </ac:txMk>
    </ac:txMkLst>
    <p188:pos x="3796038" y="1127711"/>
    <p188:txBody>
      <a:bodyPr/>
      <a:lstStyle/>
      <a:p>
        <a:r>
          <a:rPr lang="en-US"/>
          <a:t>-2 
A bit wordy, make bullet items more concise:
For example-  “Lab will focus on determining heat transfer coefficients as a function of:  impeller speed, baffles/no baffles”</a:t>
        </a:r>
      </a:p>
    </p188:txBody>
  </p188:cm>
</p188:cmLst>
</file>

<file path=ppt/comments/modernComment_103_AA791233.xml><?xml version="1.0" encoding="utf-8"?>
<p188:cmLst xmlns:a="http://schemas.openxmlformats.org/drawingml/2006/main" xmlns:r="http://schemas.openxmlformats.org/officeDocument/2006/relationships" xmlns:p188="http://schemas.microsoft.com/office/powerpoint/2018/8/main">
  <p188:cm id="{AFC760A8-192D-43F1-BC5A-69FAD8E67F5D}" authorId="{DF52CCAC-0B66-CA76-A7A3-D551D844506B}" created="2026-02-04T16:41:08.621">
    <ac:deMkLst xmlns:ac="http://schemas.microsoft.com/office/drawing/2013/main/command">
      <pc:docMk xmlns:pc="http://schemas.microsoft.com/office/powerpoint/2013/main/command"/>
      <pc:sldMk xmlns:pc="http://schemas.microsoft.com/office/powerpoint/2013/main/command" cId="2860061235" sldId="259"/>
      <ac:spMk id="13" creationId="{E019BF02-9FD6-0345-84B7-4C92A95BD0AD}"/>
    </ac:deMkLst>
    <p188:txBody>
      <a:bodyPr/>
      <a:lstStyle/>
      <a:p>
        <a:r>
          <a:rPr lang="en-US"/>
          <a:t>-3
Show the heat balance between the heat input (from steam) and the heat output (from the cooling coil and external heat exchanger).
What is the literature theory from BSL?
Show the dimensionless correlations used.</a:t>
        </a:r>
      </a:p>
    </p188:txBody>
  </p188:cm>
</p188:cmLst>
</file>

<file path=ppt/comments/modernComment_104_F0642D8B.xml><?xml version="1.0" encoding="utf-8"?>
<p188:cmLst xmlns:a="http://schemas.openxmlformats.org/drawingml/2006/main" xmlns:r="http://schemas.openxmlformats.org/officeDocument/2006/relationships" xmlns:p188="http://schemas.microsoft.com/office/powerpoint/2018/8/main">
  <p188:cm id="{A7E34C6B-6A61-41F7-AC64-9AC4E10A0880}" authorId="{DF52CCAC-0B66-CA76-A7A3-D551D844506B}" created="2026-02-04T16:46:06.980">
    <ac:deMkLst xmlns:ac="http://schemas.microsoft.com/office/drawing/2013/main/command">
      <pc:docMk xmlns:pc="http://schemas.microsoft.com/office/powerpoint/2013/main/command"/>
      <pc:sldMk xmlns:pc="http://schemas.microsoft.com/office/powerpoint/2013/main/command" cId="4033097099" sldId="260"/>
      <ac:graphicFrameMk id="19" creationId="{98CF5A7F-8B48-6802-F167-BCB0095E8C5A}"/>
    </ac:deMkLst>
    <p188:txBody>
      <a:bodyPr/>
      <a:lstStyle/>
      <a:p>
        <a:r>
          <a:rPr lang="en-US"/>
          <a:t>-2
Labels are hard to read.
#4 is a rheostat controlling the voltage to the impeller motor;  #5 is the propeller motor
#12 is the flow meter for the process water flowing into and out of the external heat exchanger.</a:t>
        </a:r>
      </a:p>
    </p188:txBody>
  </p188:cm>
</p188:cmLst>
</file>

<file path=ppt/comments/modernComment_107_DDD803ED.xml><?xml version="1.0" encoding="utf-8"?>
<p188:cmLst xmlns:a="http://schemas.openxmlformats.org/drawingml/2006/main" xmlns:r="http://schemas.openxmlformats.org/officeDocument/2006/relationships" xmlns:p188="http://schemas.microsoft.com/office/powerpoint/2018/8/main">
  <p188:cm id="{C991B3F1-E624-4358-94C0-9AEBDE21A510}" authorId="{DF52CCAC-0B66-CA76-A7A3-D551D844506B}" created="2026-02-04T16:56:05.007">
    <ac:deMkLst xmlns:ac="http://schemas.microsoft.com/office/drawing/2013/main/command">
      <pc:docMk xmlns:pc="http://schemas.microsoft.com/office/powerpoint/2013/main/command"/>
      <pc:sldMk xmlns:pc="http://schemas.microsoft.com/office/powerpoint/2013/main/command" cId="3721921517" sldId="263"/>
      <ac:spMk id="3" creationId="{2592A8AA-918A-A921-1989-CDEC6348B8D5}"/>
    </ac:deMkLst>
    <p188:txBody>
      <a:bodyPr/>
      <a:lstStyle/>
      <a:p>
        <a:r>
          <a:rPr lang="en-US"/>
          <a:t>-2
Inlet steam temperature is 113C
Running pump dry can damage the pump head and cause it to fail.
Turn off the impeller when handling the baffles!</a:t>
        </a:r>
      </a:p>
    </p188:txBody>
  </p188:cm>
</p188:cmLst>
</file>

<file path=ppt/comments/modernComment_109_ACB56F20.xml><?xml version="1.0" encoding="utf-8"?>
<p188:cmLst xmlns:a="http://schemas.openxmlformats.org/drawingml/2006/main" xmlns:r="http://schemas.openxmlformats.org/officeDocument/2006/relationships" xmlns:p188="http://schemas.microsoft.com/office/powerpoint/2018/8/main">
  <p188:cm id="{E3399BE8-B523-495D-8FFB-7C8462BC0AAF}" authorId="{DF52CCAC-0B66-CA76-A7A3-D551D844506B}" created="2026-02-04T16:53:56.501">
    <ac:deMkLst xmlns:ac="http://schemas.microsoft.com/office/drawing/2013/main/command">
      <pc:docMk xmlns:pc="http://schemas.microsoft.com/office/powerpoint/2013/main/command"/>
      <pc:sldMk xmlns:pc="http://schemas.microsoft.com/office/powerpoint/2013/main/command" cId="2897571616" sldId="265"/>
      <ac:graphicFrameMk id="7" creationId="{52498069-2B83-0D24-B4E9-638864CE0269}"/>
    </ac:deMkLst>
    <p188:txBody>
      <a:bodyPr/>
      <a:lstStyle/>
      <a:p>
        <a:r>
          <a:rPr lang="en-US"/>
          <a:t>-2
Jacketed vessel, impeller, pump, heat exchanger, cooling coil, steam trap, variac, thermometers, rotameters, are part of the apparatus, not a material/supply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71206-0F93-0B4D-8FE8-D450F51652A7}"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09A13D-7EE1-1C48-922C-E41F953251A5}" type="slidenum">
              <a:rPr lang="en-US" smtClean="0"/>
              <a:t>‹#›</a:t>
            </a:fld>
            <a:endParaRPr lang="en-US"/>
          </a:p>
        </p:txBody>
      </p:sp>
    </p:spTree>
    <p:extLst>
      <p:ext uri="{BB962C8B-B14F-4D97-AF65-F5344CB8AC3E}">
        <p14:creationId xmlns:p14="http://schemas.microsoft.com/office/powerpoint/2010/main" val="3781404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709A13D-7EE1-1C48-922C-E41F953251A5}" type="slidenum">
              <a:rPr lang="en-US" smtClean="0"/>
              <a:t>8</a:t>
            </a:fld>
            <a:endParaRPr lang="en-US"/>
          </a:p>
        </p:txBody>
      </p:sp>
    </p:spTree>
    <p:extLst>
      <p:ext uri="{BB962C8B-B14F-4D97-AF65-F5344CB8AC3E}">
        <p14:creationId xmlns:p14="http://schemas.microsoft.com/office/powerpoint/2010/main" val="824830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1160EA64-D806-43AC-9DF2-F8C432F32B4C}" type="datetimeFigureOut">
              <a:rPr lang="en-US" dirty="0"/>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70A7B3-6521-4DCA-87E5-044747A908C1}" type="datetimeFigureOut">
              <a:rPr lang="en-US" dirty="0"/>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B134690-1557-4C89-A502-4959FE7FAD70}" type="datetimeFigureOut">
              <a:rPr lang="en-US" dirty="0"/>
              <a:t>2/4/2026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037C31-9E7A-4F99-8774-A0E530DE1A42}" type="datetimeFigureOut">
              <a:rPr lang="en-US" dirty="0"/>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2/4/2026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2/4/2026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F9C37B-1D36-470B-8223-D6C91242EC14}" type="datetimeFigureOut">
              <a:rPr lang="en-US" dirty="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C6F52A-A82B-47A2-A83A-8C4C91F2D59F}" type="datetimeFigureOut">
              <a:rPr lang="en-US" dirty="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2/4/2026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0_444727BE.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1_1EC511AA.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3_AA79123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4_F0642D8B.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B_91273359.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9_ACB56F20.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07_DDD803ED.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16/j.ijpharm.2025.126243" TargetMode="External"/><Relationship Id="rId2" Type="http://schemas.openxmlformats.org/officeDocument/2006/relationships/hyperlink" Target="https://doi.org/10.1016/j.applthermaleng.2004.11.021"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7E7F-7E95-9FEE-DBD9-F8DDA62129F1}"/>
              </a:ext>
            </a:extLst>
          </p:cNvPr>
          <p:cNvSpPr>
            <a:spLocks noGrp="1"/>
          </p:cNvSpPr>
          <p:nvPr>
            <p:ph type="ctrTitle"/>
          </p:nvPr>
        </p:nvSpPr>
        <p:spPr/>
        <p:txBody>
          <a:bodyPr/>
          <a:lstStyle/>
          <a:p>
            <a:r>
              <a:rPr lang="en-US"/>
              <a:t>Heat Transfer</a:t>
            </a:r>
          </a:p>
        </p:txBody>
      </p:sp>
      <p:sp>
        <p:nvSpPr>
          <p:cNvPr id="3" name="Subtitle 2">
            <a:extLst>
              <a:ext uri="{FF2B5EF4-FFF2-40B4-BE49-F238E27FC236}">
                <a16:creationId xmlns:a16="http://schemas.microsoft.com/office/drawing/2014/main" id="{D5B4D39C-1435-B99C-425B-252DA62644B8}"/>
              </a:ext>
            </a:extLst>
          </p:cNvPr>
          <p:cNvSpPr>
            <a:spLocks noGrp="1"/>
          </p:cNvSpPr>
          <p:nvPr>
            <p:ph type="subTitle" idx="1"/>
          </p:nvPr>
        </p:nvSpPr>
        <p:spPr>
          <a:xfrm>
            <a:off x="2695194" y="4352544"/>
            <a:ext cx="6801612" cy="1849494"/>
          </a:xfrm>
        </p:spPr>
        <p:txBody>
          <a:bodyPr vert="horz" lIns="91440" tIns="45720" rIns="91440" bIns="45720" rtlCol="0" anchor="t">
            <a:normAutofit/>
          </a:bodyPr>
          <a:lstStyle/>
          <a:p>
            <a:r>
              <a:rPr lang="en-US" dirty="0"/>
              <a:t>By: </a:t>
            </a:r>
            <a:r>
              <a:rPr lang="en-US" dirty="0" err="1"/>
              <a:t>Cesearo</a:t>
            </a:r>
            <a:r>
              <a:rPr lang="en-US" dirty="0"/>
              <a:t> Dilosa, Javier Silva, </a:t>
            </a:r>
            <a:r>
              <a:rPr lang="en-US" dirty="0" err="1"/>
              <a:t>Ify</a:t>
            </a:r>
            <a:r>
              <a:rPr lang="en-US" dirty="0"/>
              <a:t> </a:t>
            </a:r>
            <a:r>
              <a:rPr lang="en-US" dirty="0" err="1"/>
              <a:t>Bidokwu</a:t>
            </a:r>
            <a:r>
              <a:rPr lang="en-US" dirty="0"/>
              <a:t>, and </a:t>
            </a:r>
            <a:r>
              <a:rPr lang="en-US" sz="1900" dirty="0"/>
              <a:t>Joshua Laforest</a:t>
            </a:r>
            <a:endParaRPr lang="en-US" dirty="0"/>
          </a:p>
          <a:p>
            <a:pPr fontAlgn="base"/>
            <a:r>
              <a:rPr lang="en-US"/>
              <a:t>Chemical Engineering Lab II​</a:t>
            </a:r>
          </a:p>
          <a:p>
            <a:pPr fontAlgn="base"/>
            <a:r>
              <a:rPr lang="en-US" dirty="0"/>
              <a:t>02/03/2026​</a:t>
            </a:r>
          </a:p>
          <a:p>
            <a:endParaRPr lang="en-US" dirty="0"/>
          </a:p>
          <a:p>
            <a:endParaRPr lang="en-US" dirty="0"/>
          </a:p>
          <a:p>
            <a:endParaRPr lang="en-US" dirty="0"/>
          </a:p>
        </p:txBody>
      </p:sp>
    </p:spTree>
    <p:extLst>
      <p:ext uri="{BB962C8B-B14F-4D97-AF65-F5344CB8AC3E}">
        <p14:creationId xmlns:p14="http://schemas.microsoft.com/office/powerpoint/2010/main" val="1145513918"/>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A49EF-AD72-C9BE-0438-3577B2EDA634}"/>
              </a:ext>
            </a:extLst>
          </p:cNvPr>
          <p:cNvSpPr>
            <a:spLocks noGrp="1"/>
          </p:cNvSpPr>
          <p:nvPr>
            <p:ph type="title"/>
          </p:nvPr>
        </p:nvSpPr>
        <p:spPr/>
        <p:txBody>
          <a:bodyPr/>
          <a:lstStyle/>
          <a:p>
            <a:r>
              <a:rPr lang="en-US"/>
              <a:t>Purpose of Lab</a:t>
            </a:r>
          </a:p>
        </p:txBody>
      </p:sp>
      <p:sp>
        <p:nvSpPr>
          <p:cNvPr id="3" name="Content Placeholder 2">
            <a:extLst>
              <a:ext uri="{FF2B5EF4-FFF2-40B4-BE49-F238E27FC236}">
                <a16:creationId xmlns:a16="http://schemas.microsoft.com/office/drawing/2014/main" id="{C3A55CDC-88BE-E086-C1A2-954E2242E118}"/>
              </a:ext>
            </a:extLst>
          </p:cNvPr>
          <p:cNvSpPr>
            <a:spLocks noGrp="1"/>
          </p:cNvSpPr>
          <p:nvPr>
            <p:ph idx="1"/>
          </p:nvPr>
        </p:nvSpPr>
        <p:spPr/>
        <p:txBody>
          <a:bodyPr vert="horz" lIns="91440" tIns="45720" rIns="91440" bIns="45720" rtlCol="0" anchor="t">
            <a:noAutofit/>
          </a:bodyPr>
          <a:lstStyle/>
          <a:p>
            <a:r>
              <a:rPr lang="en-US" sz="1400" dirty="0">
                <a:solidFill>
                  <a:srgbClr val="000000"/>
                </a:solidFill>
                <a:latin typeface="Aptos"/>
              </a:rPr>
              <a:t>The purpose of this lab is to explore heat transfer in different scenarios that would mimic stirring and cooling in industrial settings. Lab will explore how much heat transfer will occurring the system after different degrees of impeller stirring and cooling water flow rates from heat exchangers.</a:t>
            </a:r>
          </a:p>
          <a:p>
            <a:r>
              <a:rPr lang="en-US" sz="1400" dirty="0">
                <a:solidFill>
                  <a:srgbClr val="000000"/>
                </a:solidFill>
                <a:latin typeface="Aptos"/>
              </a:rPr>
              <a:t>The lab will focus on building of heat transfer coefficients and data collected from different areas of the system where the experiment is collected. Equations involving Nusselt's, Prandtl's and Reynold's numbers will set the bases of explaining heat transfer trends over different stirring speeds and cooling rates.</a:t>
            </a:r>
          </a:p>
          <a:p>
            <a:pPr marL="0" indent="0">
              <a:buNone/>
            </a:pPr>
            <a:r>
              <a:rPr lang="en-US" sz="1400" b="1" u="sng" dirty="0">
                <a:solidFill>
                  <a:srgbClr val="000000"/>
                </a:solidFill>
                <a:latin typeface="Aptos"/>
              </a:rPr>
              <a:t>Industrial  Applications:</a:t>
            </a:r>
          </a:p>
          <a:p>
            <a:r>
              <a:rPr lang="en-US" sz="1400" dirty="0">
                <a:solidFill>
                  <a:srgbClr val="000000"/>
                </a:solidFill>
                <a:latin typeface="Aptos"/>
              </a:rPr>
              <a:t>The industrial application of this lab is in the design of  reactors in industry as stirring reactors modeled just like the lab are used for initial reactions. CSTR reactors are closely related to this design of the lab Apparatus.</a:t>
            </a:r>
          </a:p>
          <a:p>
            <a:r>
              <a:rPr lang="en-US" sz="1400" dirty="0">
                <a:solidFill>
                  <a:srgbClr val="000000"/>
                </a:solidFill>
                <a:latin typeface="Aptos"/>
              </a:rPr>
              <a:t>CSTR reactors are used in multiple industries where a fast and heat intensive reactions are needed for the process. Such industries such as polymer, and pharmaceuticals use CSTR reactors to begin the initial reaction of the process.</a:t>
            </a:r>
          </a:p>
          <a:p>
            <a:endParaRPr lang="en-US" sz="1200" dirty="0">
              <a:solidFill>
                <a:srgbClr val="000000"/>
              </a:solidFill>
              <a:latin typeface="Aptos"/>
            </a:endParaRPr>
          </a:p>
        </p:txBody>
      </p:sp>
    </p:spTree>
    <p:extLst>
      <p:ext uri="{BB962C8B-B14F-4D97-AF65-F5344CB8AC3E}">
        <p14:creationId xmlns:p14="http://schemas.microsoft.com/office/powerpoint/2010/main" val="51623159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D371-CC05-E4BF-6DD9-AB8F684BBA6D}"/>
              </a:ext>
            </a:extLst>
          </p:cNvPr>
          <p:cNvSpPr>
            <a:spLocks noGrp="1"/>
          </p:cNvSpPr>
          <p:nvPr>
            <p:ph type="title"/>
          </p:nvPr>
        </p:nvSpPr>
        <p:spPr/>
        <p:txBody>
          <a:bodyPr/>
          <a:lstStyle/>
          <a:p>
            <a:r>
              <a:rPr lang="en-US"/>
              <a:t>Theory</a:t>
            </a:r>
          </a:p>
        </p:txBody>
      </p:sp>
      <p:sp>
        <p:nvSpPr>
          <p:cNvPr id="3" name="Content Placeholder 2">
            <a:extLst>
              <a:ext uri="{FF2B5EF4-FFF2-40B4-BE49-F238E27FC236}">
                <a16:creationId xmlns:a16="http://schemas.microsoft.com/office/drawing/2014/main" id="{DCF1BAEB-032B-C5D9-BE38-50F321F3B6EF}"/>
              </a:ext>
            </a:extLst>
          </p:cNvPr>
          <p:cNvSpPr>
            <a:spLocks noGrp="1"/>
          </p:cNvSpPr>
          <p:nvPr>
            <p:ph idx="1"/>
          </p:nvPr>
        </p:nvSpPr>
        <p:spPr>
          <a:xfrm>
            <a:off x="2231136" y="2638044"/>
            <a:ext cx="7729728" cy="3590254"/>
          </a:xfrm>
        </p:spPr>
        <p:txBody>
          <a:bodyPr vert="horz" lIns="91440" tIns="45720" rIns="91440" bIns="45720" rtlCol="0" anchor="t">
            <a:normAutofit/>
          </a:bodyPr>
          <a:lstStyle/>
          <a:p>
            <a:endParaRPr lang="en-US"/>
          </a:p>
          <a:p>
            <a:endParaRPr lang="en-US"/>
          </a:p>
        </p:txBody>
      </p:sp>
      <p:sp>
        <p:nvSpPr>
          <p:cNvPr id="13" name="TextBox 12">
            <a:extLst>
              <a:ext uri="{FF2B5EF4-FFF2-40B4-BE49-F238E27FC236}">
                <a16:creationId xmlns:a16="http://schemas.microsoft.com/office/drawing/2014/main" id="{E019BF02-9FD6-0345-84B7-4C92A95BD0AD}"/>
              </a:ext>
            </a:extLst>
          </p:cNvPr>
          <p:cNvSpPr txBox="1"/>
          <p:nvPr/>
        </p:nvSpPr>
        <p:spPr>
          <a:xfrm>
            <a:off x="2218914" y="2410246"/>
            <a:ext cx="7732027"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dirty="0">
                <a:highlight>
                  <a:srgbClr val="FFFFFF"/>
                </a:highlight>
                <a:latin typeface="Gill Sans MT"/>
                <a:cs typeface="Times New Roman"/>
              </a:rPr>
              <a:t>T</a:t>
            </a:r>
            <a:r>
              <a:rPr lang="en-US" sz="2000" dirty="0">
                <a:latin typeface="Gill Sans MT"/>
                <a:cs typeface="Times New Roman"/>
              </a:rPr>
              <a:t>he concept of heat transfer across a solid wall using two fluids involves a series of thermal resistances. Once at steady state, the heat transferred is continuous across the interface. For this specific stirred tank, heat transfer from the condensed steam in the steam jacket will provide the heat that will be measured for the heat transfer. </a:t>
            </a:r>
          </a:p>
          <a:p>
            <a:pPr marL="285750" indent="-285750">
              <a:buFont typeface="Arial"/>
              <a:buChar char="•"/>
            </a:pPr>
            <a:r>
              <a:rPr lang="en-US" sz="2000" dirty="0">
                <a:latin typeface="Gill Sans MT"/>
                <a:cs typeface="Times New Roman"/>
              </a:rPr>
              <a:t>To explore heat, transfer the use Nusselt's (Nu), Prandtl's (</a:t>
            </a:r>
            <a:r>
              <a:rPr lang="en-US" sz="2000" dirty="0" err="1">
                <a:latin typeface="Gill Sans MT"/>
                <a:cs typeface="Times New Roman"/>
              </a:rPr>
              <a:t>Pr</a:t>
            </a:r>
            <a:r>
              <a:rPr lang="en-US" sz="2000" dirty="0">
                <a:latin typeface="Gill Sans MT"/>
                <a:cs typeface="Times New Roman"/>
              </a:rPr>
              <a:t>) and Reynold's (Re) numbers will be derived  recorded from temperature. With the </a:t>
            </a:r>
            <a:r>
              <a:rPr lang="en-US" sz="2000" dirty="0" err="1">
                <a:latin typeface="Gill Sans MT"/>
                <a:cs typeface="Times New Roman"/>
              </a:rPr>
              <a:t>the</a:t>
            </a:r>
            <a:r>
              <a:rPr lang="en-US" sz="2000" dirty="0">
                <a:latin typeface="Gill Sans MT"/>
                <a:cs typeface="Times New Roman"/>
              </a:rPr>
              <a:t> values sourced from different trials they must be compared to the literature theory from "Transport Phenomena, Bird 2005". </a:t>
            </a:r>
          </a:p>
          <a:p>
            <a:pPr marL="285750" indent="-285750">
              <a:buFont typeface="Arial"/>
              <a:buChar char="•"/>
            </a:pPr>
            <a:r>
              <a:rPr lang="en-US" sz="2000" dirty="0">
                <a:latin typeface="Gill Sans MT"/>
                <a:cs typeface="Times New Roman"/>
              </a:rPr>
              <a:t>Theoretically the trend of having stirring and cooling interring in a steady state system tends to lower the Ui and h0 as higher speeds in stirring and cooling flow rates influence the system.</a:t>
            </a:r>
          </a:p>
        </p:txBody>
      </p:sp>
      <p:pic>
        <p:nvPicPr>
          <p:cNvPr id="14" name="Picture 13" descr="A mathematical equation with black text&#10;&#10;AI-generated content may be incorrect.">
            <a:extLst>
              <a:ext uri="{FF2B5EF4-FFF2-40B4-BE49-F238E27FC236}">
                <a16:creationId xmlns:a16="http://schemas.microsoft.com/office/drawing/2014/main" id="{F21A2546-FB70-4911-1576-6062E8E98C23}"/>
              </a:ext>
            </a:extLst>
          </p:cNvPr>
          <p:cNvPicPr>
            <a:picLocks noChangeAspect="1"/>
          </p:cNvPicPr>
          <p:nvPr/>
        </p:nvPicPr>
        <p:blipFill>
          <a:blip r:embed="rId3"/>
          <a:stretch>
            <a:fillRect/>
          </a:stretch>
        </p:blipFill>
        <p:spPr>
          <a:xfrm>
            <a:off x="10325359" y="3972208"/>
            <a:ext cx="1404489" cy="1404489"/>
          </a:xfrm>
          <a:prstGeom prst="rect">
            <a:avLst/>
          </a:prstGeom>
        </p:spPr>
      </p:pic>
    </p:spTree>
    <p:extLst>
      <p:ext uri="{BB962C8B-B14F-4D97-AF65-F5344CB8AC3E}">
        <p14:creationId xmlns:p14="http://schemas.microsoft.com/office/powerpoint/2010/main" val="2860061235"/>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59C34A-0C95-A13C-7667-ABEF062DFEF1}"/>
              </a:ext>
            </a:extLst>
          </p:cNvPr>
          <p:cNvSpPr>
            <a:spLocks noGrp="1"/>
          </p:cNvSpPr>
          <p:nvPr>
            <p:ph type="title"/>
          </p:nvPr>
        </p:nvSpPr>
        <p:spPr>
          <a:xfrm>
            <a:off x="692328" y="53726"/>
            <a:ext cx="3363974" cy="1728044"/>
          </a:xfrm>
          <a:noFill/>
          <a:ln>
            <a:solidFill>
              <a:schemeClr val="bg1"/>
            </a:solidFill>
          </a:ln>
        </p:spPr>
        <p:txBody>
          <a:bodyPr wrap="square">
            <a:normAutofit/>
          </a:bodyPr>
          <a:lstStyle/>
          <a:p>
            <a:r>
              <a:rPr lang="en-US">
                <a:solidFill>
                  <a:schemeClr val="bg1"/>
                </a:solidFill>
              </a:rPr>
              <a:t>Apparatus</a:t>
            </a:r>
          </a:p>
        </p:txBody>
      </p:sp>
      <p:graphicFrame>
        <p:nvGraphicFramePr>
          <p:cNvPr id="19" name="Content Placeholder 5">
            <a:extLst>
              <a:ext uri="{FF2B5EF4-FFF2-40B4-BE49-F238E27FC236}">
                <a16:creationId xmlns:a16="http://schemas.microsoft.com/office/drawing/2014/main" id="{98CF5A7F-8B48-6802-F167-BCB0095E8C5A}"/>
              </a:ext>
            </a:extLst>
          </p:cNvPr>
          <p:cNvGraphicFramePr>
            <a:graphicFrameLocks/>
          </p:cNvGraphicFramePr>
          <p:nvPr>
            <p:extLst>
              <p:ext uri="{D42A27DB-BD31-4B8C-83A1-F6EECF244321}">
                <p14:modId xmlns:p14="http://schemas.microsoft.com/office/powerpoint/2010/main" val="476553501"/>
              </p:ext>
            </p:extLst>
          </p:nvPr>
        </p:nvGraphicFramePr>
        <p:xfrm>
          <a:off x="5297763" y="917748"/>
          <a:ext cx="6250767" cy="5695339"/>
        </p:xfrm>
        <a:graphic>
          <a:graphicData uri="http://schemas.openxmlformats.org/drawingml/2006/table">
            <a:tbl>
              <a:tblPr firstRow="1" firstCol="1">
                <a:noFill/>
                <a:tableStyleId>{5C22544A-7EE6-4342-B048-85BDC9FD1C3A}</a:tableStyleId>
              </a:tblPr>
              <a:tblGrid>
                <a:gridCol w="1050017">
                  <a:extLst>
                    <a:ext uri="{9D8B030D-6E8A-4147-A177-3AD203B41FA5}">
                      <a16:colId xmlns:a16="http://schemas.microsoft.com/office/drawing/2014/main" val="1748997368"/>
                    </a:ext>
                  </a:extLst>
                </a:gridCol>
                <a:gridCol w="1761586">
                  <a:extLst>
                    <a:ext uri="{9D8B030D-6E8A-4147-A177-3AD203B41FA5}">
                      <a16:colId xmlns:a16="http://schemas.microsoft.com/office/drawing/2014/main" val="3670533109"/>
                    </a:ext>
                  </a:extLst>
                </a:gridCol>
                <a:gridCol w="3439164">
                  <a:extLst>
                    <a:ext uri="{9D8B030D-6E8A-4147-A177-3AD203B41FA5}">
                      <a16:colId xmlns:a16="http://schemas.microsoft.com/office/drawing/2014/main" val="737532721"/>
                    </a:ext>
                  </a:extLst>
                </a:gridCol>
              </a:tblGrid>
              <a:tr h="317177">
                <a:tc>
                  <a:txBody>
                    <a:bodyPr/>
                    <a:lstStyle/>
                    <a:p>
                      <a:pPr marL="0" marR="0">
                        <a:buNone/>
                      </a:pPr>
                      <a:r>
                        <a:rPr lang="en-US" sz="1400" b="0" cap="none" spc="0">
                          <a:solidFill>
                            <a:schemeClr val="tx1"/>
                          </a:solidFill>
                          <a:effectLst/>
                        </a:rPr>
                        <a:t>Number:</a:t>
                      </a:r>
                      <a:endParaRPr lang="en-US" sz="1400" b="0" cap="none" spc="0">
                        <a:solidFill>
                          <a:schemeClr val="tx1"/>
                        </a:solidFill>
                        <a:effectLst/>
                        <a:latin typeface="Times New Roman"/>
                        <a:ea typeface="Times New Roman" panose="02020603050405020304" pitchFamily="18" charset="0"/>
                      </a:endParaRPr>
                    </a:p>
                  </a:txBody>
                  <a:tcPr marL="38997" marR="38997" marT="0" marB="77994" anchor="b">
                    <a:lnL w="12700" cmpd="sng">
                      <a:noFill/>
                    </a:lnL>
                    <a:lnR w="12700" cmpd="sng">
                      <a:noFill/>
                    </a:lnR>
                    <a:lnT w="9525" cap="flat" cmpd="sng" algn="ctr">
                      <a:noFill/>
                      <a:prstDash val="solid"/>
                    </a:lnT>
                    <a:lnB w="38100" cmpd="sng">
                      <a:noFill/>
                    </a:lnB>
                    <a:noFill/>
                  </a:tcPr>
                </a:tc>
                <a:tc>
                  <a:txBody>
                    <a:bodyPr/>
                    <a:lstStyle/>
                    <a:p>
                      <a:pPr marL="0" marR="0">
                        <a:buNone/>
                      </a:pPr>
                      <a:r>
                        <a:rPr lang="en-US" sz="1400" b="0" cap="none" spc="0">
                          <a:solidFill>
                            <a:schemeClr val="tx1"/>
                          </a:solidFill>
                          <a:effectLst/>
                        </a:rPr>
                        <a:t>Name:</a:t>
                      </a:r>
                      <a:endParaRPr lang="en-US" sz="1400" b="0" cap="none" spc="0">
                        <a:solidFill>
                          <a:schemeClr val="tx1"/>
                        </a:solidFill>
                        <a:effectLst/>
                        <a:latin typeface="Times New Roman"/>
                        <a:ea typeface="Times New Roman" panose="02020603050405020304" pitchFamily="18" charset="0"/>
                      </a:endParaRPr>
                    </a:p>
                  </a:txBody>
                  <a:tcPr marL="38997" marR="38997" marT="0" marB="77994" anchor="b">
                    <a:lnL w="12700" cmpd="sng">
                      <a:noFill/>
                    </a:lnL>
                    <a:lnR w="12700" cmpd="sng">
                      <a:noFill/>
                    </a:lnR>
                    <a:lnT w="9525" cap="flat" cmpd="sng" algn="ctr">
                      <a:noFill/>
                      <a:prstDash val="solid"/>
                    </a:lnT>
                    <a:lnB w="38100" cmpd="sng">
                      <a:noFill/>
                    </a:lnB>
                    <a:noFill/>
                  </a:tcPr>
                </a:tc>
                <a:tc>
                  <a:txBody>
                    <a:bodyPr/>
                    <a:lstStyle/>
                    <a:p>
                      <a:pPr marL="0" marR="0">
                        <a:buNone/>
                      </a:pPr>
                      <a:r>
                        <a:rPr lang="en-US" sz="1400" b="0" cap="none" spc="0">
                          <a:solidFill>
                            <a:schemeClr val="tx1"/>
                          </a:solidFill>
                          <a:effectLst/>
                        </a:rPr>
                        <a:t>Description:</a:t>
                      </a:r>
                      <a:endParaRPr lang="en-US" sz="1400" b="0" cap="none" spc="0">
                        <a:solidFill>
                          <a:schemeClr val="tx1"/>
                        </a:solidFill>
                        <a:effectLst/>
                        <a:latin typeface="Times New Roman"/>
                        <a:ea typeface="Times New Roman" panose="02020603050405020304" pitchFamily="18" charset="0"/>
                      </a:endParaRPr>
                    </a:p>
                  </a:txBody>
                  <a:tcPr marL="38997" marR="38997" marT="0" marB="77994"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673641389"/>
                  </a:ext>
                </a:extLst>
              </a:tr>
              <a:tr h="317177">
                <a:tc>
                  <a:txBody>
                    <a:bodyPr/>
                    <a:lstStyle/>
                    <a:p>
                      <a:pPr marL="0" marR="0">
                        <a:buNone/>
                      </a:pPr>
                      <a:r>
                        <a:rPr lang="en-US" sz="1400" b="0" cap="none" spc="0">
                          <a:solidFill>
                            <a:schemeClr val="tx1"/>
                          </a:solidFill>
                          <a:effectLst/>
                        </a:rPr>
                        <a:t>1</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38100" cmpd="sng">
                      <a:noFill/>
                    </a:lnT>
                    <a:lnB w="12700" cmpd="sng">
                      <a:noFill/>
                      <a:prstDash val="solid"/>
                    </a:lnB>
                    <a:noFill/>
                  </a:tcPr>
                </a:tc>
                <a:tc>
                  <a:txBody>
                    <a:bodyPr/>
                    <a:lstStyle/>
                    <a:p>
                      <a:pPr marL="0" marR="0">
                        <a:buNone/>
                      </a:pPr>
                      <a:r>
                        <a:rPr lang="en-US" sz="1400" cap="none" spc="0">
                          <a:solidFill>
                            <a:schemeClr val="tx1"/>
                          </a:solidFill>
                          <a:effectLst/>
                        </a:rPr>
                        <a:t>Water Supply</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38100" cmpd="sng">
                      <a:noFill/>
                    </a:lnT>
                    <a:lnB w="12700" cmpd="sng">
                      <a:noFill/>
                      <a:prstDash val="solid"/>
                    </a:lnB>
                    <a:noFill/>
                  </a:tcPr>
                </a:tc>
                <a:tc>
                  <a:txBody>
                    <a:bodyPr/>
                    <a:lstStyle/>
                    <a:p>
                      <a:pPr marL="0" marR="0">
                        <a:buNone/>
                      </a:pPr>
                      <a:r>
                        <a:rPr lang="en-US" sz="1400" cap="none" spc="0">
                          <a:solidFill>
                            <a:schemeClr val="tx1"/>
                          </a:solidFill>
                          <a:effectLst/>
                        </a:rPr>
                        <a:t>Water used to conduct the experiment.</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524998053"/>
                  </a:ext>
                </a:extLst>
              </a:tr>
              <a:tr h="317177">
                <a:tc>
                  <a:txBody>
                    <a:bodyPr/>
                    <a:lstStyle/>
                    <a:p>
                      <a:pPr marL="0" marR="0">
                        <a:buNone/>
                      </a:pPr>
                      <a:r>
                        <a:rPr lang="en-US" sz="1400" b="0" cap="none" spc="0">
                          <a:solidFill>
                            <a:schemeClr val="tx1"/>
                          </a:solidFill>
                          <a:effectLst/>
                        </a:rPr>
                        <a:t>2</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Tank</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Vessel to hold water.</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640340113"/>
                  </a:ext>
                </a:extLst>
              </a:tr>
              <a:tr h="317177">
                <a:tc>
                  <a:txBody>
                    <a:bodyPr/>
                    <a:lstStyle/>
                    <a:p>
                      <a:pPr marL="0" marR="0">
                        <a:buNone/>
                      </a:pPr>
                      <a:r>
                        <a:rPr lang="en-US" sz="1400" b="0" cap="none" spc="0">
                          <a:solidFill>
                            <a:schemeClr val="tx1"/>
                          </a:solidFill>
                          <a:effectLst/>
                        </a:rPr>
                        <a:t>3</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Steam Jacket</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Surrounds tank with hot steam.</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993980914"/>
                  </a:ext>
                </a:extLst>
              </a:tr>
              <a:tr h="317177">
                <a:tc>
                  <a:txBody>
                    <a:bodyPr/>
                    <a:lstStyle/>
                    <a:p>
                      <a:pPr marL="0" marR="0">
                        <a:buNone/>
                      </a:pPr>
                      <a:r>
                        <a:rPr lang="en-US" sz="1400" b="0" cap="none" spc="0">
                          <a:solidFill>
                            <a:schemeClr val="tx1"/>
                          </a:solidFill>
                          <a:effectLst/>
                        </a:rPr>
                        <a:t>4</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Motor</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Controls the propeller inside of the tank.</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11299948"/>
                  </a:ext>
                </a:extLst>
              </a:tr>
              <a:tr h="317177">
                <a:tc>
                  <a:txBody>
                    <a:bodyPr/>
                    <a:lstStyle/>
                    <a:p>
                      <a:pPr marL="0" marR="0">
                        <a:buNone/>
                      </a:pPr>
                      <a:r>
                        <a:rPr lang="en-US" sz="1400" b="0" cap="none" spc="0">
                          <a:solidFill>
                            <a:schemeClr val="tx1"/>
                          </a:solidFill>
                          <a:effectLst/>
                        </a:rPr>
                        <a:t>5</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Propeller mechanism.</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Used to apply the spinning movement in the tank.</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433414346"/>
                  </a:ext>
                </a:extLst>
              </a:tr>
              <a:tr h="317177">
                <a:tc>
                  <a:txBody>
                    <a:bodyPr/>
                    <a:lstStyle/>
                    <a:p>
                      <a:pPr marL="0" marR="0">
                        <a:buNone/>
                      </a:pPr>
                      <a:r>
                        <a:rPr lang="en-US" sz="1400" b="0" cap="none" spc="0">
                          <a:solidFill>
                            <a:schemeClr val="tx1"/>
                          </a:solidFill>
                          <a:effectLst/>
                        </a:rPr>
                        <a:t>6</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Propeller</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Used to spin in the water.</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384041009"/>
                  </a:ext>
                </a:extLst>
              </a:tr>
              <a:tr h="317177">
                <a:tc>
                  <a:txBody>
                    <a:bodyPr/>
                    <a:lstStyle/>
                    <a:p>
                      <a:pPr marL="0" marR="0">
                        <a:buNone/>
                      </a:pPr>
                      <a:r>
                        <a:rPr lang="en-US" sz="1400" b="0" cap="none" spc="0">
                          <a:solidFill>
                            <a:schemeClr val="tx1"/>
                          </a:solidFill>
                          <a:effectLst/>
                        </a:rPr>
                        <a:t>7</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Coil</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A coil that has cooling water runs through the system.</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23288325"/>
                  </a:ext>
                </a:extLst>
              </a:tr>
              <a:tr h="317177">
                <a:tc>
                  <a:txBody>
                    <a:bodyPr/>
                    <a:lstStyle/>
                    <a:p>
                      <a:pPr marL="0" marR="0">
                        <a:buNone/>
                      </a:pPr>
                      <a:r>
                        <a:rPr lang="en-US" sz="1400" b="0" cap="none" spc="0">
                          <a:solidFill>
                            <a:schemeClr val="tx1"/>
                          </a:solidFill>
                          <a:effectLst/>
                        </a:rPr>
                        <a:t>8</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Flow Meter for Coil</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Measures water flow in a coil.</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232123744"/>
                  </a:ext>
                </a:extLst>
              </a:tr>
              <a:tr h="317177">
                <a:tc>
                  <a:txBody>
                    <a:bodyPr/>
                    <a:lstStyle/>
                    <a:p>
                      <a:pPr marL="0" marR="0">
                        <a:buNone/>
                      </a:pPr>
                      <a:r>
                        <a:rPr lang="en-US" sz="1400" b="0" cap="none" spc="0">
                          <a:solidFill>
                            <a:schemeClr val="tx1"/>
                          </a:solidFill>
                          <a:effectLst/>
                        </a:rPr>
                        <a:t>9</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Steam Line</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Add steam inside the jacket for heating.</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926508947"/>
                  </a:ext>
                </a:extLst>
              </a:tr>
              <a:tr h="421169">
                <a:tc>
                  <a:txBody>
                    <a:bodyPr/>
                    <a:lstStyle/>
                    <a:p>
                      <a:pPr marL="0" marR="0">
                        <a:buNone/>
                      </a:pPr>
                      <a:r>
                        <a:rPr lang="en-US" sz="1400" b="0" cap="none" spc="0">
                          <a:solidFill>
                            <a:schemeClr val="tx1"/>
                          </a:solidFill>
                          <a:effectLst/>
                        </a:rPr>
                        <a:t>10</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Steam Trap</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Collects steam and condensates it to be reused in the system.</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277431068"/>
                  </a:ext>
                </a:extLst>
              </a:tr>
              <a:tr h="317177">
                <a:tc>
                  <a:txBody>
                    <a:bodyPr/>
                    <a:lstStyle/>
                    <a:p>
                      <a:pPr marL="0" marR="0">
                        <a:buNone/>
                      </a:pPr>
                      <a:r>
                        <a:rPr lang="en-US" sz="1400" b="0" cap="none" spc="0">
                          <a:solidFill>
                            <a:schemeClr val="tx1"/>
                          </a:solidFill>
                          <a:effectLst/>
                        </a:rPr>
                        <a:t>11</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External Heat Exchanger</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Cools water from inside the tank to add back.</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848501989"/>
                  </a:ext>
                </a:extLst>
              </a:tr>
              <a:tr h="317177">
                <a:tc>
                  <a:txBody>
                    <a:bodyPr/>
                    <a:lstStyle/>
                    <a:p>
                      <a:pPr marL="0" marR="0">
                        <a:buNone/>
                      </a:pPr>
                      <a:r>
                        <a:rPr lang="en-US" sz="1400" b="0" cap="none" spc="0">
                          <a:solidFill>
                            <a:schemeClr val="tx1"/>
                          </a:solidFill>
                          <a:effectLst/>
                        </a:rPr>
                        <a:t>12</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Flow meter for Cooling water</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Measures the amount of water going into the tank.</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441481871"/>
                  </a:ext>
                </a:extLst>
              </a:tr>
              <a:tr h="317176">
                <a:tc>
                  <a:txBody>
                    <a:bodyPr/>
                    <a:lstStyle/>
                    <a:p>
                      <a:pPr marL="0" marR="0">
                        <a:buNone/>
                      </a:pPr>
                      <a:r>
                        <a:rPr lang="en-US" sz="1400" b="0" cap="none" spc="0">
                          <a:solidFill>
                            <a:schemeClr val="tx1"/>
                          </a:solidFill>
                          <a:effectLst/>
                        </a:rPr>
                        <a:t>13</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Pump</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Pumps water back into the tank.</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94758870"/>
                  </a:ext>
                </a:extLst>
              </a:tr>
              <a:tr h="317177">
                <a:tc>
                  <a:txBody>
                    <a:bodyPr/>
                    <a:lstStyle/>
                    <a:p>
                      <a:pPr marL="0" marR="0">
                        <a:buNone/>
                      </a:pPr>
                      <a:r>
                        <a:rPr lang="en-US" sz="1400" b="0" cap="none" spc="0">
                          <a:solidFill>
                            <a:schemeClr val="tx1"/>
                          </a:solidFill>
                          <a:effectLst/>
                        </a:rPr>
                        <a:t>14</a:t>
                      </a:r>
                      <a:endParaRPr lang="en-US" sz="1400" b="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rPr>
                        <a:t>Drain</a:t>
                      </a:r>
                      <a:endParaRPr lang="en-US" sz="14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dirty="0">
                          <a:solidFill>
                            <a:schemeClr val="tx1"/>
                          </a:solidFill>
                          <a:effectLst/>
                        </a:rPr>
                        <a:t>Drain water out.</a:t>
                      </a:r>
                      <a:endParaRPr lang="en-US" sz="1400" cap="none" spc="0" dirty="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31543134"/>
                  </a:ext>
                </a:extLst>
              </a:tr>
            </a:tbl>
          </a:graphicData>
        </a:graphic>
      </p:graphicFrame>
      <p:pic>
        <p:nvPicPr>
          <p:cNvPr id="8" name="drawing">
            <a:extLst>
              <a:ext uri="{FF2B5EF4-FFF2-40B4-BE49-F238E27FC236}">
                <a16:creationId xmlns:a16="http://schemas.microsoft.com/office/drawing/2014/main" id="{391817E8-2788-94EB-5109-21E2262B1536}"/>
              </a:ext>
            </a:extLst>
          </p:cNvPr>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265246" y="1954443"/>
            <a:ext cx="4090369" cy="4704123"/>
          </a:xfrm>
          <a:prstGeom prst="rect">
            <a:avLst/>
          </a:prstGeom>
        </p:spPr>
      </p:pic>
    </p:spTree>
    <p:extLst>
      <p:ext uri="{BB962C8B-B14F-4D97-AF65-F5344CB8AC3E}">
        <p14:creationId xmlns:p14="http://schemas.microsoft.com/office/powerpoint/2010/main" val="4033097099"/>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0F3867BD-8CEA-DC21-0FC2-FEC01E9A5A05}"/>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1B5A602-3CEC-59FE-99B3-FDDB456ED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448091D-C6E9-46E1-DE3B-8534ACD0B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758582-77BA-9D8B-327D-68C0A8ABDF95}"/>
              </a:ext>
            </a:extLst>
          </p:cNvPr>
          <p:cNvSpPr>
            <a:spLocks noGrp="1"/>
          </p:cNvSpPr>
          <p:nvPr>
            <p:ph type="title"/>
          </p:nvPr>
        </p:nvSpPr>
        <p:spPr>
          <a:xfrm>
            <a:off x="692328" y="53726"/>
            <a:ext cx="3363974" cy="1728044"/>
          </a:xfrm>
          <a:noFill/>
          <a:ln>
            <a:solidFill>
              <a:schemeClr val="bg1"/>
            </a:solidFill>
          </a:ln>
        </p:spPr>
        <p:txBody>
          <a:bodyPr wrap="square">
            <a:normAutofit/>
          </a:bodyPr>
          <a:lstStyle/>
          <a:p>
            <a:r>
              <a:rPr lang="en-US" sz="2000">
                <a:solidFill>
                  <a:schemeClr val="bg1"/>
                </a:solidFill>
              </a:rPr>
              <a:t>Thermometer list</a:t>
            </a:r>
          </a:p>
        </p:txBody>
      </p:sp>
      <p:graphicFrame>
        <p:nvGraphicFramePr>
          <p:cNvPr id="19" name="Content Placeholder 5">
            <a:extLst>
              <a:ext uri="{FF2B5EF4-FFF2-40B4-BE49-F238E27FC236}">
                <a16:creationId xmlns:a16="http://schemas.microsoft.com/office/drawing/2014/main" id="{36461561-24E5-D385-A74E-7DA0C1FD4DF0}"/>
              </a:ext>
            </a:extLst>
          </p:cNvPr>
          <p:cNvGraphicFramePr>
            <a:graphicFrameLocks/>
          </p:cNvGraphicFramePr>
          <p:nvPr>
            <p:extLst>
              <p:ext uri="{D42A27DB-BD31-4B8C-83A1-F6EECF244321}">
                <p14:modId xmlns:p14="http://schemas.microsoft.com/office/powerpoint/2010/main" val="904283655"/>
              </p:ext>
            </p:extLst>
          </p:nvPr>
        </p:nvGraphicFramePr>
        <p:xfrm>
          <a:off x="5982126" y="1954443"/>
          <a:ext cx="5200751" cy="4281552"/>
        </p:xfrm>
        <a:graphic>
          <a:graphicData uri="http://schemas.openxmlformats.org/drawingml/2006/table">
            <a:tbl>
              <a:tblPr firstRow="1" firstCol="1">
                <a:noFill/>
                <a:tableStyleId>{5C22544A-7EE6-4342-B048-85BDC9FD1C3A}</a:tableStyleId>
              </a:tblPr>
              <a:tblGrid>
                <a:gridCol w="1761586">
                  <a:extLst>
                    <a:ext uri="{9D8B030D-6E8A-4147-A177-3AD203B41FA5}">
                      <a16:colId xmlns:a16="http://schemas.microsoft.com/office/drawing/2014/main" val="3670533109"/>
                    </a:ext>
                  </a:extLst>
                </a:gridCol>
                <a:gridCol w="3439165">
                  <a:extLst>
                    <a:ext uri="{9D8B030D-6E8A-4147-A177-3AD203B41FA5}">
                      <a16:colId xmlns:a16="http://schemas.microsoft.com/office/drawing/2014/main" val="737532721"/>
                    </a:ext>
                  </a:extLst>
                </a:gridCol>
              </a:tblGrid>
              <a:tr h="317177">
                <a:tc>
                  <a:txBody>
                    <a:bodyPr/>
                    <a:lstStyle/>
                    <a:p>
                      <a:pPr marL="0" marR="0">
                        <a:buNone/>
                      </a:pPr>
                      <a:r>
                        <a:rPr lang="en-US" sz="2000" b="0" cap="none" spc="0">
                          <a:solidFill>
                            <a:schemeClr val="tx1"/>
                          </a:solidFill>
                          <a:effectLst/>
                        </a:rPr>
                        <a:t>Thermometer:</a:t>
                      </a:r>
                      <a:endParaRPr lang="en-US" sz="2000" b="0" cap="none" spc="0">
                        <a:solidFill>
                          <a:schemeClr val="tx1"/>
                        </a:solidFill>
                        <a:effectLst/>
                        <a:latin typeface="Times New Roman"/>
                        <a:ea typeface="Times New Roman" panose="02020603050405020304" pitchFamily="18" charset="0"/>
                      </a:endParaRPr>
                    </a:p>
                  </a:txBody>
                  <a:tcPr marL="38997" marR="38997" marT="0" marB="77994" anchor="b">
                    <a:lnL w="12700" cmpd="sng">
                      <a:noFill/>
                    </a:lnL>
                    <a:lnR w="12700" cmpd="sng">
                      <a:noFill/>
                    </a:lnR>
                    <a:lnT w="9525" cap="flat" cmpd="sng" algn="ctr">
                      <a:noFill/>
                      <a:prstDash val="solid"/>
                    </a:lnT>
                    <a:lnB w="38100" cmpd="sng">
                      <a:noFill/>
                    </a:lnB>
                    <a:noFill/>
                  </a:tcPr>
                </a:tc>
                <a:tc>
                  <a:txBody>
                    <a:bodyPr/>
                    <a:lstStyle/>
                    <a:p>
                      <a:pPr marL="0" marR="0">
                        <a:buNone/>
                      </a:pPr>
                      <a:r>
                        <a:rPr lang="en-US" sz="2000" b="0" cap="none" spc="0">
                          <a:solidFill>
                            <a:schemeClr val="tx1"/>
                          </a:solidFill>
                          <a:effectLst/>
                        </a:rPr>
                        <a:t>Description:</a:t>
                      </a:r>
                      <a:endParaRPr lang="en-US" sz="2000" b="0" cap="none" spc="0">
                        <a:solidFill>
                          <a:schemeClr val="tx1"/>
                        </a:solidFill>
                        <a:effectLst/>
                        <a:latin typeface="Times New Roman"/>
                        <a:ea typeface="Times New Roman" panose="02020603050405020304" pitchFamily="18" charset="0"/>
                      </a:endParaRPr>
                    </a:p>
                  </a:txBody>
                  <a:tcPr marL="38997" marR="38997" marT="0" marB="77994"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673641389"/>
                  </a:ext>
                </a:extLst>
              </a:tr>
              <a:tr h="317177">
                <a:tc>
                  <a:txBody>
                    <a:bodyPr/>
                    <a:lstStyle/>
                    <a:p>
                      <a:pPr marL="0" marR="0">
                        <a:buNone/>
                      </a:pPr>
                      <a:r>
                        <a:rPr lang="en-US" sz="2000" cap="none" spc="0">
                          <a:solidFill>
                            <a:schemeClr val="tx1"/>
                          </a:solidFill>
                          <a:effectLst/>
                          <a:latin typeface="+mn-lt"/>
                          <a:ea typeface="Times New Roman" panose="02020603050405020304" pitchFamily="18" charset="0"/>
                        </a:rPr>
                        <a:t>T1</a:t>
                      </a:r>
                    </a:p>
                  </a:txBody>
                  <a:tcPr marL="38997" marR="38997" marT="0" marB="77994">
                    <a:lnL w="12700" cmpd="sng">
                      <a:noFill/>
                      <a:prstDash val="solid"/>
                    </a:lnL>
                    <a:lnR w="12700" cmpd="sng">
                      <a:noFill/>
                      <a:prstDash val="solid"/>
                    </a:lnR>
                    <a:lnT w="38100" cmpd="sng">
                      <a:noFill/>
                    </a:lnT>
                    <a:lnB w="12700" cmpd="sng">
                      <a:noFill/>
                      <a:prstDash val="solid"/>
                    </a:lnB>
                    <a:noFill/>
                  </a:tcPr>
                </a:tc>
                <a:tc>
                  <a:txBody>
                    <a:bodyPr/>
                    <a:lstStyle/>
                    <a:p>
                      <a:pPr marL="0" marR="0">
                        <a:buNone/>
                      </a:pPr>
                      <a:r>
                        <a:rPr lang="en-US" sz="2000" cap="none" spc="0">
                          <a:solidFill>
                            <a:schemeClr val="tx1"/>
                          </a:solidFill>
                          <a:effectLst/>
                        </a:rPr>
                        <a:t>Water for coil</a:t>
                      </a:r>
                      <a:endParaRPr lang="en-US" sz="20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524998053"/>
                  </a:ext>
                </a:extLst>
              </a:tr>
              <a:tr h="317177">
                <a:tc>
                  <a:txBody>
                    <a:bodyPr/>
                    <a:lstStyle/>
                    <a:p>
                      <a:pPr marL="0" marR="0">
                        <a:buNone/>
                      </a:pPr>
                      <a:r>
                        <a:rPr lang="en-US" sz="2000" cap="none" spc="0">
                          <a:solidFill>
                            <a:schemeClr val="tx1"/>
                          </a:solidFill>
                          <a:effectLst/>
                          <a:latin typeface="+mn-lt"/>
                        </a:rPr>
                        <a:t>T2</a:t>
                      </a:r>
                      <a:endParaRPr lang="en-US" sz="2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2000" cap="none" spc="0">
                          <a:solidFill>
                            <a:schemeClr val="tx1"/>
                          </a:solidFill>
                          <a:effectLst/>
                        </a:rPr>
                        <a:t>Water in the tank</a:t>
                      </a:r>
                      <a:endParaRPr lang="en-US" sz="20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640340113"/>
                  </a:ext>
                </a:extLst>
              </a:tr>
              <a:tr h="3171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cap="none" spc="0">
                          <a:solidFill>
                            <a:schemeClr val="tx1"/>
                          </a:solidFill>
                          <a:effectLst/>
                          <a:latin typeface="+mn-lt"/>
                        </a:rPr>
                        <a:t>T3</a:t>
                      </a:r>
                      <a:endParaRPr lang="en-US" sz="2000" cap="none" spc="0">
                        <a:solidFill>
                          <a:schemeClr val="tx1"/>
                        </a:solidFill>
                        <a:effectLst/>
                        <a:latin typeface="+mn-lt"/>
                        <a:ea typeface="Times New Roman" panose="02020603050405020304" pitchFamily="18" charset="0"/>
                      </a:endParaRPr>
                    </a:p>
                    <a:p>
                      <a:pPr marL="0" marR="0">
                        <a:buNone/>
                      </a:pPr>
                      <a:endParaRPr lang="en-US" sz="2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2000" cap="none" spc="0">
                          <a:solidFill>
                            <a:schemeClr val="tx1"/>
                          </a:solidFill>
                          <a:effectLst/>
                        </a:rPr>
                        <a:t>Water leaving coil</a:t>
                      </a:r>
                      <a:endParaRPr lang="en-US" sz="20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993980914"/>
                  </a:ext>
                </a:extLst>
              </a:tr>
              <a:tr h="317177">
                <a:tc>
                  <a:txBody>
                    <a:bodyPr/>
                    <a:lstStyle/>
                    <a:p>
                      <a:pPr marL="0" marR="0">
                        <a:buNone/>
                      </a:pPr>
                      <a:r>
                        <a:rPr lang="en-US" sz="2000" cap="none" spc="0">
                          <a:solidFill>
                            <a:schemeClr val="tx1"/>
                          </a:solidFill>
                          <a:effectLst/>
                          <a:latin typeface="+mn-lt"/>
                          <a:ea typeface="Times New Roman" panose="02020603050405020304" pitchFamily="18" charset="0"/>
                        </a:rPr>
                        <a:t>T4</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2000" cap="none" spc="0">
                          <a:solidFill>
                            <a:schemeClr val="tx1"/>
                          </a:solidFill>
                          <a:effectLst/>
                        </a:rPr>
                        <a:t>Cool water leaving heat exchanger</a:t>
                      </a:r>
                      <a:endParaRPr lang="en-US" sz="20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11299948"/>
                  </a:ext>
                </a:extLst>
              </a:tr>
              <a:tr h="317177">
                <a:tc>
                  <a:txBody>
                    <a:bodyPr/>
                    <a:lstStyle/>
                    <a:p>
                      <a:pPr marL="0" marR="0">
                        <a:buNone/>
                      </a:pPr>
                      <a:r>
                        <a:rPr lang="en-US" sz="2000" cap="none" spc="0">
                          <a:solidFill>
                            <a:schemeClr val="tx1"/>
                          </a:solidFill>
                          <a:effectLst/>
                          <a:latin typeface="+mn-lt"/>
                        </a:rPr>
                        <a:t>T5</a:t>
                      </a:r>
                      <a:endParaRPr lang="en-US" sz="2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2000" cap="none" spc="0">
                          <a:solidFill>
                            <a:schemeClr val="tx1"/>
                          </a:solidFill>
                          <a:effectLst/>
                        </a:rPr>
                        <a:t>Water entering heat exchanger</a:t>
                      </a:r>
                      <a:endParaRPr lang="en-US" sz="20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433414346"/>
                  </a:ext>
                </a:extLst>
              </a:tr>
              <a:tr h="317177">
                <a:tc>
                  <a:txBody>
                    <a:bodyPr/>
                    <a:lstStyle/>
                    <a:p>
                      <a:pPr marL="0" marR="0">
                        <a:buNone/>
                      </a:pPr>
                      <a:r>
                        <a:rPr lang="en-US" sz="2000" cap="none" spc="0">
                          <a:solidFill>
                            <a:schemeClr val="tx1"/>
                          </a:solidFill>
                          <a:effectLst/>
                          <a:latin typeface="+mn-lt"/>
                        </a:rPr>
                        <a:t>T6</a:t>
                      </a:r>
                      <a:endParaRPr lang="en-US" sz="2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2000" cap="none" spc="0">
                          <a:solidFill>
                            <a:schemeClr val="tx1"/>
                          </a:solidFill>
                          <a:effectLst/>
                        </a:rPr>
                        <a:t>Cooling water for the steam trap</a:t>
                      </a:r>
                      <a:endParaRPr lang="en-US" sz="20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384041009"/>
                  </a:ext>
                </a:extLst>
              </a:tr>
              <a:tr h="317177">
                <a:tc>
                  <a:txBody>
                    <a:bodyPr/>
                    <a:lstStyle/>
                    <a:p>
                      <a:pPr marL="0" marR="0">
                        <a:buNone/>
                      </a:pPr>
                      <a:r>
                        <a:rPr lang="en-US" sz="2000" cap="none" spc="0">
                          <a:solidFill>
                            <a:schemeClr val="tx1"/>
                          </a:solidFill>
                          <a:effectLst/>
                          <a:latin typeface="+mn-lt"/>
                        </a:rPr>
                        <a:t>T7</a:t>
                      </a:r>
                      <a:endParaRPr lang="en-US" sz="2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2000" cap="none" spc="0">
                          <a:solidFill>
                            <a:schemeClr val="tx1"/>
                          </a:solidFill>
                          <a:effectLst/>
                        </a:rPr>
                        <a:t>Cooling water leaving the steam trap</a:t>
                      </a:r>
                      <a:endParaRPr lang="en-US" sz="2000" cap="none" spc="0">
                        <a:solidFill>
                          <a:schemeClr val="tx1"/>
                        </a:solidFill>
                        <a:effectLst/>
                        <a:latin typeface="Times New Roman"/>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23288325"/>
                  </a:ext>
                </a:extLst>
              </a:tr>
            </a:tbl>
          </a:graphicData>
        </a:graphic>
      </p:graphicFrame>
      <p:pic>
        <p:nvPicPr>
          <p:cNvPr id="8" name="drawing">
            <a:extLst>
              <a:ext uri="{FF2B5EF4-FFF2-40B4-BE49-F238E27FC236}">
                <a16:creationId xmlns:a16="http://schemas.microsoft.com/office/drawing/2014/main" id="{6B468BBC-E25F-E329-C95A-9C50F205AB57}"/>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265246" y="1954443"/>
            <a:ext cx="4090369" cy="4704123"/>
          </a:xfrm>
          <a:prstGeom prst="rect">
            <a:avLst/>
          </a:prstGeom>
        </p:spPr>
      </p:pic>
    </p:spTree>
    <p:extLst>
      <p:ext uri="{BB962C8B-B14F-4D97-AF65-F5344CB8AC3E}">
        <p14:creationId xmlns:p14="http://schemas.microsoft.com/office/powerpoint/2010/main" val="1479193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559E6267-669C-FFB0-DE53-A0D71F2CDB4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5C157E6-6895-B2D3-2833-FA5EFA164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B9C1FFB-6258-7641-9195-A0A4C8D9EE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890A04-0727-7B6D-1272-0FC4FC443498}"/>
              </a:ext>
            </a:extLst>
          </p:cNvPr>
          <p:cNvSpPr>
            <a:spLocks noGrp="1"/>
          </p:cNvSpPr>
          <p:nvPr>
            <p:ph type="title"/>
          </p:nvPr>
        </p:nvSpPr>
        <p:spPr>
          <a:xfrm>
            <a:off x="692328" y="53726"/>
            <a:ext cx="3363974" cy="1728044"/>
          </a:xfrm>
          <a:noFill/>
          <a:ln>
            <a:solidFill>
              <a:schemeClr val="bg1"/>
            </a:solidFill>
          </a:ln>
        </p:spPr>
        <p:txBody>
          <a:bodyPr wrap="square">
            <a:normAutofit/>
          </a:bodyPr>
          <a:lstStyle/>
          <a:p>
            <a:r>
              <a:rPr lang="en-US" sz="2000">
                <a:solidFill>
                  <a:schemeClr val="bg1"/>
                </a:solidFill>
              </a:rPr>
              <a:t>Valve list</a:t>
            </a:r>
          </a:p>
        </p:txBody>
      </p:sp>
      <p:pic>
        <p:nvPicPr>
          <p:cNvPr id="5" name="drawing">
            <a:extLst>
              <a:ext uri="{FF2B5EF4-FFF2-40B4-BE49-F238E27FC236}">
                <a16:creationId xmlns:a16="http://schemas.microsoft.com/office/drawing/2014/main" id="{CD6FD699-594D-51A9-69EF-45AF9E00EE3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0940" y="2361535"/>
            <a:ext cx="3926749" cy="4248150"/>
          </a:xfrm>
          <a:prstGeom prst="rect">
            <a:avLst/>
          </a:prstGeom>
        </p:spPr>
      </p:pic>
      <p:graphicFrame>
        <p:nvGraphicFramePr>
          <p:cNvPr id="20" name="Table 19">
            <a:extLst>
              <a:ext uri="{FF2B5EF4-FFF2-40B4-BE49-F238E27FC236}">
                <a16:creationId xmlns:a16="http://schemas.microsoft.com/office/drawing/2014/main" id="{574C710C-D7CE-6907-F16C-02C9CC41AFB9}"/>
              </a:ext>
            </a:extLst>
          </p:cNvPr>
          <p:cNvGraphicFramePr>
            <a:graphicFrameLocks noGrp="1"/>
          </p:cNvGraphicFramePr>
          <p:nvPr>
            <p:extLst>
              <p:ext uri="{D42A27DB-BD31-4B8C-83A1-F6EECF244321}">
                <p14:modId xmlns:p14="http://schemas.microsoft.com/office/powerpoint/2010/main" val="3826239294"/>
              </p:ext>
            </p:extLst>
          </p:nvPr>
        </p:nvGraphicFramePr>
        <p:xfrm>
          <a:off x="6388668" y="1334541"/>
          <a:ext cx="3974423" cy="5248522"/>
        </p:xfrm>
        <a:graphic>
          <a:graphicData uri="http://schemas.openxmlformats.org/drawingml/2006/table">
            <a:tbl>
              <a:tblPr firstRow="1" firstCol="1">
                <a:noFill/>
                <a:tableStyleId>{5C22544A-7EE6-4342-B048-85BDC9FD1C3A}</a:tableStyleId>
              </a:tblPr>
              <a:tblGrid>
                <a:gridCol w="535258">
                  <a:extLst>
                    <a:ext uri="{9D8B030D-6E8A-4147-A177-3AD203B41FA5}">
                      <a16:colId xmlns:a16="http://schemas.microsoft.com/office/drawing/2014/main" val="2109583152"/>
                    </a:ext>
                  </a:extLst>
                </a:gridCol>
                <a:gridCol w="3439165">
                  <a:extLst>
                    <a:ext uri="{9D8B030D-6E8A-4147-A177-3AD203B41FA5}">
                      <a16:colId xmlns:a16="http://schemas.microsoft.com/office/drawing/2014/main" val="2545999364"/>
                    </a:ext>
                  </a:extLst>
                </a:gridCol>
              </a:tblGrid>
              <a:tr h="317177">
                <a:tc>
                  <a:txBody>
                    <a:bodyPr/>
                    <a:lstStyle/>
                    <a:p>
                      <a:pPr marL="0" marR="0">
                        <a:buNone/>
                      </a:pPr>
                      <a:r>
                        <a:rPr lang="en-US" sz="1400" b="0" cap="none" spc="0">
                          <a:solidFill>
                            <a:schemeClr val="tx1"/>
                          </a:solidFill>
                          <a:effectLst/>
                        </a:rPr>
                        <a:t>Valve:</a:t>
                      </a:r>
                      <a:endParaRPr lang="en-US" sz="1400" b="0" cap="none" spc="0">
                        <a:solidFill>
                          <a:schemeClr val="tx1"/>
                        </a:solidFill>
                        <a:effectLst/>
                        <a:latin typeface="Times New Roman"/>
                        <a:ea typeface="Times New Roman" panose="02020603050405020304" pitchFamily="18" charset="0"/>
                      </a:endParaRPr>
                    </a:p>
                  </a:txBody>
                  <a:tcPr marL="38997" marR="38997" marT="0" marB="77994" anchor="b">
                    <a:lnL w="12700" cmpd="sng">
                      <a:noFill/>
                    </a:lnL>
                    <a:lnR w="12700" cmpd="sng">
                      <a:noFill/>
                    </a:lnR>
                    <a:lnT w="9525" cap="flat" cmpd="sng" algn="ctr">
                      <a:noFill/>
                      <a:prstDash val="solid"/>
                    </a:lnT>
                    <a:lnB w="38100" cmpd="sng">
                      <a:noFill/>
                    </a:lnB>
                    <a:noFill/>
                  </a:tcPr>
                </a:tc>
                <a:tc>
                  <a:txBody>
                    <a:bodyPr/>
                    <a:lstStyle/>
                    <a:p>
                      <a:pPr marL="0" marR="0">
                        <a:buNone/>
                      </a:pPr>
                      <a:r>
                        <a:rPr lang="en-US" sz="1400" b="0" cap="none" spc="0">
                          <a:solidFill>
                            <a:schemeClr val="tx1"/>
                          </a:solidFill>
                          <a:effectLst/>
                        </a:rPr>
                        <a:t>Description:</a:t>
                      </a:r>
                      <a:endParaRPr lang="en-US" sz="1400" b="0" cap="none" spc="0">
                        <a:solidFill>
                          <a:schemeClr val="tx1"/>
                        </a:solidFill>
                        <a:effectLst/>
                        <a:latin typeface="Times New Roman"/>
                        <a:ea typeface="Times New Roman" panose="02020603050405020304" pitchFamily="18" charset="0"/>
                      </a:endParaRPr>
                    </a:p>
                  </a:txBody>
                  <a:tcPr marL="38997" marR="38997" marT="0" marB="77994"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4203269727"/>
                  </a:ext>
                </a:extLst>
              </a:tr>
              <a:tr h="317176">
                <a:tc>
                  <a:txBody>
                    <a:bodyPr/>
                    <a:lstStyle/>
                    <a:p>
                      <a:pPr marL="0" marR="0">
                        <a:buNone/>
                      </a:pPr>
                      <a:r>
                        <a:rPr lang="en-US" sz="1400" cap="none" spc="0">
                          <a:solidFill>
                            <a:schemeClr val="tx1"/>
                          </a:solidFill>
                          <a:effectLst/>
                          <a:latin typeface="+mn-lt"/>
                          <a:ea typeface="Times New Roman" panose="02020603050405020304" pitchFamily="18" charset="0"/>
                        </a:rPr>
                        <a:t>V1</a:t>
                      </a:r>
                    </a:p>
                  </a:txBody>
                  <a:tcPr marL="38997" marR="38997" marT="0" marB="77994">
                    <a:lnL w="12700" cmpd="sng">
                      <a:noFill/>
                      <a:prstDash val="solid"/>
                    </a:lnL>
                    <a:lnR w="12700" cmpd="sng">
                      <a:noFill/>
                      <a:prstDash val="solid"/>
                    </a:lnR>
                    <a:lnT w="38100" cmpd="sng">
                      <a:noFill/>
                    </a:lnT>
                    <a:lnB w="12700" cmpd="sng">
                      <a:noFill/>
                      <a:prstDash val="solid"/>
                    </a:lnB>
                    <a:noFill/>
                  </a:tcPr>
                </a:tc>
                <a:tc>
                  <a:txBody>
                    <a:bodyPr/>
                    <a:lstStyle/>
                    <a:p>
                      <a:pPr marL="0" marR="0">
                        <a:buNone/>
                      </a:pPr>
                      <a:r>
                        <a:rPr lang="en-US" sz="1400" cap="none" spc="0">
                          <a:solidFill>
                            <a:schemeClr val="tx1"/>
                          </a:solidFill>
                          <a:effectLst/>
                          <a:latin typeface="+mn-lt"/>
                        </a:rPr>
                        <a:t>Opens cooling water for tank</a:t>
                      </a: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733261072"/>
                  </a:ext>
                </a:extLst>
              </a:tr>
              <a:tr h="317177">
                <a:tc>
                  <a:txBody>
                    <a:bodyPr/>
                    <a:lstStyle/>
                    <a:p>
                      <a:pPr marL="0" marR="0">
                        <a:buNone/>
                      </a:pPr>
                      <a:r>
                        <a:rPr lang="en-US" sz="1400" cap="none" spc="0">
                          <a:solidFill>
                            <a:schemeClr val="tx1"/>
                          </a:solidFill>
                          <a:effectLst/>
                          <a:latin typeface="+mn-lt"/>
                        </a:rPr>
                        <a:t>V2</a:t>
                      </a: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latin typeface="+mn-lt"/>
                        </a:rPr>
                        <a:t>Controls water going into the tank</a:t>
                      </a: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79457068"/>
                  </a:ext>
                </a:extLst>
              </a:tr>
              <a:tr h="3171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cap="none" spc="0">
                          <a:solidFill>
                            <a:schemeClr val="tx1"/>
                          </a:solidFill>
                          <a:effectLst/>
                          <a:latin typeface="+mn-lt"/>
                        </a:rPr>
                        <a:t>V3</a:t>
                      </a:r>
                      <a:endParaRPr lang="en-US" sz="1400" cap="none" spc="0">
                        <a:solidFill>
                          <a:schemeClr val="tx1"/>
                        </a:solidFill>
                        <a:effectLst/>
                        <a:latin typeface="+mn-lt"/>
                        <a:ea typeface="Times New Roman" panose="02020603050405020304" pitchFamily="18" charset="0"/>
                      </a:endParaRPr>
                    </a:p>
                    <a:p>
                      <a:pPr marL="0" marR="0">
                        <a:buNone/>
                      </a:pP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latin typeface="+mn-lt"/>
                        </a:rPr>
                        <a:t>Allows steam to enter the steam jacket</a:t>
                      </a: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09790226"/>
                  </a:ext>
                </a:extLst>
              </a:tr>
              <a:tr h="317177">
                <a:tc>
                  <a:txBody>
                    <a:bodyPr/>
                    <a:lstStyle/>
                    <a:p>
                      <a:pPr marL="0" marR="0">
                        <a:buNone/>
                      </a:pPr>
                      <a:r>
                        <a:rPr lang="en-US" sz="1400" cap="none" spc="0">
                          <a:solidFill>
                            <a:schemeClr val="tx1"/>
                          </a:solidFill>
                          <a:effectLst/>
                          <a:latin typeface="+mn-lt"/>
                          <a:ea typeface="Times New Roman" panose="02020603050405020304" pitchFamily="18" charset="0"/>
                        </a:rPr>
                        <a:t>V4</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latin typeface="+mn-lt"/>
                        </a:rPr>
                        <a:t>Allows water from the heat exchanger to flow into the system</a:t>
                      </a: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094395196"/>
                  </a:ext>
                </a:extLst>
              </a:tr>
              <a:tr h="317177">
                <a:tc>
                  <a:txBody>
                    <a:bodyPr/>
                    <a:lstStyle/>
                    <a:p>
                      <a:pPr marL="0" marR="0">
                        <a:buNone/>
                      </a:pPr>
                      <a:r>
                        <a:rPr lang="en-US" sz="1400" cap="none" spc="0">
                          <a:solidFill>
                            <a:schemeClr val="tx1"/>
                          </a:solidFill>
                          <a:effectLst/>
                          <a:latin typeface="+mn-lt"/>
                        </a:rPr>
                        <a:t>V5</a:t>
                      </a: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dirty="0">
                          <a:solidFill>
                            <a:schemeClr val="tx1"/>
                          </a:solidFill>
                          <a:effectLst/>
                          <a:latin typeface="+mn-lt"/>
                        </a:rPr>
                        <a:t>Allows water to enter the steam trap</a:t>
                      </a:r>
                      <a:endParaRPr lang="en-US" sz="1400" cap="none" spc="0" dirty="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05916271"/>
                  </a:ext>
                </a:extLst>
              </a:tr>
              <a:tr h="317177">
                <a:tc>
                  <a:txBody>
                    <a:bodyPr/>
                    <a:lstStyle/>
                    <a:p>
                      <a:pPr marL="0" marR="0">
                        <a:buNone/>
                      </a:pPr>
                      <a:r>
                        <a:rPr lang="en-US" sz="1400" cap="none" spc="0">
                          <a:solidFill>
                            <a:schemeClr val="tx1"/>
                          </a:solidFill>
                          <a:effectLst/>
                          <a:latin typeface="+mn-lt"/>
                        </a:rPr>
                        <a:t>V6</a:t>
                      </a: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latin typeface="+mn-lt"/>
                        </a:rPr>
                        <a:t>Allows water to flow into the pump and system </a:t>
                      </a: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08324533"/>
                  </a:ext>
                </a:extLst>
              </a:tr>
              <a:tr h="317177">
                <a:tc>
                  <a:txBody>
                    <a:bodyPr/>
                    <a:lstStyle/>
                    <a:p>
                      <a:pPr marL="0" marR="0">
                        <a:buNone/>
                      </a:pPr>
                      <a:r>
                        <a:rPr lang="en-US" sz="1400" cap="none" spc="0">
                          <a:solidFill>
                            <a:schemeClr val="tx1"/>
                          </a:solidFill>
                          <a:effectLst/>
                          <a:latin typeface="+mn-lt"/>
                        </a:rPr>
                        <a:t>V7</a:t>
                      </a: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latin typeface="+mn-lt"/>
                        </a:rPr>
                        <a:t>Allows water to drain from the system.</a:t>
                      </a:r>
                      <a:endParaRPr lang="en-US" sz="14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77044526"/>
                  </a:ext>
                </a:extLst>
              </a:tr>
              <a:tr h="317177">
                <a:tc>
                  <a:txBody>
                    <a:bodyPr/>
                    <a:lstStyle/>
                    <a:p>
                      <a:pPr marL="0" marR="0">
                        <a:buNone/>
                      </a:pPr>
                      <a:r>
                        <a:rPr lang="en-US" sz="1400" cap="none" spc="0">
                          <a:solidFill>
                            <a:schemeClr val="tx1"/>
                          </a:solidFill>
                          <a:effectLst/>
                          <a:latin typeface="+mn-lt"/>
                          <a:ea typeface="Times New Roman" panose="02020603050405020304" pitchFamily="18" charset="0"/>
                        </a:rPr>
                        <a:t>V8 </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latin typeface="+mn-lt"/>
                          <a:ea typeface="Times New Roman" panose="02020603050405020304" pitchFamily="18" charset="0"/>
                        </a:rPr>
                        <a:t>Allows water to leave the pump</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67570173"/>
                  </a:ext>
                </a:extLst>
              </a:tr>
              <a:tr h="317177">
                <a:tc>
                  <a:txBody>
                    <a:bodyPr/>
                    <a:lstStyle/>
                    <a:p>
                      <a:pPr marL="0" marR="0">
                        <a:buNone/>
                      </a:pPr>
                      <a:r>
                        <a:rPr lang="en-US" sz="1400" cap="none" spc="0">
                          <a:solidFill>
                            <a:schemeClr val="tx1"/>
                          </a:solidFill>
                          <a:effectLst/>
                          <a:latin typeface="+mn-lt"/>
                          <a:ea typeface="Times New Roman" panose="02020603050405020304" pitchFamily="18" charset="0"/>
                        </a:rPr>
                        <a:t>V9</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latin typeface="+mn-lt"/>
                          <a:ea typeface="Times New Roman" panose="02020603050405020304" pitchFamily="18" charset="0"/>
                        </a:rPr>
                        <a:t>Directs water to enter or leave the heat exchange system</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975919504"/>
                  </a:ext>
                </a:extLst>
              </a:tr>
              <a:tr h="317177">
                <a:tc>
                  <a:txBody>
                    <a:bodyPr/>
                    <a:lstStyle/>
                    <a:p>
                      <a:pPr marL="0" marR="0">
                        <a:buNone/>
                      </a:pPr>
                      <a:r>
                        <a:rPr lang="en-US" sz="1400" cap="none" spc="0">
                          <a:solidFill>
                            <a:schemeClr val="tx1"/>
                          </a:solidFill>
                          <a:effectLst/>
                          <a:latin typeface="+mn-lt"/>
                          <a:ea typeface="Times New Roman" panose="02020603050405020304" pitchFamily="18" charset="0"/>
                        </a:rPr>
                        <a:t>V10</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latin typeface="+mn-lt"/>
                          <a:ea typeface="Times New Roman" panose="02020603050405020304" pitchFamily="18" charset="0"/>
                        </a:rPr>
                        <a:t>Allows water to enter the heat exchange system </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59963726"/>
                  </a:ext>
                </a:extLst>
              </a:tr>
              <a:tr h="317177">
                <a:tc>
                  <a:txBody>
                    <a:bodyPr/>
                    <a:lstStyle/>
                    <a:p>
                      <a:pPr marL="0" marR="0">
                        <a:buNone/>
                      </a:pPr>
                      <a:r>
                        <a:rPr lang="en-US" sz="1400" cap="none" spc="0">
                          <a:solidFill>
                            <a:schemeClr val="tx1"/>
                          </a:solidFill>
                          <a:effectLst/>
                          <a:latin typeface="+mn-lt"/>
                          <a:ea typeface="Times New Roman" panose="02020603050405020304" pitchFamily="18" charset="0"/>
                        </a:rPr>
                        <a:t>V11</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a:solidFill>
                            <a:schemeClr val="tx1"/>
                          </a:solidFill>
                          <a:effectLst/>
                          <a:latin typeface="+mn-lt"/>
                          <a:ea typeface="Times New Roman" panose="02020603050405020304" pitchFamily="18" charset="0"/>
                        </a:rPr>
                        <a:t>Allows cooling water to enter the heat exchanger</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78298530"/>
                  </a:ext>
                </a:extLst>
              </a:tr>
              <a:tr h="317177">
                <a:tc>
                  <a:txBody>
                    <a:bodyPr/>
                    <a:lstStyle/>
                    <a:p>
                      <a:pPr marL="0" marR="0">
                        <a:buNone/>
                      </a:pPr>
                      <a:r>
                        <a:rPr lang="en-US" sz="1400" cap="none" spc="0">
                          <a:solidFill>
                            <a:schemeClr val="tx1"/>
                          </a:solidFill>
                          <a:effectLst/>
                          <a:latin typeface="+mn-lt"/>
                          <a:ea typeface="Times New Roman" panose="02020603050405020304" pitchFamily="18" charset="0"/>
                        </a:rPr>
                        <a:t>V12</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400" cap="none" spc="0" dirty="0">
                          <a:solidFill>
                            <a:schemeClr val="tx1"/>
                          </a:solidFill>
                          <a:effectLst/>
                          <a:latin typeface="+mn-lt"/>
                          <a:ea typeface="Times New Roman" panose="02020603050405020304" pitchFamily="18" charset="0"/>
                        </a:rPr>
                        <a:t>Controls the flow of water leaving the tank</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87486689"/>
                  </a:ext>
                </a:extLst>
              </a:tr>
            </a:tbl>
          </a:graphicData>
        </a:graphic>
      </p:graphicFrame>
    </p:spTree>
    <p:extLst>
      <p:ext uri="{BB962C8B-B14F-4D97-AF65-F5344CB8AC3E}">
        <p14:creationId xmlns:p14="http://schemas.microsoft.com/office/powerpoint/2010/main" val="243526536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B90FE4-F8C4-A03A-C1DC-56E3A5B5440D}"/>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F556BC2-DC01-C5EA-7219-08CA37682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7145A22-5B27-5ED6-DC6D-AB51DC4C5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3E0EE0-3B90-8128-3367-AE68831EB0F8}"/>
              </a:ext>
            </a:extLst>
          </p:cNvPr>
          <p:cNvSpPr>
            <a:spLocks noGrp="1"/>
          </p:cNvSpPr>
          <p:nvPr>
            <p:ph type="title"/>
          </p:nvPr>
        </p:nvSpPr>
        <p:spPr>
          <a:xfrm>
            <a:off x="643467" y="2681103"/>
            <a:ext cx="3363974" cy="1495794"/>
          </a:xfrm>
          <a:noFill/>
          <a:ln>
            <a:solidFill>
              <a:schemeClr val="bg1"/>
            </a:solidFill>
          </a:ln>
        </p:spPr>
        <p:txBody>
          <a:bodyPr wrap="square">
            <a:normAutofit/>
          </a:bodyPr>
          <a:lstStyle/>
          <a:p>
            <a:r>
              <a:rPr lang="en-US">
                <a:solidFill>
                  <a:schemeClr val="bg1"/>
                </a:solidFill>
              </a:rPr>
              <a:t>Materials &amp; supplies</a:t>
            </a:r>
          </a:p>
        </p:txBody>
      </p:sp>
      <p:sp>
        <p:nvSpPr>
          <p:cNvPr id="9" name="Rectangle 2">
            <a:extLst>
              <a:ext uri="{FF2B5EF4-FFF2-40B4-BE49-F238E27FC236}">
                <a16:creationId xmlns:a16="http://schemas.microsoft.com/office/drawing/2014/main" id="{2A24787A-813E-7784-CC87-5BF195CB9C98}"/>
              </a:ext>
            </a:extLst>
          </p:cNvPr>
          <p:cNvSpPr>
            <a:spLocks noChangeArrowheads="1"/>
          </p:cNvSpPr>
          <p:nvPr/>
        </p:nvSpPr>
        <p:spPr bwMode="auto">
          <a:xfrm>
            <a:off x="2480733" y="-82365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le 6">
            <a:extLst>
              <a:ext uri="{FF2B5EF4-FFF2-40B4-BE49-F238E27FC236}">
                <a16:creationId xmlns:a16="http://schemas.microsoft.com/office/drawing/2014/main" id="{52498069-2B83-0D24-B4E9-638864CE0269}"/>
              </a:ext>
            </a:extLst>
          </p:cNvPr>
          <p:cNvGraphicFramePr>
            <a:graphicFrameLocks noGrp="1"/>
          </p:cNvGraphicFramePr>
          <p:nvPr>
            <p:extLst>
              <p:ext uri="{D42A27DB-BD31-4B8C-83A1-F6EECF244321}">
                <p14:modId xmlns:p14="http://schemas.microsoft.com/office/powerpoint/2010/main" val="1844923602"/>
              </p:ext>
            </p:extLst>
          </p:nvPr>
        </p:nvGraphicFramePr>
        <p:xfrm>
          <a:off x="6044240" y="462882"/>
          <a:ext cx="4654296" cy="5932235"/>
        </p:xfrm>
        <a:graphic>
          <a:graphicData uri="http://schemas.openxmlformats.org/drawingml/2006/table">
            <a:tbl>
              <a:tblPr firstRow="1" firstCol="1">
                <a:noFill/>
                <a:tableStyleId>{5C22544A-7EE6-4342-B048-85BDC9FD1C3A}</a:tableStyleId>
              </a:tblPr>
              <a:tblGrid>
                <a:gridCol w="1088640">
                  <a:extLst>
                    <a:ext uri="{9D8B030D-6E8A-4147-A177-3AD203B41FA5}">
                      <a16:colId xmlns:a16="http://schemas.microsoft.com/office/drawing/2014/main" val="4041015602"/>
                    </a:ext>
                  </a:extLst>
                </a:gridCol>
                <a:gridCol w="3565656">
                  <a:extLst>
                    <a:ext uri="{9D8B030D-6E8A-4147-A177-3AD203B41FA5}">
                      <a16:colId xmlns:a16="http://schemas.microsoft.com/office/drawing/2014/main" val="1752468756"/>
                    </a:ext>
                  </a:extLst>
                </a:gridCol>
              </a:tblGrid>
              <a:tr h="257832">
                <a:tc>
                  <a:txBody>
                    <a:bodyPr/>
                    <a:lstStyle/>
                    <a:p>
                      <a:pPr marL="0" marR="0">
                        <a:buNone/>
                      </a:pPr>
                      <a:r>
                        <a:rPr lang="en-US" sz="1400" b="0" cap="none" spc="0">
                          <a:solidFill>
                            <a:schemeClr val="tx1"/>
                          </a:solidFill>
                          <a:effectLst/>
                        </a:rPr>
                        <a:t>Item:</a:t>
                      </a:r>
                      <a:endParaRPr lang="en-US" sz="1400" b="0" cap="none" spc="0">
                        <a:solidFill>
                          <a:schemeClr val="tx1"/>
                        </a:solidFill>
                        <a:effectLst/>
                        <a:latin typeface="Times New Roman" panose="02020603050405020304" pitchFamily="18" charset="0"/>
                        <a:ea typeface="Times New Roman" panose="02020603050405020304" pitchFamily="18" charset="0"/>
                      </a:endParaRPr>
                    </a:p>
                  </a:txBody>
                  <a:tcPr marL="38997" marR="38997" marT="0" marB="77994" anchor="b">
                    <a:lnL w="12700" cmpd="sng">
                      <a:noFill/>
                    </a:lnL>
                    <a:lnR w="12700" cmpd="sng">
                      <a:noFill/>
                    </a:lnR>
                    <a:lnT w="9525" cap="flat" cmpd="sng" algn="ctr">
                      <a:noFill/>
                      <a:prstDash val="solid"/>
                    </a:lnT>
                    <a:lnB w="38100" cmpd="sng">
                      <a:noFill/>
                    </a:lnB>
                    <a:noFill/>
                  </a:tcPr>
                </a:tc>
                <a:tc>
                  <a:txBody>
                    <a:bodyPr/>
                    <a:lstStyle/>
                    <a:p>
                      <a:pPr marL="0" marR="0">
                        <a:buNone/>
                      </a:pPr>
                      <a:r>
                        <a:rPr lang="en-US" sz="1400" b="0" cap="none" spc="0">
                          <a:solidFill>
                            <a:schemeClr val="tx1"/>
                          </a:solidFill>
                          <a:effectLst/>
                        </a:rPr>
                        <a:t>Description:</a:t>
                      </a:r>
                      <a:endParaRPr lang="en-US" sz="1400" b="0" cap="none" spc="0">
                        <a:solidFill>
                          <a:schemeClr val="tx1"/>
                        </a:solidFill>
                        <a:effectLst/>
                        <a:latin typeface="Times New Roman" panose="02020603050405020304" pitchFamily="18" charset="0"/>
                        <a:ea typeface="Times New Roman" panose="02020603050405020304" pitchFamily="18" charset="0"/>
                      </a:endParaRPr>
                    </a:p>
                  </a:txBody>
                  <a:tcPr marL="38997" marR="38997" marT="0" marB="77994"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545890765"/>
                  </a:ext>
                </a:extLst>
              </a:tr>
              <a:tr h="440411">
                <a:tc>
                  <a:txBody>
                    <a:bodyPr/>
                    <a:lstStyle/>
                    <a:p>
                      <a:pPr marL="0" marR="0">
                        <a:buNone/>
                      </a:pPr>
                      <a:r>
                        <a:rPr lang="en-US" sz="1000" b="0" cap="none" spc="0">
                          <a:solidFill>
                            <a:schemeClr val="tx1"/>
                          </a:solidFill>
                          <a:effectLst/>
                          <a:latin typeface="+mn-lt"/>
                          <a:ea typeface="Times New Roman" panose="02020603050405020304" pitchFamily="18" charset="0"/>
                        </a:rPr>
                        <a:t>Jacketed Vessel</a:t>
                      </a:r>
                    </a:p>
                  </a:txBody>
                  <a:tcPr marL="38997" marR="38997" marT="0" marB="77994">
                    <a:lnL w="12700" cmpd="sng">
                      <a:noFill/>
                      <a:prstDash val="solid"/>
                    </a:lnL>
                    <a:lnR w="12700" cmpd="sng">
                      <a:noFill/>
                      <a:prstDash val="solid"/>
                    </a:lnR>
                    <a:lnT w="38100" cmpd="sng">
                      <a:noFill/>
                    </a:lnT>
                    <a:lnB w="12700" cmpd="sng">
                      <a:noFill/>
                      <a:prstDash val="solid"/>
                    </a:lnB>
                    <a:noFill/>
                  </a:tcPr>
                </a:tc>
                <a:tc>
                  <a:txBody>
                    <a:bodyPr/>
                    <a:lstStyle/>
                    <a:p>
                      <a:pPr marL="0" marR="0">
                        <a:buNone/>
                      </a:pPr>
                      <a:r>
                        <a:rPr lang="en-US" sz="1000">
                          <a:effectLst/>
                          <a:latin typeface="+mn-lt"/>
                          <a:ea typeface="Times New Roman" panose="02020603050405020304" pitchFamily="18" charset="0"/>
                        </a:rPr>
                        <a:t>This gives the main container for the fluid allowing heat transfer from the stream jacket across the wall surface.</a:t>
                      </a:r>
                      <a:endParaRPr lang="en-US" sz="1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870543012"/>
                  </a:ext>
                </a:extLst>
              </a:tr>
              <a:tr h="334024">
                <a:tc>
                  <a:txBody>
                    <a:bodyPr/>
                    <a:lstStyle/>
                    <a:p>
                      <a:pPr marL="0" marR="0">
                        <a:buNone/>
                      </a:pPr>
                      <a:r>
                        <a:rPr lang="en-US" sz="1000" b="0" cap="none" spc="0">
                          <a:solidFill>
                            <a:schemeClr val="tx1"/>
                          </a:solidFill>
                          <a:effectLst/>
                          <a:latin typeface="+mn-lt"/>
                          <a:ea typeface="Times New Roman" panose="02020603050405020304" pitchFamily="18" charset="0"/>
                        </a:rPr>
                        <a:t>Baffles</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dirty="0">
                          <a:effectLst/>
                          <a:latin typeface="+mn-lt"/>
                          <a:ea typeface="Times New Roman" panose="02020603050405020304" pitchFamily="18" charset="0"/>
                        </a:rPr>
                        <a:t>These are removable plates used to stop vortex formation and improve heat transfer and radial mixing.</a:t>
                      </a:r>
                      <a:endParaRPr lang="en-US" sz="1000" cap="none" spc="0" dirty="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971691605"/>
                  </a:ext>
                </a:extLst>
              </a:tr>
              <a:tr h="440411">
                <a:tc>
                  <a:txBody>
                    <a:bodyPr/>
                    <a:lstStyle/>
                    <a:p>
                      <a:pPr marL="0" marR="0">
                        <a:buNone/>
                      </a:pPr>
                      <a:r>
                        <a:rPr lang="en-US" sz="1000" b="0" cap="none" spc="0">
                          <a:solidFill>
                            <a:schemeClr val="tx1"/>
                          </a:solidFill>
                          <a:effectLst/>
                          <a:latin typeface="+mn-lt"/>
                          <a:ea typeface="Times New Roman" panose="02020603050405020304" pitchFamily="18" charset="0"/>
                        </a:rPr>
                        <a:t>Impeller (Stirrer)</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dirty="0">
                          <a:effectLst/>
                          <a:latin typeface="+mn-lt"/>
                          <a:ea typeface="Times New Roman" panose="02020603050405020304" pitchFamily="18" charset="0"/>
                        </a:rPr>
                        <a:t>Provides mechanical mixing to make sure the fluid is well mixed or at constant bulk properties.</a:t>
                      </a:r>
                      <a:endParaRPr lang="en-US" sz="1000" cap="none" spc="0" dirty="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104181"/>
                  </a:ext>
                </a:extLst>
              </a:tr>
              <a:tr h="478740">
                <a:tc>
                  <a:txBody>
                    <a:bodyPr/>
                    <a:lstStyle/>
                    <a:p>
                      <a:pPr marL="0" marR="0">
                        <a:buNone/>
                      </a:pPr>
                      <a:r>
                        <a:rPr lang="en-US" sz="1000" b="0" cap="none" spc="0">
                          <a:solidFill>
                            <a:schemeClr val="tx1"/>
                          </a:solidFill>
                          <a:effectLst/>
                          <a:latin typeface="+mn-lt"/>
                          <a:ea typeface="Times New Roman" panose="02020603050405020304" pitchFamily="18" charset="0"/>
                        </a:rPr>
                        <a:t>Centrifugal Pump</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a:effectLst/>
                          <a:latin typeface="+mn-lt"/>
                          <a:ea typeface="Times New Roman" panose="02020603050405020304" pitchFamily="18" charset="0"/>
                        </a:rPr>
                        <a:t>This continuously removes the fluid from the vessels bottom to recirculate it through the external heat exchanger back into the tank.</a:t>
                      </a:r>
                    </a:p>
                  </a:txBody>
                  <a:tcPr marL="68580" marR="68580" marT="0" marB="0">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18738956"/>
                  </a:ext>
                </a:extLst>
              </a:tr>
              <a:tr h="626587">
                <a:tc>
                  <a:txBody>
                    <a:bodyPr/>
                    <a:lstStyle/>
                    <a:p>
                      <a:pPr marL="0" marR="0">
                        <a:buNone/>
                      </a:pPr>
                      <a:r>
                        <a:rPr lang="en-US" sz="1000" b="0" cap="none" spc="0">
                          <a:solidFill>
                            <a:schemeClr val="tx1"/>
                          </a:solidFill>
                          <a:effectLst/>
                          <a:latin typeface="+mn-lt"/>
                          <a:ea typeface="Times New Roman" panose="02020603050405020304" pitchFamily="18" charset="0"/>
                        </a:rPr>
                        <a:t>External Heat Exchanger</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a:effectLst/>
                          <a:latin typeface="+mn-lt"/>
                          <a:ea typeface="Times New Roman" panose="02020603050405020304" pitchFamily="18" charset="0"/>
                        </a:rPr>
                        <a:t>A shell and tube unit where the recirculated tank water is a cooled down by a different cold-water stream.</a:t>
                      </a:r>
                      <a:endParaRPr lang="en-US" sz="1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662762195"/>
                  </a:ext>
                </a:extLst>
              </a:tr>
              <a:tr h="319160">
                <a:tc>
                  <a:txBody>
                    <a:bodyPr/>
                    <a:lstStyle/>
                    <a:p>
                      <a:pPr marL="0" marR="0">
                        <a:buNone/>
                      </a:pPr>
                      <a:r>
                        <a:rPr lang="en-US" sz="1000" b="0" cap="none" spc="0">
                          <a:solidFill>
                            <a:schemeClr val="tx1"/>
                          </a:solidFill>
                          <a:effectLst/>
                          <a:latin typeface="+mn-lt"/>
                          <a:ea typeface="Times New Roman" panose="02020603050405020304" pitchFamily="18" charset="0"/>
                        </a:rPr>
                        <a:t>Cooling coil</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a:effectLst/>
                          <a:latin typeface="+mn-lt"/>
                          <a:ea typeface="Times New Roman" panose="02020603050405020304" pitchFamily="18" charset="0"/>
                        </a:rPr>
                        <a:t>An internal coil in the tank used to remove heat from the bulk fluid.</a:t>
                      </a:r>
                    </a:p>
                  </a:txBody>
                  <a:tcPr marL="68580" marR="68580" marT="0" marB="0">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723536084"/>
                  </a:ext>
                </a:extLst>
              </a:tr>
              <a:tr h="440411">
                <a:tc>
                  <a:txBody>
                    <a:bodyPr/>
                    <a:lstStyle/>
                    <a:p>
                      <a:pPr marL="0" marR="0">
                        <a:buNone/>
                      </a:pPr>
                      <a:r>
                        <a:rPr lang="en-US" sz="1000" b="0" cap="none" spc="0">
                          <a:solidFill>
                            <a:schemeClr val="tx1"/>
                          </a:solidFill>
                          <a:effectLst/>
                          <a:latin typeface="+mn-lt"/>
                          <a:ea typeface="Times New Roman" panose="02020603050405020304" pitchFamily="18" charset="0"/>
                        </a:rPr>
                        <a:t>Steam Condenser</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a:effectLst/>
                          <a:latin typeface="+mn-lt"/>
                          <a:ea typeface="Times New Roman" panose="02020603050405020304" pitchFamily="18" charset="0"/>
                        </a:rPr>
                        <a:t>A unit that cools and traps the exit steam turning it into liquid condensate for measurement.</a:t>
                      </a:r>
                    </a:p>
                  </a:txBody>
                  <a:tcPr marL="68580" marR="68580" marT="0" marB="0">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746482220"/>
                  </a:ext>
                </a:extLst>
              </a:tr>
              <a:tr h="334024">
                <a:tc>
                  <a:txBody>
                    <a:bodyPr/>
                    <a:lstStyle/>
                    <a:p>
                      <a:pPr marL="0" marR="0">
                        <a:buNone/>
                      </a:pPr>
                      <a:r>
                        <a:rPr lang="en-US" sz="1000" b="0" cap="none" spc="0">
                          <a:solidFill>
                            <a:schemeClr val="tx1"/>
                          </a:solidFill>
                          <a:effectLst/>
                          <a:latin typeface="+mn-lt"/>
                          <a:ea typeface="Times New Roman" panose="02020603050405020304" pitchFamily="18" charset="0"/>
                        </a:rPr>
                        <a:t>Variac</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a:effectLst/>
                          <a:latin typeface="+mn-lt"/>
                          <a:ea typeface="Times New Roman" panose="02020603050405020304" pitchFamily="18" charset="0"/>
                        </a:rPr>
                        <a:t>A power supply used to adjust the rotational speed of the impeller (stirrer).</a:t>
                      </a:r>
                      <a:endParaRPr lang="en-US" sz="1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04211436"/>
                  </a:ext>
                </a:extLst>
              </a:tr>
              <a:tr h="440411">
                <a:tc>
                  <a:txBody>
                    <a:bodyPr/>
                    <a:lstStyle/>
                    <a:p>
                      <a:pPr marL="0" marR="0">
                        <a:buNone/>
                      </a:pPr>
                      <a:r>
                        <a:rPr lang="en-US" sz="1000" b="0" cap="none" spc="0">
                          <a:solidFill>
                            <a:schemeClr val="tx1"/>
                          </a:solidFill>
                          <a:effectLst/>
                          <a:latin typeface="+mn-lt"/>
                          <a:ea typeface="Times New Roman" panose="02020603050405020304" pitchFamily="18" charset="0"/>
                        </a:rPr>
                        <a:t>Thermometers</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a:effectLst/>
                          <a:latin typeface="+mn-lt"/>
                          <a:ea typeface="Times New Roman" panose="02020603050405020304" pitchFamily="18" charset="0"/>
                        </a:rPr>
                        <a:t>These are gauges used to observe the temperature at the inlets and outlets of all the heat exchange parts.</a:t>
                      </a:r>
                      <a:endParaRPr lang="en-US" sz="1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305132992"/>
                  </a:ext>
                </a:extLst>
              </a:tr>
              <a:tr h="342368">
                <a:tc>
                  <a:txBody>
                    <a:bodyPr/>
                    <a:lstStyle/>
                    <a:p>
                      <a:pPr marL="0" marR="0">
                        <a:buNone/>
                      </a:pPr>
                      <a:r>
                        <a:rPr lang="en-US" sz="1000" b="0" cap="none" spc="0">
                          <a:solidFill>
                            <a:schemeClr val="tx1"/>
                          </a:solidFill>
                          <a:effectLst/>
                          <a:latin typeface="+mn-lt"/>
                          <a:ea typeface="Times New Roman" panose="02020603050405020304" pitchFamily="18" charset="0"/>
                        </a:rPr>
                        <a:t>Rotameters</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a:effectLst/>
                          <a:latin typeface="+mn-lt"/>
                          <a:ea typeface="Times New Roman" panose="02020603050405020304" pitchFamily="18" charset="0"/>
                        </a:rPr>
                        <a:t>These are flow meters used to show the water flow rates for the cooling coil and the recirculating water.</a:t>
                      </a:r>
                      <a:endParaRPr lang="en-US" sz="1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575512302"/>
                  </a:ext>
                </a:extLst>
              </a:tr>
              <a:tr h="440411">
                <a:tc>
                  <a:txBody>
                    <a:bodyPr/>
                    <a:lstStyle/>
                    <a:p>
                      <a:pPr marL="0" marR="0">
                        <a:buNone/>
                      </a:pPr>
                      <a:r>
                        <a:rPr lang="en-US" sz="1000" b="0" cap="none" spc="0">
                          <a:solidFill>
                            <a:schemeClr val="tx1"/>
                          </a:solidFill>
                          <a:effectLst/>
                          <a:latin typeface="+mn-lt"/>
                          <a:ea typeface="Times New Roman" panose="02020603050405020304" pitchFamily="18" charset="0"/>
                        </a:rPr>
                        <a:t>Graduated Cylinder</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a:effectLst/>
                          <a:latin typeface="+mn-lt"/>
                          <a:ea typeface="Times New Roman" panose="02020603050405020304" pitchFamily="18" charset="0"/>
                        </a:rPr>
                        <a:t>This is used to collect the volume of steam over a specific time.</a:t>
                      </a:r>
                      <a:endParaRPr lang="en-US" sz="1000" cap="none" spc="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915040242"/>
                  </a:ext>
                </a:extLst>
              </a:tr>
              <a:tr h="319160">
                <a:tc>
                  <a:txBody>
                    <a:bodyPr/>
                    <a:lstStyle/>
                    <a:p>
                      <a:pPr marL="0" marR="0">
                        <a:buNone/>
                      </a:pPr>
                      <a:r>
                        <a:rPr lang="en-US" sz="1000" b="0" cap="none" spc="0">
                          <a:solidFill>
                            <a:schemeClr val="tx1"/>
                          </a:solidFill>
                          <a:effectLst/>
                          <a:latin typeface="+mn-lt"/>
                          <a:ea typeface="Times New Roman" panose="02020603050405020304" pitchFamily="18" charset="0"/>
                        </a:rPr>
                        <a:t>Tap Water</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a:effectLst/>
                          <a:latin typeface="+mn-lt"/>
                          <a:ea typeface="Times New Roman" panose="02020603050405020304" pitchFamily="18" charset="0"/>
                        </a:rPr>
                        <a:t>The fluid used to fill tank. Also, for cooling in the coils and exchanger.</a:t>
                      </a:r>
                    </a:p>
                  </a:txBody>
                  <a:tcPr marL="68580" marR="68580" marT="0" marB="0">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342748321"/>
                  </a:ext>
                </a:extLst>
              </a:tr>
              <a:tr h="546797">
                <a:tc>
                  <a:txBody>
                    <a:bodyPr/>
                    <a:lstStyle/>
                    <a:p>
                      <a:pPr marL="0" marR="0">
                        <a:buNone/>
                      </a:pPr>
                      <a:r>
                        <a:rPr lang="en-US" sz="1000" b="0" cap="none" spc="0">
                          <a:solidFill>
                            <a:schemeClr val="tx1"/>
                          </a:solidFill>
                          <a:effectLst/>
                          <a:latin typeface="+mn-lt"/>
                          <a:ea typeface="Times New Roman" panose="02020603050405020304" pitchFamily="18" charset="0"/>
                        </a:rPr>
                        <a:t>Saturated Steam</a:t>
                      </a: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tc>
                  <a:txBody>
                    <a:bodyPr/>
                    <a:lstStyle/>
                    <a:p>
                      <a:pPr marL="0" marR="0">
                        <a:buNone/>
                      </a:pPr>
                      <a:r>
                        <a:rPr lang="en-US" sz="1000" kern="1200" dirty="0">
                          <a:solidFill>
                            <a:schemeClr val="dk1"/>
                          </a:solidFill>
                          <a:effectLst/>
                          <a:latin typeface="+mn-lt"/>
                          <a:ea typeface="+mn-ea"/>
                          <a:cs typeface="+mn-cs"/>
                        </a:rPr>
                        <a:t>This enters the jacket to give thermal energy to the vessel.</a:t>
                      </a:r>
                      <a:endParaRPr lang="en-US" sz="1000" cap="none" spc="0" dirty="0">
                        <a:solidFill>
                          <a:schemeClr val="tx1"/>
                        </a:solidFill>
                        <a:effectLst/>
                        <a:latin typeface="+mn-lt"/>
                        <a:ea typeface="Times New Roman" panose="02020603050405020304" pitchFamily="18" charset="0"/>
                      </a:endParaRPr>
                    </a:p>
                  </a:txBody>
                  <a:tcPr marL="38997" marR="38997" marT="0" marB="77994">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966974647"/>
                  </a:ext>
                </a:extLst>
              </a:tr>
            </a:tbl>
          </a:graphicData>
        </a:graphic>
      </p:graphicFrame>
    </p:spTree>
    <p:extLst>
      <p:ext uri="{BB962C8B-B14F-4D97-AF65-F5344CB8AC3E}">
        <p14:creationId xmlns:p14="http://schemas.microsoft.com/office/powerpoint/2010/main" val="289757161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9FAA0-012F-E4E3-78F4-43D34D4048FB}"/>
              </a:ext>
            </a:extLst>
          </p:cNvPr>
          <p:cNvSpPr>
            <a:spLocks noGrp="1"/>
          </p:cNvSpPr>
          <p:nvPr>
            <p:ph type="title"/>
          </p:nvPr>
        </p:nvSpPr>
        <p:spPr>
          <a:xfrm>
            <a:off x="2231136" y="0"/>
            <a:ext cx="7729728" cy="1188720"/>
          </a:xfrm>
        </p:spPr>
        <p:txBody>
          <a:bodyPr/>
          <a:lstStyle/>
          <a:p>
            <a:r>
              <a:rPr lang="en-US"/>
              <a:t>Procedure</a:t>
            </a:r>
          </a:p>
        </p:txBody>
      </p:sp>
      <p:sp>
        <p:nvSpPr>
          <p:cNvPr id="3" name="Content Placeholder 2">
            <a:extLst>
              <a:ext uri="{FF2B5EF4-FFF2-40B4-BE49-F238E27FC236}">
                <a16:creationId xmlns:a16="http://schemas.microsoft.com/office/drawing/2014/main" id="{D3CF574A-1879-88D9-6653-04560A33DA89}"/>
              </a:ext>
            </a:extLst>
          </p:cNvPr>
          <p:cNvSpPr>
            <a:spLocks noGrp="1"/>
          </p:cNvSpPr>
          <p:nvPr>
            <p:ph idx="1"/>
          </p:nvPr>
        </p:nvSpPr>
        <p:spPr>
          <a:xfrm>
            <a:off x="713486" y="1188720"/>
            <a:ext cx="10765028" cy="5669280"/>
          </a:xfrm>
        </p:spPr>
        <p:txBody>
          <a:bodyPr vert="horz" lIns="91440" tIns="45720" rIns="91440" bIns="45720" rtlCol="0" anchor="t">
            <a:noAutofit/>
          </a:bodyPr>
          <a:lstStyle/>
          <a:p>
            <a:pPr marL="0" indent="0">
              <a:buNone/>
            </a:pPr>
            <a:r>
              <a:rPr lang="en-US"/>
              <a:t>    </a:t>
            </a:r>
            <a:r>
              <a:rPr lang="en-US" u="sng"/>
              <a:t>Preparation</a:t>
            </a:r>
            <a:r>
              <a:rPr lang="en-US"/>
              <a:t>:</a:t>
            </a:r>
          </a:p>
          <a:p>
            <a:r>
              <a:rPr lang="en-US"/>
              <a:t>Fill tank 2-inches from the top and put on the lids.</a:t>
            </a:r>
          </a:p>
          <a:p>
            <a:r>
              <a:rPr lang="en-US"/>
              <a:t>Next, turn on the impeller and let it stabilize around 300 RPMs. Note the direction (</a:t>
            </a:r>
            <a:r>
              <a:rPr lang="en-US" err="1"/>
              <a:t>ccw</a:t>
            </a:r>
            <a:r>
              <a:rPr lang="en-US"/>
              <a:t> or </a:t>
            </a:r>
            <a:r>
              <a:rPr lang="en-US" err="1"/>
              <a:t>cw</a:t>
            </a:r>
            <a:r>
              <a:rPr lang="en-US"/>
              <a:t>) the impeller rotates.</a:t>
            </a:r>
          </a:p>
          <a:p>
            <a:r>
              <a:rPr lang="en-US"/>
              <a:t>Then manipulate the proper valves to allow for cooling water flow for the coils, external H.E., and steam trap.</a:t>
            </a:r>
          </a:p>
          <a:p>
            <a:r>
              <a:rPr lang="en-US"/>
              <a:t>Finally, prime the pump, then let it operate normally.</a:t>
            </a:r>
          </a:p>
          <a:p>
            <a:pPr marL="0" indent="0">
              <a:buNone/>
            </a:pPr>
            <a:r>
              <a:rPr lang="en-US"/>
              <a:t>    </a:t>
            </a:r>
            <a:r>
              <a:rPr lang="en-US" u="sng"/>
              <a:t>Experiment</a:t>
            </a:r>
            <a:r>
              <a:rPr lang="en-US"/>
              <a:t>:</a:t>
            </a:r>
          </a:p>
          <a:p>
            <a:r>
              <a:rPr lang="en-US"/>
              <a:t>Slightly open the steam valve to heat the tank. A quarter turn should be a good start.</a:t>
            </a:r>
          </a:p>
          <a:p>
            <a:r>
              <a:rPr lang="en-US"/>
              <a:t>Choose 3 impeller speeds between 300 RPM &amp; 900 RPM to operate at. When operating at a chosen RPM, let the system reach steady-state.</a:t>
            </a:r>
          </a:p>
          <a:p>
            <a:r>
              <a:rPr lang="en-US"/>
              <a:t>Once steady-state is achieved, collect steam condensate for a chosen amount time to get steam flowrate into the jacket. Also, note down the recirculation &amp; cooling coils flowrates. Record T1-T7 as well. </a:t>
            </a:r>
          </a:p>
          <a:p>
            <a:r>
              <a:rPr lang="en-US"/>
              <a:t>Do this at all 3 impeller RPMs. Then install baffles for part 2 and follow the same steps.</a:t>
            </a:r>
          </a:p>
          <a:p>
            <a:r>
              <a:rPr lang="en-US" b="1"/>
              <a:t>NOTE</a:t>
            </a:r>
            <a:r>
              <a:rPr lang="en-US"/>
              <a:t>: the temperature in the tank needs to stay between 65 ℃ and 85 ℃. Adjust cooling coil flowrate, recirculation flowrate, and/or the steam flow to stay within this temperature range.</a:t>
            </a:r>
          </a:p>
        </p:txBody>
      </p:sp>
    </p:spTree>
    <p:extLst>
      <p:ext uri="{BB962C8B-B14F-4D97-AF65-F5344CB8AC3E}">
        <p14:creationId xmlns:p14="http://schemas.microsoft.com/office/powerpoint/2010/main" val="2120660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6C3CC-138D-72E1-F6F3-206964F08402}"/>
              </a:ext>
            </a:extLst>
          </p:cNvPr>
          <p:cNvSpPr>
            <a:spLocks noGrp="1"/>
          </p:cNvSpPr>
          <p:nvPr>
            <p:ph type="title"/>
          </p:nvPr>
        </p:nvSpPr>
        <p:spPr/>
        <p:txBody>
          <a:bodyPr/>
          <a:lstStyle/>
          <a:p>
            <a:r>
              <a:rPr lang="en-US"/>
              <a:t>Safety</a:t>
            </a:r>
          </a:p>
        </p:txBody>
      </p:sp>
      <p:sp>
        <p:nvSpPr>
          <p:cNvPr id="3" name="Content Placeholder 2">
            <a:extLst>
              <a:ext uri="{FF2B5EF4-FFF2-40B4-BE49-F238E27FC236}">
                <a16:creationId xmlns:a16="http://schemas.microsoft.com/office/drawing/2014/main" id="{2592A8AA-918A-A921-1989-CDEC6348B8D5}"/>
              </a:ext>
            </a:extLst>
          </p:cNvPr>
          <p:cNvSpPr>
            <a:spLocks noGrp="1"/>
          </p:cNvSpPr>
          <p:nvPr>
            <p:ph idx="1"/>
          </p:nvPr>
        </p:nvSpPr>
        <p:spPr>
          <a:xfrm>
            <a:off x="2231136" y="2638044"/>
            <a:ext cx="7729728" cy="4117983"/>
          </a:xfrm>
        </p:spPr>
        <p:txBody>
          <a:bodyPr vert="horz" lIns="91440" tIns="45720" rIns="91440" bIns="45720" rtlCol="0" anchor="t">
            <a:normAutofit/>
          </a:bodyPr>
          <a:lstStyle/>
          <a:p>
            <a:r>
              <a:rPr lang="en-US" dirty="0"/>
              <a:t>The lab involves temperatures up to 85 degrees Celsius therefore usage of insulated gloves is encouraged to prevent burns when handling the vessel lid and valves</a:t>
            </a:r>
          </a:p>
          <a:p>
            <a:r>
              <a:rPr lang="en-US" dirty="0"/>
              <a:t>If ran dry the pump can potentially cause the water to overflow </a:t>
            </a:r>
          </a:p>
          <a:p>
            <a:r>
              <a:rPr lang="en-US" dirty="0"/>
              <a:t> Electric supplies are present in the forms of the pump and </a:t>
            </a:r>
            <a:r>
              <a:rPr lang="en-US" dirty="0" err="1"/>
              <a:t>variac</a:t>
            </a:r>
            <a:r>
              <a:rPr lang="en-US" dirty="0"/>
              <a:t> variable power supplies, avoid contract with water</a:t>
            </a:r>
          </a:p>
          <a:p>
            <a:r>
              <a:rPr lang="en-US" dirty="0"/>
              <a:t>Be cognizant of water level in the tank. A spill may cause a slipping hazard.</a:t>
            </a:r>
          </a:p>
          <a:p>
            <a:r>
              <a:rPr lang="en-US" dirty="0"/>
              <a:t>If you decide to have the impeller running as you install the baffles, be sure to not hit the blades and cause damage. </a:t>
            </a:r>
          </a:p>
        </p:txBody>
      </p:sp>
    </p:spTree>
    <p:extLst>
      <p:ext uri="{BB962C8B-B14F-4D97-AF65-F5344CB8AC3E}">
        <p14:creationId xmlns:p14="http://schemas.microsoft.com/office/powerpoint/2010/main" val="3721921517"/>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2640C-EA07-0514-AFC9-36DC8922E86F}"/>
              </a:ext>
            </a:extLst>
          </p:cNvPr>
          <p:cNvSpPr>
            <a:spLocks noGrp="1"/>
          </p:cNvSpPr>
          <p:nvPr>
            <p:ph type="title"/>
          </p:nvPr>
        </p:nvSpPr>
        <p:spPr/>
        <p:txBody>
          <a:bodyPr/>
          <a:lstStyle/>
          <a:p>
            <a:r>
              <a:rPr lang="en-US"/>
              <a:t>Experimental challenges &amp; lessons learned</a:t>
            </a:r>
          </a:p>
        </p:txBody>
      </p:sp>
      <p:sp>
        <p:nvSpPr>
          <p:cNvPr id="3" name="Content Placeholder 2">
            <a:extLst>
              <a:ext uri="{FF2B5EF4-FFF2-40B4-BE49-F238E27FC236}">
                <a16:creationId xmlns:a16="http://schemas.microsoft.com/office/drawing/2014/main" id="{75C03F58-84B3-FC1F-1339-5AD8C4ECC616}"/>
              </a:ext>
            </a:extLst>
          </p:cNvPr>
          <p:cNvSpPr>
            <a:spLocks noGrp="1"/>
          </p:cNvSpPr>
          <p:nvPr>
            <p:ph idx="1"/>
          </p:nvPr>
        </p:nvSpPr>
        <p:spPr>
          <a:xfrm>
            <a:off x="1583436" y="2638044"/>
            <a:ext cx="9037828" cy="4130683"/>
          </a:xfrm>
        </p:spPr>
        <p:txBody>
          <a:bodyPr vert="horz" lIns="91440" tIns="45720" rIns="91440" bIns="45720" rtlCol="0" anchor="t">
            <a:normAutofit/>
          </a:bodyPr>
          <a:lstStyle/>
          <a:p>
            <a:r>
              <a:rPr lang="en-US"/>
              <a:t>Many valves are present, main difficulties arise from understanding their primary functions in relation to the system</a:t>
            </a:r>
          </a:p>
          <a:p>
            <a:r>
              <a:rPr lang="en-US"/>
              <a:t>Lengthy experiment, large amounts of time is spent waiting for the system to reach steady state in addition changing the vessel configurations (impeller speed, applying/reapplying baffles, valve adjustment, etc.)</a:t>
            </a:r>
          </a:p>
          <a:p>
            <a:r>
              <a:rPr lang="en-US"/>
              <a:t>Need to be attentive to temperature gauges as they are in different units, Fahrenheit and Celsius. </a:t>
            </a:r>
          </a:p>
        </p:txBody>
      </p:sp>
    </p:spTree>
    <p:extLst>
      <p:ext uri="{BB962C8B-B14F-4D97-AF65-F5344CB8AC3E}">
        <p14:creationId xmlns:p14="http://schemas.microsoft.com/office/powerpoint/2010/main" val="1037817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C29A4-814D-7DAD-8C45-B14512DC466E}"/>
              </a:ext>
            </a:extLst>
          </p:cNvPr>
          <p:cNvSpPr>
            <a:spLocks noGrp="1"/>
          </p:cNvSpPr>
          <p:nvPr>
            <p:ph type="title"/>
          </p:nvPr>
        </p:nvSpPr>
        <p:spPr/>
        <p:txBody>
          <a:bodyPr/>
          <a:lstStyle/>
          <a:p>
            <a:r>
              <a:rPr lang="en-US"/>
              <a:t>References</a:t>
            </a:r>
          </a:p>
        </p:txBody>
      </p:sp>
      <p:sp>
        <p:nvSpPr>
          <p:cNvPr id="3" name="TextBox 2">
            <a:extLst>
              <a:ext uri="{FF2B5EF4-FFF2-40B4-BE49-F238E27FC236}">
                <a16:creationId xmlns:a16="http://schemas.microsoft.com/office/drawing/2014/main" id="{37D1AC4B-EA4A-BD47-F81A-BBDEE191C205}"/>
              </a:ext>
            </a:extLst>
          </p:cNvPr>
          <p:cNvSpPr txBox="1"/>
          <p:nvPr/>
        </p:nvSpPr>
        <p:spPr>
          <a:xfrm>
            <a:off x="2259376" y="2464773"/>
            <a:ext cx="7450338" cy="29876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highlight>
                  <a:srgbClr val="FFFFFF"/>
                </a:highlight>
                <a:latin typeface="Times New Roman"/>
                <a:cs typeface="Times New Roman"/>
              </a:rPr>
              <a:t>[1] Fryer, P. J.; Robbins, P. T. Heat Transfer in Food Processing: Ensuring Product Quality and Safety. </a:t>
            </a:r>
            <a:r>
              <a:rPr lang="en-US" sz="1200" i="1">
                <a:highlight>
                  <a:srgbClr val="FFFFFF"/>
                </a:highlight>
                <a:latin typeface="Times New Roman"/>
                <a:cs typeface="Times New Roman"/>
              </a:rPr>
              <a:t>Applied Thermal Engineering</a:t>
            </a:r>
            <a:r>
              <a:rPr lang="en-US" sz="1200">
                <a:highlight>
                  <a:srgbClr val="FFFFFF"/>
                </a:highlight>
                <a:latin typeface="Times New Roman"/>
                <a:cs typeface="Times New Roman"/>
              </a:rPr>
              <a:t> </a:t>
            </a:r>
            <a:r>
              <a:rPr lang="en-US" sz="1200" b="1">
                <a:highlight>
                  <a:srgbClr val="FFFFFF"/>
                </a:highlight>
                <a:latin typeface="Times New Roman"/>
                <a:cs typeface="Times New Roman"/>
              </a:rPr>
              <a:t>2005</a:t>
            </a:r>
            <a:r>
              <a:rPr lang="en-US" sz="1200">
                <a:highlight>
                  <a:srgbClr val="FFFFFF"/>
                </a:highlight>
                <a:latin typeface="Times New Roman"/>
                <a:cs typeface="Times New Roman"/>
              </a:rPr>
              <a:t>, </a:t>
            </a:r>
            <a:r>
              <a:rPr lang="en-US" sz="1200" i="1">
                <a:highlight>
                  <a:srgbClr val="FFFFFF"/>
                </a:highlight>
                <a:latin typeface="Times New Roman"/>
                <a:cs typeface="Times New Roman"/>
              </a:rPr>
              <a:t>25</a:t>
            </a:r>
            <a:r>
              <a:rPr lang="en-US" sz="1200">
                <a:highlight>
                  <a:srgbClr val="FFFFFF"/>
                </a:highlight>
                <a:latin typeface="Times New Roman"/>
                <a:cs typeface="Times New Roman"/>
              </a:rPr>
              <a:t> (16), 2499–2510. </a:t>
            </a:r>
            <a:r>
              <a:rPr lang="en-US" sz="1200" u="sng">
                <a:highlight>
                  <a:srgbClr val="FFFFFF"/>
                </a:highlight>
                <a:latin typeface="Times New Roman"/>
                <a:cs typeface="Times New Roman"/>
                <a:hlinkClick r:id="rId2"/>
              </a:rPr>
              <a:t>https://doi.org/10.1016/j.applthermaleng.2004.11.021</a:t>
            </a:r>
            <a:r>
              <a:rPr lang="en-US" sz="1200">
                <a:highlight>
                  <a:srgbClr val="FFFFFF"/>
                </a:highlight>
                <a:latin typeface="Times New Roman"/>
                <a:cs typeface="Times New Roman"/>
              </a:rPr>
              <a:t>. </a:t>
            </a:r>
          </a:p>
          <a:p>
            <a:endParaRPr lang="en-US" sz="1200">
              <a:highlight>
                <a:srgbClr val="FFFFFF"/>
              </a:highlight>
              <a:latin typeface="Times New Roman"/>
              <a:cs typeface="Times New Roman"/>
            </a:endParaRPr>
          </a:p>
          <a:p>
            <a:r>
              <a:rPr lang="en-US" sz="1200">
                <a:highlight>
                  <a:srgbClr val="FFFFFF"/>
                </a:highlight>
                <a:latin typeface="Times New Roman"/>
                <a:cs typeface="Times New Roman"/>
              </a:rPr>
              <a:t>[2] Antognoli, M.; </a:t>
            </a:r>
            <a:r>
              <a:rPr lang="en-US" sz="1200" err="1">
                <a:highlight>
                  <a:srgbClr val="FFFFFF"/>
                </a:highlight>
                <a:latin typeface="Times New Roman"/>
                <a:cs typeface="Times New Roman"/>
              </a:rPr>
              <a:t>Qeysari</a:t>
            </a:r>
            <a:r>
              <a:rPr lang="en-US" sz="1200">
                <a:highlight>
                  <a:srgbClr val="FFFFFF"/>
                </a:highlight>
                <a:latin typeface="Times New Roman"/>
                <a:cs typeface="Times New Roman"/>
              </a:rPr>
              <a:t>, H.; Alberini, F.; </a:t>
            </a:r>
            <a:r>
              <a:rPr lang="en-US" sz="1200" err="1">
                <a:highlight>
                  <a:srgbClr val="FFFFFF"/>
                </a:highlight>
                <a:latin typeface="Times New Roman"/>
                <a:cs typeface="Times New Roman"/>
              </a:rPr>
              <a:t>Paglianti</a:t>
            </a:r>
            <a:r>
              <a:rPr lang="en-US" sz="1200">
                <a:highlight>
                  <a:srgbClr val="FFFFFF"/>
                </a:highlight>
                <a:latin typeface="Times New Roman"/>
                <a:cs typeface="Times New Roman"/>
              </a:rPr>
              <a:t>, A.; Singh, P.; Albano, A. Power and Fluid Stress in Disposable Square Stirred Tank to Streamline Pharmaceutical Process Development. </a:t>
            </a:r>
            <a:r>
              <a:rPr lang="en-US" sz="1200" i="1">
                <a:highlight>
                  <a:srgbClr val="FFFFFF"/>
                </a:highlight>
                <a:latin typeface="Times New Roman"/>
                <a:cs typeface="Times New Roman"/>
              </a:rPr>
              <a:t>International Journal of Pharmaceutics</a:t>
            </a:r>
            <a:r>
              <a:rPr lang="en-US" sz="1200">
                <a:highlight>
                  <a:srgbClr val="FFFFFF"/>
                </a:highlight>
                <a:latin typeface="Times New Roman"/>
                <a:cs typeface="Times New Roman"/>
              </a:rPr>
              <a:t> </a:t>
            </a:r>
            <a:r>
              <a:rPr lang="en-US" sz="1200" b="1">
                <a:highlight>
                  <a:srgbClr val="FFFFFF"/>
                </a:highlight>
                <a:latin typeface="Times New Roman"/>
                <a:cs typeface="Times New Roman"/>
              </a:rPr>
              <a:t>2025</a:t>
            </a:r>
            <a:r>
              <a:rPr lang="en-US" sz="1200">
                <a:highlight>
                  <a:srgbClr val="FFFFFF"/>
                </a:highlight>
                <a:latin typeface="Times New Roman"/>
                <a:cs typeface="Times New Roman"/>
              </a:rPr>
              <a:t>, </a:t>
            </a:r>
            <a:r>
              <a:rPr lang="en-US" sz="1200" i="1">
                <a:highlight>
                  <a:srgbClr val="FFFFFF"/>
                </a:highlight>
                <a:latin typeface="Times New Roman"/>
                <a:cs typeface="Times New Roman"/>
              </a:rPr>
              <a:t>685</a:t>
            </a:r>
            <a:r>
              <a:rPr lang="en-US" sz="1200">
                <a:highlight>
                  <a:srgbClr val="FFFFFF"/>
                </a:highlight>
                <a:latin typeface="Times New Roman"/>
                <a:cs typeface="Times New Roman"/>
              </a:rPr>
              <a:t>, 126243. </a:t>
            </a:r>
            <a:r>
              <a:rPr lang="en-US" sz="1200" u="sng">
                <a:highlight>
                  <a:srgbClr val="FFFFFF"/>
                </a:highlight>
                <a:latin typeface="Times New Roman"/>
                <a:cs typeface="Times New Roman"/>
                <a:hlinkClick r:id="rId3"/>
              </a:rPr>
              <a:t>https://doi.org/10.1016/j.ijpharm.2025.126243</a:t>
            </a:r>
            <a:r>
              <a:rPr lang="en-US" sz="1200">
                <a:highlight>
                  <a:srgbClr val="FFFFFF"/>
                </a:highlight>
                <a:latin typeface="Times New Roman"/>
                <a:cs typeface="Times New Roman"/>
              </a:rPr>
              <a:t>.</a:t>
            </a:r>
          </a:p>
          <a:p>
            <a:endParaRPr lang="en-US" sz="1200">
              <a:highlight>
                <a:srgbClr val="FFFFFF"/>
              </a:highlight>
              <a:latin typeface="Times New Roman"/>
              <a:cs typeface="Times New Roman"/>
            </a:endParaRPr>
          </a:p>
          <a:p>
            <a:r>
              <a:rPr lang="en-US" sz="1200">
                <a:highlight>
                  <a:srgbClr val="FFFFFF"/>
                </a:highlight>
                <a:latin typeface="Times New Roman"/>
                <a:cs typeface="Times New Roman"/>
              </a:rPr>
              <a:t>[3] Bird, R. Byron, et al. </a:t>
            </a:r>
            <a:r>
              <a:rPr lang="en-US" sz="1200" i="1">
                <a:highlight>
                  <a:srgbClr val="FFFFFF"/>
                </a:highlight>
                <a:latin typeface="Times New Roman"/>
                <a:cs typeface="Times New Roman"/>
              </a:rPr>
              <a:t>Transport Phenomena</a:t>
            </a:r>
            <a:r>
              <a:rPr lang="en-US" sz="1200">
                <a:highlight>
                  <a:srgbClr val="FFFFFF"/>
                </a:highlight>
                <a:latin typeface="Times New Roman"/>
                <a:cs typeface="Times New Roman"/>
              </a:rPr>
              <a:t>. 2nd ed., John Wiley and Sons, Inc., 2002.</a:t>
            </a:r>
          </a:p>
          <a:p>
            <a:endParaRPr lang="en-US" sz="1200">
              <a:highlight>
                <a:srgbClr val="FFFFFF"/>
              </a:highlight>
              <a:latin typeface="Times New Roman"/>
              <a:cs typeface="Times New Roman"/>
            </a:endParaRPr>
          </a:p>
          <a:p>
            <a:r>
              <a:rPr lang="en-US" sz="1200">
                <a:highlight>
                  <a:srgbClr val="FFFFFF"/>
                </a:highlight>
                <a:latin typeface="Times New Roman"/>
                <a:cs typeface="Times New Roman"/>
              </a:rPr>
              <a:t>[4] Perry, Robert H., and Don W. Green, editors. </a:t>
            </a:r>
            <a:r>
              <a:rPr lang="en-US" sz="1200" i="1">
                <a:highlight>
                  <a:srgbClr val="FFFFFF"/>
                </a:highlight>
                <a:latin typeface="Times New Roman"/>
                <a:cs typeface="Times New Roman"/>
              </a:rPr>
              <a:t>Perry's Chemical Engineering Handbook</a:t>
            </a:r>
            <a:r>
              <a:rPr lang="en-US" sz="1200">
                <a:highlight>
                  <a:srgbClr val="FFFFFF"/>
                </a:highlight>
                <a:latin typeface="Times New Roman"/>
                <a:cs typeface="Times New Roman"/>
              </a:rPr>
              <a:t>. 8th ed., McGraw-Hill, 2008.</a:t>
            </a:r>
          </a:p>
          <a:p>
            <a:endParaRPr lang="en-US" sz="1200">
              <a:highlight>
                <a:srgbClr val="FFFFFF"/>
              </a:highlight>
              <a:latin typeface="Times New Roman"/>
              <a:cs typeface="Times New Roman"/>
            </a:endParaRPr>
          </a:p>
          <a:p>
            <a:r>
              <a:rPr lang="en-US" sz="1200">
                <a:highlight>
                  <a:srgbClr val="FFFFFF"/>
                </a:highlight>
                <a:latin typeface="Times New Roman"/>
                <a:cs typeface="Times New Roman"/>
              </a:rPr>
              <a:t>[5] Department of Chemical Engineering. 2025. </a:t>
            </a:r>
            <a:r>
              <a:rPr lang="en-US" sz="1200" i="1">
                <a:highlight>
                  <a:srgbClr val="FFFFFF"/>
                </a:highlight>
                <a:latin typeface="Times New Roman"/>
                <a:cs typeface="Times New Roman"/>
              </a:rPr>
              <a:t>ChE 382: Unit Operations Laboratory: Heat Transfer to a Fluid in a Stirred Tank. </a:t>
            </a:r>
            <a:r>
              <a:rPr lang="en-US" sz="1200">
                <a:highlight>
                  <a:srgbClr val="FFFFFF"/>
                </a:highlight>
                <a:latin typeface="Times New Roman"/>
                <a:cs typeface="Times New Roman"/>
              </a:rPr>
              <a:t>University of Illinois at Chicago.</a:t>
            </a:r>
          </a:p>
          <a:p>
            <a:pPr algn="l"/>
            <a:endParaRPr lang="en-US"/>
          </a:p>
        </p:txBody>
      </p:sp>
    </p:spTree>
    <p:extLst>
      <p:ext uri="{BB962C8B-B14F-4D97-AF65-F5344CB8AC3E}">
        <p14:creationId xmlns:p14="http://schemas.microsoft.com/office/powerpoint/2010/main" val="209883346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Parcel</Template>
  <TotalTime>22</TotalTime>
  <Words>1543</Words>
  <Application>Microsoft Office PowerPoint</Application>
  <PresentationFormat>Widescreen</PresentationFormat>
  <Paragraphs>167</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Gill Sans MT</vt:lpstr>
      <vt:lpstr>Times New Roman</vt:lpstr>
      <vt:lpstr>Parcel</vt:lpstr>
      <vt:lpstr>Heat Transfer</vt:lpstr>
      <vt:lpstr>Purpose of Lab</vt:lpstr>
      <vt:lpstr>Theory</vt:lpstr>
      <vt:lpstr>Apparatus</vt:lpstr>
      <vt:lpstr>Thermometer list</vt:lpstr>
      <vt:lpstr>Valve list</vt:lpstr>
      <vt:lpstr>Materials &amp; supplies</vt:lpstr>
      <vt:lpstr>Procedure</vt:lpstr>
      <vt:lpstr>Safety</vt:lpstr>
      <vt:lpstr>Experimental challenges &amp; lessons learned</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Dilosa, Cesearo</dc:creator>
  <cp:lastModifiedBy>Zdunek, Alan</cp:lastModifiedBy>
  <cp:revision>3</cp:revision>
  <dcterms:created xsi:type="dcterms:W3CDTF">2025-11-11T17:04:41Z</dcterms:created>
  <dcterms:modified xsi:type="dcterms:W3CDTF">2026-02-04T16:57:05Z</dcterms:modified>
</cp:coreProperties>
</file>