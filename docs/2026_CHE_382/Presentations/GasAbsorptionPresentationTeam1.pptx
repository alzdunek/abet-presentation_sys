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9_0.xml" ContentType="application/vnd.ms-powerpoint.comments+xml"/>
  <Override PartName="/ppt/notesSlides/notesSlide3.xml" ContentType="application/vnd.openxmlformats-officedocument.presentationml.notesSlide+xml"/>
  <Override PartName="/ppt/comments/modernComment_137_4E0BA59D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2C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3C_37387452.xml" ContentType="application/vnd.ms-powerpoint.comments+xml"/>
  <Override PartName="/ppt/notesSlides/notesSlide8.xml" ContentType="application/vnd.openxmlformats-officedocument.presentationml.notesSlide+xml"/>
  <Override PartName="/ppt/comments/modernComment_13D_9968153C.xml" ContentType="application/vnd.ms-powerpoint.comments+xml"/>
  <Override PartName="/ppt/comments/modernComment_12F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97" r:id="rId6"/>
    <p:sldId id="311" r:id="rId7"/>
    <p:sldId id="299" r:id="rId8"/>
    <p:sldId id="300" r:id="rId9"/>
    <p:sldId id="301" r:id="rId10"/>
    <p:sldId id="316" r:id="rId11"/>
    <p:sldId id="317" r:id="rId12"/>
    <p:sldId id="302" r:id="rId13"/>
    <p:sldId id="303" r:id="rId14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3A080-B7B9-4E56-1056-98247C78158B}" name="Zaruk, Omar" initials="OZ" userId="S::ozaru2@uic.edu::e3e78486-64b8-4776-9e77-1e5f2b5bc397" providerId="AD"/>
  <p188:author id="{71793BA8-C1E5-3ED7-C793-E0E474994A88}" name="Suleiman, Qussay" initials="SQ" userId="S::qsule2@uic.edu::2acf93a9-a997-4581-abf7-e9288d2ec4f8" providerId="AD"/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00000"/>
    <a:srgbClr val="00234C"/>
    <a:srgbClr val="0066CC"/>
    <a:srgbClr val="3366FF"/>
    <a:srgbClr val="CC9900"/>
    <a:srgbClr val="996600"/>
    <a:srgbClr val="99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92" autoAdjust="0"/>
  </p:normalViewPr>
  <p:slideViewPr>
    <p:cSldViewPr snapToGrid="0">
      <p:cViewPr varScale="1">
        <p:scale>
          <a:sx n="88" d="100"/>
          <a:sy n="88" d="100"/>
        </p:scale>
        <p:origin x="138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omments/modernComment_12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32289C-93B4-443F-BAAE-14B41F119AC9}" authorId="{DF52CCAC-0B66-CA76-A7A3-D551D844506B}" created="2026-03-19T15:10:13.2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0"/>
      <ac:spMk id="2" creationId="{D44C367A-7761-90C9-595F-D4351911969A}"/>
    </ac:deMkLst>
    <p188:txBody>
      <a:bodyPr/>
      <a:lstStyle/>
      <a:p>
        <a:r>
          <a:rPr lang="en-US"/>
          <a:t>-0.5
NaOH solution is more clear.</a:t>
        </a:r>
      </a:p>
    </p188:txBody>
  </p188:cm>
</p188:cmLst>
</file>

<file path=ppt/comments/modernComment_12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A3092E-3636-4171-8B83-06FF4EA81912}" authorId="{DF52CCAC-0B66-CA76-A7A3-D551D844506B}" created="2026-03-19T15:14:21.8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3"/>
      <ac:spMk id="130050" creationId="{F46451E3-1C69-13E3-A8D8-BBEA84222F8C}"/>
    </ac:deMkLst>
    <p188:txBody>
      <a:bodyPr/>
      <a:lstStyle/>
      <a:p>
        <a:r>
          <a:rPr lang="en-US"/>
          <a:t>-2
CO2 hazards,  pressure hazards (compressed air and CO2 cylinder pressure).</a:t>
        </a:r>
      </a:p>
    </p188:txBody>
  </p188:cm>
</p188:cmLst>
</file>

<file path=ppt/comments/modernComment_13C_373874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8F3195-2269-42A3-9CD5-53F7C56B5B0D}" authorId="{DF52CCAC-0B66-CA76-A7A3-D551D844506B}" created="2026-03-19T15:11:51.5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26446674" sldId="316"/>
      <ac:spMk id="2" creationId="{8E86DA84-1A9E-F87E-2F6D-610012AE58DA}"/>
    </ac:deMkLst>
    <p188:txBody>
      <a:bodyPr/>
      <a:lstStyle/>
      <a:p>
        <a:r>
          <a:rPr lang="en-US"/>
          <a:t>-2
Bullet item 1 and 2 are the same, missing part of the procedure</a:t>
        </a:r>
      </a:p>
    </p188:txBody>
  </p188:cm>
</p188:cmLst>
</file>

<file path=ppt/comments/modernComment_13D_996815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61DBB4-349A-4C8F-A0DC-6690A1D9E97D}" authorId="{DF52CCAC-0B66-CA76-A7A3-D551D844506B}" created="2026-03-19T15:13:20.34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73735228" sldId="317"/>
      <ac:spMk id="2" creationId="{632F1FF1-21E0-34DB-09B6-E480C1013027}"/>
    </ac:deMkLst>
    <p188:txBody>
      <a:bodyPr/>
      <a:lstStyle/>
      <a:p>
        <a:r>
          <a:rPr lang="en-US"/>
          <a:t>-2
Bullet item 1 and 2 the same.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7323C2-C3BF-45CF-9B2B-A90DE5D1D110}" authorId="{DF52CCAC-0B66-CA76-A7A3-D551D844506B}" created="2026-03-19T15:14:53.8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1" creationId="{72077EE1-D498-B3A4-99E4-1DF7B93F58A4}"/>
    </ac:deMkLst>
    <p188:txBody>
      <a:bodyPr/>
      <a:lstStyle/>
      <a:p>
        <a:r>
          <a:rPr lang="en-US"/>
          <a:t>90/100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3A0C52-BBC3-4934-8094-93B8F8BBA117}" authorId="{DF52CCAC-0B66-CA76-A7A3-D551D844506B}" created="2026-03-19T15:06:23.09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7"/>
      <ac:spMk id="8" creationId="{7C5AA598-CF13-1E2B-E621-81591CC41068}"/>
    </ac:deMkLst>
    <p188:txBody>
      <a:bodyPr/>
      <a:lstStyle/>
      <a:p>
        <a:r>
          <a:rPr lang="en-US"/>
          <a:t>-1
Streamline this slide using subbullets instead of just a paragraph</a:t>
        </a:r>
      </a:p>
    </p188:txBody>
  </p188:cm>
</p188:cmLst>
</file>

<file path=ppt/comments/modernComment_137_4E0BA5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7BAA76-BC60-42F1-AE0C-77598B539317}" authorId="{DF52CCAC-0B66-CA76-A7A3-D551D844506B}" created="2026-03-19T15:07:27.8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09386141" sldId="311"/>
      <ac:spMk id="10" creationId="{6C1FDD19-336B-FD5B-4F65-2B28959C27CF}"/>
    </ac:deMkLst>
    <p188:txBody>
      <a:bodyPr/>
      <a:lstStyle/>
      <a:p>
        <a:r>
          <a:rPr lang="en-US"/>
          <a:t>-0.5
Packed bed column flooding</a:t>
        </a:r>
      </a:p>
    </p188:txBody>
  </p188:cm>
  <p188:cm id="{F0946194-3640-4222-928A-B563509109A1}" authorId="{DF52CCAC-0B66-CA76-A7A3-D551D844506B}" created="2026-03-19T15:08:37.3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09386141" sldId="311"/>
      <ac:spMk id="11" creationId="{45DCD357-1614-1F6E-BDCD-54435D51BB42}"/>
    </ac:deMkLst>
    <p188:txBody>
      <a:bodyPr/>
      <a:lstStyle/>
      <a:p>
        <a:r>
          <a:rPr lang="en-US"/>
          <a:t>-2
Expand on the mass transfer principles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F5AF44DE-D769-1138-EE22-EB8F9E7716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6B6882B3-3D8E-DDAA-C125-80E2F92199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9F3B8B01-C3BA-5532-D34F-7E6182AD931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90552D13-918C-2A40-468A-245148A360D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4B61743-39E6-4B7A-B4F2-6E1DF84148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75AF4237-C2DE-DC0D-AD1B-C62EC89418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3DDC258F-5F49-0416-1145-E7BAD283F64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A9122348-3F55-17C1-B77D-0ACE32165B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2E30AE0F-05B8-ACAF-8DF9-04CCB652817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E103602D-8D6A-F334-7621-9CFEA8370F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76FC812C-07F5-C291-8613-B75657D1C1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D0D2558-5D1F-4C93-B3EB-529F41E2768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77A5A71D-A4FC-29A8-BDB0-E39F8F285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B3F2B3-6D0A-4BC8-908E-B21AA54E56F6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73304438-68BE-6DF8-767A-20A3A73ABF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D9A9FDA4-CA61-7FAA-8FA3-30B2A6497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CAD9D954-C983-1D8B-D7ED-A5DF790C05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BAEDFC-B970-4173-88C1-98CA4D3707D8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095439EF-754C-D29E-EB68-ACCD6DB7E4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4219B46A-A4FB-F4C4-B05A-D2BB461DA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Graphs are sourced from the lab manual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D2558-5D1F-4C93-B3EB-529F41E27680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823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D2558-5D1F-4C93-B3EB-529F41E27680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6937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D2558-5D1F-4C93-B3EB-529F41E27680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1696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D2558-5D1F-4C93-B3EB-529F41E27680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146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717B-7044-E642-7D04-FB6FD11D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CF1D7-D3B7-F637-39B2-ADF42C6CE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94FE8-3437-14D4-0325-3A88643E6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0EF9A-E0DA-F5E5-50D7-1631C4F2D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D2558-5D1F-4C93-B3EB-529F41E27680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1638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2A54E-E539-0C29-BD90-2C86BCD9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8137F-9035-11FF-6D47-4B2F43B96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82AAC-312A-05D5-0878-27A22DECC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BBB72-F385-5EFC-7079-E090ED80D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D2558-5D1F-4C93-B3EB-529F41E27680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3933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5A8977C-B3AA-5B87-0680-BCCF9AE7561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EC58C4D-2EDE-3C8F-C5BD-E782986956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56ECA910-1B3E-A577-C38A-4CEC806238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93B0F608-8424-7118-BC21-CF2CE30760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7C06-A45D-064A-84BA-6DDF62119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B9F19-D8AA-CE49-E2DA-03892C17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11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61B4A-BDE0-303D-0C72-38AB7700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CFF16-349E-9A6D-DEE2-F70DDF3AF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599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C26D-011B-08D2-06B4-4A2E73E9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D600-116A-DD9E-41D8-3CFF33C87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ED01F-DF8D-4B33-1768-7A5ACD549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786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CBF9-94E7-881C-8E2A-C5EAD776A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1428A-2015-E93A-4CCE-25367E6CE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AE8F6-A37F-ECAB-E90D-9BF55FBAC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9AE7A-C9FF-E39E-A052-E6D544D523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0EDD6-CCF6-BD2D-346D-D9AAE73EE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4004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4FE9-D70D-3828-89FC-AD379FE0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611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58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BC7F1-3DF9-E25C-AB20-A1301553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2AD7C-A1FA-7E1F-B3B8-4AB7BF1C7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96948-E616-4B4F-EBA2-A10CA5DFE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793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BF4A-7817-8687-7514-83FA8D7EA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DA7DF-8A9A-E131-2CB8-C22982130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1FDE8-215F-1599-0031-DC24B47AB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292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97BB-4F3B-8245-A5E2-C5D4C6C9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642C8-1C0B-2888-2393-3A5B4E9DC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943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45C84-11B8-9C6B-14F5-F381C1FA4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EBFCA-73C2-6016-145D-CB079643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885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AB4678-31E1-864A-791B-91A670D00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2635C53-5342-4C7C-F927-87C0585B4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319B77AC-3A5E-3DAE-F4F3-22B0442B891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E21867C5-7B35-5757-6A7C-87C89CE10C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7_4E0BA59D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C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C_3738745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D_9968153C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F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72077EE1-D498-B3A4-99E4-1DF7B93F58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10183" y="3985098"/>
            <a:ext cx="8320391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Group 2</a:t>
            </a:r>
            <a:endParaRPr lang="en-US" altLang="en-US" sz="2800" dirty="0"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altLang="en-US" sz="2800" dirty="0"/>
              <a:t>Joshua </a:t>
            </a:r>
            <a:r>
              <a:rPr lang="en-US" altLang="en-US" sz="2800" dirty="0" err="1"/>
              <a:t>Olusoji</a:t>
            </a:r>
            <a:r>
              <a:rPr lang="en-US" altLang="en-US" sz="2800" dirty="0"/>
              <a:t>, Omar </a:t>
            </a:r>
            <a:r>
              <a:rPr lang="en-US" altLang="en-US" sz="2800" dirty="0" err="1"/>
              <a:t>Zaruk</a:t>
            </a:r>
            <a:r>
              <a:rPr lang="en-US" altLang="en-US" sz="2800" dirty="0"/>
              <a:t>, Sanad Abu </a:t>
            </a:r>
            <a:r>
              <a:rPr lang="en-US" altLang="en-US" sz="2800" dirty="0" err="1"/>
              <a:t>Hweij</a:t>
            </a:r>
            <a:r>
              <a:rPr lang="en-US" altLang="en-US" sz="2800" dirty="0"/>
              <a:t>, Qussay Suleiman</a:t>
            </a:r>
            <a:endParaRPr lang="en-US" altLang="en-US" sz="2800" dirty="0"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altLang="en-US" sz="2800" dirty="0"/>
              <a:t>Chemical Engineering Lab II</a:t>
            </a:r>
          </a:p>
          <a:p>
            <a:pPr>
              <a:lnSpc>
                <a:spcPct val="80000"/>
              </a:lnSpc>
            </a:pPr>
            <a:r>
              <a:rPr lang="en-US" altLang="en-US" sz="2800" dirty="0">
                <a:cs typeface="Arial"/>
              </a:rPr>
              <a:t>3/16/2026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77B3EAE-4BF6-7FAA-5ABF-F67506E350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 dirty="0"/>
            </a:br>
            <a:br>
              <a:rPr lang="en-US" altLang="en-US" sz="4000" b="1" dirty="0"/>
            </a:br>
            <a:r>
              <a:rPr lang="en-US" altLang="en-US" sz="4000" b="1" dirty="0"/>
              <a:t>Gas Absorption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9B324F58-C193-380D-8D31-2E03C0290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AE7BA42-EE99-68AC-692F-225D6E7CB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F494A156-74DF-37EC-356E-B64557E66B3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b="1" dirty="0"/>
          </a:p>
          <a:p>
            <a:endParaRPr lang="en-US" sz="2800" dirty="0">
              <a:cs typeface="Arial"/>
            </a:endParaRPr>
          </a:p>
          <a:p>
            <a:endParaRPr lang="en-US" altLang="en-US" sz="2800" dirty="0"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C5AA598-CF13-1E2B-E621-81591CC41068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175534" y="1600200"/>
            <a:ext cx="8792932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The objective of this experiment is to study gas absorption in a packed-bed column by characterizing packed-bed hydrodynamics and CO₂ mass transfer coefficients. Air, CO₂, and water flow rates are controlled while the pressure drop across the packing is measured with a red-oil manometer to identify the flooding point and appropriate operating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The packed-bed void fraction is first determined, and pressure drop is measured as a function of air and water flow rates. CO₂ absorption by water is then studied in closed-loop and open-loop systems to evaluate absorber performance and determine mass transfer coefficients.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958D6-A35B-5F12-C406-B919646EA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430D-3C29-9AA3-1C20-3D0F3902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A6705A-E61B-3C7B-114D-92556CBC9D49}"/>
              </a:ext>
            </a:extLst>
          </p:cNvPr>
          <p:cNvSpPr txBox="1"/>
          <p:nvPr/>
        </p:nvSpPr>
        <p:spPr>
          <a:xfrm>
            <a:off x="-208026" y="2501291"/>
            <a:ext cx="514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761B8D-5BB8-081F-28A9-74023306A33D}"/>
              </a:ext>
            </a:extLst>
          </p:cNvPr>
          <p:cNvSpPr txBox="1"/>
          <p:nvPr/>
        </p:nvSpPr>
        <p:spPr>
          <a:xfrm>
            <a:off x="1755" y="1678387"/>
            <a:ext cx="774652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cs typeface="Arial"/>
              </a:rPr>
              <a:t>Theory: Gas Absorption in a Packed Bed</a:t>
            </a:r>
            <a:endParaRPr lang="en-US"/>
          </a:p>
          <a:p>
            <a:r>
              <a:rPr lang="en-US" dirty="0">
                <a:latin typeface="Arial"/>
                <a:cs typeface="Arial"/>
              </a:rPr>
              <a:t>Gas absorption is a process where a gas dissolves into a liquid.</a:t>
            </a:r>
            <a:br>
              <a:rPr lang="en-US" dirty="0">
                <a:cs typeface="Arial"/>
              </a:rPr>
            </a:br>
            <a:r>
              <a:rPr lang="en-US" dirty="0">
                <a:latin typeface="Arial"/>
                <a:cs typeface="Arial"/>
              </a:rPr>
              <a:t> In this experiment, carbon dioxide is removed from air by absorbing it into </a:t>
            </a:r>
            <a:r>
              <a:rPr lang="en-US">
                <a:latin typeface="Arial"/>
                <a:cs typeface="Arial"/>
              </a:rPr>
              <a:t>water. This process is commonly used in chemical engineering to separate or </a:t>
            </a:r>
            <a:r>
              <a:rPr lang="en-US" dirty="0">
                <a:latin typeface="Arial"/>
                <a:cs typeface="Arial"/>
              </a:rPr>
              <a:t>remove gases</a:t>
            </a:r>
            <a:endParaRPr lang="en-US" dirty="0">
              <a:latin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1FDD19-336B-FD5B-4F65-2B28959C27CF}"/>
              </a:ext>
            </a:extLst>
          </p:cNvPr>
          <p:cNvSpPr txBox="1"/>
          <p:nvPr/>
        </p:nvSpPr>
        <p:spPr>
          <a:xfrm>
            <a:off x="0" y="2882660"/>
            <a:ext cx="7361207" cy="20169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cs typeface="Arial"/>
            </a:endParaRPr>
          </a:p>
          <a:p>
            <a:r>
              <a:rPr lang="en-US" b="1" dirty="0"/>
              <a:t>Flooding</a:t>
            </a:r>
          </a:p>
          <a:p>
            <a:r>
              <a:rPr lang="en-US" dirty="0">
                <a:latin typeface="Arial"/>
                <a:cs typeface="Arial"/>
              </a:rPr>
              <a:t>At high gas flow rates, flooding can occur.</a:t>
            </a:r>
            <a:br>
              <a:rPr lang="en-US" dirty="0"/>
            </a:br>
            <a:r>
              <a:rPr lang="en-US" dirty="0">
                <a:latin typeface="Arial"/>
                <a:cs typeface="Arial"/>
              </a:rPr>
              <a:t>This is when the gas starts pushing the liquid upward.</a:t>
            </a:r>
            <a:br>
              <a:rPr lang="en-US" dirty="0"/>
            </a:br>
            <a:r>
              <a:rPr lang="en-US" dirty="0">
                <a:latin typeface="Arial"/>
                <a:cs typeface="Arial"/>
              </a:rPr>
              <a:t>The liquid can no longer flow down properly.</a:t>
            </a:r>
            <a:br>
              <a:rPr lang="en-US" dirty="0"/>
            </a:br>
            <a:r>
              <a:rPr lang="en-US" dirty="0">
                <a:latin typeface="Arial"/>
                <a:cs typeface="Arial"/>
              </a:rPr>
              <a:t>At this point, the pressure drop increases quickly.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CD357-1614-1F6E-BDCD-54435D51BB42}"/>
              </a:ext>
            </a:extLst>
          </p:cNvPr>
          <p:cNvSpPr txBox="1"/>
          <p:nvPr/>
        </p:nvSpPr>
        <p:spPr>
          <a:xfrm>
            <a:off x="0" y="4679829"/>
            <a:ext cx="877018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Mass Transfer of CO₂</a:t>
            </a:r>
          </a:p>
          <a:p>
            <a:r>
              <a:rPr lang="en-US">
                <a:latin typeface="Arial"/>
                <a:cs typeface="Arial"/>
              </a:rPr>
              <a:t>Carbon dioxide moves from the gas phase into the liquid phase.</a:t>
            </a:r>
            <a:br>
              <a:rPr lang="en-US" dirty="0"/>
            </a:br>
            <a:r>
              <a:rPr lang="en-US">
                <a:latin typeface="Arial"/>
                <a:cs typeface="Arial"/>
              </a:rPr>
              <a:t>This happens at the gas–liquid interface.</a:t>
            </a:r>
            <a:br>
              <a:rPr lang="en-US" dirty="0"/>
            </a:br>
            <a:r>
              <a:rPr lang="en-US">
                <a:latin typeface="Arial"/>
                <a:cs typeface="Arial"/>
              </a:rPr>
              <a:t>The rate of transfer depends on the concentration difference.</a:t>
            </a:r>
          </a:p>
          <a:p>
            <a:r>
              <a:rPr lang="en-US" dirty="0">
                <a:latin typeface="Arial"/>
                <a:cs typeface="Arial"/>
              </a:rPr>
              <a:t> N = Ka*</a:t>
            </a:r>
            <a:r>
              <a:rPr lang="en-US" dirty="0" err="1">
                <a:latin typeface="Arial"/>
                <a:cs typeface="Arial"/>
              </a:rPr>
              <a:t>deltaC</a:t>
            </a:r>
            <a:r>
              <a:rPr lang="en-US" dirty="0">
                <a:latin typeface="Arial"/>
                <a:cs typeface="Arial"/>
              </a:rPr>
              <a:t>. Where N is transfer rate and Delta C is the driving force</a:t>
            </a:r>
          </a:p>
          <a:p>
            <a:pPr algn="ctr"/>
            <a:endParaRPr 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3861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42199E74-8958-3C2B-6E6E-8B369B015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0238" y="457200"/>
            <a:ext cx="2949575" cy="33196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rgbClr val="FFFFFF"/>
                </a:solidFill>
              </a:rPr>
              <a:t>             </a:t>
            </a:r>
            <a:r>
              <a:rPr lang="en-US" altLang="en-US" sz="3200" dirty="0">
                <a:solidFill>
                  <a:srgbClr val="FFFFFF"/>
                </a:solidFill>
              </a:rPr>
              <a:t>A</a:t>
            </a:r>
            <a:r>
              <a:rPr lang="en-US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pparatus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646C190-88ED-A850-E542-DE29D7416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4F19A-A14B-400C-1CC9-568E355DD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316" y="457200"/>
            <a:ext cx="4785108" cy="568721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CB8B8FF-A4D4-CCBB-22C4-8ABFB76B259A}"/>
              </a:ext>
            </a:extLst>
          </p:cNvPr>
          <p:cNvSpPr/>
          <p:nvPr/>
        </p:nvSpPr>
        <p:spPr>
          <a:xfrm>
            <a:off x="5493559" y="6213348"/>
            <a:ext cx="1514622" cy="374904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Full Apparatus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341EC3B-1BC7-B761-40A9-EDE1970F4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Material &amp; Supplies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C83BFB-5ECF-D92D-3558-EB24C3353FF7}"/>
              </a:ext>
            </a:extLst>
          </p:cNvPr>
          <p:cNvSpPr txBox="1"/>
          <p:nvPr/>
        </p:nvSpPr>
        <p:spPr>
          <a:xfrm>
            <a:off x="186873" y="1543028"/>
            <a:ext cx="4740025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Digital thermometer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Deionized Water Supply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Deionized Water Container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Plastic Packings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Graduated Cylinder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Safety Goggles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Carbon Dioxide Gas Cylinder + Two-Stage Pressure Regulator + CO</a:t>
            </a:r>
            <a:r>
              <a:rPr lang="en-US" sz="2800" baseline="-25000" dirty="0">
                <a:solidFill>
                  <a:srgbClr val="002060"/>
                </a:solidFill>
              </a:rPr>
              <a:t>2</a:t>
            </a:r>
            <a:r>
              <a:rPr lang="en-US" sz="2800" dirty="0">
                <a:solidFill>
                  <a:srgbClr val="002060"/>
                </a:solidFill>
              </a:rPr>
              <a:t> Heater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4C367A-7761-90C9-595F-D4351911969A}"/>
              </a:ext>
            </a:extLst>
          </p:cNvPr>
          <p:cNvSpPr txBox="1"/>
          <p:nvPr/>
        </p:nvSpPr>
        <p:spPr>
          <a:xfrm>
            <a:off x="4926899" y="1543028"/>
            <a:ext cx="421710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Magnetic Hot 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Titration Stand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Parafilm Sealing Film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Phenolphthalein Indicator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Sodium Hydroxide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Compressed Air Supply Line + Pressure Regulator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Magnetic Stir Bars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50 mL flasks</a:t>
            </a:r>
            <a:endParaRPr lang="en-US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7236D3DD-1664-E4EB-6833-5246BDF88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1A56CA-1F7A-5AD0-2514-0405428537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" y="1520447"/>
            <a:ext cx="9067800" cy="447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sz="1600" b="1" dirty="0"/>
              <a:t>Part 1 – Packed bed characterization: </a:t>
            </a:r>
            <a:r>
              <a:rPr lang="en-US" sz="1600" dirty="0"/>
              <a:t>Measure a known volume of 1 cm Raschig ring packing and slowly add deionized water until the void spaces are filled. Record the water volume and calculate the void fraction.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sz="1600" dirty="0"/>
              <a:t>Fill the liquid reservoir to about three quarters full with deionized water and record the temperature. Open the compressed air supply and set airflow to 20 L/min, allowing air to flow for 5 minutes to dry the packing. Measure pressure drop across the packed bed using the red-oil manometer for several air flow rates with no liquid flow.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sz="1600" dirty="0"/>
              <a:t>Start the liquid pump and adjust water flow to 1.5 L/min while maintaining the liquid level above the sampling port and below the gas inlet. Gradually increase airflow from 20 L/min and record pressure drop until flooding occurs. Repeat flooding measurements for water flow rates of 3 L/min, 6 L/min, and 8 L/min, monitoring the manometer to prevent red oil from entering the tubing.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58F7-1E3F-7294-5ED2-8DC9F494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3B038B63-2F11-583A-2D6B-1BAE63029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Procedure-contd.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86DA84-1A9E-F87E-2F6D-610012AE58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36930"/>
            <a:ext cx="9067800" cy="447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sz="1600" b="1" dirty="0"/>
              <a:t>Part 2 – CO₂ absorption in a closed-loop water system: </a:t>
            </a:r>
            <a:r>
              <a:rPr lang="en-US" sz="1600" dirty="0"/>
              <a:t>Fill the reservoir to about three quarters full with deionized water and record the temperature. Collect an initial 50 mL water sample and determine the initial CO₂ concentration by titration. Start the liquid pump and adjust water flow to 6 L/min, then set the airflow to 20 L/min.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sz="1600" dirty="0"/>
              <a:t>Part 2 – CO₂ absorption in a closed-loop water system: Fill the reservoir to about three quarters full with deionized water and record the temperature. Collect an initial 50 mL water sample and determine the initial CO₂ concentration by titration. Start the liquid pump and adjust water flow to 6 L/min, then set the airflow to 20 L/min.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sz="1600" dirty="0"/>
              <a:t>Part 2B – CO₂ desorption: Shut off the CO₂ flow, reduce the liquid flow to 1.5 L/min, and adjust the drain to maintain liquid level above the sampling port. Immediately collect water samples at about 1-minute intervals and continue titration analysis until the CO₂ concentration decreases and stabilizes.</a:t>
            </a:r>
          </a:p>
        </p:txBody>
      </p:sp>
    </p:spTree>
    <p:extLst>
      <p:ext uri="{BB962C8B-B14F-4D97-AF65-F5344CB8AC3E}">
        <p14:creationId xmlns:p14="http://schemas.microsoft.com/office/powerpoint/2010/main" val="9264466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0352-AF3C-EC01-B316-167F5B4B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7BBC632C-9A66-9813-7715-07BD34A71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Procedure-contd.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2F1FF1-21E0-34DB-09B6-E480C1013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743667"/>
            <a:ext cx="8935278" cy="3370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sz="1600" b="1" dirty="0"/>
              <a:t>Part 3 – Open-loop CO₂ absorption: </a:t>
            </a:r>
            <a:r>
              <a:rPr lang="en-US" sz="1600" dirty="0"/>
              <a:t>Refill the reservoir with deionized water and record the water temperature. Measure the initial dissolved CO₂ concentration by titration. Start the liquid pump and adjust the water flow to 1.5 L/min. Configure the column for open-loop operation by opening the column drain and adjusting the liquid level so it remains above the sampling port but below the air inlet.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sz="1600" dirty="0"/>
              <a:t>Refill the reservoir with deionized water and record the water temperature. Measure the initial dissolved CO₂ concentration by titration. Start the liquid pump and adjust the water flow to 1.5 L/min. Configure the column for open-loop operation by opening the column drain and adjusting the liquid level so it remains above the sampling port but below the air inlet.</a:t>
            </a:r>
          </a:p>
        </p:txBody>
      </p:sp>
    </p:spTree>
    <p:extLst>
      <p:ext uri="{BB962C8B-B14F-4D97-AF65-F5344CB8AC3E}">
        <p14:creationId xmlns:p14="http://schemas.microsoft.com/office/powerpoint/2010/main" val="25737352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58CA63FC-0D2C-F013-B6D1-279CAEDF4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EED8F538-2CD0-AB5F-CEAA-08553068F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>
              <a:cs typeface="Arial"/>
            </a:endParaRPr>
          </a:p>
          <a:p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ED14142-E7D8-EEA9-2D75-24D9BC77F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" y="1876927"/>
            <a:ext cx="8673592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32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8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4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Water leaks: </a:t>
            </a:r>
            <a:r>
              <a:rPr lang="en-US" sz="1800" dirty="0"/>
              <a:t>Small leaks occurred in the system during operation, requiring buckets to collect draining water and frequent cleanup to prevent spills and maintain safe working conditions.</a:t>
            </a:r>
          </a:p>
          <a:p>
            <a:endParaRPr lang="en-US" sz="2800" dirty="0"/>
          </a:p>
          <a:p>
            <a:r>
              <a:rPr lang="en-US" sz="1800" b="1" dirty="0"/>
              <a:t>Air flow drift</a:t>
            </a:r>
            <a:r>
              <a:rPr lang="en-US" sz="1800" dirty="0"/>
              <a:t>: The air flow rate tended to decrease slightly during operation, requiring periodic adjustments to maintain the target flow rate and ensure consistent experimental conditions.</a:t>
            </a:r>
          </a:p>
          <a:p>
            <a:endParaRPr lang="en-US" sz="2800" dirty="0"/>
          </a:p>
          <a:p>
            <a:r>
              <a:rPr lang="en-US" sz="1800" b="1" dirty="0"/>
              <a:t>Simultaneous tasks: </a:t>
            </a:r>
            <a:r>
              <a:rPr lang="en-US" sz="1800" dirty="0"/>
              <a:t>The experiment required multiple tasks at once including sample collection, timing intervals, titration analysis, and cleanup, which required good coordination and time management to avoid missing sampling points.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F46451E3-1C69-13E3-A8D8-BBEA84222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E3D9AC5B-E9CE-AB5F-EF21-8778CC99D2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9052" y="1752313"/>
            <a:ext cx="8825896" cy="4525963"/>
          </a:xfrm>
        </p:spPr>
        <p:txBody>
          <a:bodyPr/>
          <a:lstStyle/>
          <a:p>
            <a:r>
              <a:rPr lang="en-US" sz="2400" dirty="0">
                <a:cs typeface="Arial"/>
              </a:rPr>
              <a:t>To stay safe:</a:t>
            </a:r>
            <a:endParaRPr lang="en-US" altLang="en-US" sz="2400" dirty="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sz="1900" b="1" dirty="0"/>
              <a:t>Prevent slipping and spills</a:t>
            </a:r>
            <a:r>
              <a:rPr lang="en-US" sz="1900" dirty="0"/>
              <a:t>: Fill and drain the system carefully and clean spills immediately. Use the water shut-off valve if overfilling or leaks occur.</a:t>
            </a:r>
          </a:p>
          <a:p>
            <a:pPr lvl="1">
              <a:buFont typeface="Courier New"/>
              <a:buChar char="o"/>
            </a:pPr>
            <a:r>
              <a:rPr lang="en-US" sz="1900" b="1" dirty="0"/>
              <a:t>Prevent electrical hazards</a:t>
            </a:r>
            <a:r>
              <a:rPr lang="en-US" sz="1900" dirty="0"/>
              <a:t>: Keep electrical cords and powered equipment dry, and shut off the main power switch before cleaning if liquid contacts electrical components.</a:t>
            </a:r>
          </a:p>
          <a:p>
            <a:pPr lvl="1">
              <a:buFont typeface="Courier New"/>
              <a:buChar char="o"/>
            </a:pPr>
            <a:r>
              <a:rPr lang="en-US" sz="1900" b="1" dirty="0"/>
              <a:t>Handle chemicals safely</a:t>
            </a:r>
            <a:r>
              <a:rPr lang="en-US" sz="1900" dirty="0"/>
              <a:t>: Wear nitrile gloves and eye protection when working with sodium hydroxide, phenolphthalein indicator, or red oil, and keep flammable indicator solutions away from ignition sources.</a:t>
            </a:r>
          </a:p>
          <a:p>
            <a:pPr lvl="1">
              <a:buFont typeface="Courier New"/>
              <a:buChar char="o"/>
            </a:pPr>
            <a:r>
              <a:rPr lang="en-US" sz="1900" b="1" dirty="0"/>
              <a:t>Handle chemicals safely</a:t>
            </a:r>
            <a:r>
              <a:rPr lang="en-US" sz="1900" dirty="0"/>
              <a:t>: Wear nitrile gloves and eye protection when working with sodium hydroxide, phenolphthalein indicator, or red oil, and keep flammable indicator solutions away from ignition sources.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D4DB9680548741AF142E25CD163C89" ma:contentTypeVersion="13" ma:contentTypeDescription="Create a new document." ma:contentTypeScope="" ma:versionID="9ba498e175684ea91d55eafe43e998c1">
  <xsd:schema xmlns:xsd="http://www.w3.org/2001/XMLSchema" xmlns:xs="http://www.w3.org/2001/XMLSchema" xmlns:p="http://schemas.microsoft.com/office/2006/metadata/properties" xmlns:ns3="ce0042e0-bc9f-43b7-ada3-1b351bed2e77" xmlns:ns4="d41bf40f-5717-4d64-bbdf-fab2410a53d4" targetNamespace="http://schemas.microsoft.com/office/2006/metadata/properties" ma:root="true" ma:fieldsID="a081e4d60c675e40e7f49c4d11442203" ns3:_="" ns4:_="">
    <xsd:import namespace="ce0042e0-bc9f-43b7-ada3-1b351bed2e77"/>
    <xsd:import namespace="d41bf40f-5717-4d64-bbdf-fab2410a53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0042e0-bc9f-43b7-ada3-1b351bed2e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1bf40f-5717-4d64-bbdf-fab2410a53d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e0042e0-bc9f-43b7-ada3-1b351bed2e77" xsi:nil="true"/>
  </documentManagement>
</p:properties>
</file>

<file path=customXml/itemProps1.xml><?xml version="1.0" encoding="utf-8"?>
<ds:datastoreItem xmlns:ds="http://schemas.openxmlformats.org/officeDocument/2006/customXml" ds:itemID="{A6ED5535-828A-4359-B922-C923513C4F1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e0042e0-bc9f-43b7-ada3-1b351bed2e77"/>
    <ds:schemaRef ds:uri="d41bf40f-5717-4d64-bbdf-fab2410a53d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B1BB7A-3A53-4FB2-BA89-8D477CCF4D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8DB255-D0CC-4FFD-B98C-5E7459B6BEAB}">
  <ds:schemaRefs>
    <ds:schemaRef ds:uri="http://schemas.microsoft.com/office/2006/metadata/properties"/>
    <ds:schemaRef ds:uri="http://www.w3.org/2000/xmlns/"/>
    <ds:schemaRef ds:uri="ce0042e0-bc9f-43b7-ada3-1b351bed2e77"/>
    <ds:schemaRef ds:uri="http://www.w3.org/2001/XMLSchema-instance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1103</Words>
  <Application>Microsoft Office PowerPoint</Application>
  <PresentationFormat>On-screen Show (4:3)</PresentationFormat>
  <Paragraphs>68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Default Design</vt:lpstr>
      <vt:lpstr>  Gas Absorption</vt:lpstr>
      <vt:lpstr>Introduction</vt:lpstr>
      <vt:lpstr>Theory</vt:lpstr>
      <vt:lpstr>             Apparatus</vt:lpstr>
      <vt:lpstr>Material &amp; Supplies</vt:lpstr>
      <vt:lpstr>Procedure</vt:lpstr>
      <vt:lpstr>Procedure-contd.</vt:lpstr>
      <vt:lpstr>Procedure-contd.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</dc:title>
  <dc:creator>Elizabeth Zweigle Yee</dc:creator>
  <cp:lastModifiedBy>Zdunek, Alan</cp:lastModifiedBy>
  <cp:revision>3</cp:revision>
  <dcterms:created xsi:type="dcterms:W3CDTF">2008-04-09T18:55:55Z</dcterms:created>
  <dcterms:modified xsi:type="dcterms:W3CDTF">2026-03-19T15:16:01Z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0x0101007BD4DB9680548741AF142E25CD163C89</vt:lpwstr>
  </property>
</Properties>
</file>