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4"/>
  </p:sldMasterIdLst>
  <p:notesMasterIdLst>
    <p:notesMasterId r:id="rId20"/>
  </p:notesMasterIdLst>
  <p:sldIdLst>
    <p:sldId id="374" r:id="rId5"/>
    <p:sldId id="378" r:id="rId6"/>
    <p:sldId id="380" r:id="rId7"/>
    <p:sldId id="379" r:id="rId8"/>
    <p:sldId id="381" r:id="rId9"/>
    <p:sldId id="382" r:id="rId10"/>
    <p:sldId id="383" r:id="rId11"/>
    <p:sldId id="384" r:id="rId12"/>
    <p:sldId id="385" r:id="rId13"/>
    <p:sldId id="387" r:id="rId14"/>
    <p:sldId id="388" r:id="rId15"/>
    <p:sldId id="386" r:id="rId16"/>
    <p:sldId id="375" r:id="rId17"/>
    <p:sldId id="376" r:id="rId18"/>
    <p:sldId id="37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323232"/>
    <a:srgbClr val="001E62"/>
    <a:srgbClr val="D50032"/>
    <a:srgbClr val="F4F3E8"/>
    <a:srgbClr val="0080A9"/>
    <a:srgbClr val="FEBB37"/>
    <a:srgbClr val="51B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CC3699-5A24-4886-87D7-C36BD7A72F4E}" v="367" dt="2026-04-21T13:17:23.133"/>
    <p1510:client id="{AFE5A604-A444-4EAE-A233-98B557B27DA2}" v="2394" dt="2026-04-21T05:30:21.574"/>
    <p1510:client id="{C4E682A2-45D8-4648-A158-CA7FD1FDA67A}" v="242" dt="2026-04-21T14:14:24.0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43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ic365.sharepoint.com/sites/O365-CHE382ChemEngrLabII/Shared%20Documents/General/Lab%202%20Liq%20Extra/LIQLIQEXTRA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uic365.sharepoint.com/sites/O365-CHE382ChemEngrLabII/Shared%20Documents/General/Lab%202%20Liq%20Extra/LIQLIQEXTRAC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uic365.sharepoint.com/sites/O365-CHE382ChemEngrLabII/Shared%20Documents/General/Lab%202%20Liq%20Extra/LIQLIQEXTRAC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uic365.sharepoint.com/sites/O365-CHE382ChemEngrLabII/Shared%20Documents/General/Lab%202%20Liq%20Extra/LIQLIQEXTRA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uic365.sharepoint.com/sites/O365-CHE382ChemEngrLabII/Shared%20Documents/General/Lab%202%20Liq%20Extra/LIQLIQEXTRAC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uic365.sharepoint.com/sites/O365-CHE382ChemEngrLabII/Shared%20Documents/General/Lab%202%20Liq%20Extra/LIQLIQEXTRAC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uic365.sharepoint.com/sites/O365-CHE382ChemEngrLabII/Shared%20Documents/General/Lab%202%20Liq%20Extra/LIQLIQEXTRAC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uic365.sharepoint.com/sites/O365-CHE382ChemEngrLabII/Shared%20Documents/General/Lab%202%20Liq%20Extra/LIQLIQEXTRAC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Acetic</a:t>
            </a:r>
            <a:r>
              <a:rPr lang="en-US" baseline="0"/>
              <a:t> Acid Concentration in Raffinate as a Function of Stage Number</a:t>
            </a:r>
            <a:endParaRPr lang="en-US"/>
          </a:p>
        </c:rich>
      </c:tx>
      <c:layout>
        <c:manualLayout>
          <c:xMode val="edge"/>
          <c:yMode val="edge"/>
          <c:x val="0.16807706899292171"/>
          <c:y val="1.87146043467394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RPM 400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graphs!$C$7:$C$9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graphs!$D$7:$D$9</c:f>
              <c:numCache>
                <c:formatCode>General</c:formatCode>
                <c:ptCount val="3"/>
                <c:pt idx="0">
                  <c:v>0.115</c:v>
                </c:pt>
                <c:pt idx="1">
                  <c:v>0.192</c:v>
                </c:pt>
                <c:pt idx="2">
                  <c:v>2.1000000000000001E-2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F2E-490D-A9EB-E038D9AB8294}"/>
            </c:ext>
          </c:extLst>
        </c:ser>
        <c:ser>
          <c:idx val="2"/>
          <c:order val="1"/>
          <c:tx>
            <c:v>RPM 800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graphs!$C$7:$C$9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graphs!$D$13:$D$15</c:f>
              <c:numCache>
                <c:formatCode>General</c:formatCode>
                <c:ptCount val="3"/>
                <c:pt idx="0">
                  <c:v>1.7999999999999999E-2</c:v>
                </c:pt>
                <c:pt idx="1">
                  <c:v>2.7E-2</c:v>
                </c:pt>
                <c:pt idx="2">
                  <c:v>7.0000000000000001E-3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9F2E-490D-A9EB-E038D9AB8294}"/>
            </c:ext>
          </c:extLst>
        </c:ser>
        <c:ser>
          <c:idx val="1"/>
          <c:order val="2"/>
          <c:tx>
            <c:v>RPM 600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graphs!$C$10:$C$12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graphs!$D$10:$D$12</c:f>
              <c:numCache>
                <c:formatCode>General</c:formatCode>
                <c:ptCount val="3"/>
                <c:pt idx="0">
                  <c:v>0.05</c:v>
                </c:pt>
                <c:pt idx="1">
                  <c:v>5.7000000000000002E-2</c:v>
                </c:pt>
                <c:pt idx="2">
                  <c:v>8.9999999999999993E-3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9F2E-490D-A9EB-E038D9AB82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29820704"/>
        <c:axId val="1229820224"/>
      </c:scatterChart>
      <c:valAx>
        <c:axId val="12298207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Stage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9820224"/>
        <c:crosses val="autoZero"/>
        <c:crossBetween val="midCat"/>
      </c:valAx>
      <c:valAx>
        <c:axId val="1229820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aseline="0"/>
                  <a:t>Acetic Acid Concentration in Raffinate (XA)  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982070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Acetic Acid Concentration in Extract as a Function of Stage Number</a:t>
            </a:r>
          </a:p>
        </c:rich>
      </c:tx>
      <c:layout>
        <c:manualLayout>
          <c:xMode val="edge"/>
          <c:yMode val="edge"/>
          <c:x val="0.11729855643044619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RPM 400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graphs!$C$7:$C$9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graphs!$E$7:$E$9</c:f>
              <c:numCache>
                <c:formatCode>General</c:formatCode>
                <c:ptCount val="3"/>
                <c:pt idx="0">
                  <c:v>3.2000000000000001E-2</c:v>
                </c:pt>
                <c:pt idx="1">
                  <c:v>1.2E-2</c:v>
                </c:pt>
                <c:pt idx="2">
                  <c:v>6.0000000000000001E-3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E69-4064-A151-C6577F042BD5}"/>
            </c:ext>
          </c:extLst>
        </c:ser>
        <c:ser>
          <c:idx val="1"/>
          <c:order val="1"/>
          <c:tx>
            <c:v>RPM 600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graphs!$C$7:$C$9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graphs!$E$10:$E$12</c:f>
              <c:numCache>
                <c:formatCode>General</c:formatCode>
                <c:ptCount val="3"/>
                <c:pt idx="0">
                  <c:v>2.9000000000000001E-2</c:v>
                </c:pt>
                <c:pt idx="1">
                  <c:v>1.2E-2</c:v>
                </c:pt>
                <c:pt idx="2">
                  <c:v>3.0000000000000001E-3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E69-4064-A151-C6577F042BD5}"/>
            </c:ext>
          </c:extLst>
        </c:ser>
        <c:ser>
          <c:idx val="2"/>
          <c:order val="2"/>
          <c:tx>
            <c:v>RPM 800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graphs!$C$7:$C$9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graphs!$E$13:$E$15</c:f>
              <c:numCache>
                <c:formatCode>General</c:formatCode>
                <c:ptCount val="3"/>
                <c:pt idx="0">
                  <c:v>2.1999999999999999E-2</c:v>
                </c:pt>
                <c:pt idx="1">
                  <c:v>5.0000000000000001E-3</c:v>
                </c:pt>
                <c:pt idx="2">
                  <c:v>3.0000000000000001E-3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8E69-4064-A151-C6577F042B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54323376"/>
        <c:axId val="1954307536"/>
      </c:scatterChart>
      <c:valAx>
        <c:axId val="19543233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Stage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4307536"/>
        <c:crosses val="autoZero"/>
        <c:crossBetween val="midCat"/>
      </c:valAx>
      <c:valAx>
        <c:axId val="1954307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Acetic</a:t>
                </a:r>
                <a:r>
                  <a:rPr lang="en-US" baseline="0"/>
                  <a:t> Acid Concentration in Extract (YA)</a:t>
                </a:r>
                <a:endParaRPr lang="en-US"/>
              </a:p>
            </c:rich>
          </c:tx>
          <c:layout>
            <c:manualLayout>
              <c:xMode val="edge"/>
              <c:yMode val="edge"/>
              <c:x val="3.0690433701743028E-2"/>
              <c:y val="0.1637297335015568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432337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Acetic</a:t>
            </a:r>
            <a:r>
              <a:rPr lang="en-US" baseline="0"/>
              <a:t> Acid Concentration in Extract as a Function of Agitator Speed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288856006709711"/>
          <c:y val="0.20699568477826416"/>
          <c:w val="0.67049077285064618"/>
          <c:h val="0.59450016310769371"/>
        </c:manualLayout>
      </c:layout>
      <c:scatterChart>
        <c:scatterStyle val="smoothMarker"/>
        <c:varyColors val="0"/>
        <c:ser>
          <c:idx val="0"/>
          <c:order val="0"/>
          <c:tx>
            <c:v>Stage 1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(graphs!$B$7,graphs!$B$10,graphs!$B$13)</c:f>
              <c:numCache>
                <c:formatCode>General</c:formatCode>
                <c:ptCount val="3"/>
                <c:pt idx="0">
                  <c:v>400</c:v>
                </c:pt>
                <c:pt idx="1">
                  <c:v>600</c:v>
                </c:pt>
                <c:pt idx="2">
                  <c:v>800</c:v>
                </c:pt>
              </c:numCache>
            </c:numRef>
          </c:xVal>
          <c:yVal>
            <c:numRef>
              <c:f>(graphs!$E$7,graphs!$E$10,graphs!$E$13)</c:f>
              <c:numCache>
                <c:formatCode>General</c:formatCode>
                <c:ptCount val="3"/>
                <c:pt idx="0">
                  <c:v>3.2000000000000001E-2</c:v>
                </c:pt>
                <c:pt idx="1">
                  <c:v>2.9000000000000001E-2</c:v>
                </c:pt>
                <c:pt idx="2">
                  <c:v>2.1999999999999999E-2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A6F-41AC-9253-C53266667DAD}"/>
            </c:ext>
          </c:extLst>
        </c:ser>
        <c:ser>
          <c:idx val="1"/>
          <c:order val="1"/>
          <c:tx>
            <c:v>Stage 2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(graphs!$B$7,graphs!$B$10,graphs!$B$13)</c:f>
              <c:numCache>
                <c:formatCode>General</c:formatCode>
                <c:ptCount val="3"/>
                <c:pt idx="0">
                  <c:v>400</c:v>
                </c:pt>
                <c:pt idx="1">
                  <c:v>600</c:v>
                </c:pt>
                <c:pt idx="2">
                  <c:v>800</c:v>
                </c:pt>
              </c:numCache>
            </c:numRef>
          </c:xVal>
          <c:yVal>
            <c:numRef>
              <c:f>(graphs!$E$8,graphs!$E$11,graphs!$E$14)</c:f>
              <c:numCache>
                <c:formatCode>General</c:formatCode>
                <c:ptCount val="3"/>
                <c:pt idx="0">
                  <c:v>1.2E-2</c:v>
                </c:pt>
                <c:pt idx="1">
                  <c:v>1.2E-2</c:v>
                </c:pt>
                <c:pt idx="2">
                  <c:v>5.0000000000000001E-3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7A6F-41AC-9253-C53266667DAD}"/>
            </c:ext>
          </c:extLst>
        </c:ser>
        <c:ser>
          <c:idx val="2"/>
          <c:order val="2"/>
          <c:tx>
            <c:v>Stage 3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(graphs!$B$7,graphs!$B$10,graphs!$B$13)</c:f>
              <c:numCache>
                <c:formatCode>General</c:formatCode>
                <c:ptCount val="3"/>
                <c:pt idx="0">
                  <c:v>400</c:v>
                </c:pt>
                <c:pt idx="1">
                  <c:v>600</c:v>
                </c:pt>
                <c:pt idx="2">
                  <c:v>800</c:v>
                </c:pt>
              </c:numCache>
            </c:numRef>
          </c:xVal>
          <c:yVal>
            <c:numRef>
              <c:f>(graphs!$E$9,graphs!$E$12,graphs!$E$15)</c:f>
              <c:numCache>
                <c:formatCode>General</c:formatCode>
                <c:ptCount val="3"/>
                <c:pt idx="0">
                  <c:v>6.0000000000000001E-3</c:v>
                </c:pt>
                <c:pt idx="1">
                  <c:v>3.0000000000000001E-3</c:v>
                </c:pt>
                <c:pt idx="2">
                  <c:v>3.0000000000000001E-3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7A6F-41AC-9253-C53266667D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23252256"/>
        <c:axId val="1423254176"/>
      </c:scatterChart>
      <c:valAx>
        <c:axId val="14232522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Agitator</a:t>
                </a:r>
                <a:r>
                  <a:rPr lang="en-US" baseline="0"/>
                  <a:t> Speed (RPM)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3254176"/>
        <c:crosses val="autoZero"/>
        <c:crossBetween val="midCat"/>
      </c:valAx>
      <c:valAx>
        <c:axId val="1423254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Acetic</a:t>
                </a:r>
                <a:r>
                  <a:rPr lang="en-US" baseline="0"/>
                  <a:t> Acid Concentration in Extract (YA)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325225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Acetic</a:t>
            </a:r>
            <a:r>
              <a:rPr lang="en-US" baseline="0"/>
              <a:t> Acid Concentration in Raffinate as a Function of Agitator Speed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Stage 1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(graphs!$B$7,graphs!$B$10,graphs!$B$13)</c:f>
              <c:numCache>
                <c:formatCode>General</c:formatCode>
                <c:ptCount val="3"/>
                <c:pt idx="0">
                  <c:v>400</c:v>
                </c:pt>
                <c:pt idx="1">
                  <c:v>600</c:v>
                </c:pt>
                <c:pt idx="2">
                  <c:v>800</c:v>
                </c:pt>
              </c:numCache>
            </c:numRef>
          </c:xVal>
          <c:yVal>
            <c:numRef>
              <c:f>(graphs!$D$7,graphs!$D$10,graphs!$D$13)</c:f>
              <c:numCache>
                <c:formatCode>General</c:formatCode>
                <c:ptCount val="3"/>
                <c:pt idx="0">
                  <c:v>0.115</c:v>
                </c:pt>
                <c:pt idx="1">
                  <c:v>0.05</c:v>
                </c:pt>
                <c:pt idx="2">
                  <c:v>1.7999999999999999E-2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E69-4303-9653-1EF6DF8A54A3}"/>
            </c:ext>
          </c:extLst>
        </c:ser>
        <c:ser>
          <c:idx val="1"/>
          <c:order val="1"/>
          <c:tx>
            <c:v>Stage 2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(graphs!$B$7,graphs!$B$10,graphs!$B$13)</c:f>
              <c:numCache>
                <c:formatCode>General</c:formatCode>
                <c:ptCount val="3"/>
                <c:pt idx="0">
                  <c:v>400</c:v>
                </c:pt>
                <c:pt idx="1">
                  <c:v>600</c:v>
                </c:pt>
                <c:pt idx="2">
                  <c:v>800</c:v>
                </c:pt>
              </c:numCache>
            </c:numRef>
          </c:xVal>
          <c:yVal>
            <c:numRef>
              <c:f>(graphs!$D$8,graphs!$D$11,graphs!$D$14)</c:f>
              <c:numCache>
                <c:formatCode>General</c:formatCode>
                <c:ptCount val="3"/>
                <c:pt idx="0">
                  <c:v>0.192</c:v>
                </c:pt>
                <c:pt idx="1">
                  <c:v>5.7000000000000002E-2</c:v>
                </c:pt>
                <c:pt idx="2">
                  <c:v>2.7E-2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E69-4303-9653-1EF6DF8A54A3}"/>
            </c:ext>
          </c:extLst>
        </c:ser>
        <c:ser>
          <c:idx val="2"/>
          <c:order val="2"/>
          <c:tx>
            <c:v>Stage 3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(graphs!$B$7,graphs!$B$10,graphs!$B$13)</c:f>
              <c:numCache>
                <c:formatCode>General</c:formatCode>
                <c:ptCount val="3"/>
                <c:pt idx="0">
                  <c:v>400</c:v>
                </c:pt>
                <c:pt idx="1">
                  <c:v>600</c:v>
                </c:pt>
                <c:pt idx="2">
                  <c:v>800</c:v>
                </c:pt>
              </c:numCache>
            </c:numRef>
          </c:xVal>
          <c:yVal>
            <c:numRef>
              <c:f>(graphs!$D$9,graphs!$D$12,graphs!$D$15)</c:f>
              <c:numCache>
                <c:formatCode>General</c:formatCode>
                <c:ptCount val="3"/>
                <c:pt idx="0">
                  <c:v>2.1000000000000001E-2</c:v>
                </c:pt>
                <c:pt idx="1">
                  <c:v>8.9999999999999993E-3</c:v>
                </c:pt>
                <c:pt idx="2">
                  <c:v>7.0000000000000001E-3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8E69-4303-9653-1EF6DF8A54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94798592"/>
        <c:axId val="1294793312"/>
      </c:scatterChart>
      <c:valAx>
        <c:axId val="12947985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Agitator</a:t>
                </a:r>
                <a:r>
                  <a:rPr lang="en-US" baseline="0"/>
                  <a:t> Speed (RPM)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4793312"/>
        <c:crosses val="autoZero"/>
        <c:crossBetween val="midCat"/>
      </c:valAx>
      <c:valAx>
        <c:axId val="1294793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 Acetic</a:t>
                </a:r>
                <a:r>
                  <a:rPr lang="en-US" baseline="0"/>
                  <a:t> Acid Concentration in Raffinate (XA) </a:t>
                </a:r>
                <a:endParaRPr lang="en-US"/>
              </a:p>
            </c:rich>
          </c:tx>
          <c:layout>
            <c:manualLayout>
              <c:xMode val="edge"/>
              <c:yMode val="edge"/>
              <c:x val="3.3286839510692195E-2"/>
              <c:y val="0.1782922996333158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479859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XA vs YA at 400 RPM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graphs!$D$7:$D$9</c:f>
              <c:numCache>
                <c:formatCode>General</c:formatCode>
                <c:ptCount val="3"/>
                <c:pt idx="0">
                  <c:v>0.115</c:v>
                </c:pt>
                <c:pt idx="1">
                  <c:v>0.192</c:v>
                </c:pt>
                <c:pt idx="2">
                  <c:v>2.1000000000000001E-2</c:v>
                </c:pt>
              </c:numCache>
            </c:numRef>
          </c:xVal>
          <c:yVal>
            <c:numRef>
              <c:f>graphs!$E$7:$E$9</c:f>
              <c:numCache>
                <c:formatCode>General</c:formatCode>
                <c:ptCount val="3"/>
                <c:pt idx="0">
                  <c:v>3.2000000000000001E-2</c:v>
                </c:pt>
                <c:pt idx="1">
                  <c:v>1.2E-2</c:v>
                </c:pt>
                <c:pt idx="2">
                  <c:v>6.0000000000000001E-3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909-4EAE-832D-00988252A0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54325296"/>
        <c:axId val="1954325776"/>
      </c:scatterChart>
      <c:valAx>
        <c:axId val="19543252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XA</a:t>
                </a:r>
                <a:r>
                  <a:rPr lang="en-US" baseline="0"/>
                  <a:t> Raffinate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4325776"/>
        <c:crosses val="autoZero"/>
        <c:crossBetween val="midCat"/>
      </c:valAx>
      <c:valAx>
        <c:axId val="1954325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YA</a:t>
                </a:r>
                <a:r>
                  <a:rPr lang="en-US" baseline="0"/>
                  <a:t> Extract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432529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XA vs YA at 600 RPM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graphs!$D$10:$D$12</c:f>
              <c:numCache>
                <c:formatCode>General</c:formatCode>
                <c:ptCount val="3"/>
                <c:pt idx="0">
                  <c:v>0.05</c:v>
                </c:pt>
                <c:pt idx="1">
                  <c:v>5.7000000000000002E-2</c:v>
                </c:pt>
                <c:pt idx="2">
                  <c:v>8.9999999999999993E-3</c:v>
                </c:pt>
              </c:numCache>
            </c:numRef>
          </c:xVal>
          <c:yVal>
            <c:numRef>
              <c:f>graphs!$E$10:$E$12</c:f>
              <c:numCache>
                <c:formatCode>General</c:formatCode>
                <c:ptCount val="3"/>
                <c:pt idx="0">
                  <c:v>2.9000000000000001E-2</c:v>
                </c:pt>
                <c:pt idx="1">
                  <c:v>1.2E-2</c:v>
                </c:pt>
                <c:pt idx="2">
                  <c:v>3.0000000000000001E-3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3C09-46EE-BFA2-21AC049F47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76135536"/>
        <c:axId val="1376134576"/>
      </c:scatterChart>
      <c:valAx>
        <c:axId val="13761355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XA</a:t>
                </a:r>
                <a:r>
                  <a:rPr lang="en-US" baseline="0"/>
                  <a:t> Raffinate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6134576"/>
        <c:crosses val="autoZero"/>
        <c:crossBetween val="midCat"/>
      </c:valAx>
      <c:valAx>
        <c:axId val="1376134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YA Extract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613553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XA vs YA at 800 RPM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ysClr val="windowText" lastClr="000000">
                    <a:lumMod val="65000"/>
                    <a:lumOff val="35000"/>
                  </a:sysClr>
                </a:solidFill>
              </a:defRPr>
            </a:pP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6.5752405949256344E-3"/>
                  <c:y val="-6.4113444152814225E-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graphs!$D$13:$D$15</c:f>
              <c:numCache>
                <c:formatCode>General</c:formatCode>
                <c:ptCount val="3"/>
                <c:pt idx="0">
                  <c:v>1.7999999999999999E-2</c:v>
                </c:pt>
                <c:pt idx="1">
                  <c:v>2.7E-2</c:v>
                </c:pt>
                <c:pt idx="2">
                  <c:v>7.0000000000000001E-3</c:v>
                </c:pt>
              </c:numCache>
            </c:numRef>
          </c:xVal>
          <c:yVal>
            <c:numRef>
              <c:f>graphs!$E$13:$E$15</c:f>
              <c:numCache>
                <c:formatCode>General</c:formatCode>
                <c:ptCount val="3"/>
                <c:pt idx="0">
                  <c:v>2.1999999999999999E-2</c:v>
                </c:pt>
                <c:pt idx="1">
                  <c:v>5.0000000000000001E-3</c:v>
                </c:pt>
                <c:pt idx="2">
                  <c:v>3.0000000000000001E-3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34A1-4E4D-A16B-968CB5A11A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91413632"/>
        <c:axId val="1291415552"/>
      </c:scatterChart>
      <c:valAx>
        <c:axId val="12914136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XA</a:t>
                </a:r>
                <a:r>
                  <a:rPr lang="en-US" baseline="0"/>
                  <a:t> Raffinate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1415552"/>
        <c:crosses val="autoZero"/>
        <c:crossBetween val="midCat"/>
      </c:valAx>
      <c:valAx>
        <c:axId val="1291415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YA Extract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14136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4781467533949555E-2"/>
          <c:y val="0.21462779257398748"/>
          <c:w val="0.87422462817147861"/>
          <c:h val="0.72125801983085447"/>
        </c:manualLayout>
      </c:layout>
      <c:scatterChart>
        <c:scatterStyle val="smoothMarker"/>
        <c:varyColors val="0"/>
        <c:ser>
          <c:idx val="0"/>
          <c:order val="0"/>
          <c:tx>
            <c:strRef>
              <c:f>graphs!$E$18</c:f>
              <c:strCache>
                <c:ptCount val="1"/>
                <c:pt idx="0">
                  <c:v>XA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graphs!$D$19:$D$25</c:f>
              <c:numCache>
                <c:formatCode>General</c:formatCode>
                <c:ptCount val="7"/>
                <c:pt idx="0">
                  <c:v>7.0000000000000007E-2</c:v>
                </c:pt>
                <c:pt idx="1">
                  <c:v>0.06</c:v>
                </c:pt>
                <c:pt idx="2">
                  <c:v>0.05</c:v>
                </c:pt>
                <c:pt idx="3">
                  <c:v>0.03</c:v>
                </c:pt>
                <c:pt idx="4">
                  <c:v>0.02</c:v>
                </c:pt>
                <c:pt idx="5">
                  <c:v>0.03</c:v>
                </c:pt>
                <c:pt idx="6">
                  <c:v>0</c:v>
                </c:pt>
              </c:numCache>
            </c:numRef>
          </c:xVal>
          <c:yVal>
            <c:numRef>
              <c:f>graphs!$E$19:$E$25</c:f>
              <c:numCache>
                <c:formatCode>General</c:formatCode>
                <c:ptCount val="7"/>
                <c:pt idx="0">
                  <c:v>3.27</c:v>
                </c:pt>
                <c:pt idx="1">
                  <c:v>2.39</c:v>
                </c:pt>
                <c:pt idx="2">
                  <c:v>1.79</c:v>
                </c:pt>
                <c:pt idx="3">
                  <c:v>1.19</c:v>
                </c:pt>
                <c:pt idx="4">
                  <c:v>0.9</c:v>
                </c:pt>
                <c:pt idx="5">
                  <c:v>0.56999999999999995</c:v>
                </c:pt>
                <c:pt idx="6">
                  <c:v>0.26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47F-4FF7-B097-F0D1589BCD31}"/>
            </c:ext>
          </c:extLst>
        </c:ser>
        <c:ser>
          <c:idx val="1"/>
          <c:order val="1"/>
          <c:tx>
            <c:v>n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graphs!$I$10:$I$11</c:f>
              <c:numCache>
                <c:formatCode>General</c:formatCode>
                <c:ptCount val="2"/>
                <c:pt idx="0">
                  <c:v>0.05</c:v>
                </c:pt>
                <c:pt idx="1">
                  <c:v>8.9999999999999993E-3</c:v>
                </c:pt>
              </c:numCache>
            </c:numRef>
          </c:xVal>
          <c:yVal>
            <c:numRef>
              <c:f>graphs!$J$10:$J$11</c:f>
              <c:numCache>
                <c:formatCode>General</c:formatCode>
                <c:ptCount val="2"/>
                <c:pt idx="0">
                  <c:v>2.9000000000000001E-2</c:v>
                </c:pt>
                <c:pt idx="1">
                  <c:v>3.0000000000000001E-3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B47F-4FF7-B097-F0D1589BCD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44130512"/>
        <c:axId val="1214535816"/>
      </c:scatterChart>
      <c:valAx>
        <c:axId val="12441305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4535816"/>
        <c:crosses val="autoZero"/>
        <c:crossBetween val="midCat"/>
      </c:valAx>
      <c:valAx>
        <c:axId val="1214535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413051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4A3ED06A-E3B9-0047-8050-B794EA99C6AE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FCFDF244-9769-4A4F-8A52-7801F8D12E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365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FDF244-9769-4A4F-8A52-7801F8D12EA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064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FDF244-9769-4A4F-8A52-7801F8D12EA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83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FDF244-9769-4A4F-8A52-7801F8D12EA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511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FDF244-9769-4A4F-8A52-7801F8D12EA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97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E3EE1A-FE2A-D841-84E7-BEC666CBB2F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803275" y="0"/>
            <a:ext cx="6248908" cy="6874625"/>
          </a:xfrm>
          <a:custGeom>
            <a:avLst/>
            <a:gdLst>
              <a:gd name="connsiteX0" fmla="*/ 0 w 6858000"/>
              <a:gd name="connsiteY0" fmla="*/ 0 h 6858000"/>
              <a:gd name="connsiteX1" fmla="*/ 6858000 w 6858000"/>
              <a:gd name="connsiteY1" fmla="*/ 0 h 6858000"/>
              <a:gd name="connsiteX2" fmla="*/ 6858000 w 6858000"/>
              <a:gd name="connsiteY2" fmla="*/ 6858000 h 6858000"/>
              <a:gd name="connsiteX3" fmla="*/ 0 w 6858000"/>
              <a:gd name="connsiteY3" fmla="*/ 6858000 h 6858000"/>
              <a:gd name="connsiteX4" fmla="*/ 0 w 6858000"/>
              <a:gd name="connsiteY4" fmla="*/ 0 h 6858000"/>
              <a:gd name="connsiteX0" fmla="*/ 0 w 6858000"/>
              <a:gd name="connsiteY0" fmla="*/ 0 h 6858000"/>
              <a:gd name="connsiteX1" fmla="*/ 4862945 w 6858000"/>
              <a:gd name="connsiteY1" fmla="*/ 0 h 6858000"/>
              <a:gd name="connsiteX2" fmla="*/ 6858000 w 6858000"/>
              <a:gd name="connsiteY2" fmla="*/ 6858000 h 6858000"/>
              <a:gd name="connsiteX3" fmla="*/ 0 w 6858000"/>
              <a:gd name="connsiteY3" fmla="*/ 6858000 h 6858000"/>
              <a:gd name="connsiteX4" fmla="*/ 0 w 6858000"/>
              <a:gd name="connsiteY4" fmla="*/ 0 h 6858000"/>
              <a:gd name="connsiteX0" fmla="*/ 0 w 4862945"/>
              <a:gd name="connsiteY0" fmla="*/ 0 h 6874625"/>
              <a:gd name="connsiteX1" fmla="*/ 4862945 w 4862945"/>
              <a:gd name="connsiteY1" fmla="*/ 0 h 6874625"/>
              <a:gd name="connsiteX2" fmla="*/ 4846320 w 4862945"/>
              <a:gd name="connsiteY2" fmla="*/ 6874625 h 6874625"/>
              <a:gd name="connsiteX3" fmla="*/ 0 w 4862945"/>
              <a:gd name="connsiteY3" fmla="*/ 6858000 h 6874625"/>
              <a:gd name="connsiteX4" fmla="*/ 0 w 4862945"/>
              <a:gd name="connsiteY4" fmla="*/ 0 h 6874625"/>
              <a:gd name="connsiteX0" fmla="*/ 0 w 6130182"/>
              <a:gd name="connsiteY0" fmla="*/ 0 h 6874625"/>
              <a:gd name="connsiteX1" fmla="*/ 4862945 w 6130182"/>
              <a:gd name="connsiteY1" fmla="*/ 0 h 6874625"/>
              <a:gd name="connsiteX2" fmla="*/ 4846320 w 6130182"/>
              <a:gd name="connsiteY2" fmla="*/ 6874625 h 6874625"/>
              <a:gd name="connsiteX3" fmla="*/ 0 w 6130182"/>
              <a:gd name="connsiteY3" fmla="*/ 6858000 h 6874625"/>
              <a:gd name="connsiteX4" fmla="*/ 0 w 6130182"/>
              <a:gd name="connsiteY4" fmla="*/ 0 h 6874625"/>
              <a:gd name="connsiteX0" fmla="*/ 0 w 6248908"/>
              <a:gd name="connsiteY0" fmla="*/ 0 h 6874625"/>
              <a:gd name="connsiteX1" fmla="*/ 4862945 w 6248908"/>
              <a:gd name="connsiteY1" fmla="*/ 0 h 6874625"/>
              <a:gd name="connsiteX2" fmla="*/ 4846320 w 6248908"/>
              <a:gd name="connsiteY2" fmla="*/ 6874625 h 6874625"/>
              <a:gd name="connsiteX3" fmla="*/ 0 w 6248908"/>
              <a:gd name="connsiteY3" fmla="*/ 6858000 h 6874625"/>
              <a:gd name="connsiteX4" fmla="*/ 0 w 6248908"/>
              <a:gd name="connsiteY4" fmla="*/ 0 h 6874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48908" h="6874625">
                <a:moveTo>
                  <a:pt x="0" y="0"/>
                </a:moveTo>
                <a:lnTo>
                  <a:pt x="4862945" y="0"/>
                </a:lnTo>
                <a:cubicBezTo>
                  <a:pt x="5356167" y="479368"/>
                  <a:pt x="7728066" y="3552305"/>
                  <a:pt x="4846320" y="6874625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C3BE6E7-8A11-8F4B-B8D2-E622A7A189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05008" y="2205037"/>
            <a:ext cx="4920343" cy="165576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600" b="1">
                <a:solidFill>
                  <a:srgbClr val="001E6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Your presentation title goes here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7644AD0-57F7-094F-A3A4-D5E46E4E56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05008" y="4099548"/>
            <a:ext cx="4920344" cy="60757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 name(s)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F05423-983C-0F42-AD62-09CC5937E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5300680"/>
            <a:ext cx="3152330" cy="607572"/>
          </a:xfrm>
          <a:prstGeom prst="rect">
            <a:avLst/>
          </a:prstGeom>
        </p:spPr>
      </p:pic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1B81A75D-6185-754B-94A9-530861CEF5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5008" y="1611477"/>
            <a:ext cx="2902358" cy="2952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 b="1" cap="all" spc="400" baseline="0">
                <a:solidFill>
                  <a:srgbClr val="D500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400" b="1" spc="300">
                <a:solidFill>
                  <a:srgbClr val="D500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A93E4F-6F26-3F4A-B98C-D14E3F97D5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6000" y="5300680"/>
            <a:ext cx="3152330" cy="60757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766D111-EABD-934E-9606-C1FAEE903FAC}"/>
              </a:ext>
            </a:extLst>
          </p:cNvPr>
          <p:cNvSpPr txBox="1"/>
          <p:nvPr userDrawn="1"/>
        </p:nvSpPr>
        <p:spPr>
          <a:xfrm>
            <a:off x="2514600" y="-4445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11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DF84B8C-FA91-C54A-BD6B-A1BC753E5B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67D8984-ADB0-3045-B90A-B42AE6A3D17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E62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b="0" i="0"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D5E7C4-AA3A-714B-AB65-881F761FB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D1C8BA7-EEFD-584D-BDC5-F7B7AAD502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E62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b="0" i="0"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1D9BB0-FDB4-1643-A5BC-76B17B0E9E7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15271" y="2289120"/>
            <a:ext cx="6402301" cy="165576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ctr">
              <a:defRPr sz="5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Your presentation title goes here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45D1793-C324-2F44-822B-E01A274F16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5242" y="1611477"/>
            <a:ext cx="2902358" cy="2952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FontTx/>
              <a:buNone/>
              <a:defRPr sz="1800" b="1" cap="all" spc="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400" b="1" spc="300">
                <a:solidFill>
                  <a:srgbClr val="D500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2BC1185-857F-BF4F-A097-153EFBDA80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35828" y="4195872"/>
            <a:ext cx="4920344" cy="60757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 name(s)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D443CC-0BC6-3D4A-A896-85EAC5F85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850" y="5246523"/>
            <a:ext cx="876300" cy="876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9FAC25-A7F3-C24E-B4E9-8EC49C30E52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57850" y="5246523"/>
            <a:ext cx="8763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900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3">
    <p:bg>
      <p:bgPr>
        <a:solidFill>
          <a:srgbClr val="D5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35D4C-E2BA-FC41-B781-35F9710CC0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32705" y="2205037"/>
            <a:ext cx="5876785" cy="165576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5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Your presentation title goes here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14086E-82B4-ED47-AD55-AB40607C04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32705" y="4099548"/>
            <a:ext cx="5876784" cy="60757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 name(s) here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20A15A9D-096D-4642-BCED-084CA3DB77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2705" y="4945868"/>
            <a:ext cx="2902358" cy="2952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 b="1" cap="all" spc="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400" b="1" spc="300">
                <a:solidFill>
                  <a:srgbClr val="D500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3A904-EC83-5743-9E0B-7E8D3EF472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534" t="1686" r="76195" b="71329"/>
          <a:stretch/>
        </p:blipFill>
        <p:spPr>
          <a:xfrm>
            <a:off x="1650124" y="115614"/>
            <a:ext cx="1252234" cy="1850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278586-14BC-D246-91E3-D3363FB09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469" y="5865392"/>
            <a:ext cx="3091621" cy="595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28457E-57CF-E648-BAF2-42E9BED8C4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3534" t="1686" r="76195" b="71329"/>
          <a:stretch/>
        </p:blipFill>
        <p:spPr>
          <a:xfrm>
            <a:off x="1650124" y="115614"/>
            <a:ext cx="1252234" cy="1850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EDB8EA-EADE-B64F-8B29-2877668CCB4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77469" y="5865392"/>
            <a:ext cx="3091621" cy="59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057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AE95BB1C-7367-174E-86AC-B5EAD9C7E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427475"/>
            <a:ext cx="11048999" cy="8110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923FF0-91A2-FC4E-B343-37CB42E67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437126"/>
            <a:ext cx="11049000" cy="44907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F16DF5-01AC-754C-98B2-5EA64B833B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1960948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64">
          <p15:clr>
            <a:srgbClr val="FBAE40"/>
          </p15:clr>
        </p15:guide>
        <p15:guide id="4" pos="3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18F257AB-AF45-934E-BFF1-AE4DC3D9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427475"/>
            <a:ext cx="11048999" cy="8110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F372C3B-4935-CC40-AD8B-F5A0EA68A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437126"/>
            <a:ext cx="5257800" cy="44907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959763C-470E-8D47-8354-F06F0B2376C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388100" y="1437126"/>
            <a:ext cx="5257800" cy="44907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5E7EF66-5690-E042-9372-0EEDCB01E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700077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2F6C8-2EBB-C945-9D96-59D1AC7D5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FCDC9-0012-9940-B483-68070FCFA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437126"/>
            <a:ext cx="11049000" cy="44907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A52CA9-3359-964B-B846-8B297BC676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303539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FD562A-841F-164A-BD9C-341DA56A8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3D1445-9D6D-964A-AC7A-DE437353B5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4270935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670E8F9-5D9E-104F-82AD-62803F277A1F}"/>
              </a:ext>
            </a:extLst>
          </p:cNvPr>
          <p:cNvCxnSpPr/>
          <p:nvPr/>
        </p:nvCxnSpPr>
        <p:spPr>
          <a:xfrm>
            <a:off x="6096000" y="1030014"/>
            <a:ext cx="0" cy="4750676"/>
          </a:xfrm>
          <a:prstGeom prst="line">
            <a:avLst/>
          </a:prstGeom>
          <a:ln>
            <a:solidFill>
              <a:srgbClr val="D5003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152CFAA-0912-6041-857E-9E2DB17FF3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26811" y="1439648"/>
            <a:ext cx="4350773" cy="1228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rgbClr val="001E62"/>
                </a:solidFill>
              </a:defRPr>
            </a:lvl1pPr>
          </a:lstStyle>
          <a:p>
            <a:pPr lvl="0"/>
            <a:r>
              <a:rPr lang="en-US"/>
              <a:t>Headline goes here and here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4534FDD0-98EB-0E4B-BA13-8EFEC697F5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26262" y="2759720"/>
            <a:ext cx="4351333" cy="291147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2AE6B37B-7A9E-AC4A-8603-521DF936A0C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996585"/>
            <a:ext cx="4838700" cy="4864830"/>
          </a:xfrm>
          <a:custGeom>
            <a:avLst/>
            <a:gdLst>
              <a:gd name="connsiteX0" fmla="*/ 2686415 w 5372830"/>
              <a:gd name="connsiteY0" fmla="*/ 0 h 5372830"/>
              <a:gd name="connsiteX1" fmla="*/ 5372830 w 5372830"/>
              <a:gd name="connsiteY1" fmla="*/ 2686415 h 5372830"/>
              <a:gd name="connsiteX2" fmla="*/ 2686415 w 5372830"/>
              <a:gd name="connsiteY2" fmla="*/ 5372830 h 5372830"/>
              <a:gd name="connsiteX3" fmla="*/ 0 w 5372830"/>
              <a:gd name="connsiteY3" fmla="*/ 2686415 h 5372830"/>
              <a:gd name="connsiteX4" fmla="*/ 2686415 w 5372830"/>
              <a:gd name="connsiteY4" fmla="*/ 0 h 537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72830" h="5372830">
                <a:moveTo>
                  <a:pt x="2686415" y="0"/>
                </a:moveTo>
                <a:cubicBezTo>
                  <a:pt x="4170081" y="0"/>
                  <a:pt x="5372830" y="1202749"/>
                  <a:pt x="5372830" y="2686415"/>
                </a:cubicBezTo>
                <a:cubicBezTo>
                  <a:pt x="5372830" y="4170081"/>
                  <a:pt x="4170081" y="5372830"/>
                  <a:pt x="2686415" y="5372830"/>
                </a:cubicBezTo>
                <a:cubicBezTo>
                  <a:pt x="1202749" y="5372830"/>
                  <a:pt x="0" y="4170081"/>
                  <a:pt x="0" y="2686415"/>
                </a:cubicBezTo>
                <a:cubicBezTo>
                  <a:pt x="0" y="1202749"/>
                  <a:pt x="1202749" y="0"/>
                  <a:pt x="2686415" y="0"/>
                </a:cubicBezTo>
                <a:close/>
              </a:path>
            </a:pathLst>
          </a:custGeom>
          <a:pattFill prst="pct20">
            <a:fgClr>
              <a:srgbClr val="D50032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503B19A-E5F1-7849-87E8-BC837A98B735}"/>
              </a:ext>
            </a:extLst>
          </p:cNvPr>
          <p:cNvCxnSpPr/>
          <p:nvPr userDrawn="1"/>
        </p:nvCxnSpPr>
        <p:spPr>
          <a:xfrm>
            <a:off x="6096000" y="1030014"/>
            <a:ext cx="0" cy="4750676"/>
          </a:xfrm>
          <a:prstGeom prst="line">
            <a:avLst/>
          </a:prstGeom>
          <a:ln>
            <a:solidFill>
              <a:srgbClr val="D5003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CAA305B-15BF-6C42-8F96-6626A688DEA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2207483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68475C8-B220-2F40-8250-A8DABF1087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2" r="80192" b="1"/>
          <a:stretch/>
        </p:blipFill>
        <p:spPr>
          <a:xfrm>
            <a:off x="0" y="1"/>
            <a:ext cx="2414954" cy="68579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CE3E459-9CC3-0140-8DAD-816081458959}"/>
              </a:ext>
            </a:extLst>
          </p:cNvPr>
          <p:cNvSpPr/>
          <p:nvPr userDrawn="1"/>
        </p:nvSpPr>
        <p:spPr>
          <a:xfrm>
            <a:off x="196645" y="6439768"/>
            <a:ext cx="304800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F14035-00BE-DA4B-8DEA-5CF7088969E9}"/>
              </a:ext>
            </a:extLst>
          </p:cNvPr>
          <p:cNvSpPr txBox="1"/>
          <p:nvPr userDrawn="1"/>
        </p:nvSpPr>
        <p:spPr>
          <a:xfrm>
            <a:off x="157317" y="6409911"/>
            <a:ext cx="601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65C24F-D5A7-7547-9DA1-2768CBD8B2AD}" type="slidenum">
              <a:rPr lang="en-US" sz="1400" b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1400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D3743E-57E4-804E-B8B7-FE965FD080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37229" y="1439648"/>
            <a:ext cx="5948313" cy="1228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rgbClr val="001E62"/>
                </a:solidFill>
              </a:defRPr>
            </a:lvl1pPr>
          </a:lstStyle>
          <a:p>
            <a:pPr lvl="0"/>
            <a:r>
              <a:rPr lang="en-US"/>
              <a:t>Headline goes here and here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8CD0619C-95A7-664C-8775-F34BF89EE6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37230" y="2759720"/>
            <a:ext cx="5948312" cy="316974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F74CC7FA-159A-A245-AC24-50F9BEA2431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35" y="1439648"/>
            <a:ext cx="3859565" cy="3970552"/>
          </a:xfrm>
          <a:custGeom>
            <a:avLst/>
            <a:gdLst>
              <a:gd name="connsiteX0" fmla="*/ 0 w 3181350"/>
              <a:gd name="connsiteY0" fmla="*/ 0 h 3181350"/>
              <a:gd name="connsiteX1" fmla="*/ 3181350 w 3181350"/>
              <a:gd name="connsiteY1" fmla="*/ 0 h 3181350"/>
              <a:gd name="connsiteX2" fmla="*/ 3181350 w 3181350"/>
              <a:gd name="connsiteY2" fmla="*/ 3181350 h 3181350"/>
              <a:gd name="connsiteX3" fmla="*/ 0 w 3181350"/>
              <a:gd name="connsiteY3" fmla="*/ 3181350 h 318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81350" h="3181350">
                <a:moveTo>
                  <a:pt x="0" y="0"/>
                </a:moveTo>
                <a:lnTo>
                  <a:pt x="3181350" y="0"/>
                </a:lnTo>
                <a:lnTo>
                  <a:pt x="3181350" y="3181350"/>
                </a:lnTo>
                <a:lnTo>
                  <a:pt x="0" y="3181350"/>
                </a:ln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F20A646-7949-4A45-83F2-C982BA44660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637229" y="6419410"/>
            <a:ext cx="4114800" cy="365125"/>
          </a:xfrm>
        </p:spPr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3154234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709CDF7-6D7C-E843-B704-0D26734AE6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5897" r="80192"/>
          <a:stretch/>
        </p:blipFill>
        <p:spPr>
          <a:xfrm>
            <a:off x="9097108" y="3791960"/>
            <a:ext cx="2414954" cy="2338753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21B9663-D2FB-0A47-B820-68385720A8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62702" y="1437125"/>
            <a:ext cx="4679887" cy="4218683"/>
          </a:xfrm>
          <a:prstGeom prst="rect">
            <a:avLst/>
          </a:prstGeom>
          <a:pattFill prst="pct20">
            <a:fgClr>
              <a:srgbClr val="D5003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2CF2F6AE-C3BD-8C44-BCE8-28FA6E402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427475"/>
            <a:ext cx="11048999" cy="8110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A79375B-0A10-644E-AB71-8BC27B044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437126"/>
            <a:ext cx="5524500" cy="44907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3339FA9-D484-2141-9711-92A12FFDC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1080514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DD96AAD-EBAE-3C45-9A74-FE321ADD86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776" t="88158" r="80191" b="1"/>
          <a:stretch/>
        </p:blipFill>
        <p:spPr>
          <a:xfrm rot="5400000">
            <a:off x="11507447" y="2192742"/>
            <a:ext cx="613620" cy="8120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1B2469-2EB4-F84E-A129-5FBD41497F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776" t="88158" r="80191" b="1"/>
          <a:stretch/>
        </p:blipFill>
        <p:spPr>
          <a:xfrm rot="5400000">
            <a:off x="117451" y="2192743"/>
            <a:ext cx="613620" cy="81204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3063953-EAE8-4743-B6C7-C20C322B3A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579" y="430105"/>
            <a:ext cx="11035861" cy="766989"/>
          </a:xfrm>
          <a:prstGeom prst="rect">
            <a:avLst/>
          </a:prstGeom>
        </p:spPr>
        <p:txBody>
          <a:bodyPr lIns="0" tIns="0" rIns="0" bIns="0" anchor="t"/>
          <a:lstStyle>
            <a:lvl1pPr algn="ctr"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CA3B2DB-E136-9F42-8824-29B39C9C73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0106" y="4108974"/>
            <a:ext cx="2608263" cy="438150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 baseline="0">
                <a:solidFill>
                  <a:schemeClr val="accent2"/>
                </a:solidFill>
              </a:defRPr>
            </a:lvl1pPr>
          </a:lstStyle>
          <a:p>
            <a:pPr algn="ctr"/>
            <a:r>
              <a:rPr lang="en-US" b="1">
                <a:solidFill>
                  <a:srgbClr val="001E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Caption goes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17F8106A-D2FC-2D47-99D6-D88B0EE4E5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1932" y="4108974"/>
            <a:ext cx="2608263" cy="43815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b="1">
                <a:solidFill>
                  <a:srgbClr val="001E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Caption goes here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AB39890F-DEC5-6E46-8FE0-5701F842F9B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5986" y="4108974"/>
            <a:ext cx="2608263" cy="438150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 baseline="0">
                <a:solidFill>
                  <a:schemeClr val="accent2"/>
                </a:solidFill>
              </a:defRPr>
            </a:lvl1pPr>
          </a:lstStyle>
          <a:p>
            <a:pPr algn="ctr"/>
            <a:r>
              <a:rPr lang="en-US" b="1">
                <a:solidFill>
                  <a:srgbClr val="001E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Caption goes here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0DA7729A-D4ED-284D-9571-BE3BCD72FD3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94112" y="1294401"/>
            <a:ext cx="2629795" cy="2608727"/>
          </a:xfrm>
          <a:custGeom>
            <a:avLst/>
            <a:gdLst>
              <a:gd name="connsiteX0" fmla="*/ 2686415 w 5372830"/>
              <a:gd name="connsiteY0" fmla="*/ 0 h 5372830"/>
              <a:gd name="connsiteX1" fmla="*/ 5372830 w 5372830"/>
              <a:gd name="connsiteY1" fmla="*/ 2686415 h 5372830"/>
              <a:gd name="connsiteX2" fmla="*/ 2686415 w 5372830"/>
              <a:gd name="connsiteY2" fmla="*/ 5372830 h 5372830"/>
              <a:gd name="connsiteX3" fmla="*/ 0 w 5372830"/>
              <a:gd name="connsiteY3" fmla="*/ 2686415 h 5372830"/>
              <a:gd name="connsiteX4" fmla="*/ 2686415 w 5372830"/>
              <a:gd name="connsiteY4" fmla="*/ 0 h 537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72830" h="5372830">
                <a:moveTo>
                  <a:pt x="2686415" y="0"/>
                </a:moveTo>
                <a:cubicBezTo>
                  <a:pt x="4170081" y="0"/>
                  <a:pt x="5372830" y="1202749"/>
                  <a:pt x="5372830" y="2686415"/>
                </a:cubicBezTo>
                <a:cubicBezTo>
                  <a:pt x="5372830" y="4170081"/>
                  <a:pt x="4170081" y="5372830"/>
                  <a:pt x="2686415" y="5372830"/>
                </a:cubicBezTo>
                <a:cubicBezTo>
                  <a:pt x="1202749" y="5372830"/>
                  <a:pt x="0" y="4170081"/>
                  <a:pt x="0" y="2686415"/>
                </a:cubicBezTo>
                <a:cubicBezTo>
                  <a:pt x="0" y="1202749"/>
                  <a:pt x="1202749" y="0"/>
                  <a:pt x="2686415" y="0"/>
                </a:cubicBezTo>
                <a:close/>
              </a:path>
            </a:pathLst>
          </a:custGeom>
          <a:pattFill prst="pct20">
            <a:fgClr>
              <a:srgbClr val="D50032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id-ID" err="1"/>
              <a:t>Click</a:t>
            </a:r>
            <a:r>
              <a:rPr lang="id-ID"/>
              <a:t> </a:t>
            </a:r>
            <a:r>
              <a:rPr lang="id-ID" err="1"/>
              <a:t>to</a:t>
            </a:r>
            <a:r>
              <a:rPr lang="id-ID"/>
              <a:t> </a:t>
            </a:r>
            <a:r>
              <a:rPr lang="id-ID" err="1"/>
              <a:t>add</a:t>
            </a:r>
            <a:r>
              <a:rPr lang="id-ID"/>
              <a:t> </a:t>
            </a:r>
            <a:r>
              <a:rPr lang="id-ID" err="1"/>
              <a:t>photo</a:t>
            </a:r>
            <a:endParaRPr lang="id-ID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AC3DB5E5-FC54-CA41-88A0-0AA6CAECA36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468093" y="1294401"/>
            <a:ext cx="2629795" cy="2608727"/>
          </a:xfrm>
          <a:custGeom>
            <a:avLst/>
            <a:gdLst>
              <a:gd name="connsiteX0" fmla="*/ 2686415 w 5372830"/>
              <a:gd name="connsiteY0" fmla="*/ 0 h 5372830"/>
              <a:gd name="connsiteX1" fmla="*/ 5372830 w 5372830"/>
              <a:gd name="connsiteY1" fmla="*/ 2686415 h 5372830"/>
              <a:gd name="connsiteX2" fmla="*/ 2686415 w 5372830"/>
              <a:gd name="connsiteY2" fmla="*/ 5372830 h 5372830"/>
              <a:gd name="connsiteX3" fmla="*/ 0 w 5372830"/>
              <a:gd name="connsiteY3" fmla="*/ 2686415 h 5372830"/>
              <a:gd name="connsiteX4" fmla="*/ 2686415 w 5372830"/>
              <a:gd name="connsiteY4" fmla="*/ 0 h 537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72830" h="5372830">
                <a:moveTo>
                  <a:pt x="2686415" y="0"/>
                </a:moveTo>
                <a:cubicBezTo>
                  <a:pt x="4170081" y="0"/>
                  <a:pt x="5372830" y="1202749"/>
                  <a:pt x="5372830" y="2686415"/>
                </a:cubicBezTo>
                <a:cubicBezTo>
                  <a:pt x="5372830" y="4170081"/>
                  <a:pt x="4170081" y="5372830"/>
                  <a:pt x="2686415" y="5372830"/>
                </a:cubicBezTo>
                <a:cubicBezTo>
                  <a:pt x="1202749" y="5372830"/>
                  <a:pt x="0" y="4170081"/>
                  <a:pt x="0" y="2686415"/>
                </a:cubicBezTo>
                <a:cubicBezTo>
                  <a:pt x="0" y="1202749"/>
                  <a:pt x="1202749" y="0"/>
                  <a:pt x="2686415" y="0"/>
                </a:cubicBezTo>
                <a:close/>
              </a:path>
            </a:pathLst>
          </a:custGeom>
          <a:pattFill prst="pct20">
            <a:fgClr>
              <a:srgbClr val="D50032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id-ID" err="1"/>
              <a:t>Click</a:t>
            </a:r>
            <a:r>
              <a:rPr lang="id-ID"/>
              <a:t> </a:t>
            </a:r>
            <a:r>
              <a:rPr lang="id-ID" err="1"/>
              <a:t>to</a:t>
            </a:r>
            <a:r>
              <a:rPr lang="id-ID"/>
              <a:t> </a:t>
            </a:r>
            <a:r>
              <a:rPr lang="id-ID" err="1"/>
              <a:t>add</a:t>
            </a:r>
            <a:r>
              <a:rPr lang="id-ID"/>
              <a:t> </a:t>
            </a:r>
            <a:r>
              <a:rPr lang="id-ID" err="1"/>
              <a:t>photo</a:t>
            </a:r>
            <a:endParaRPr lang="id-ID"/>
          </a:p>
        </p:txBody>
      </p:sp>
      <p:sp>
        <p:nvSpPr>
          <p:cNvPr id="22" name="Picture Placeholder 4">
            <a:extLst>
              <a:ext uri="{FF2B5EF4-FFF2-40B4-BE49-F238E27FC236}">
                <a16:creationId xmlns:a16="http://schemas.microsoft.com/office/drawing/2014/main" id="{8731F2BB-6641-754F-8594-AC40F886ED3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760678" y="1294401"/>
            <a:ext cx="2629795" cy="2608727"/>
          </a:xfrm>
          <a:custGeom>
            <a:avLst/>
            <a:gdLst>
              <a:gd name="connsiteX0" fmla="*/ 2686415 w 5372830"/>
              <a:gd name="connsiteY0" fmla="*/ 0 h 5372830"/>
              <a:gd name="connsiteX1" fmla="*/ 5372830 w 5372830"/>
              <a:gd name="connsiteY1" fmla="*/ 2686415 h 5372830"/>
              <a:gd name="connsiteX2" fmla="*/ 2686415 w 5372830"/>
              <a:gd name="connsiteY2" fmla="*/ 5372830 h 5372830"/>
              <a:gd name="connsiteX3" fmla="*/ 0 w 5372830"/>
              <a:gd name="connsiteY3" fmla="*/ 2686415 h 5372830"/>
              <a:gd name="connsiteX4" fmla="*/ 2686415 w 5372830"/>
              <a:gd name="connsiteY4" fmla="*/ 0 h 537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72830" h="5372830">
                <a:moveTo>
                  <a:pt x="2686415" y="0"/>
                </a:moveTo>
                <a:cubicBezTo>
                  <a:pt x="4170081" y="0"/>
                  <a:pt x="5372830" y="1202749"/>
                  <a:pt x="5372830" y="2686415"/>
                </a:cubicBezTo>
                <a:cubicBezTo>
                  <a:pt x="5372830" y="4170081"/>
                  <a:pt x="4170081" y="5372830"/>
                  <a:pt x="2686415" y="5372830"/>
                </a:cubicBezTo>
                <a:cubicBezTo>
                  <a:pt x="1202749" y="5372830"/>
                  <a:pt x="0" y="4170081"/>
                  <a:pt x="0" y="2686415"/>
                </a:cubicBezTo>
                <a:cubicBezTo>
                  <a:pt x="0" y="1202749"/>
                  <a:pt x="1202749" y="0"/>
                  <a:pt x="2686415" y="0"/>
                </a:cubicBezTo>
                <a:close/>
              </a:path>
            </a:pathLst>
          </a:custGeom>
          <a:pattFill prst="pct20">
            <a:fgClr>
              <a:srgbClr val="D50032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id-ID" err="1"/>
              <a:t>Click</a:t>
            </a:r>
            <a:r>
              <a:rPr lang="id-ID"/>
              <a:t> </a:t>
            </a:r>
            <a:r>
              <a:rPr lang="id-ID" err="1"/>
              <a:t>to</a:t>
            </a:r>
            <a:r>
              <a:rPr lang="id-ID"/>
              <a:t> </a:t>
            </a:r>
            <a:r>
              <a:rPr lang="id-ID" err="1"/>
              <a:t>add</a:t>
            </a:r>
            <a:r>
              <a:rPr lang="id-ID"/>
              <a:t> </a:t>
            </a:r>
            <a:r>
              <a:rPr lang="id-ID" err="1"/>
              <a:t>photo</a:t>
            </a:r>
            <a:endParaRPr lang="id-ID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249B61A-EC0D-074E-9EC9-5BF7523BCE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776" t="88158" r="80191" b="1"/>
          <a:stretch/>
        </p:blipFill>
        <p:spPr>
          <a:xfrm rot="5400000">
            <a:off x="11507447" y="2192742"/>
            <a:ext cx="613620" cy="81204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C460373-17B6-0F45-9FB4-204627AF6C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776" t="88158" r="80191" b="1"/>
          <a:stretch/>
        </p:blipFill>
        <p:spPr>
          <a:xfrm rot="5400000">
            <a:off x="117451" y="2192743"/>
            <a:ext cx="613620" cy="812045"/>
          </a:xfrm>
          <a:prstGeom prst="rect">
            <a:avLst/>
          </a:prstGeom>
        </p:spPr>
      </p:pic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5FFE1F8-E876-AF49-AF89-78C4F144D4F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15644" y="4752970"/>
            <a:ext cx="2626658" cy="17145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ctr">
              <a:lnSpc>
                <a:spcPct val="100000"/>
              </a:lnSpc>
              <a:defRPr lang="en-US" sz="1600" b="0" i="0" smtClean="0">
                <a:effectLst/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buClr>
                <a:srgbClr val="001E62"/>
              </a:buClr>
              <a:defRPr/>
            </a:lvl2pPr>
            <a:lvl3pPr marL="1030288" indent="-115888">
              <a:lnSpc>
                <a:spcPct val="100000"/>
              </a:lnSpc>
              <a:buClr>
                <a:srgbClr val="001E62"/>
              </a:buClr>
              <a:tabLst/>
              <a:defRPr/>
            </a:lvl3pPr>
            <a:lvl4pPr marL="1485900" indent="-114300">
              <a:lnSpc>
                <a:spcPct val="100000"/>
              </a:lnSpc>
              <a:buClr>
                <a:srgbClr val="001E62"/>
              </a:buClr>
              <a:tabLst/>
              <a:defRPr sz="1200">
                <a:solidFill>
                  <a:schemeClr val="tx1"/>
                </a:solidFill>
              </a:defRPr>
            </a:lvl4pPr>
            <a:lvl5pPr marL="1952625" indent="-123825">
              <a:lnSpc>
                <a:spcPct val="100000"/>
              </a:lnSpc>
              <a:buClr>
                <a:srgbClr val="001E62"/>
              </a:buClr>
              <a:tabLst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 dolor sit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sed do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eiusmod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incididunt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labore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</a:t>
            </a:r>
            <a:endParaRPr lang="en-US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5DF30A05-AE50-F741-836C-FF7CA9FE4CD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760544" y="4752970"/>
            <a:ext cx="2626658" cy="17145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ctr">
              <a:lnSpc>
                <a:spcPct val="100000"/>
              </a:lnSpc>
              <a:defRPr lang="en-US" sz="1600" b="0" i="0" smtClean="0">
                <a:effectLst/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buClr>
                <a:srgbClr val="001E62"/>
              </a:buClr>
              <a:defRPr/>
            </a:lvl2pPr>
            <a:lvl3pPr marL="1030288" indent="-115888">
              <a:lnSpc>
                <a:spcPct val="100000"/>
              </a:lnSpc>
              <a:buClr>
                <a:srgbClr val="001E62"/>
              </a:buClr>
              <a:tabLst/>
              <a:defRPr/>
            </a:lvl3pPr>
            <a:lvl4pPr marL="1485900" indent="-114300">
              <a:lnSpc>
                <a:spcPct val="100000"/>
              </a:lnSpc>
              <a:buClr>
                <a:srgbClr val="001E62"/>
              </a:buClr>
              <a:tabLst/>
              <a:defRPr sz="1200">
                <a:solidFill>
                  <a:schemeClr val="tx1"/>
                </a:solidFill>
              </a:defRPr>
            </a:lvl4pPr>
            <a:lvl5pPr marL="1952625" indent="-123825">
              <a:lnSpc>
                <a:spcPct val="100000"/>
              </a:lnSpc>
              <a:buClr>
                <a:srgbClr val="001E62"/>
              </a:buClr>
              <a:tabLst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 dolor sit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sed do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eiusmod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incididunt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labore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</a:t>
            </a:r>
            <a:endParaRPr lang="en-US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8C8A6EEC-8002-B04B-AFBA-7676415749B9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8456244" y="4752970"/>
            <a:ext cx="2626658" cy="17145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ctr">
              <a:lnSpc>
                <a:spcPct val="100000"/>
              </a:lnSpc>
              <a:defRPr lang="en-US" sz="1600" b="0" i="0" smtClean="0">
                <a:effectLst/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buClr>
                <a:srgbClr val="001E62"/>
              </a:buClr>
              <a:defRPr/>
            </a:lvl2pPr>
            <a:lvl3pPr marL="1030288" indent="-115888">
              <a:lnSpc>
                <a:spcPct val="100000"/>
              </a:lnSpc>
              <a:buClr>
                <a:srgbClr val="001E62"/>
              </a:buClr>
              <a:tabLst/>
              <a:defRPr/>
            </a:lvl3pPr>
            <a:lvl4pPr marL="1485900" indent="-114300">
              <a:lnSpc>
                <a:spcPct val="100000"/>
              </a:lnSpc>
              <a:buClr>
                <a:srgbClr val="001E62"/>
              </a:buClr>
              <a:tabLst/>
              <a:defRPr sz="1200">
                <a:solidFill>
                  <a:schemeClr val="tx1"/>
                </a:solidFill>
              </a:defRPr>
            </a:lvl4pPr>
            <a:lvl5pPr marL="1952625" indent="-123825">
              <a:lnSpc>
                <a:spcPct val="100000"/>
              </a:lnSpc>
              <a:buClr>
                <a:srgbClr val="001E62"/>
              </a:buClr>
              <a:tabLst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 dolor sit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sed do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eiusmod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incididunt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labore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</a:t>
            </a:r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FE77721-8DDD-CD44-88F4-DABDABC2E01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2130531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59D45DC-DD11-2B43-BCCA-0080D714F9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1437126"/>
            <a:ext cx="5524500" cy="4050861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to add picture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9E570CE-B5C1-B148-9C81-45F137959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437126"/>
            <a:ext cx="5054600" cy="44907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81760B-E6B6-E948-9991-95ED7BC8E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851C9981-623A-2D46-88F7-7E89F2C9A5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71499" y="6419410"/>
            <a:ext cx="4114800" cy="365125"/>
          </a:xfrm>
        </p:spPr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3001685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54390B8-F5A6-DC4C-95B7-DC0760C0D9E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27950" y="427475"/>
            <a:ext cx="3892550" cy="2566047"/>
          </a:xfrm>
          <a:prstGeom prst="rect">
            <a:avLst/>
          </a:prstGeom>
          <a:pattFill prst="pct20">
            <a:fgClr>
              <a:srgbClr val="D5003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B8FF2F8D-D4EF-6049-A031-899F44F0E3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27950" y="3293224"/>
            <a:ext cx="3892550" cy="2566047"/>
          </a:xfrm>
          <a:prstGeom prst="rect">
            <a:avLst/>
          </a:prstGeom>
          <a:pattFill prst="pct20">
            <a:fgClr>
              <a:srgbClr val="D5003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A2A977-0915-D942-8D9B-557EB78D81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427475"/>
            <a:ext cx="6642100" cy="8110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EF65F6D-A292-1047-808C-B11F4A287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437126"/>
            <a:ext cx="6642100" cy="44907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CE80CA-7BF4-554F-846B-768483360BC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3847506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5AF2651-3E17-AA4E-9587-82202DB57A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1500" y="1196599"/>
            <a:ext cx="11049000" cy="3157474"/>
          </a:xfrm>
          <a:prstGeom prst="rect">
            <a:avLst/>
          </a:prstGeom>
          <a:pattFill prst="pct20">
            <a:fgClr>
              <a:srgbClr val="D5003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E70F768-77C3-C24C-A38F-BE1E1E8A4E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429610"/>
            <a:ext cx="5980129" cy="766989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/>
              <a:t>Slide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3387113-3CA6-3242-ACA0-2304DF785AF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1500" y="4654550"/>
            <a:ext cx="6196944" cy="160655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b="0" i="0" smtClean="0">
                <a:effectLst/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buClr>
                <a:srgbClr val="001E62"/>
              </a:buClr>
              <a:defRPr/>
            </a:lvl2pPr>
            <a:lvl3pPr marL="1030288" indent="-115888">
              <a:lnSpc>
                <a:spcPct val="100000"/>
              </a:lnSpc>
              <a:buClr>
                <a:srgbClr val="001E62"/>
              </a:buClr>
              <a:tabLst/>
              <a:defRPr/>
            </a:lvl3pPr>
            <a:lvl4pPr marL="1485900" indent="-114300">
              <a:lnSpc>
                <a:spcPct val="100000"/>
              </a:lnSpc>
              <a:buClr>
                <a:srgbClr val="001E62"/>
              </a:buClr>
              <a:tabLst/>
              <a:defRPr sz="1200">
                <a:solidFill>
                  <a:schemeClr val="tx1"/>
                </a:solidFill>
              </a:defRPr>
            </a:lvl4pPr>
            <a:lvl5pPr marL="1952625" indent="-123825">
              <a:lnSpc>
                <a:spcPct val="100000"/>
              </a:lnSpc>
              <a:buClr>
                <a:srgbClr val="001E62"/>
              </a:buClr>
              <a:tabLst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 dolor sit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sed do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eiusmod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incididunt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labore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dolore magna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Ut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ad minim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veniam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nostrud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exercitation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ullamco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laboris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aliquip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ea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47F7ABE-10AB-4E4D-AC47-355D922C8F7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4931861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585415-ECAB-7749-9438-98667466F0EE}"/>
              </a:ext>
            </a:extLst>
          </p:cNvPr>
          <p:cNvSpPr/>
          <p:nvPr/>
        </p:nvSpPr>
        <p:spPr>
          <a:xfrm>
            <a:off x="-1" y="0"/>
            <a:ext cx="4249271" cy="6858000"/>
          </a:xfrm>
          <a:prstGeom prst="rect">
            <a:avLst/>
          </a:prstGeom>
          <a:solidFill>
            <a:srgbClr val="001E62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rgbClr val="001E62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5B460D-E86D-3A4C-92BA-4EDF763DFAFA}"/>
              </a:ext>
            </a:extLst>
          </p:cNvPr>
          <p:cNvSpPr/>
          <p:nvPr userDrawn="1"/>
        </p:nvSpPr>
        <p:spPr>
          <a:xfrm>
            <a:off x="-1" y="0"/>
            <a:ext cx="4249271" cy="6858000"/>
          </a:xfrm>
          <a:prstGeom prst="rect">
            <a:avLst/>
          </a:prstGeom>
          <a:solidFill>
            <a:srgbClr val="001E62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3367FE-A03A-0D4B-8464-6EA90E8DA4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162" t="77592" r="78736"/>
          <a:stretch/>
        </p:blipFill>
        <p:spPr>
          <a:xfrm rot="10800000">
            <a:off x="571500" y="-737549"/>
            <a:ext cx="500083" cy="1536790"/>
          </a:xfrm>
          <a:prstGeom prst="rect">
            <a:avLst/>
          </a:prstGeom>
        </p:spPr>
      </p:pic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239BCF8-7759-3A41-A514-3A4A72C6F9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9420" y="3622452"/>
            <a:ext cx="3239719" cy="270686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 i="0" baseline="0">
                <a:solidFill>
                  <a:schemeClr val="bg1"/>
                </a:solidFill>
              </a:defRPr>
            </a:lvl1pPr>
          </a:lstStyle>
          <a:p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lorem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ipsum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dolor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sit</a:t>
            </a:r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con</a:t>
            </a:r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tetur</a:t>
            </a:r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adipiscinge</a:t>
            </a:r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 </a:t>
            </a:r>
            <a:r>
              <a:rPr lang="en-US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sahanis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nib</a:t>
            </a:r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u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h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eget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justo</a:t>
            </a:r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ne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sed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gravida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est</a:t>
            </a:r>
            <a:r>
              <a:rPr lang="en-US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asa</a:t>
            </a:r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lorem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ipsum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dolor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sit</a:t>
            </a:r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E3A340C-ED98-6C4F-A999-F28C9BE643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1499" y="1222362"/>
            <a:ext cx="3257639" cy="4619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 i="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sz="2000" b="1" spc="300">
                <a:ln w="19050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607F020-7CB7-FA45-8230-53C05BB43E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1500" y="1866900"/>
            <a:ext cx="3225800" cy="1562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bg1"/>
                </a:solidFill>
              </a:defRPr>
            </a:lvl2pPr>
            <a:lvl3pPr>
              <a:defRPr b="1">
                <a:solidFill>
                  <a:schemeClr val="bg1"/>
                </a:solidFill>
              </a:defRPr>
            </a:lvl3pPr>
            <a:lvl4pPr>
              <a:defRPr b="1">
                <a:solidFill>
                  <a:schemeClr val="bg1"/>
                </a:solidFill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Headline Goes Here and Here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19D2A7B-D949-D84A-B563-9285D56DA7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7162" t="77592" r="78736"/>
          <a:stretch/>
        </p:blipFill>
        <p:spPr>
          <a:xfrm rot="10800000">
            <a:off x="571500" y="-737549"/>
            <a:ext cx="500083" cy="1536790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4D5C75C-330E-FF43-B40F-90030894A7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805665" y="1222362"/>
            <a:ext cx="6796915" cy="4840508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 cap="all" spc="300" baseline="0">
                <a:solidFill>
                  <a:schemeClr val="accent1"/>
                </a:solidFill>
              </a:defRPr>
            </a:lvl1pPr>
            <a:lvl2pPr marL="12700" indent="0">
              <a:buClr>
                <a:srgbClr val="001E62"/>
              </a:buClr>
              <a:buFontTx/>
              <a:buNone/>
              <a:tabLst/>
              <a:defRPr/>
            </a:lvl2pPr>
            <a:lvl3pPr marL="641350" indent="-171450">
              <a:buClr>
                <a:srgbClr val="001E62"/>
              </a:buClr>
              <a:buFont typeface="Arial" panose="020B0604020202020204" pitchFamily="34" charset="0"/>
              <a:buChar char="•"/>
              <a:tabLst/>
              <a:defRPr/>
            </a:lvl3pPr>
            <a:lvl4pPr marL="1485900" indent="-114300">
              <a:buClr>
                <a:srgbClr val="001E62"/>
              </a:buClr>
              <a:tabLst/>
              <a:defRPr sz="1200">
                <a:solidFill>
                  <a:schemeClr val="tx1"/>
                </a:solidFill>
              </a:defRPr>
            </a:lvl4pPr>
            <a:lvl5pPr marL="1952625" indent="-123825">
              <a:buClr>
                <a:srgbClr val="001E62"/>
              </a:buClr>
              <a:tabLst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DFFB21-BBD8-584B-AD40-5FF15F1975E2}"/>
              </a:ext>
            </a:extLst>
          </p:cNvPr>
          <p:cNvSpPr txBox="1"/>
          <p:nvPr userDrawn="1"/>
        </p:nvSpPr>
        <p:spPr>
          <a:xfrm>
            <a:off x="125425" y="6439768"/>
            <a:ext cx="601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65C24F-D5A7-7547-9DA1-2768CBD8B2AD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F9A3847-D44C-1045-9746-270828EEC7A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805665" y="6419410"/>
            <a:ext cx="4114800" cy="365125"/>
          </a:xfrm>
        </p:spPr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4056754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3A040F-DDFD-4E49-B911-5258CAF2D3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111" b="7037"/>
          <a:stretch/>
        </p:blipFill>
        <p:spPr>
          <a:xfrm>
            <a:off x="0" y="2331188"/>
            <a:ext cx="12192000" cy="2184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48638E0-CDBC-DC4F-8BB3-C27A3270B4E9}"/>
              </a:ext>
            </a:extLst>
          </p:cNvPr>
          <p:cNvSpPr/>
          <p:nvPr userDrawn="1"/>
        </p:nvSpPr>
        <p:spPr>
          <a:xfrm>
            <a:off x="-1" y="2340565"/>
            <a:ext cx="12192000" cy="2184400"/>
          </a:xfrm>
          <a:prstGeom prst="rect">
            <a:avLst/>
          </a:prstGeom>
          <a:solidFill>
            <a:srgbClr val="001E62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b="0" i="0">
              <a:latin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8EDC3A-B0ED-8A4D-8488-7A4C581CFD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8068" y="3156054"/>
            <a:ext cx="11035861" cy="766989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Divider Slide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4781056-D049-3547-BEAF-CEE287C4E4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21561862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6736B9-CC46-8040-9B10-88C725D129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" t="85786" r="3" b="1251"/>
          <a:stretch/>
        </p:blipFill>
        <p:spPr>
          <a:xfrm>
            <a:off x="0" y="6007100"/>
            <a:ext cx="12192000" cy="889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7BE2AD0-F3DD-C74E-AD44-71463A9CACDB}"/>
              </a:ext>
            </a:extLst>
          </p:cNvPr>
          <p:cNvSpPr/>
          <p:nvPr userDrawn="1"/>
        </p:nvSpPr>
        <p:spPr>
          <a:xfrm>
            <a:off x="196645" y="6409044"/>
            <a:ext cx="304800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8EDC3A-B0ED-8A4D-8488-7A4C581CFD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8069" y="2793176"/>
            <a:ext cx="11035861" cy="766989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Divider Slide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AA68CF-ED20-AF4E-B696-23793AE24597}"/>
              </a:ext>
            </a:extLst>
          </p:cNvPr>
          <p:cNvSpPr txBox="1"/>
          <p:nvPr userDrawn="1"/>
        </p:nvSpPr>
        <p:spPr>
          <a:xfrm>
            <a:off x="157317" y="6369355"/>
            <a:ext cx="601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65C24F-D5A7-7547-9DA1-2768CBD8B2AD}" type="slidenum">
              <a:rPr lang="en-US" sz="1400" b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1400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0630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466824-B371-3F4A-BBC7-17B5B0E28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751" y="2295148"/>
            <a:ext cx="2326497" cy="22677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AE039C-5A95-5E48-B5F3-0DE41F24E2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32751" y="2295148"/>
            <a:ext cx="2326497" cy="226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7878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2401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218E8F-10A9-6445-A422-50AED2FB7719}"/>
              </a:ext>
            </a:extLst>
          </p:cNvPr>
          <p:cNvSpPr txBox="1"/>
          <p:nvPr userDrawn="1"/>
        </p:nvSpPr>
        <p:spPr>
          <a:xfrm>
            <a:off x="125425" y="6439768"/>
            <a:ext cx="601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65C24F-D5A7-7547-9DA1-2768CBD8B2AD}" type="slidenum">
              <a:rPr lang="en-US" sz="1400" b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1400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BB5935-E507-3B44-AD51-1D3B1F0405E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462017" y="6126480"/>
            <a:ext cx="604558" cy="589280"/>
          </a:xfrm>
          <a:prstGeom prst="rect">
            <a:avLst/>
          </a:prstGeom>
        </p:spPr>
      </p:pic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BA86899-E688-504E-A570-178B715EA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427475"/>
            <a:ext cx="11048999" cy="8110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05117A9-42CA-BD41-9D8D-547D5CDB2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1437126"/>
            <a:ext cx="11049000" cy="44907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353ED9-6758-5C4A-B0DC-BD4F58B26932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1462017" y="6126480"/>
            <a:ext cx="604558" cy="58928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7EA0ADE-DED0-334D-AE1C-0EBE7C7C1C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1499" y="641941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2305179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21" r:id="rId6"/>
    <p:sldLayoutId id="2147483715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6" r:id="rId16"/>
    <p:sldLayoutId id="2147483718" r:id="rId17"/>
    <p:sldLayoutId id="2147483719" r:id="rId18"/>
    <p:sldLayoutId id="2147483720" r:id="rId19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rgbClr val="001E62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Tx/>
        <a:buNone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35000" indent="-177800" algn="l" defTabSz="914400" rtl="0" eaLnBrk="1" latinLnBrk="0" hangingPunct="1">
        <a:lnSpc>
          <a:spcPct val="100000"/>
        </a:lnSpc>
        <a:spcBef>
          <a:spcPts val="500"/>
        </a:spcBef>
        <a:buClr>
          <a:srgbClr val="001E62"/>
        </a:buClr>
        <a:buFont typeface="Arial" panose="020B0604020202020204" pitchFamily="34" charset="0"/>
        <a:buChar char="•"/>
        <a:tabLst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098550" indent="-184150" algn="l" defTabSz="914400" rtl="0" eaLnBrk="1" latinLnBrk="0" hangingPunct="1">
        <a:lnSpc>
          <a:spcPct val="100000"/>
        </a:lnSpc>
        <a:spcBef>
          <a:spcPts val="500"/>
        </a:spcBef>
        <a:buClr>
          <a:srgbClr val="001E62"/>
        </a:buClr>
        <a:buFont typeface="System Font Regular"/>
        <a:buChar char="–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4">
          <p15:clr>
            <a:srgbClr val="F26B43"/>
          </p15:clr>
        </p15:guide>
        <p15:guide id="4" pos="3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Video 7" descr="Red Chemical Solution In A Beaker">
            <a:extLst>
              <a:ext uri="{FF2B5EF4-FFF2-40B4-BE49-F238E27FC236}">
                <a16:creationId xmlns:a16="http://schemas.microsoft.com/office/drawing/2014/main" id="{DBBBB5B5-C455-0CCD-36B3-CA1E15785A1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11068" r="37656" b="-1"/>
          <a:stretch>
            <a:fillRect/>
          </a:stretch>
        </p:blipFill>
        <p:spPr>
          <a:xfrm>
            <a:off x="-803275" y="10"/>
            <a:ext cx="6248908" cy="6874615"/>
          </a:xfrm>
          <a:custGeom>
            <a:avLst/>
            <a:gdLst>
              <a:gd name="connsiteX0" fmla="*/ 0 w 6858000"/>
              <a:gd name="connsiteY0" fmla="*/ 0 h 6858000"/>
              <a:gd name="connsiteX1" fmla="*/ 6858000 w 6858000"/>
              <a:gd name="connsiteY1" fmla="*/ 0 h 6858000"/>
              <a:gd name="connsiteX2" fmla="*/ 6858000 w 6858000"/>
              <a:gd name="connsiteY2" fmla="*/ 6858000 h 6858000"/>
              <a:gd name="connsiteX3" fmla="*/ 0 w 6858000"/>
              <a:gd name="connsiteY3" fmla="*/ 6858000 h 6858000"/>
              <a:gd name="connsiteX4" fmla="*/ 0 w 6858000"/>
              <a:gd name="connsiteY4" fmla="*/ 0 h 6858000"/>
              <a:gd name="connsiteX0" fmla="*/ 0 w 6858000"/>
              <a:gd name="connsiteY0" fmla="*/ 0 h 6858000"/>
              <a:gd name="connsiteX1" fmla="*/ 4862945 w 6858000"/>
              <a:gd name="connsiteY1" fmla="*/ 0 h 6858000"/>
              <a:gd name="connsiteX2" fmla="*/ 6858000 w 6858000"/>
              <a:gd name="connsiteY2" fmla="*/ 6858000 h 6858000"/>
              <a:gd name="connsiteX3" fmla="*/ 0 w 6858000"/>
              <a:gd name="connsiteY3" fmla="*/ 6858000 h 6858000"/>
              <a:gd name="connsiteX4" fmla="*/ 0 w 6858000"/>
              <a:gd name="connsiteY4" fmla="*/ 0 h 6858000"/>
              <a:gd name="connsiteX0" fmla="*/ 0 w 4862945"/>
              <a:gd name="connsiteY0" fmla="*/ 0 h 6874625"/>
              <a:gd name="connsiteX1" fmla="*/ 4862945 w 4862945"/>
              <a:gd name="connsiteY1" fmla="*/ 0 h 6874625"/>
              <a:gd name="connsiteX2" fmla="*/ 4846320 w 4862945"/>
              <a:gd name="connsiteY2" fmla="*/ 6874625 h 6874625"/>
              <a:gd name="connsiteX3" fmla="*/ 0 w 4862945"/>
              <a:gd name="connsiteY3" fmla="*/ 6858000 h 6874625"/>
              <a:gd name="connsiteX4" fmla="*/ 0 w 4862945"/>
              <a:gd name="connsiteY4" fmla="*/ 0 h 6874625"/>
              <a:gd name="connsiteX0" fmla="*/ 0 w 6130182"/>
              <a:gd name="connsiteY0" fmla="*/ 0 h 6874625"/>
              <a:gd name="connsiteX1" fmla="*/ 4862945 w 6130182"/>
              <a:gd name="connsiteY1" fmla="*/ 0 h 6874625"/>
              <a:gd name="connsiteX2" fmla="*/ 4846320 w 6130182"/>
              <a:gd name="connsiteY2" fmla="*/ 6874625 h 6874625"/>
              <a:gd name="connsiteX3" fmla="*/ 0 w 6130182"/>
              <a:gd name="connsiteY3" fmla="*/ 6858000 h 6874625"/>
              <a:gd name="connsiteX4" fmla="*/ 0 w 6130182"/>
              <a:gd name="connsiteY4" fmla="*/ 0 h 6874625"/>
              <a:gd name="connsiteX0" fmla="*/ 0 w 6248908"/>
              <a:gd name="connsiteY0" fmla="*/ 0 h 6874625"/>
              <a:gd name="connsiteX1" fmla="*/ 4862945 w 6248908"/>
              <a:gd name="connsiteY1" fmla="*/ 0 h 6874625"/>
              <a:gd name="connsiteX2" fmla="*/ 4846320 w 6248908"/>
              <a:gd name="connsiteY2" fmla="*/ 6874625 h 6874625"/>
              <a:gd name="connsiteX3" fmla="*/ 0 w 6248908"/>
              <a:gd name="connsiteY3" fmla="*/ 6858000 h 6874625"/>
              <a:gd name="connsiteX4" fmla="*/ 0 w 6248908"/>
              <a:gd name="connsiteY4" fmla="*/ 0 h 6874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48908" h="6874625">
                <a:moveTo>
                  <a:pt x="0" y="0"/>
                </a:moveTo>
                <a:lnTo>
                  <a:pt x="4862945" y="0"/>
                </a:lnTo>
                <a:cubicBezTo>
                  <a:pt x="5356167" y="479368"/>
                  <a:pt x="7728066" y="3552305"/>
                  <a:pt x="4846320" y="6874625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9EFC96E-E94D-50C0-1667-0AF15CEA4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05008" y="2205037"/>
            <a:ext cx="4920343" cy="1655763"/>
          </a:xfrm>
        </p:spPr>
        <p:txBody>
          <a:bodyPr anchor="t">
            <a:normAutofit/>
          </a:bodyPr>
          <a:lstStyle/>
          <a:p>
            <a:r>
              <a:rPr lang="en-US"/>
              <a:t>Liquid-Liquid Extraction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C67FB60-50A3-503D-9348-3630C03C5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05008" y="4099548"/>
            <a:ext cx="4920344" cy="6075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/>
              <a:t>Anna Cai, Aaron Casas, Adil Feratovic, Hussein Rezk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21CA6-7489-A40A-66DC-A57FD3FEE0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05008" y="1611477"/>
            <a:ext cx="2902358" cy="295275"/>
          </a:xfrm>
        </p:spPr>
        <p:txBody>
          <a:bodyPr>
            <a:normAutofit/>
          </a:bodyPr>
          <a:lstStyle/>
          <a:p>
            <a:r>
              <a:rPr lang="en-US"/>
              <a:t>04/21/2026</a:t>
            </a:r>
          </a:p>
        </p:txBody>
      </p:sp>
    </p:spTree>
    <p:extLst>
      <p:ext uri="{BB962C8B-B14F-4D97-AF65-F5344CB8AC3E}">
        <p14:creationId xmlns:p14="http://schemas.microsoft.com/office/powerpoint/2010/main" val="505754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2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F88A0-F67C-D085-2DE1-6515017E6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&amp;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46721-DFF3-5023-AD77-1AAA32F03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Liquid-Liquid Extraction: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Process where a solute transfers between two immiscible fluids to achieve separation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Driven by differences in equilibrium distribution and solubility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Useful when distillation is inefficient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In this experiment:</a:t>
            </a:r>
          </a:p>
          <a:p>
            <a:pPr marL="457200" indent="-457200">
              <a:buFont typeface="+mj-lt"/>
              <a:buAutoNum type="alphaLcPeriod"/>
            </a:pPr>
            <a:r>
              <a:rPr lang="en-US"/>
              <a:t>Acetic Acid (solute)</a:t>
            </a:r>
          </a:p>
          <a:p>
            <a:pPr marL="457200" indent="-457200">
              <a:buFont typeface="+mj-lt"/>
              <a:buAutoNum type="alphaLcPeriod"/>
            </a:pPr>
            <a:r>
              <a:rPr lang="en-US"/>
              <a:t>White oil (raffinate phase)</a:t>
            </a:r>
          </a:p>
          <a:p>
            <a:pPr marL="457200" indent="-457200">
              <a:buFont typeface="+mj-lt"/>
              <a:buAutoNum type="alphaLcPeriod"/>
            </a:pPr>
            <a:r>
              <a:rPr lang="en-US"/>
              <a:t>Water (solvent/extract phase)</a:t>
            </a:r>
          </a:p>
          <a:p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pPr marL="457200" indent="-457200">
              <a:buFont typeface="+mj-lt"/>
              <a:buAutoNum type="alphaLcPeriod"/>
            </a:pPr>
            <a:endParaRPr lang="en-US"/>
          </a:p>
          <a:p>
            <a:endParaRPr lang="en-US"/>
          </a:p>
          <a:p>
            <a:pPr marL="457200" indent="-457200">
              <a:buFont typeface="+mj-lt"/>
              <a:buAutoNum type="alphaLcPeriod"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B1F1A0-DA47-3AE1-28C3-9E8AC9098A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  <p:pic>
        <p:nvPicPr>
          <p:cNvPr id="3074" name="Picture 2" descr="Liquid Extraction: Phase Diagram | Springer Nature Link">
            <a:extLst>
              <a:ext uri="{FF2B5EF4-FFF2-40B4-BE49-F238E27FC236}">
                <a16:creationId xmlns:a16="http://schemas.microsoft.com/office/drawing/2014/main" id="{027055F1-ADAF-3CBA-4263-6F7F7BF83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440" y="3306324"/>
            <a:ext cx="6400800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3468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71F54-51B8-4922-E4F2-F8547CDC9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Principles Behind the Experiment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67A2C9-9E03-8F82-E0CD-52330B98AF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1500" y="1437126"/>
                <a:ext cx="4301289" cy="4490708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b="1"/>
                  <a:t>Phase Equilibrium</a:t>
                </a:r>
                <a:r>
                  <a:rPr lang="en-US"/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Acetic acid partitions between water and oil based on equilibrium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r>
                  <a:rPr lang="en-US"/>
                  <a:t>Where: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/>
                  <a:t> : solute conc. in raffinate phase (oil)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/>
                  <a:t>: solute conc. in extract phase (water)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/>
                  <a:t>: equilibrium constant </a:t>
                </a:r>
                <a:r>
                  <a:rPr lang="en-US">
                    <a:sym typeface="Wingdings" panose="05000000000000000000" pitchFamily="2" charset="2"/>
                  </a:rPr>
                  <a:t> Higher K, better extraction</a:t>
                </a:r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67A2C9-9E03-8F82-E0CD-52330B98AF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1500" y="1437126"/>
                <a:ext cx="4301289" cy="4490708"/>
              </a:xfrm>
              <a:blipFill>
                <a:blip r:embed="rId2"/>
                <a:stretch>
                  <a:fillRect l="-3121" t="-2038" r="-2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4AFEBF-5D5B-F711-A297-4868AB3FDD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704207-A539-D122-A199-D6FD8DF9F460}"/>
              </a:ext>
            </a:extLst>
          </p:cNvPr>
          <p:cNvSpPr txBox="1"/>
          <p:nvPr/>
        </p:nvSpPr>
        <p:spPr>
          <a:xfrm>
            <a:off x="5189777" y="1437126"/>
            <a:ext cx="567289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>
                <a:latin typeface="Arial" panose="020B0604020202020204" pitchFamily="34" charset="0"/>
                <a:cs typeface="Arial" panose="020B0604020202020204" pitchFamily="34" charset="0"/>
              </a:rPr>
              <a:t>Mass Transfer</a:t>
            </a: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Concentration gradients during mixing in the agitator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AAFD41-5B62-8ADC-92E5-DD548C85662D}"/>
              </a:ext>
            </a:extLst>
          </p:cNvPr>
          <p:cNvSpPr txBox="1"/>
          <p:nvPr/>
        </p:nvSpPr>
        <p:spPr>
          <a:xfrm>
            <a:off x="5251784" y="3429000"/>
            <a:ext cx="4161717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b="1">
                <a:latin typeface="Arial" panose="020B0604020202020204" pitchFamily="34" charset="0"/>
                <a:cs typeface="Arial" panose="020B0604020202020204" pitchFamily="34" charset="0"/>
              </a:rPr>
              <a:t>Countercurrent Flow</a:t>
            </a: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Phases flow in opposite directions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Maximizes driving force across stages</a:t>
            </a:r>
          </a:p>
        </p:txBody>
      </p:sp>
      <p:pic>
        <p:nvPicPr>
          <p:cNvPr id="1026" name="Picture 2" descr="Schematic for multistage liquid-liquid extraction process.">
            <a:extLst>
              <a:ext uri="{FF2B5EF4-FFF2-40B4-BE49-F238E27FC236}">
                <a16:creationId xmlns:a16="http://schemas.microsoft.com/office/drawing/2014/main" id="{AD6C900E-FB8F-369F-D1F1-80667AD9E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276" y="4457206"/>
            <a:ext cx="5704021" cy="1927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0290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6B517-B835-051F-5F07-7EBACA4DE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Industrial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BCF9C-181F-401E-B749-C79CD853E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Petroleum Industry: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Used to remove impurities from fuels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 b="1"/>
              <a:t>Environmental Industry: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Used to remove pollutants from wastewater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 b="1"/>
              <a:t>Pharmaceutical Industry: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Used to purify active ingredients </a:t>
            </a:r>
          </a:p>
          <a:p>
            <a:endParaRPr lang="en-US" b="1"/>
          </a:p>
          <a:p>
            <a:endParaRPr 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62B99E-884F-58F9-33A5-698267F02C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  <p:pic>
        <p:nvPicPr>
          <p:cNvPr id="2050" name="Picture 2" descr="Typical Industrial Applications for Separation by Liquid-Liquid Extraction  | Koch Modular">
            <a:extLst>
              <a:ext uri="{FF2B5EF4-FFF2-40B4-BE49-F238E27FC236}">
                <a16:creationId xmlns:a16="http://schemas.microsoft.com/office/drawing/2014/main" id="{D7228ADC-CE15-271B-E53E-1DE234AF6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3945" y="532227"/>
            <a:ext cx="4226562" cy="2197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Typical Industrial Applications for Separation by Liquid-Liquid Extraction  | Koch Modular">
            <a:extLst>
              <a:ext uri="{FF2B5EF4-FFF2-40B4-BE49-F238E27FC236}">
                <a16:creationId xmlns:a16="http://schemas.microsoft.com/office/drawing/2014/main" id="{2469B8E1-A3DA-B906-12F4-5B581FBEB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0108" y="3214204"/>
            <a:ext cx="3945891" cy="295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756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AB7ED-7FB2-11EA-80DA-E7431FB94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Experimental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4EB45-EFF7-88A8-9746-FAB73FBAF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/>
              <a:t>Operate a 3-stage extraction unit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/>
              <a:t>Extract acetic acid from oil using water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/>
              <a:t>Assess how agitator speed affects efficiency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7CF302-3033-7ACA-75D6-EF80E216F6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EAA493-7335-8809-4C15-9D64A9443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134" y="3533864"/>
            <a:ext cx="5131728" cy="288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678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F9872-1320-B25A-1CF6-2A5FB71D8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Apparatus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55C1C1-4700-59E5-B9FC-A2B702C44E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C501EFF-CEBA-90E2-9C1D-823F906CFD7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24" y="1238479"/>
            <a:ext cx="6453502" cy="4840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3F875BF-D3A9-D43F-FBA1-0F64698C9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5025" y="427475"/>
            <a:ext cx="4238349" cy="5651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861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ABFFD-67DF-D4FF-7C83-19ADAC495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Materials and Supplies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5F815-AD1D-8288-788C-4C524E1A1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Tx/>
              <a:buChar char="-"/>
            </a:pPr>
            <a:r>
              <a:rPr lang="en-US" dirty="0"/>
              <a:t>White oil</a:t>
            </a:r>
          </a:p>
          <a:p>
            <a:pPr marL="342900" indent="-342900">
              <a:buFontTx/>
              <a:buChar char="-"/>
            </a:pPr>
            <a:r>
              <a:rPr lang="en-US" dirty="0"/>
              <a:t>Glacial acetic acid</a:t>
            </a:r>
          </a:p>
          <a:p>
            <a:pPr marL="342900" indent="-342900">
              <a:buFontTx/>
              <a:buChar char="-"/>
            </a:pPr>
            <a:r>
              <a:rPr lang="en-US" dirty="0"/>
              <a:t>Water</a:t>
            </a:r>
          </a:p>
          <a:p>
            <a:pPr marL="342900" indent="-342900">
              <a:buFontTx/>
              <a:buChar char="-"/>
            </a:pPr>
            <a:r>
              <a:rPr lang="en-US" dirty="0"/>
              <a:t>Laser tachometer</a:t>
            </a:r>
          </a:p>
          <a:p>
            <a:pPr marL="342900" indent="-342900">
              <a:buFontTx/>
              <a:buChar char="-"/>
            </a:pPr>
            <a:r>
              <a:rPr lang="en-US" dirty="0" err="1"/>
              <a:t>Buret</a:t>
            </a:r>
            <a:endParaRPr lang="en-US" dirty="0"/>
          </a:p>
          <a:p>
            <a:pPr marL="342900" indent="-342900">
              <a:buFontTx/>
              <a:buChar char="-"/>
            </a:pPr>
            <a:r>
              <a:rPr lang="en-US" dirty="0"/>
              <a:t>Pipette</a:t>
            </a:r>
          </a:p>
          <a:p>
            <a:pPr marL="342900" indent="-342900">
              <a:buFontTx/>
              <a:buChar char="-"/>
            </a:pPr>
            <a:r>
              <a:rPr lang="en-US" dirty="0"/>
              <a:t>Erlenmeyer flask</a:t>
            </a:r>
          </a:p>
          <a:p>
            <a:pPr marL="342900" indent="-342900">
              <a:buFontTx/>
              <a:buChar char="-"/>
            </a:pPr>
            <a:r>
              <a:rPr lang="en-US" dirty="0"/>
              <a:t>Phenolphthalein indicator</a:t>
            </a:r>
          </a:p>
          <a:p>
            <a:pPr marL="342900" indent="-342900">
              <a:buFontTx/>
              <a:buChar char="-"/>
            </a:pPr>
            <a:r>
              <a:rPr lang="en-US" dirty="0"/>
              <a:t>Parafilm</a:t>
            </a:r>
          </a:p>
          <a:p>
            <a:pPr marL="342900" indent="-342900">
              <a:buFontTx/>
              <a:buChar char="-"/>
            </a:pPr>
            <a:r>
              <a:rPr lang="en-US" dirty="0"/>
              <a:t>Stir Bar</a:t>
            </a:r>
          </a:p>
          <a:p>
            <a:pPr marL="342900" indent="-342900">
              <a:buFontTx/>
              <a:buChar char="-"/>
            </a:pPr>
            <a:r>
              <a:rPr lang="en-US" dirty="0"/>
              <a:t>NaOH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191943-6D2A-509B-E5E6-B6D0CFFB37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8CF3EF-33A0-9ECF-0515-1FD7CF60A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28625"/>
            <a:ext cx="5715000" cy="30003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D08339-4139-0BCD-8D4E-391FE76C6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245" y="3682480"/>
            <a:ext cx="4499379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288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3DE87-270F-66FC-BDA0-C138F4CFD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Experimental Procedure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CEE40-A253-6D82-C80E-7298911A3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48" y="1073265"/>
            <a:ext cx="11823700" cy="551136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Perform a titration of a sample from the tank mixture to verify the exact </a:t>
            </a:r>
            <a:r>
              <a:rPr lang="en-US" err="1"/>
              <a:t>wt</a:t>
            </a:r>
            <a:r>
              <a:rPr lang="en-US"/>
              <a:t>% of acetic acid in the tank</a:t>
            </a:r>
          </a:p>
          <a:p>
            <a:pPr marL="1092200" lvl="1" indent="-457200">
              <a:buFont typeface="+mj-lt"/>
              <a:buAutoNum type="alphaUcPeriod"/>
            </a:pPr>
            <a:r>
              <a:rPr lang="en-US"/>
              <a:t>If the tank isn’t at 1 </a:t>
            </a:r>
            <a:r>
              <a:rPr lang="en-US" err="1"/>
              <a:t>wt</a:t>
            </a:r>
            <a:r>
              <a:rPr lang="en-US"/>
              <a:t>% acetic acid, prepare a solution to ensure the tank is at 1 </a:t>
            </a:r>
            <a:r>
              <a:rPr lang="en-US" err="1"/>
              <a:t>wt</a:t>
            </a:r>
            <a:r>
              <a:rPr lang="en-US"/>
              <a:t>% acetic acid</a:t>
            </a:r>
          </a:p>
          <a:p>
            <a:pPr marL="1092200" lvl="1" indent="-457200">
              <a:buFont typeface="+mj-lt"/>
              <a:buAutoNum type="alphaUcPeriod"/>
            </a:pPr>
            <a:r>
              <a:rPr lang="en-US"/>
              <a:t>Mix the acetic acid into the tank by operation of the centrifugal pump in a closed loop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Adjust water flow rate via rotameter to 0.67 GPM and oil flow rate to 0.34 GPM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Turn on the agitators and, using the tachometer, select and calibrate the agitators 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Once calibrated, turn the pump back on, close the return valve, and open the valve to the rotameter. 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Allow the system to run till extraction occurs and an oil layer forms in each tank, residence time.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Once extraction occurs, note the residence time it took and draw oil and water phase samples from each tank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Titrate each sample against a 0.05 N NaOH and an indicator to determine acetic acid composition</a:t>
            </a:r>
          </a:p>
          <a:p>
            <a:pPr marL="457200" indent="-457200">
              <a:buFont typeface="+mj-lt"/>
              <a:buAutoNum type="arabicPeriod"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071CA5-C5F3-34C3-8040-7A25093E02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3328177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EE0A3-5579-8404-0E1F-E77BD89E3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Results/Discussion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43FC31-A451-74AB-BFE0-BB5FB67C27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A8895B7-6ECD-1888-9EDE-30D2398F1B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3614097"/>
              </p:ext>
            </p:extLst>
          </p:nvPr>
        </p:nvGraphicFramePr>
        <p:xfrm>
          <a:off x="385009" y="832977"/>
          <a:ext cx="5496425" cy="2959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567AABB-EA4C-6D40-E924-FA87BC55A9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4698311"/>
              </p:ext>
            </p:extLst>
          </p:nvPr>
        </p:nvGraphicFramePr>
        <p:xfrm>
          <a:off x="6095996" y="1001137"/>
          <a:ext cx="5309939" cy="30287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47089CB0-AD68-2D61-B760-BFFCDE3CA1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1683626"/>
              </p:ext>
            </p:extLst>
          </p:nvPr>
        </p:nvGraphicFramePr>
        <p:xfrm>
          <a:off x="385009" y="3792515"/>
          <a:ext cx="5524500" cy="29920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9754175-D23E-0EF7-4E4E-AE45B14777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5258660"/>
              </p:ext>
            </p:extLst>
          </p:nvPr>
        </p:nvGraphicFramePr>
        <p:xfrm>
          <a:off x="6247861" y="3959035"/>
          <a:ext cx="5265355" cy="26429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767077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AA4C11-AF9A-82C8-F78A-2BC56003FA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2F25DA2A-7172-A4DC-9258-2546B47DF0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7598776"/>
              </p:ext>
            </p:extLst>
          </p:nvPr>
        </p:nvGraphicFramePr>
        <p:xfrm>
          <a:off x="806968" y="804545"/>
          <a:ext cx="4642485" cy="26244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70943484-16E3-EAC1-1FD2-3028900B97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5843302"/>
              </p:ext>
            </p:extLst>
          </p:nvPr>
        </p:nvGraphicFramePr>
        <p:xfrm>
          <a:off x="5930433" y="748664"/>
          <a:ext cx="4630420" cy="2736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723E7D58-DC94-73A6-8DEA-BDEAF62A97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0423242"/>
              </p:ext>
            </p:extLst>
          </p:nvPr>
        </p:nvGraphicFramePr>
        <p:xfrm>
          <a:off x="3780790" y="3578788"/>
          <a:ext cx="4630420" cy="2736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133302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ED8167-AB17-754C-3FDF-09D2B12F9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1499" y="641941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College/Department/Presentation Name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48D1BAD-057B-ECAE-A984-88E7C8E01B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5493111"/>
              </p:ext>
            </p:extLst>
          </p:nvPr>
        </p:nvGraphicFramePr>
        <p:xfrm>
          <a:off x="333934" y="399090"/>
          <a:ext cx="5762066" cy="38377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AC3BDDFA-EFDA-618C-C4FA-41469E13C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4700" y="399090"/>
            <a:ext cx="3248478" cy="12288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ECC173-52FA-A4A8-16F8-BA7A3240BE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99" y="4818987"/>
            <a:ext cx="5563376" cy="16004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2C210D8-DC33-C3A6-17FD-6F1CAC071FA2}"/>
              </a:ext>
            </a:extLst>
          </p:cNvPr>
          <p:cNvSpPr txBox="1"/>
          <p:nvPr/>
        </p:nvSpPr>
        <p:spPr>
          <a:xfrm>
            <a:off x="8305800" y="1627986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Kremser equation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20FB6C-E0D3-44C7-66F1-7FC6286F836E}"/>
              </a:ext>
            </a:extLst>
          </p:cNvPr>
          <p:cNvSpPr txBox="1"/>
          <p:nvPr/>
        </p:nvSpPr>
        <p:spPr>
          <a:xfrm>
            <a:off x="6433457" y="2317987"/>
            <a:ext cx="54246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 = Theoretical number of stages </a:t>
            </a:r>
          </a:p>
          <a:p>
            <a:r>
              <a:rPr lang="en-US" err="1"/>
              <a:t>Xf</a:t>
            </a:r>
            <a:r>
              <a:rPr lang="en-US"/>
              <a:t> = Feed concentration </a:t>
            </a:r>
          </a:p>
          <a:p>
            <a:r>
              <a:rPr lang="en-US" err="1"/>
              <a:t>Xn</a:t>
            </a:r>
            <a:r>
              <a:rPr lang="en-US"/>
              <a:t> = Exit concentration</a:t>
            </a:r>
          </a:p>
          <a:p>
            <a:r>
              <a:rPr lang="en-US"/>
              <a:t>Ys = Gas – phase Concentration</a:t>
            </a:r>
          </a:p>
          <a:p>
            <a:r>
              <a:rPr lang="en-US"/>
              <a:t>M = slope  </a:t>
            </a:r>
          </a:p>
          <a:p>
            <a:r>
              <a:rPr lang="en-US"/>
              <a:t>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700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E7DD5-0581-4355-357C-88C26F4D2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ED86C-00AB-3630-801F-9D19AB84B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79" y="1437126"/>
            <a:ext cx="11049000" cy="449070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Raffinate acetic acid concentration decreased across stages, showing effects of countercurrent extraction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Agitator speeds directly affect extraction efficiency; 400 RPM to 800 RPM showed much better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A Kremser analysis showed increased efficiency from higher RPM ~0.48 to ~0.61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Higher RPM allows the system to be well mixed, effectively increasing mass transfer and mass transfer area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Found a potential kinetic limitation through mass transfer resistance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EDB724-1B94-1980-E515-1C1DF7C27D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2671690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8FA4D-F841-FDB5-933A-0316565424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2BBAF-ED3F-4AA8-E521-E04BFAA109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7326C73-00AC-FDBF-5CCD-69701C8451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928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76E046-AADA-29B0-109C-BFDF6E2B48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8C32B-F5FC-F941-6A22-33DAE4C3A24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A06AB4E-600C-228D-031E-0EB366AA464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44AE4-3058-91B4-0DC0-923D502570A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1569800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FFC82-88E1-B3CE-F142-3C48BD25F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4DD24-2B1B-BF09-78B5-5F0AD024E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F6FF78-B2EC-5FC6-8B3B-5D4B2FAEC2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2147703540"/>
      </p:ext>
    </p:extLst>
  </p:cSld>
  <p:clrMapOvr>
    <a:masterClrMapping/>
  </p:clrMapOvr>
</p:sld>
</file>

<file path=ppt/theme/theme1.xml><?xml version="1.0" encoding="utf-8"?>
<a:theme xmlns:a="http://schemas.openxmlformats.org/drawingml/2006/main" name="1_UIC">
  <a:themeElements>
    <a:clrScheme name="UIC">
      <a:dk1>
        <a:srgbClr val="575757"/>
      </a:dk1>
      <a:lt1>
        <a:srgbClr val="FFFFFF"/>
      </a:lt1>
      <a:dk2>
        <a:srgbClr val="001D69"/>
      </a:dk2>
      <a:lt2>
        <a:srgbClr val="F2F7EB"/>
      </a:lt2>
      <a:accent1>
        <a:srgbClr val="D40032"/>
      </a:accent1>
      <a:accent2>
        <a:srgbClr val="001E61"/>
      </a:accent2>
      <a:accent3>
        <a:srgbClr val="41B6E5"/>
      </a:accent3>
      <a:accent4>
        <a:srgbClr val="FFBE3E"/>
      </a:accent4>
      <a:accent5>
        <a:srgbClr val="0085AD"/>
      </a:accent5>
      <a:accent6>
        <a:srgbClr val="D0D2CF"/>
      </a:accent6>
      <a:hlink>
        <a:srgbClr val="41B6E6"/>
      </a:hlink>
      <a:folHlink>
        <a:srgbClr val="001E6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IC" id="{B82EF8CA-CF45-B347-9F86-BDCB680E2AB6}" vid="{5E8F787F-D014-A040-8B66-4854019F9F3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4C1CC3E32C5B4788553A114EA95C1F" ma:contentTypeVersion="12" ma:contentTypeDescription="Create a new document." ma:contentTypeScope="" ma:versionID="e0f6afbf558ba9489f01e4cc4e6a428c">
  <xsd:schema xmlns:xsd="http://www.w3.org/2001/XMLSchema" xmlns:xs="http://www.w3.org/2001/XMLSchema" xmlns:p="http://schemas.microsoft.com/office/2006/metadata/properties" xmlns:ns3="4bcb4ba3-7a78-4871-8884-8c62c0d20077" xmlns:ns4="67299442-5f7c-49a5-a40f-85e76bdcdf04" targetNamespace="http://schemas.microsoft.com/office/2006/metadata/properties" ma:root="true" ma:fieldsID="2cb467bca71d4a596502e1d18920b00d" ns3:_="" ns4:_="">
    <xsd:import namespace="4bcb4ba3-7a78-4871-8884-8c62c0d20077"/>
    <xsd:import namespace="67299442-5f7c-49a5-a40f-85e76bdcdf0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cb4ba3-7a78-4871-8884-8c62c0d200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299442-5f7c-49a5-a40f-85e76bdcdf0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bcb4ba3-7a78-4871-8884-8c62c0d20077" xsi:nil="true"/>
  </documentManagement>
</p:properties>
</file>

<file path=customXml/itemProps1.xml><?xml version="1.0" encoding="utf-8"?>
<ds:datastoreItem xmlns:ds="http://schemas.openxmlformats.org/officeDocument/2006/customXml" ds:itemID="{205396A1-E63C-485C-81C1-A3B268C239C1}">
  <ds:schemaRefs>
    <ds:schemaRef ds:uri="4bcb4ba3-7a78-4871-8884-8c62c0d20077"/>
    <ds:schemaRef ds:uri="67299442-5f7c-49a5-a40f-85e76bdcdf0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224C9C6-16F2-47FF-8924-8CBC1FE8248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735ED35-8BE3-4CCC-B416-5402A05E8B83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67299442-5f7c-49a5-a40f-85e76bdcdf04"/>
    <ds:schemaRef ds:uri="4bcb4ba3-7a78-4871-8884-8c62c0d20077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e202cd47-7a56-4baa-99e3-e3b71a7c77dd}" enabled="0" method="" siteId="{e202cd47-7a56-4baa-99e3-e3b71a7c77d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 Project 1</Template>
  <TotalTime>0</TotalTime>
  <Words>691</Words>
  <Application>Microsoft Office PowerPoint</Application>
  <PresentationFormat>Widescreen</PresentationFormat>
  <Paragraphs>124</Paragraphs>
  <Slides>15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System Font Regular</vt:lpstr>
      <vt:lpstr>Arial</vt:lpstr>
      <vt:lpstr>Cambria Math</vt:lpstr>
      <vt:lpstr>Open Sans</vt:lpstr>
      <vt:lpstr>Wingdings</vt:lpstr>
      <vt:lpstr>1_UIC</vt:lpstr>
      <vt:lpstr>Liquid-Liquid Extraction</vt:lpstr>
      <vt:lpstr>Introduction &amp; Background</vt:lpstr>
      <vt:lpstr>Principles Behind the Experiment</vt:lpstr>
      <vt:lpstr>Industrial Applications</vt:lpstr>
      <vt:lpstr>Experimental Objectives</vt:lpstr>
      <vt:lpstr>Apparatus </vt:lpstr>
      <vt:lpstr>Materials and Supplies</vt:lpstr>
      <vt:lpstr>Experimental Procedure </vt:lpstr>
      <vt:lpstr>Results/Discussion </vt:lpstr>
      <vt:lpstr>PowerPoint Presentation</vt:lpstr>
      <vt:lpstr>PowerPoint Presentation</vt:lpstr>
      <vt:lpstr>Conclusion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Aca, Jazmin</dc:creator>
  <cp:lastModifiedBy>Cai, Anna</cp:lastModifiedBy>
  <cp:revision>1</cp:revision>
  <dcterms:created xsi:type="dcterms:W3CDTF">2025-09-13T20:30:28Z</dcterms:created>
  <dcterms:modified xsi:type="dcterms:W3CDTF">2026-04-21T21:10:18Z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0x010100444C1CC3E32C5B4788553A114EA95C1F</vt:lpwstr>
  </property>
</Properties>
</file>